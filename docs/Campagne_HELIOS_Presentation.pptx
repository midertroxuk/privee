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9" r:id="rId4"/>
    <p:sldId id="266" r:id="rId5"/>
    <p:sldId id="263" r:id="rId6"/>
    <p:sldId id="264" r:id="rId7"/>
    <p:sldId id="265" r:id="rId8"/>
    <p:sldId id="270" r:id="rId9"/>
    <p:sldId id="306" r:id="rId10"/>
    <p:sldId id="274" r:id="rId11"/>
    <p:sldId id="275" r:id="rId12"/>
    <p:sldId id="276" r:id="rId13"/>
    <p:sldId id="277" r:id="rId14"/>
    <p:sldId id="278" r:id="rId15"/>
    <p:sldId id="279" r:id="rId16"/>
    <p:sldId id="280" r:id="rId17"/>
    <p:sldId id="283" r:id="rId18"/>
    <p:sldId id="284" r:id="rId19"/>
    <p:sldId id="285" r:id="rId20"/>
    <p:sldId id="286" r:id="rId21"/>
    <p:sldId id="288" r:id="rId22"/>
    <p:sldId id="289" r:id="rId23"/>
    <p:sldId id="290" r:id="rId24"/>
    <p:sldId id="291" r:id="rId25"/>
    <p:sldId id="292" r:id="rId26"/>
    <p:sldId id="293" r:id="rId27"/>
    <p:sldId id="294" r:id="rId28"/>
    <p:sldId id="295" r:id="rId29"/>
    <p:sldId id="296" r:id="rId30"/>
    <p:sldId id="297" r:id="rId31"/>
    <p:sldId id="298" r:id="rId32"/>
    <p:sldId id="299" r:id="rId33"/>
    <p:sldId id="300" r:id="rId34"/>
    <p:sldId id="301" r:id="rId35"/>
    <p:sldId id="302" r:id="rId36"/>
    <p:sldId id="303" r:id="rId37"/>
    <p:sldId id="304" r:id="rId38"/>
    <p:sldId id="305" r:id="rId39"/>
  </p:sldIdLst>
  <p:sldSz cx="9144000" cy="5143500" type="screen16x9"/>
  <p:notesSz cx="7104063" cy="10234613"/>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AC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1299" autoAdjust="0"/>
  </p:normalViewPr>
  <p:slideViewPr>
    <p:cSldViewPr snapToGrid="0" snapToObjects="1">
      <p:cViewPr varScale="1">
        <p:scale>
          <a:sx n="87" d="100"/>
          <a:sy n="87" d="100"/>
        </p:scale>
        <p:origin x="68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7744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lIns="110962" tIns="55481" rIns="110962" bIns="55481"/>
              <a:lstStyle/>
              <a:p>
                <a:r>
                  <a:rPr lang="fr-FR" sz="1200" b="0" i="0" kern="1200" dirty="0">
                    <a:solidFill>
                      <a:schemeClr val="tx1"/>
                    </a:solidFill>
                    <a:effectLst/>
                    <a:latin typeface="+mn-lt"/>
                    <a:ea typeface="+mn-ea"/>
                    <a:cs typeface="+mn-cs"/>
                  </a:rPr>
                  <a:t>Bonjour à tous,</a:t>
                </a:r>
              </a:p>
              <a:p>
                <a:r>
                  <a:rPr lang="fr-FR" sz="1200" b="0" i="0" kern="1200" dirty="0">
                    <a:solidFill>
                      <a:schemeClr val="tx1"/>
                    </a:solidFill>
                    <a:effectLst/>
                    <a:latin typeface="+mn-lt"/>
                    <a:ea typeface="+mn-ea"/>
                    <a:cs typeface="+mn-cs"/>
                  </a:rPr>
                  <a:t>Dans le cadre de mon stage, je vais vous présenter la </a:t>
                </a:r>
                <a:r>
                  <a:rPr lang="fr-FR" sz="1200" b="1" i="0" kern="1200" dirty="0">
                    <a:solidFill>
                      <a:schemeClr val="tx1"/>
                    </a:solidFill>
                    <a:effectLst/>
                    <a:latin typeface="+mn-lt"/>
                    <a:ea typeface="+mn-ea"/>
                    <a:cs typeface="+mn-cs"/>
                  </a:rPr>
                  <a:t>campagne HÉLIOS</a:t>
                </a:r>
                <a:r>
                  <a:rPr lang="fr-FR" sz="1200" b="0" i="0" kern="1200" dirty="0">
                    <a:solidFill>
                      <a:schemeClr val="tx1"/>
                    </a:solidFill>
                    <a:effectLst/>
                    <a:latin typeface="+mn-lt"/>
                    <a:ea typeface="+mn-ea"/>
                    <a:cs typeface="+mn-cs"/>
                  </a:rPr>
                  <a:t>, qui constitue la phase d'expérimentation et de validation du logiciel </a:t>
                </a:r>
                <a:r>
                  <a:rPr lang="fr-FR" sz="1200" b="1" i="0" kern="1200" dirty="0" err="1">
                    <a:solidFill>
                      <a:schemeClr val="tx1"/>
                    </a:solidFill>
                    <a:effectLst/>
                    <a:latin typeface="+mn-lt"/>
                    <a:ea typeface="+mn-ea"/>
                    <a:cs typeface="+mn-cs"/>
                  </a:rPr>
                  <a:t>SupplyScore</a:t>
                </a:r>
                <a:r>
                  <a:rPr lang="fr-FR" sz="1200" b="0" i="0" kern="1200" dirty="0">
                    <a:solidFill>
                      <a:schemeClr val="tx1"/>
                    </a:solidFill>
                    <a:effectLst/>
                    <a:latin typeface="+mn-lt"/>
                    <a:ea typeface="+mn-ea"/>
                    <a:cs typeface="+mn-cs"/>
                  </a:rPr>
                  <a:t>.</a:t>
                </a:r>
              </a:p>
              <a:p>
                <a:r>
                  <a:rPr lang="fr-FR" sz="1200" b="0" i="0" kern="1200" dirty="0">
                    <a:solidFill>
                      <a:schemeClr val="tx1"/>
                    </a:solidFill>
                    <a:effectLst/>
                    <a:latin typeface="+mn-lt"/>
                    <a:ea typeface="+mn-ea"/>
                    <a:cs typeface="+mn-cs"/>
                  </a:rPr>
                  <a:t>Pour vous expliquer le contexte : </a:t>
                </a:r>
                <a:r>
                  <a:rPr lang="fr-FR" sz="1200" b="1" i="0" kern="1200" dirty="0" err="1">
                    <a:solidFill>
                      <a:schemeClr val="tx1"/>
                    </a:solidFill>
                    <a:effectLst/>
                    <a:latin typeface="+mn-lt"/>
                    <a:ea typeface="+mn-ea"/>
                    <a:cs typeface="+mn-cs"/>
                  </a:rPr>
                  <a:t>SupplyScore</a:t>
                </a:r>
                <a:r>
                  <a:rPr lang="fr-FR" sz="1200" b="0" i="0" kern="1200" dirty="0">
                    <a:solidFill>
                      <a:schemeClr val="tx1"/>
                    </a:solidFill>
                    <a:effectLst/>
                    <a:latin typeface="+mn-lt"/>
                    <a:ea typeface="+mn-ea"/>
                    <a:cs typeface="+mn-cs"/>
                  </a:rPr>
                  <a:t> est un outil d'aide à la décision conçu pour modéliser le stress logistique et l'urgence, afin de prédire les risques de rupture sur une chaîne d'approvisionnement globale — du client final (rang 0) jusqu'aux fournisseurs profonds (rang N).</a:t>
                </a:r>
              </a:p>
              <a:p>
                <a:r>
                  <a:rPr lang="fr-FR" sz="1200" b="0" i="0" kern="1200" dirty="0">
                    <a:solidFill>
                      <a:schemeClr val="tx1"/>
                    </a:solidFill>
                    <a:effectLst/>
                    <a:latin typeface="+mn-lt"/>
                    <a:ea typeface="+mn-ea"/>
                    <a:cs typeface="+mn-cs"/>
                  </a:rPr>
                  <a:t>L'originalité du logiciel repose sur la comparaison entre deux visions :</a:t>
                </a:r>
              </a:p>
              <a:p>
                <a:r>
                  <a:rPr lang="fr-FR" sz="1200" b="1" i="0" kern="1200" dirty="0">
                    <a:solidFill>
                      <a:schemeClr val="tx1"/>
                    </a:solidFill>
                    <a:effectLst/>
                    <a:latin typeface="+mn-lt"/>
                    <a:ea typeface="+mn-ea"/>
                    <a:cs typeface="+mn-cs"/>
                  </a:rPr>
                  <a:t>L'Urgence Déclarée (</a:t>
                </a:r>
                <a14:m>
                  <m:oMath xmlns:m="http://schemas.openxmlformats.org/officeDocument/2006/math">
                    <m:sSub>
                      <m:sSubPr>
                        <m:ctrlPr>
                          <a:rPr lang="fr-FR" sz="1200" kern="1200">
                            <a:solidFill>
                              <a:schemeClr val="tx1"/>
                            </a:solidFill>
                            <a:latin typeface="+mn-lt"/>
                            <a:ea typeface="+mn-ea"/>
                            <a:cs typeface="+mn-cs"/>
                          </a:rPr>
                        </m:ctrlPr>
                      </m:sSubPr>
                      <m:e>
                        <m:r>
                          <a:rPr lang="fr-FR" sz="1200" i="1" kern="1200">
                            <a:solidFill>
                              <a:schemeClr val="tx1"/>
                            </a:solidFill>
                            <a:latin typeface="+mn-lt"/>
                            <a:ea typeface="+mn-ea"/>
                            <a:cs typeface="+mn-cs"/>
                          </a:rPr>
                          <m:t>𝑈</m:t>
                        </m:r>
                      </m:e>
                      <m:sub>
                        <m:r>
                          <a:rPr lang="fr-FR" sz="1200" i="1" kern="1200">
                            <a:solidFill>
                              <a:schemeClr val="tx1"/>
                            </a:solidFill>
                            <a:latin typeface="+mn-lt"/>
                            <a:ea typeface="+mn-ea"/>
                            <a:cs typeface="+mn-cs"/>
                          </a:rPr>
                          <m:t>𝑑</m:t>
                        </m:r>
                      </m:sub>
                    </m:sSub>
                  </m:oMath>
                </a14:m>
                <a:r>
                  <a:rPr lang="fr-FR" sz="1200" b="1" i="0" kern="1200" dirty="0">
                    <a:solidFill>
                      <a:schemeClr val="tx1"/>
                    </a:solidFill>
                    <a:effectLst/>
                    <a:latin typeface="+mn-lt"/>
                    <a:ea typeface="+mn-ea"/>
                    <a:cs typeface="+mn-cs"/>
                  </a:rPr>
                  <a:t>)</a:t>
                </a:r>
                <a:r>
                  <a:rPr lang="fr-FR" sz="1200" b="0" i="0" kern="1200" dirty="0">
                    <a:solidFill>
                      <a:schemeClr val="tx1"/>
                    </a:solidFill>
                    <a:effectLst/>
                    <a:latin typeface="+mn-lt"/>
                    <a:ea typeface="+mn-ea"/>
                    <a:cs typeface="+mn-cs"/>
                  </a:rPr>
                  <a:t> : le ressenti humain des opérateurs sur le terrain, évalué chaque semaine via une méthode multicritère rigoureuse (</a:t>
                </a:r>
                <a:r>
                  <a:rPr lang="fr-FR" sz="1200" b="0" i="1" kern="1200" dirty="0">
                    <a:solidFill>
                      <a:schemeClr val="tx1"/>
                    </a:solidFill>
                    <a:effectLst/>
                    <a:latin typeface="+mn-lt"/>
                    <a:ea typeface="+mn-ea"/>
                    <a:cs typeface="+mn-cs"/>
                  </a:rPr>
                  <a:t>AHP de Saaty</a:t>
                </a:r>
                <a:r>
                  <a:rPr lang="fr-FR" sz="1200" b="0" i="0" kern="1200" dirty="0">
                    <a:solidFill>
                      <a:schemeClr val="tx1"/>
                    </a:solidFill>
                    <a:effectLst/>
                    <a:latin typeface="+mn-lt"/>
                    <a:ea typeface="+mn-ea"/>
                    <a:cs typeface="+mn-cs"/>
                  </a:rPr>
                  <a:t>) qui garantit la cohérence des réponses.</a:t>
                </a:r>
              </a:p>
              <a:p>
                <a:r>
                  <a:rPr lang="fr-FR" sz="1200" b="1" i="0" kern="1200" dirty="0">
                    <a:solidFill>
                      <a:schemeClr val="tx1"/>
                    </a:solidFill>
                    <a:effectLst/>
                    <a:latin typeface="+mn-lt"/>
                    <a:ea typeface="+mn-ea"/>
                    <a:cs typeface="+mn-cs"/>
                  </a:rPr>
                  <a:t>L'Urgence Opérationnelle Réelle (</a:t>
                </a:r>
                <a14:m>
                  <m:oMath xmlns:m="http://schemas.openxmlformats.org/officeDocument/2006/math">
                    <m:sSub>
                      <m:sSubPr>
                        <m:ctrlPr>
                          <a:rPr lang="fr-FR" sz="1200" kern="1200">
                            <a:solidFill>
                              <a:schemeClr val="tx1"/>
                            </a:solidFill>
                            <a:latin typeface="+mn-lt"/>
                            <a:ea typeface="+mn-ea"/>
                            <a:cs typeface="+mn-cs"/>
                          </a:rPr>
                        </m:ctrlPr>
                      </m:sSubPr>
                      <m:e>
                        <m:r>
                          <a:rPr lang="fr-FR" sz="1200" i="1" kern="1200">
                            <a:solidFill>
                              <a:schemeClr val="tx1"/>
                            </a:solidFill>
                            <a:latin typeface="+mn-lt"/>
                            <a:ea typeface="+mn-ea"/>
                            <a:cs typeface="+mn-cs"/>
                          </a:rPr>
                          <m:t>𝑈</m:t>
                        </m:r>
                      </m:e>
                      <m:sub>
                        <m:r>
                          <a:rPr lang="fr-FR" sz="1200" i="1" kern="1200">
                            <a:solidFill>
                              <a:schemeClr val="tx1"/>
                            </a:solidFill>
                            <a:latin typeface="+mn-lt"/>
                            <a:ea typeface="+mn-ea"/>
                            <a:cs typeface="+mn-cs"/>
                          </a:rPr>
                          <m:t>𝑟</m:t>
                        </m:r>
                      </m:sub>
                    </m:sSub>
                  </m:oMath>
                </a14:m>
                <a:r>
                  <a:rPr lang="fr-FR" sz="1200" b="1" i="0" kern="1200" dirty="0">
                    <a:solidFill>
                      <a:schemeClr val="tx1"/>
                    </a:solidFill>
                    <a:effectLst/>
                    <a:latin typeface="+mn-lt"/>
                    <a:ea typeface="+mn-ea"/>
                    <a:cs typeface="+mn-cs"/>
                  </a:rPr>
                  <a:t>)</a:t>
                </a:r>
                <a:r>
                  <a:rPr lang="fr-FR" sz="1200" b="0" i="0" kern="1200" dirty="0">
                    <a:solidFill>
                      <a:schemeClr val="tx1"/>
                    </a:solidFill>
                    <a:effectLst/>
                    <a:latin typeface="+mn-lt"/>
                    <a:ea typeface="+mn-ea"/>
                    <a:cs typeface="+mn-cs"/>
                  </a:rPr>
                  <a:t> : calculée objectivement à partir des données métier réelles sur 6 axes clés — le temps et l'avancement des jalons, la capacité, la performance industrielle (OEE), le risque, le coût et l'empreinte CO2.</a:t>
                </a:r>
              </a:p>
              <a:p>
                <a:r>
                  <a:rPr lang="fr-FR" sz="1200" b="0" i="0" kern="1200" dirty="0">
                    <a:solidFill>
                      <a:schemeClr val="tx1"/>
                    </a:solidFill>
                    <a:effectLst/>
                    <a:latin typeface="+mn-lt"/>
                    <a:ea typeface="+mn-ea"/>
                    <a:cs typeface="+mn-cs"/>
                  </a:rPr>
                  <a:t>Le logiciel applique ensuite un algorithme d'adéquation basé sur la </a:t>
                </a:r>
                <a:r>
                  <a:rPr lang="fr-FR" sz="1200" b="0" i="1" kern="1200" dirty="0">
                    <a:solidFill>
                      <a:schemeClr val="tx1"/>
                    </a:solidFill>
                    <a:effectLst/>
                    <a:latin typeface="+mn-lt"/>
                    <a:ea typeface="+mn-ea"/>
                    <a:cs typeface="+mn-cs"/>
                  </a:rPr>
                  <a:t>Prospect Theory</a:t>
                </a:r>
                <a:r>
                  <a:rPr lang="fr-FR" sz="1200" b="0" i="0" kern="1200" dirty="0">
                    <a:solidFill>
                      <a:schemeClr val="tx1"/>
                    </a:solidFill>
                    <a:effectLst/>
                    <a:latin typeface="+mn-lt"/>
                    <a:ea typeface="+mn-ea"/>
                    <a:cs typeface="+mn-cs"/>
                  </a:rPr>
                  <a:t>. Sa règle de gouvernance est claire : </a:t>
                </a:r>
                <a:r>
                  <a:rPr lang="fr-FR" sz="1200" b="1" i="0" kern="1200" dirty="0">
                    <a:solidFill>
                      <a:schemeClr val="tx1"/>
                    </a:solidFill>
                    <a:effectLst/>
                    <a:latin typeface="+mn-lt"/>
                    <a:ea typeface="+mn-ea"/>
                    <a:cs typeface="+mn-cs"/>
                  </a:rPr>
                  <a:t>il pénalise beaucoup plus lourdement les risques cachés</a:t>
                </a:r>
                <a:r>
                  <a:rPr lang="fr-FR" sz="1200" b="0" i="0" kern="1200" dirty="0">
                    <a:solidFill>
                      <a:schemeClr val="tx1"/>
                    </a:solidFill>
                    <a:effectLst/>
                    <a:latin typeface="+mn-lt"/>
                    <a:ea typeface="+mn-ea"/>
                    <a:cs typeface="+mn-cs"/>
                  </a:rPr>
                  <a:t> (lorsqu'un opérateur sous-estime sans le savoir un danger réel) que la fausse urgence ou la </a:t>
                </a:r>
                <a:r>
                  <a:rPr lang="fr-FR" sz="1200" b="0" i="0" kern="1200" dirty="0" err="1">
                    <a:solidFill>
                      <a:schemeClr val="tx1"/>
                    </a:solidFill>
                    <a:effectLst/>
                    <a:latin typeface="+mn-lt"/>
                    <a:ea typeface="+mn-ea"/>
                    <a:cs typeface="+mn-cs"/>
                  </a:rPr>
                  <a:t>sur-réaction</a:t>
                </a:r>
                <a:r>
                  <a:rPr lang="fr-FR" sz="1200" b="0" i="0" kern="1200" dirty="0">
                    <a:solidFill>
                      <a:schemeClr val="tx1"/>
                    </a:solidFill>
                    <a:effectLst/>
                    <a:latin typeface="+mn-lt"/>
                    <a:ea typeface="+mn-ea"/>
                    <a:cs typeface="+mn-cs"/>
                  </a:rPr>
                  <a:t>.</a:t>
                </a:r>
              </a:p>
              <a:p>
                <a:endParaRPr lang="fr-FR" sz="1200" b="0" i="0" kern="1200" dirty="0">
                  <a:solidFill>
                    <a:schemeClr val="tx1"/>
                  </a:solidFill>
                  <a:effectLst/>
                  <a:latin typeface="+mn-lt"/>
                  <a:ea typeface="+mn-ea"/>
                  <a:cs typeface="+mn-cs"/>
                </a:endParaRPr>
              </a:p>
              <a:p>
                <a:r>
                  <a:rPr lang="fr-FR" sz="1200" b="0" i="0" kern="1200" dirty="0">
                    <a:solidFill>
                      <a:schemeClr val="tx1"/>
                    </a:solidFill>
                    <a:effectLst/>
                    <a:latin typeface="+mn-lt"/>
                    <a:ea typeface="+mn-ea"/>
                    <a:cs typeface="+mn-cs"/>
                  </a:rPr>
                  <a:t>C'est là qu'intervient la </a:t>
                </a:r>
                <a:r>
                  <a:rPr lang="fr-FR" sz="1200" b="1" i="0" kern="1200" dirty="0">
                    <a:solidFill>
                      <a:schemeClr val="tx1"/>
                    </a:solidFill>
                    <a:effectLst/>
                    <a:latin typeface="+mn-lt"/>
                    <a:ea typeface="+mn-ea"/>
                    <a:cs typeface="+mn-cs"/>
                  </a:rPr>
                  <a:t>campagne HÉLIOS</a:t>
                </a:r>
                <a:r>
                  <a:rPr lang="fr-FR" sz="1200" b="0" i="0" kern="1200" dirty="0">
                    <a:solidFill>
                      <a:schemeClr val="tx1"/>
                    </a:solidFill>
                    <a:effectLst/>
                    <a:latin typeface="+mn-lt"/>
                    <a:ea typeface="+mn-ea"/>
                    <a:cs typeface="+mn-cs"/>
                  </a:rPr>
                  <a:t> : il s'agit d'une expérimentation d’un POC sous forme de </a:t>
                </a:r>
                <a:r>
                  <a:rPr lang="fr-FR" sz="1200" b="0" i="1" kern="1200" dirty="0">
                    <a:solidFill>
                      <a:schemeClr val="tx1"/>
                    </a:solidFill>
                    <a:effectLst/>
                    <a:latin typeface="+mn-lt"/>
                    <a:ea typeface="+mn-ea"/>
                    <a:cs typeface="+mn-cs"/>
                  </a:rPr>
                  <a:t>Serious Game</a:t>
                </a:r>
                <a:r>
                  <a:rPr lang="fr-FR" sz="1200" b="0" i="0" kern="1200" dirty="0">
                    <a:solidFill>
                      <a:schemeClr val="tx1"/>
                    </a:solidFill>
                    <a:effectLst/>
                    <a:latin typeface="+mn-lt"/>
                    <a:ea typeface="+mn-ea"/>
                    <a:cs typeface="+mn-cs"/>
                  </a:rPr>
                  <a:t>. Concrètement, on rejoue la crise mondiale des semi-conducteurs de 2020 à 2022, sous forme de scénarios. Chaque joueur incarne un nœud de la chaîne.</a:t>
                </a:r>
              </a:p>
              <a:p>
                <a:r>
                  <a:rPr lang="fr-FR" sz="1200" b="0" i="0" kern="1200" dirty="0">
                    <a:solidFill>
                      <a:schemeClr val="tx1"/>
                    </a:solidFill>
                    <a:effectLst/>
                    <a:latin typeface="+mn-lt"/>
                    <a:ea typeface="+mn-ea"/>
                    <a:cs typeface="+mn-cs"/>
                  </a:rPr>
                  <a:t>L'objectif principal de cette campagne est d'évaluer si l'écart entre le déclaratif des opérateurs et la réalité des données contient des informations exploitables pour anticiper les crises, et valider le bon fonctionnement de </a:t>
                </a:r>
                <a:r>
                  <a:rPr lang="fr-FR" sz="1200" b="0" i="0" kern="1200" dirty="0" err="1">
                    <a:solidFill>
                      <a:schemeClr val="tx1"/>
                    </a:solidFill>
                    <a:effectLst/>
                    <a:latin typeface="+mn-lt"/>
                    <a:ea typeface="+mn-ea"/>
                    <a:cs typeface="+mn-cs"/>
                  </a:rPr>
                  <a:t>SuplyScore</a:t>
                </a:r>
                <a:r>
                  <a:rPr lang="fr-FR" sz="1200" b="0" i="0" kern="1200" dirty="0">
                    <a:solidFill>
                      <a:schemeClr val="tx1"/>
                    </a:solidFill>
                    <a:effectLst/>
                    <a:latin typeface="+mn-lt"/>
                    <a:ea typeface="+mn-ea"/>
                    <a:cs typeface="+mn-cs"/>
                  </a:rPr>
                  <a:t>.</a:t>
                </a:r>
              </a:p>
            </p:txBody>
          </p:sp>
        </mc:Choice>
        <mc:Fallback>
          <p:sp>
            <p:nvSpPr>
              <p:cNvPr id="3" name="Notes Placeholder 2"/>
              <p:cNvSpPr>
                <a:spLocks noGrp="1"/>
              </p:cNvSpPr>
              <p:nvPr>
                <p:ph type="body" idx="1"/>
              </p:nvPr>
            </p:nvSpPr>
            <p:spPr/>
            <p:txBody>
              <a:bodyPr lIns="110962" tIns="55481" rIns="110962" bIns="55481"/>
              <a:lstStyle/>
              <a:p>
                <a:r>
                  <a:rPr lang="fr-FR" sz="1200" b="0" i="0" kern="1200" dirty="0">
                    <a:solidFill>
                      <a:schemeClr val="tx1"/>
                    </a:solidFill>
                    <a:effectLst/>
                    <a:latin typeface="+mn-lt"/>
                    <a:ea typeface="+mn-ea"/>
                    <a:cs typeface="+mn-cs"/>
                  </a:rPr>
                  <a:t>Bonjour à tous,</a:t>
                </a:r>
              </a:p>
              <a:p>
                <a:r>
                  <a:rPr lang="fr-FR" sz="1200" b="0" i="0" kern="1200" dirty="0">
                    <a:solidFill>
                      <a:schemeClr val="tx1"/>
                    </a:solidFill>
                    <a:effectLst/>
                    <a:latin typeface="+mn-lt"/>
                    <a:ea typeface="+mn-ea"/>
                    <a:cs typeface="+mn-cs"/>
                  </a:rPr>
                  <a:t>Dans le cadre de mon stage, je vais vous présenter la </a:t>
                </a:r>
                <a:r>
                  <a:rPr lang="fr-FR" sz="1200" b="1" i="0" kern="1200" dirty="0">
                    <a:solidFill>
                      <a:schemeClr val="tx1"/>
                    </a:solidFill>
                    <a:effectLst/>
                    <a:latin typeface="+mn-lt"/>
                    <a:ea typeface="+mn-ea"/>
                    <a:cs typeface="+mn-cs"/>
                  </a:rPr>
                  <a:t>campagne HÉLIOS</a:t>
                </a:r>
                <a:r>
                  <a:rPr lang="fr-FR" sz="1200" b="0" i="0" kern="1200" dirty="0">
                    <a:solidFill>
                      <a:schemeClr val="tx1"/>
                    </a:solidFill>
                    <a:effectLst/>
                    <a:latin typeface="+mn-lt"/>
                    <a:ea typeface="+mn-ea"/>
                    <a:cs typeface="+mn-cs"/>
                  </a:rPr>
                  <a:t>, qui constitue la phase d'expérimentation et de validation du logiciel </a:t>
                </a:r>
                <a:r>
                  <a:rPr lang="fr-FR" sz="1200" b="1" i="0" kern="1200" dirty="0" err="1">
                    <a:solidFill>
                      <a:schemeClr val="tx1"/>
                    </a:solidFill>
                    <a:effectLst/>
                    <a:latin typeface="+mn-lt"/>
                    <a:ea typeface="+mn-ea"/>
                    <a:cs typeface="+mn-cs"/>
                  </a:rPr>
                  <a:t>SupplyScore</a:t>
                </a:r>
                <a:r>
                  <a:rPr lang="fr-FR" sz="1200" b="0" i="0" kern="1200" dirty="0">
                    <a:solidFill>
                      <a:schemeClr val="tx1"/>
                    </a:solidFill>
                    <a:effectLst/>
                    <a:latin typeface="+mn-lt"/>
                    <a:ea typeface="+mn-ea"/>
                    <a:cs typeface="+mn-cs"/>
                  </a:rPr>
                  <a:t>.</a:t>
                </a:r>
              </a:p>
              <a:p>
                <a:r>
                  <a:rPr lang="fr-FR" sz="1200" b="0" i="0" kern="1200" dirty="0">
                    <a:solidFill>
                      <a:schemeClr val="tx1"/>
                    </a:solidFill>
                    <a:effectLst/>
                    <a:latin typeface="+mn-lt"/>
                    <a:ea typeface="+mn-ea"/>
                    <a:cs typeface="+mn-cs"/>
                  </a:rPr>
                  <a:t>Pour vous expliquer le contexte : </a:t>
                </a:r>
                <a:r>
                  <a:rPr lang="fr-FR" sz="1200" b="1" i="0" kern="1200" dirty="0" err="1">
                    <a:solidFill>
                      <a:schemeClr val="tx1"/>
                    </a:solidFill>
                    <a:effectLst/>
                    <a:latin typeface="+mn-lt"/>
                    <a:ea typeface="+mn-ea"/>
                    <a:cs typeface="+mn-cs"/>
                  </a:rPr>
                  <a:t>SupplyScore</a:t>
                </a:r>
                <a:r>
                  <a:rPr lang="fr-FR" sz="1200" b="0" i="0" kern="1200" dirty="0">
                    <a:solidFill>
                      <a:schemeClr val="tx1"/>
                    </a:solidFill>
                    <a:effectLst/>
                    <a:latin typeface="+mn-lt"/>
                    <a:ea typeface="+mn-ea"/>
                    <a:cs typeface="+mn-cs"/>
                  </a:rPr>
                  <a:t> est un outil d'aide à la décision conçu pour modéliser le stress logistique et l'urgence, afin de prédire les risques de rupture sur une chaîne d'approvisionnement globale — du client final (rang 0) jusqu'aux fournisseurs profonds (rang N).</a:t>
                </a:r>
              </a:p>
              <a:p>
                <a:r>
                  <a:rPr lang="fr-FR" sz="1200" b="0" i="0" kern="1200" dirty="0">
                    <a:solidFill>
                      <a:schemeClr val="tx1"/>
                    </a:solidFill>
                    <a:effectLst/>
                    <a:latin typeface="+mn-lt"/>
                    <a:ea typeface="+mn-ea"/>
                    <a:cs typeface="+mn-cs"/>
                  </a:rPr>
                  <a:t>L'originalité du logiciel repose sur la comparaison entre deux visions :</a:t>
                </a:r>
              </a:p>
              <a:p>
                <a:r>
                  <a:rPr lang="fr-FR" sz="1200" b="1" i="0" kern="1200" dirty="0">
                    <a:solidFill>
                      <a:schemeClr val="tx1"/>
                    </a:solidFill>
                    <a:effectLst/>
                    <a:latin typeface="+mn-lt"/>
                    <a:ea typeface="+mn-ea"/>
                    <a:cs typeface="+mn-cs"/>
                  </a:rPr>
                  <a:t>L'Urgence Déclarée (</a:t>
                </a:r>
                <a:r>
                  <a:rPr lang="fr-FR" sz="1200" i="0" kern="1200">
                    <a:solidFill>
                      <a:schemeClr val="tx1"/>
                    </a:solidFill>
                    <a:latin typeface="+mn-lt"/>
                    <a:ea typeface="+mn-ea"/>
                    <a:cs typeface="+mn-cs"/>
                  </a:rPr>
                  <a:t>𝑈_𝑑</a:t>
                </a:r>
                <a:r>
                  <a:rPr lang="fr-FR" sz="1200" b="1" i="0" kern="1200" dirty="0">
                    <a:solidFill>
                      <a:schemeClr val="tx1"/>
                    </a:solidFill>
                    <a:effectLst/>
                    <a:latin typeface="+mn-lt"/>
                    <a:ea typeface="+mn-ea"/>
                    <a:cs typeface="+mn-cs"/>
                  </a:rPr>
                  <a:t>)</a:t>
                </a:r>
                <a:r>
                  <a:rPr lang="fr-FR" sz="1200" b="0" i="0" kern="1200" dirty="0">
                    <a:solidFill>
                      <a:schemeClr val="tx1"/>
                    </a:solidFill>
                    <a:effectLst/>
                    <a:latin typeface="+mn-lt"/>
                    <a:ea typeface="+mn-ea"/>
                    <a:cs typeface="+mn-cs"/>
                  </a:rPr>
                  <a:t> : le ressenti humain des opérateurs sur le terrain, évalué chaque semaine via une méthode multicritère rigoureuse (</a:t>
                </a:r>
                <a:r>
                  <a:rPr lang="fr-FR" sz="1200" b="0" i="1" kern="1200" dirty="0">
                    <a:solidFill>
                      <a:schemeClr val="tx1"/>
                    </a:solidFill>
                    <a:effectLst/>
                    <a:latin typeface="+mn-lt"/>
                    <a:ea typeface="+mn-ea"/>
                    <a:cs typeface="+mn-cs"/>
                  </a:rPr>
                  <a:t>AHP de Saaty</a:t>
                </a:r>
                <a:r>
                  <a:rPr lang="fr-FR" sz="1200" b="0" i="0" kern="1200" dirty="0">
                    <a:solidFill>
                      <a:schemeClr val="tx1"/>
                    </a:solidFill>
                    <a:effectLst/>
                    <a:latin typeface="+mn-lt"/>
                    <a:ea typeface="+mn-ea"/>
                    <a:cs typeface="+mn-cs"/>
                  </a:rPr>
                  <a:t>) qui garantit la cohérence des réponses.</a:t>
                </a:r>
              </a:p>
              <a:p>
                <a:r>
                  <a:rPr lang="fr-FR" sz="1200" b="1" i="0" kern="1200" dirty="0">
                    <a:solidFill>
                      <a:schemeClr val="tx1"/>
                    </a:solidFill>
                    <a:effectLst/>
                    <a:latin typeface="+mn-lt"/>
                    <a:ea typeface="+mn-ea"/>
                    <a:cs typeface="+mn-cs"/>
                  </a:rPr>
                  <a:t>L'Urgence Opérationnelle Réelle (</a:t>
                </a:r>
                <a:r>
                  <a:rPr lang="fr-FR" sz="1200" i="0" kern="1200">
                    <a:solidFill>
                      <a:schemeClr val="tx1"/>
                    </a:solidFill>
                    <a:latin typeface="+mn-lt"/>
                    <a:ea typeface="+mn-ea"/>
                    <a:cs typeface="+mn-cs"/>
                  </a:rPr>
                  <a:t>𝑈_𝑟</a:t>
                </a:r>
                <a:r>
                  <a:rPr lang="fr-FR" sz="1200" b="1" i="0" kern="1200" dirty="0">
                    <a:solidFill>
                      <a:schemeClr val="tx1"/>
                    </a:solidFill>
                    <a:effectLst/>
                    <a:latin typeface="+mn-lt"/>
                    <a:ea typeface="+mn-ea"/>
                    <a:cs typeface="+mn-cs"/>
                  </a:rPr>
                  <a:t>)</a:t>
                </a:r>
                <a:r>
                  <a:rPr lang="fr-FR" sz="1200" b="0" i="0" kern="1200" dirty="0">
                    <a:solidFill>
                      <a:schemeClr val="tx1"/>
                    </a:solidFill>
                    <a:effectLst/>
                    <a:latin typeface="+mn-lt"/>
                    <a:ea typeface="+mn-ea"/>
                    <a:cs typeface="+mn-cs"/>
                  </a:rPr>
                  <a:t> : calculée objectivement à partir des données métier réelles sur 6 axes clés — le temps et l'avancement des jalons, la capacité, la performance industrielle (OEE), le risque, le coût et l'empreinte CO2.</a:t>
                </a:r>
              </a:p>
              <a:p>
                <a:r>
                  <a:rPr lang="fr-FR" sz="1200" b="0" i="0" kern="1200" dirty="0">
                    <a:solidFill>
                      <a:schemeClr val="tx1"/>
                    </a:solidFill>
                    <a:effectLst/>
                    <a:latin typeface="+mn-lt"/>
                    <a:ea typeface="+mn-ea"/>
                    <a:cs typeface="+mn-cs"/>
                  </a:rPr>
                  <a:t>Le logiciel applique ensuite un algorithme d'adéquation basé sur la </a:t>
                </a:r>
                <a:r>
                  <a:rPr lang="fr-FR" sz="1200" b="0" i="1" kern="1200" dirty="0">
                    <a:solidFill>
                      <a:schemeClr val="tx1"/>
                    </a:solidFill>
                    <a:effectLst/>
                    <a:latin typeface="+mn-lt"/>
                    <a:ea typeface="+mn-ea"/>
                    <a:cs typeface="+mn-cs"/>
                  </a:rPr>
                  <a:t>Prospect Theory</a:t>
                </a:r>
                <a:r>
                  <a:rPr lang="fr-FR" sz="1200" b="0" i="0" kern="1200" dirty="0">
                    <a:solidFill>
                      <a:schemeClr val="tx1"/>
                    </a:solidFill>
                    <a:effectLst/>
                    <a:latin typeface="+mn-lt"/>
                    <a:ea typeface="+mn-ea"/>
                    <a:cs typeface="+mn-cs"/>
                  </a:rPr>
                  <a:t>. Sa règle de gouvernance est claire : </a:t>
                </a:r>
                <a:r>
                  <a:rPr lang="fr-FR" sz="1200" b="1" i="0" kern="1200" dirty="0">
                    <a:solidFill>
                      <a:schemeClr val="tx1"/>
                    </a:solidFill>
                    <a:effectLst/>
                    <a:latin typeface="+mn-lt"/>
                    <a:ea typeface="+mn-ea"/>
                    <a:cs typeface="+mn-cs"/>
                  </a:rPr>
                  <a:t>il pénalise beaucoup plus lourdement les risques cachés</a:t>
                </a:r>
                <a:r>
                  <a:rPr lang="fr-FR" sz="1200" b="0" i="0" kern="1200" dirty="0">
                    <a:solidFill>
                      <a:schemeClr val="tx1"/>
                    </a:solidFill>
                    <a:effectLst/>
                    <a:latin typeface="+mn-lt"/>
                    <a:ea typeface="+mn-ea"/>
                    <a:cs typeface="+mn-cs"/>
                  </a:rPr>
                  <a:t> (lorsqu'un opérateur sous-estime sans le savoir un danger réel) que la fausse urgence ou la </a:t>
                </a:r>
                <a:r>
                  <a:rPr lang="fr-FR" sz="1200" b="0" i="0" kern="1200" dirty="0" err="1">
                    <a:solidFill>
                      <a:schemeClr val="tx1"/>
                    </a:solidFill>
                    <a:effectLst/>
                    <a:latin typeface="+mn-lt"/>
                    <a:ea typeface="+mn-ea"/>
                    <a:cs typeface="+mn-cs"/>
                  </a:rPr>
                  <a:t>sur-réaction</a:t>
                </a:r>
                <a:r>
                  <a:rPr lang="fr-FR" sz="1200" b="0" i="0" kern="1200" dirty="0">
                    <a:solidFill>
                      <a:schemeClr val="tx1"/>
                    </a:solidFill>
                    <a:effectLst/>
                    <a:latin typeface="+mn-lt"/>
                    <a:ea typeface="+mn-ea"/>
                    <a:cs typeface="+mn-cs"/>
                  </a:rPr>
                  <a:t>.</a:t>
                </a:r>
              </a:p>
              <a:p>
                <a:endParaRPr lang="fr-FR" sz="1200" b="0" i="0" kern="1200" dirty="0">
                  <a:solidFill>
                    <a:schemeClr val="tx1"/>
                  </a:solidFill>
                  <a:effectLst/>
                  <a:latin typeface="+mn-lt"/>
                  <a:ea typeface="+mn-ea"/>
                  <a:cs typeface="+mn-cs"/>
                </a:endParaRPr>
              </a:p>
              <a:p>
                <a:r>
                  <a:rPr lang="fr-FR" sz="1200" b="0" i="0" kern="1200" dirty="0">
                    <a:solidFill>
                      <a:schemeClr val="tx1"/>
                    </a:solidFill>
                    <a:effectLst/>
                    <a:latin typeface="+mn-lt"/>
                    <a:ea typeface="+mn-ea"/>
                    <a:cs typeface="+mn-cs"/>
                  </a:rPr>
                  <a:t>C'est là qu'intervient la </a:t>
                </a:r>
                <a:r>
                  <a:rPr lang="fr-FR" sz="1200" b="1" i="0" kern="1200" dirty="0">
                    <a:solidFill>
                      <a:schemeClr val="tx1"/>
                    </a:solidFill>
                    <a:effectLst/>
                    <a:latin typeface="+mn-lt"/>
                    <a:ea typeface="+mn-ea"/>
                    <a:cs typeface="+mn-cs"/>
                  </a:rPr>
                  <a:t>campagne HÉLIOS</a:t>
                </a:r>
                <a:r>
                  <a:rPr lang="fr-FR" sz="1200" b="0" i="0" kern="1200" dirty="0">
                    <a:solidFill>
                      <a:schemeClr val="tx1"/>
                    </a:solidFill>
                    <a:effectLst/>
                    <a:latin typeface="+mn-lt"/>
                    <a:ea typeface="+mn-ea"/>
                    <a:cs typeface="+mn-cs"/>
                  </a:rPr>
                  <a:t> : il s'agit d'une expérimentation d’un POC sous forme de </a:t>
                </a:r>
                <a:r>
                  <a:rPr lang="fr-FR" sz="1200" b="0" i="1" kern="1200" dirty="0">
                    <a:solidFill>
                      <a:schemeClr val="tx1"/>
                    </a:solidFill>
                    <a:effectLst/>
                    <a:latin typeface="+mn-lt"/>
                    <a:ea typeface="+mn-ea"/>
                    <a:cs typeface="+mn-cs"/>
                  </a:rPr>
                  <a:t>Serious Game</a:t>
                </a:r>
                <a:r>
                  <a:rPr lang="fr-FR" sz="1200" b="0" i="0" kern="1200" dirty="0">
                    <a:solidFill>
                      <a:schemeClr val="tx1"/>
                    </a:solidFill>
                    <a:effectLst/>
                    <a:latin typeface="+mn-lt"/>
                    <a:ea typeface="+mn-ea"/>
                    <a:cs typeface="+mn-cs"/>
                  </a:rPr>
                  <a:t>. Concrètement, on rejoue la crise mondiale des semi-conducteurs de 2020 à 2022, sous forme de scénarios. Chaque joueur incarne un nœud de la chaîne.</a:t>
                </a:r>
              </a:p>
              <a:p>
                <a:r>
                  <a:rPr lang="fr-FR" sz="1200" b="0" i="0" kern="1200" dirty="0">
                    <a:solidFill>
                      <a:schemeClr val="tx1"/>
                    </a:solidFill>
                    <a:effectLst/>
                    <a:latin typeface="+mn-lt"/>
                    <a:ea typeface="+mn-ea"/>
                    <a:cs typeface="+mn-cs"/>
                  </a:rPr>
                  <a:t>L'objectif principal de cette campagne est d'évaluer si l'écart entre le déclaratif des opérateurs et la réalité des données contient des informations exploitables pour anticiper les crises, et valider le bon fonctionnement de </a:t>
                </a:r>
                <a:r>
                  <a:rPr lang="fr-FR" sz="1200" b="0" i="0" kern="1200" dirty="0" err="1">
                    <a:solidFill>
                      <a:schemeClr val="tx1"/>
                    </a:solidFill>
                    <a:effectLst/>
                    <a:latin typeface="+mn-lt"/>
                    <a:ea typeface="+mn-ea"/>
                    <a:cs typeface="+mn-cs"/>
                  </a:rPr>
                  <a:t>SuplyScore</a:t>
                </a:r>
                <a:r>
                  <a:rPr lang="fr-FR" sz="1200" b="0" i="0" kern="1200" dirty="0">
                    <a:solidFill>
                      <a:schemeClr val="tx1"/>
                    </a:solidFill>
                    <a:effectLst/>
                    <a:latin typeface="+mn-lt"/>
                    <a:ea typeface="+mn-ea"/>
                    <a:cs typeface="+mn-cs"/>
                  </a:rPr>
                  <a:t>.</a:t>
                </a:r>
              </a:p>
            </p:txBody>
          </p:sp>
        </mc:Fallback>
      </mc:AlternateContent>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Comment </a:t>
            </a:r>
            <a:r>
              <a:rPr lang="en-US" dirty="0" err="1"/>
              <a:t>fonctionne</a:t>
            </a:r>
            <a:r>
              <a:rPr lang="en-US" dirty="0"/>
              <a:t> la </a:t>
            </a:r>
            <a:r>
              <a:rPr lang="en-US" dirty="0" err="1"/>
              <a:t>partie</a:t>
            </a:r>
            <a:r>
              <a:rPr lang="en-US" dirty="0"/>
              <a:t> backend ? </a:t>
            </a:r>
            <a:br>
              <a:rPr lang="en-US" dirty="0"/>
            </a:br>
            <a:r>
              <a:rPr lang="en-US" dirty="0"/>
              <a:t>Elle </a:t>
            </a:r>
            <a:r>
              <a:rPr lang="en-US" dirty="0" err="1"/>
              <a:t>modelise</a:t>
            </a:r>
            <a:r>
              <a:rPr lang="en-US" dirty="0"/>
              <a:t> </a:t>
            </a:r>
            <a:r>
              <a:rPr lang="en-US" dirty="0" err="1"/>
              <a:t>une</a:t>
            </a:r>
            <a:r>
              <a:rPr lang="en-US" dirty="0"/>
              <a:t> chaîne </a:t>
            </a:r>
            <a:r>
              <a:rPr lang="en-US" dirty="0" err="1"/>
              <a:t>d'approvisionnement</a:t>
            </a:r>
            <a:r>
              <a:rPr lang="en-US" dirty="0"/>
              <a:t>, et </a:t>
            </a:r>
            <a:r>
              <a:rPr lang="en-US" dirty="0" err="1"/>
              <a:t>annalyse</a:t>
            </a:r>
            <a:r>
              <a:rPr lang="en-US" dirty="0"/>
              <a:t> 2 type </a:t>
            </a:r>
            <a:r>
              <a:rPr lang="en-US" dirty="0" err="1"/>
              <a:t>d’urgence</a:t>
            </a:r>
            <a:r>
              <a:rPr lang="en-US" dirty="0"/>
              <a:t>.</a:t>
            </a:r>
            <a:br>
              <a:rPr lang="en-US" dirty="0"/>
            </a:br>
            <a:r>
              <a:rPr lang="en-US" dirty="0"/>
              <a:t>Une urgence </a:t>
            </a:r>
            <a:r>
              <a:rPr lang="en-US" dirty="0" err="1"/>
              <a:t>déclarée</a:t>
            </a:r>
            <a:r>
              <a:rPr lang="en-US" dirty="0"/>
              <a:t> : c'est le Ud, recueilli chaque semaine. </a:t>
            </a:r>
            <a:br>
              <a:rPr lang="en-US" dirty="0"/>
            </a:br>
            <a:r>
              <a:rPr lang="en-US" dirty="0"/>
              <a:t>En parallèle, le jumeau numérique calcule une urgence réelle, le Ur, à partir des indicateurs physiques : délais, capacité, coûts, risques. </a:t>
            </a:r>
          </a:p>
          <a:p>
            <a:br>
              <a:rPr lang="en-US" dirty="0"/>
            </a:br>
            <a:r>
              <a:rPr lang="en-US" dirty="0"/>
              <a:t>Et on part du </a:t>
            </a:r>
            <a:r>
              <a:rPr lang="en-US" dirty="0" err="1"/>
              <a:t>posteriorit</a:t>
            </a:r>
            <a:r>
              <a:rPr lang="en-US" dirty="0"/>
              <a:t> </a:t>
            </a:r>
            <a:r>
              <a:rPr lang="en-US" dirty="0" err="1"/>
              <a:t>que</a:t>
            </a:r>
            <a:r>
              <a:rPr lang="en-US" dirty="0"/>
              <a:t> </a:t>
            </a:r>
          </a:p>
          <a:p>
            <a:r>
              <a:rPr lang="en-US" dirty="0"/>
              <a:t>Quand la déclaration dépasse la réalité, c'est de la fausse urgence : de la </a:t>
            </a:r>
            <a:r>
              <a:rPr lang="en-US" dirty="0" err="1"/>
              <a:t>panique</a:t>
            </a:r>
            <a:r>
              <a:rPr lang="en-US" dirty="0"/>
              <a:t>, des ressources gaspillées. </a:t>
            </a:r>
          </a:p>
          <a:p>
            <a:r>
              <a:rPr lang="en-US" dirty="0"/>
              <a:t>Quand la réalité dépasse la déclaration, c'est du risque caché : la rupture qui se construit en silence, celle qu'on découvre trop tard. </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Comment </a:t>
            </a:r>
            <a:r>
              <a:rPr lang="en-US" dirty="0" err="1"/>
              <a:t>mesure</a:t>
            </a:r>
            <a:r>
              <a:rPr lang="en-US" dirty="0"/>
              <a:t>-t-on la perception sans trop la </a:t>
            </a:r>
            <a:r>
              <a:rPr lang="en-US" dirty="0" err="1"/>
              <a:t>déformer</a:t>
            </a:r>
            <a:r>
              <a:rPr lang="en-US" dirty="0"/>
              <a:t> ? </a:t>
            </a:r>
            <a:r>
              <a:rPr lang="en-US" dirty="0" err="1"/>
              <a:t>J’utulise</a:t>
            </a:r>
            <a:r>
              <a:rPr lang="en-US" dirty="0"/>
              <a:t> la </a:t>
            </a:r>
            <a:r>
              <a:rPr lang="en-US" dirty="0" err="1"/>
              <a:t>méthode</a:t>
            </a:r>
            <a:r>
              <a:rPr lang="en-US" dirty="0"/>
              <a:t>. Chaque consultant compare deux à deux quatre critères : l'impact opérationnel, la fenêtre temporelle, les dépendances aval et la récupérabilité, puis note chaque critère. </a:t>
            </a:r>
          </a:p>
          <a:p>
            <a:endParaRPr lang="en-US" dirty="0"/>
          </a:p>
          <a:p>
            <a:r>
              <a:rPr lang="en-US" dirty="0" err="1"/>
              <a:t>L'urgence</a:t>
            </a:r>
            <a:r>
              <a:rPr lang="en-US" dirty="0"/>
              <a:t> déclarée est la moyenne pondérée des notes, ramenée entre 0 et 1</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Ur </a:t>
            </a:r>
            <a:r>
              <a:rPr lang="en-US" dirty="0" err="1"/>
              <a:t>prevenire</a:t>
            </a:r>
            <a:r>
              <a:rPr lang="en-US" dirty="0"/>
              <a:t> de 3 sources </a:t>
            </a:r>
            <a:r>
              <a:rPr lang="en-US" dirty="0" err="1"/>
              <a:t>publiques</a:t>
            </a:r>
            <a:r>
              <a:rPr lang="en-US" dirty="0"/>
              <a:t>. </a:t>
            </a:r>
          </a:p>
          <a:p>
            <a:r>
              <a:rPr lang="en-US" dirty="0"/>
              <a:t>INSEE: la production de composants, les prix industriels, les défaillances d'entreprises, le taux d'utilisation des capacités. </a:t>
            </a:r>
          </a:p>
          <a:p>
            <a:r>
              <a:rPr lang="en-US" dirty="0"/>
              <a:t>Le rapport WSTS, la </a:t>
            </a:r>
            <a:r>
              <a:rPr lang="en-US" dirty="0" err="1"/>
              <a:t>référence</a:t>
            </a:r>
            <a:r>
              <a:rPr lang="en-US" dirty="0"/>
              <a:t> pour la </a:t>
            </a:r>
            <a:r>
              <a:rPr lang="en-US" dirty="0" err="1"/>
              <a:t>facturations</a:t>
            </a:r>
            <a:r>
              <a:rPr lang="en-US" dirty="0"/>
              <a:t> de semi-conducteurs, qui pilote la demande du fondeur. </a:t>
            </a:r>
          </a:p>
          <a:p>
            <a:r>
              <a:rPr lang="en-US" dirty="0" err="1"/>
              <a:t>DataSet</a:t>
            </a:r>
            <a:r>
              <a:rPr lang="en-US" dirty="0"/>
              <a:t> Kaggle sur les prix </a:t>
            </a:r>
            <a:r>
              <a:rPr lang="en-US" dirty="0" err="1"/>
              <a:t>américains</a:t>
            </a:r>
            <a:r>
              <a:rPr lang="en-US" dirty="0"/>
              <a:t> des semi-</a:t>
            </a:r>
            <a:r>
              <a:rPr lang="en-US" dirty="0" err="1"/>
              <a:t>conducteurs</a:t>
            </a:r>
            <a:endParaRPr lang="en-US" dirty="0"/>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err="1"/>
              <a:t>Obejctif</a:t>
            </a:r>
            <a:r>
              <a:rPr lang="en-US" dirty="0"/>
              <a:t> </a:t>
            </a:r>
            <a:r>
              <a:rPr lang="en-US" dirty="0" err="1"/>
              <a:t>Rejouer</a:t>
            </a:r>
            <a:r>
              <a:rPr lang="en-US" dirty="0"/>
              <a:t> la </a:t>
            </a:r>
            <a:r>
              <a:rPr lang="en-US" dirty="0" err="1"/>
              <a:t>pénurie</a:t>
            </a:r>
            <a:r>
              <a:rPr lang="en-US" dirty="0"/>
              <a:t> mondiale de semi-conducteurs. Sans </a:t>
            </a:r>
            <a:r>
              <a:rPr lang="en-US" dirty="0" err="1"/>
              <a:t>que</a:t>
            </a:r>
            <a:r>
              <a:rPr lang="en-US" dirty="0"/>
              <a:t> les participants arrive a le </a:t>
            </a:r>
            <a:r>
              <a:rPr lang="en-US" dirty="0" err="1"/>
              <a:t>reconaitre</a:t>
            </a:r>
            <a:r>
              <a:rPr lang="en-US" dirty="0"/>
              <a:t> </a:t>
            </a:r>
            <a:r>
              <a:rPr lang="en-US" dirty="0" err="1"/>
              <a:t>immediatement</a:t>
            </a:r>
            <a:r>
              <a:rPr lang="en-US" dirty="0"/>
              <a:t> </a:t>
            </a:r>
          </a:p>
          <a:p>
            <a:endParaRPr lang="en-US" dirty="0"/>
          </a:p>
          <a:p>
            <a:r>
              <a:rPr lang="en-US" dirty="0" err="1"/>
              <a:t>Donc</a:t>
            </a:r>
            <a:r>
              <a:rPr lang="en-US" dirty="0"/>
              <a:t> mise </a:t>
            </a:r>
            <a:r>
              <a:rPr lang="en-US" dirty="0" err="1"/>
              <a:t>en</a:t>
            </a:r>
            <a:r>
              <a:rPr lang="en-US" dirty="0"/>
              <a:t> place d’un </a:t>
            </a:r>
            <a:r>
              <a:rPr lang="en-US" dirty="0" err="1"/>
              <a:t>narratif</a:t>
            </a:r>
            <a:r>
              <a:rPr lang="en-US" dirty="0"/>
              <a:t> : un programme spatial fictif, deux satellites à livrer, des entreprises renommées. </a:t>
            </a:r>
          </a:p>
          <a:p>
            <a:r>
              <a:rPr lang="en-US" dirty="0" err="1"/>
              <a:t>Chaque</a:t>
            </a:r>
            <a:r>
              <a:rPr lang="en-US" dirty="0"/>
              <a:t> </a:t>
            </a:r>
            <a:r>
              <a:rPr lang="en-US" dirty="0" err="1"/>
              <a:t>joeur</a:t>
            </a:r>
            <a:r>
              <a:rPr lang="en-US" dirty="0"/>
              <a:t> est </a:t>
            </a:r>
            <a:r>
              <a:rPr lang="en-US" dirty="0" err="1"/>
              <a:t>responsable</a:t>
            </a:r>
            <a:r>
              <a:rPr lang="en-US" dirty="0"/>
              <a:t> </a:t>
            </a:r>
            <a:r>
              <a:rPr lang="en-US" dirty="0" err="1"/>
              <a:t>logistique</a:t>
            </a:r>
            <a:r>
              <a:rPr lang="en-US" dirty="0"/>
              <a:t> d'un maillon : le client satellite à Toulouse, l'avionique à Bordeaux, les cartes à Cholet, la distribution à Rungis, le fret au Havre, et en amont le fondeur NovaFab, ancré sur TSMC et les fabs d'Austin, le second fondeur Meridian, calqué sur GlobalFoundries, et le fournisseur de wafers SilPure, calqué sur Shin-Etsu. </a:t>
            </a:r>
          </a:p>
          <a:p>
            <a:endParaRPr lang="en-US" dirty="0"/>
          </a:p>
          <a:p>
            <a:r>
              <a:rPr lang="en-US" dirty="0"/>
              <a:t>Un tour de jeu représente un mois réel ; dix-huit tours couvrent la crise de septembre 2020 à février 2022.</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err="1"/>
              <a:t>Chaque</a:t>
            </a:r>
            <a:r>
              <a:rPr lang="en-US" dirty="0"/>
              <a:t> personne a quelque chose de différent à vivre. </a:t>
            </a:r>
          </a:p>
          <a:p>
            <a:r>
              <a:rPr lang="en-US" dirty="0" err="1"/>
              <a:t>Orbitalys</a:t>
            </a:r>
            <a:r>
              <a:rPr lang="en-US" dirty="0"/>
              <a:t>, le client, </a:t>
            </a:r>
            <a:r>
              <a:rPr lang="en-US" dirty="0" err="1"/>
              <a:t>voit</a:t>
            </a:r>
            <a:r>
              <a:rPr lang="en-US" dirty="0"/>
              <a:t> la crise qu'à travers la presse et son </a:t>
            </a:r>
            <a:r>
              <a:rPr lang="en-US" dirty="0" err="1"/>
              <a:t>fournisseur</a:t>
            </a:r>
            <a:r>
              <a:rPr lang="en-US" dirty="0"/>
              <a:t> direct. </a:t>
            </a:r>
          </a:p>
          <a:p>
            <a:r>
              <a:rPr lang="en-US" dirty="0" err="1"/>
              <a:t>AvioSys</a:t>
            </a:r>
            <a:r>
              <a:rPr lang="en-US" dirty="0"/>
              <a:t>, son stock de composants qualifiés fond de onze à sept semaines, et toute substitution de </a:t>
            </a:r>
            <a:r>
              <a:rPr lang="en-US" dirty="0" err="1"/>
              <a:t>fournisseurs</a:t>
            </a:r>
            <a:r>
              <a:rPr lang="en-US" dirty="0"/>
              <a:t> coûterait six </a:t>
            </a:r>
            <a:r>
              <a:rPr lang="en-US" dirty="0" err="1"/>
              <a:t>mois</a:t>
            </a:r>
            <a:r>
              <a:rPr lang="en-US" dirty="0"/>
              <a:t>. </a:t>
            </a:r>
          </a:p>
          <a:p>
            <a:r>
              <a:rPr lang="en-US" dirty="0" err="1"/>
              <a:t>Électis</a:t>
            </a:r>
            <a:r>
              <a:rPr lang="en-US" dirty="0"/>
              <a:t> subit les arbitrages entre lignes clients et finit par perdre sa propre capacité. </a:t>
            </a:r>
          </a:p>
          <a:p>
            <a:r>
              <a:rPr lang="en-US" dirty="0" err="1"/>
              <a:t>CompoDis</a:t>
            </a:r>
            <a:r>
              <a:rPr lang="en-US" dirty="0"/>
              <a:t>, </a:t>
            </a:r>
            <a:r>
              <a:rPr lang="en-US" dirty="0" err="1"/>
              <a:t>voit</a:t>
            </a:r>
            <a:r>
              <a:rPr lang="en-US" dirty="0"/>
              <a:t> tout le monde </a:t>
            </a:r>
            <a:r>
              <a:rPr lang="en-US" dirty="0" err="1"/>
              <a:t>paniquer</a:t>
            </a:r>
            <a:r>
              <a:rPr lang="en-US" dirty="0"/>
              <a:t> et </a:t>
            </a:r>
            <a:r>
              <a:rPr lang="en-US" dirty="0" err="1"/>
              <a:t>alimente</a:t>
            </a:r>
            <a:r>
              <a:rPr lang="en-US" dirty="0"/>
              <a:t> </a:t>
            </a:r>
            <a:r>
              <a:rPr lang="en-US" dirty="0" err="1"/>
              <a:t>lui-même</a:t>
            </a:r>
            <a:r>
              <a:rPr lang="en-US" dirty="0"/>
              <a:t> la </a:t>
            </a:r>
            <a:r>
              <a:rPr lang="en-US" dirty="0" err="1"/>
              <a:t>panique</a:t>
            </a:r>
            <a:r>
              <a:rPr lang="en-US" dirty="0"/>
              <a:t>. </a:t>
            </a:r>
          </a:p>
          <a:p>
            <a:r>
              <a:rPr lang="en-US" dirty="0" err="1"/>
              <a:t>TransGlobal</a:t>
            </a:r>
            <a:r>
              <a:rPr lang="en-US" dirty="0"/>
              <a:t> </a:t>
            </a:r>
            <a:r>
              <a:rPr lang="en-US" dirty="0" err="1"/>
              <a:t>encaisse</a:t>
            </a:r>
            <a:r>
              <a:rPr lang="en-US" dirty="0"/>
              <a:t> les crises, </a:t>
            </a:r>
            <a:r>
              <a:rPr lang="en-US" dirty="0" err="1"/>
              <a:t>malgres</a:t>
            </a:r>
            <a:r>
              <a:rPr lang="en-US" dirty="0"/>
              <a:t> son habitude de petites crises </a:t>
            </a:r>
            <a:r>
              <a:rPr lang="en-US" dirty="0" err="1"/>
              <a:t>courtes</a:t>
            </a:r>
            <a:r>
              <a:rPr lang="en-US" dirty="0"/>
              <a:t>. Il se rend compte </a:t>
            </a:r>
            <a:r>
              <a:rPr lang="en-US" dirty="0" err="1"/>
              <a:t>que</a:t>
            </a:r>
            <a:r>
              <a:rPr lang="en-US" dirty="0"/>
              <a:t> la crise est plus longue </a:t>
            </a:r>
            <a:r>
              <a:rPr lang="en-US" dirty="0" err="1"/>
              <a:t>que</a:t>
            </a:r>
            <a:r>
              <a:rPr lang="en-US" dirty="0"/>
              <a:t> prevue et </a:t>
            </a:r>
            <a:r>
              <a:rPr lang="en-US" dirty="0" err="1"/>
              <a:t>panique</a:t>
            </a:r>
            <a:r>
              <a:rPr lang="en-US" dirty="0"/>
              <a:t>.</a:t>
            </a:r>
          </a:p>
          <a:p>
            <a:r>
              <a:rPr lang="en-US" dirty="0" err="1"/>
              <a:t>NovaFab</a:t>
            </a:r>
            <a:r>
              <a:rPr lang="en-US" dirty="0"/>
              <a:t>, </a:t>
            </a:r>
            <a:r>
              <a:rPr lang="en-US" dirty="0" err="1"/>
              <a:t>sait</a:t>
            </a:r>
            <a:r>
              <a:rPr lang="en-US" dirty="0"/>
              <a:t> </a:t>
            </a:r>
            <a:r>
              <a:rPr lang="en-US" dirty="0" err="1"/>
              <a:t>ce</a:t>
            </a:r>
            <a:r>
              <a:rPr lang="en-US" dirty="0"/>
              <a:t> </a:t>
            </a:r>
            <a:r>
              <a:rPr lang="en-US" dirty="0" err="1"/>
              <a:t>que</a:t>
            </a:r>
            <a:r>
              <a:rPr lang="en-US" dirty="0"/>
              <a:t> les </a:t>
            </a:r>
            <a:r>
              <a:rPr lang="en-US" dirty="0" err="1"/>
              <a:t>autres</a:t>
            </a:r>
            <a:r>
              <a:rPr lang="en-US" dirty="0"/>
              <a:t> </a:t>
            </a:r>
            <a:r>
              <a:rPr lang="en-US" dirty="0" err="1"/>
              <a:t>devinent</a:t>
            </a:r>
            <a:r>
              <a:rPr lang="en-US" dirty="0"/>
              <a:t>, ( </a:t>
            </a:r>
            <a:r>
              <a:rPr lang="en-US" dirty="0" err="1"/>
              <a:t>que</a:t>
            </a:r>
            <a:r>
              <a:rPr lang="en-US" dirty="0"/>
              <a:t> </a:t>
            </a:r>
            <a:r>
              <a:rPr lang="en-US" dirty="0" err="1"/>
              <a:t>c’est</a:t>
            </a:r>
            <a:r>
              <a:rPr lang="en-US" dirty="0"/>
              <a:t> </a:t>
            </a:r>
            <a:r>
              <a:rPr lang="en-US" dirty="0" err="1"/>
              <a:t>une</a:t>
            </a:r>
            <a:r>
              <a:rPr lang="en-US" dirty="0"/>
              <a:t> crise </a:t>
            </a:r>
            <a:r>
              <a:rPr lang="en-US" dirty="0" err="1"/>
              <a:t>majeur</a:t>
            </a:r>
            <a:r>
              <a:rPr lang="en-US" dirty="0"/>
              <a:t>), et tout </a:t>
            </a:r>
            <a:r>
              <a:rPr lang="en-US" dirty="0" err="1"/>
              <a:t>l'enjeu</a:t>
            </a:r>
            <a:r>
              <a:rPr lang="en-US" dirty="0"/>
              <a:t> est </a:t>
            </a:r>
            <a:r>
              <a:rPr lang="en-US" dirty="0" err="1"/>
              <a:t>l'écart</a:t>
            </a:r>
            <a:r>
              <a:rPr lang="en-US" dirty="0"/>
              <a:t> entre son </a:t>
            </a:r>
            <a:r>
              <a:rPr lang="en-US" dirty="0" err="1"/>
              <a:t>jugement</a:t>
            </a:r>
            <a:r>
              <a:rPr lang="en-US" dirty="0"/>
              <a:t> </a:t>
            </a:r>
            <a:r>
              <a:rPr lang="en-US" dirty="0" err="1"/>
              <a:t>honnête</a:t>
            </a:r>
            <a:r>
              <a:rPr lang="en-US" dirty="0"/>
              <a:t> et </a:t>
            </a:r>
            <a:r>
              <a:rPr lang="en-US" dirty="0" err="1"/>
              <a:t>sa</a:t>
            </a:r>
            <a:r>
              <a:rPr lang="en-US" dirty="0"/>
              <a:t> communication corporate dans </a:t>
            </a:r>
            <a:r>
              <a:rPr lang="en-US" dirty="0" err="1"/>
              <a:t>l’objectif</a:t>
            </a:r>
            <a:r>
              <a:rPr lang="en-US" dirty="0"/>
              <a:t> de </a:t>
            </a:r>
            <a:r>
              <a:rPr lang="en-US" dirty="0" err="1"/>
              <a:t>rassurer</a:t>
            </a:r>
            <a:r>
              <a:rPr lang="en-US" dirty="0"/>
              <a:t> tout le monde. </a:t>
            </a:r>
          </a:p>
          <a:p>
            <a:r>
              <a:rPr lang="en-US" dirty="0"/>
              <a:t>Meridian est un faux </a:t>
            </a:r>
            <a:r>
              <a:rPr lang="en-US" dirty="0" err="1"/>
              <a:t>sauveur</a:t>
            </a:r>
            <a:r>
              <a:rPr lang="en-US" dirty="0"/>
              <a:t> </a:t>
            </a:r>
            <a:r>
              <a:rPr lang="en-US" dirty="0" err="1"/>
              <a:t>sollicité</a:t>
            </a:r>
            <a:r>
              <a:rPr lang="en-US" dirty="0"/>
              <a:t> de </a:t>
            </a:r>
            <a:r>
              <a:rPr lang="en-US" dirty="0" err="1"/>
              <a:t>partout</a:t>
            </a:r>
            <a:r>
              <a:rPr lang="en-US" dirty="0"/>
              <a:t> et incapable de </a:t>
            </a:r>
            <a:r>
              <a:rPr lang="en-US" dirty="0" err="1"/>
              <a:t>vraiment</a:t>
            </a:r>
            <a:r>
              <a:rPr lang="en-US" dirty="0"/>
              <a:t> aider</a:t>
            </a:r>
          </a:p>
          <a:p>
            <a:r>
              <a:rPr lang="en-US" dirty="0" err="1"/>
              <a:t>SilPure</a:t>
            </a:r>
            <a:r>
              <a:rPr lang="en-US" dirty="0"/>
              <a:t> est, </a:t>
            </a:r>
            <a:r>
              <a:rPr lang="en-US" dirty="0" err="1"/>
              <a:t>calme</a:t>
            </a:r>
            <a:r>
              <a:rPr lang="en-US" dirty="0"/>
              <a:t> et long-</a:t>
            </a:r>
            <a:r>
              <a:rPr lang="en-US" dirty="0" err="1"/>
              <a:t>termiste</a:t>
            </a:r>
            <a:r>
              <a:rPr lang="en-US" dirty="0"/>
              <a:t>, qui </a:t>
            </a:r>
            <a:r>
              <a:rPr lang="en-US" dirty="0" err="1"/>
              <a:t>sert</a:t>
            </a:r>
            <a:r>
              <a:rPr lang="en-US" dirty="0"/>
              <a:t> à tester </a:t>
            </a:r>
            <a:r>
              <a:rPr lang="en-US" dirty="0" err="1"/>
              <a:t>si</a:t>
            </a:r>
            <a:r>
              <a:rPr lang="en-US" dirty="0"/>
              <a:t> la </a:t>
            </a:r>
            <a:r>
              <a:rPr lang="en-US" dirty="0" err="1"/>
              <a:t>panique</a:t>
            </a:r>
            <a:r>
              <a:rPr lang="en-US" dirty="0"/>
              <a:t> se </a:t>
            </a:r>
            <a:r>
              <a:rPr lang="en-US" dirty="0" err="1"/>
              <a:t>propage</a:t>
            </a:r>
            <a:r>
              <a:rPr lang="en-US" dirty="0"/>
              <a:t> par contagion entre </a:t>
            </a:r>
            <a:r>
              <a:rPr lang="en-US" dirty="0" err="1"/>
              <a:t>acteurs</a:t>
            </a:r>
            <a:endParaRPr lang="en-US" dirty="0"/>
          </a:p>
          <a:p>
            <a:endParaRPr lang="en-US" dirty="0"/>
          </a:p>
          <a:p>
            <a:r>
              <a:rPr lang="en-US" dirty="0"/>
              <a:t>Deux </a:t>
            </a:r>
            <a:r>
              <a:rPr lang="en-US" dirty="0" err="1"/>
              <a:t>personnages</a:t>
            </a:r>
            <a:r>
              <a:rPr lang="en-US" dirty="0"/>
              <a:t> jamais </a:t>
            </a:r>
            <a:r>
              <a:rPr lang="en-US" dirty="0" err="1"/>
              <a:t>joués</a:t>
            </a:r>
            <a:r>
              <a:rPr lang="en-US" dirty="0"/>
              <a:t> </a:t>
            </a:r>
            <a:r>
              <a:rPr lang="en-US" dirty="0" err="1"/>
              <a:t>rythment</a:t>
            </a:r>
            <a:r>
              <a:rPr lang="en-US" dirty="0"/>
              <a:t> le </a:t>
            </a:r>
            <a:r>
              <a:rPr lang="en-US" dirty="0" err="1"/>
              <a:t>récit</a:t>
            </a:r>
            <a:r>
              <a:rPr lang="en-US" dirty="0"/>
              <a:t> : Claire Vasseur </a:t>
            </a:r>
            <a:r>
              <a:rPr lang="en-US" dirty="0" err="1"/>
              <a:t>côté</a:t>
            </a:r>
            <a:r>
              <a:rPr lang="en-US" dirty="0"/>
              <a:t> client, </a:t>
            </a:r>
            <a:r>
              <a:rPr lang="en-US" dirty="0" err="1"/>
              <a:t>dont</a:t>
            </a:r>
            <a:r>
              <a:rPr lang="en-US" dirty="0"/>
              <a:t> les </a:t>
            </a:r>
            <a:r>
              <a:rPr lang="en-US" dirty="0" err="1"/>
              <a:t>courriels</a:t>
            </a:r>
            <a:r>
              <a:rPr lang="en-US" dirty="0"/>
              <a:t> </a:t>
            </a:r>
            <a:r>
              <a:rPr lang="en-US" dirty="0" err="1"/>
              <a:t>marquent</a:t>
            </a:r>
            <a:r>
              <a:rPr lang="en-US" dirty="0"/>
              <a:t> </a:t>
            </a:r>
            <a:r>
              <a:rPr lang="en-US" dirty="0" err="1"/>
              <a:t>chaque</a:t>
            </a:r>
            <a:r>
              <a:rPr lang="en-US" dirty="0"/>
              <a:t> evolution, et Wei-Han Lu chez le </a:t>
            </a:r>
            <a:r>
              <a:rPr lang="en-US" dirty="0" err="1"/>
              <a:t>fondeur</a:t>
            </a:r>
            <a:r>
              <a:rPr lang="en-US" dirty="0"/>
              <a:t>, </a:t>
            </a:r>
            <a:r>
              <a:rPr lang="en-US" dirty="0" err="1"/>
              <a:t>dont</a:t>
            </a:r>
            <a:r>
              <a:rPr lang="en-US" dirty="0"/>
              <a:t> les </a:t>
            </a:r>
            <a:r>
              <a:rPr lang="en-US" dirty="0" err="1"/>
              <a:t>réponses</a:t>
            </a:r>
            <a:r>
              <a:rPr lang="en-US" dirty="0"/>
              <a:t> aux </a:t>
            </a:r>
            <a:r>
              <a:rPr lang="en-US" dirty="0" err="1"/>
              <a:t>demandes</a:t>
            </a:r>
            <a:r>
              <a:rPr lang="en-US" dirty="0"/>
              <a:t> </a:t>
            </a:r>
            <a:r>
              <a:rPr lang="en-US" dirty="0" err="1"/>
              <a:t>d'allocation</a:t>
            </a:r>
            <a:r>
              <a:rPr lang="en-US" dirty="0"/>
              <a:t> </a:t>
            </a:r>
            <a:r>
              <a:rPr lang="en-US" dirty="0" err="1"/>
              <a:t>servent</a:t>
            </a:r>
            <a:r>
              <a:rPr lang="en-US" dirty="0"/>
              <a:t> de </a:t>
            </a:r>
            <a:r>
              <a:rPr lang="en-US" dirty="0" err="1"/>
              <a:t>baromètre</a:t>
            </a:r>
            <a:r>
              <a:rPr lang="en-US" dirty="0"/>
              <a:t>.</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La crise est rejouée en cinq actes, chacun calé sur la </a:t>
            </a:r>
            <a:r>
              <a:rPr lang="en-US" dirty="0" err="1"/>
              <a:t>chronologie</a:t>
            </a:r>
            <a:r>
              <a:rPr lang="en-US" dirty="0"/>
              <a:t> </a:t>
            </a:r>
            <a:r>
              <a:rPr lang="en-US" dirty="0" err="1"/>
              <a:t>réel</a:t>
            </a:r>
            <a:r>
              <a:rPr lang="en-US" dirty="0"/>
              <a:t>. </a:t>
            </a:r>
          </a:p>
          <a:p>
            <a:r>
              <a:rPr lang="en-US" dirty="0"/>
              <a:t>la baseline : quatre tours de signaux faibles, </a:t>
            </a:r>
          </a:p>
          <a:p>
            <a:r>
              <a:rPr lang="en-US" dirty="0" err="1"/>
              <a:t>L'acte</a:t>
            </a:r>
            <a:r>
              <a:rPr lang="en-US" dirty="0"/>
              <a:t> deux, la bascule : le gel du Texas qui arrête la fab à chaud, l'incendie chez Renesas, le porte-conteneurs en travers du canal de Suez, et les délais publiés qui doublent. </a:t>
            </a:r>
          </a:p>
          <a:p>
            <a:r>
              <a:rPr lang="en-US" dirty="0" err="1"/>
              <a:t>L'acte</a:t>
            </a:r>
            <a:r>
              <a:rPr lang="en-US" dirty="0"/>
              <a:t> trois, l'étau : la sécheresse historique à Taïwan, l'eau ultrapure rationnée, le marché spot qui s'envole, et le backend d'Asie du Sud-Est qui casse. </a:t>
            </a:r>
          </a:p>
          <a:p>
            <a:r>
              <a:rPr lang="en-US" dirty="0" err="1"/>
              <a:t>L'acte</a:t>
            </a:r>
            <a:r>
              <a:rPr lang="en-US" dirty="0"/>
              <a:t> quatre, la rupture : Toyota coupe 40% de </a:t>
            </a:r>
            <a:r>
              <a:rPr lang="en-US" dirty="0" err="1"/>
              <a:t>sa</a:t>
            </a:r>
            <a:r>
              <a:rPr lang="en-US" dirty="0"/>
              <a:t> production, le bullwhip se déclenche, et le premier satellite glisse officiellement. </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lIns="110962" tIns="55481" rIns="110962" bIns="55481"/>
              <a:lstStyle/>
              <a:p>
                <a:r>
                  <a:rPr lang="fr-FR" dirty="0"/>
                  <a:t>Explication Complète : Comparaison </a:t>
                </a:r>
                <a:r>
                  <a:rPr lang="fr-FR" dirty="0" err="1"/>
                  <a:t>DryRun</a:t>
                </a:r>
                <a:r>
                  <a:rPr lang="fr-FR" dirty="0"/>
                  <a:t> (Synthétique) vs. LLM Pilot (8 Agents AI)</a:t>
                </a:r>
              </a:p>
              <a:p>
                <a:endParaRPr lang="fr-FR" dirty="0"/>
              </a:p>
              <a:p>
                <a:r>
                  <a:rPr lang="fr-FR" dirty="0"/>
                  <a:t>Ce graphique retrace la crise des semi-conducteurs rejouée sur les 18 tours </a:t>
                </a:r>
                <a:br>
                  <a:rPr lang="fr-FR" dirty="0"/>
                </a:br>
                <a:r>
                  <a:rPr lang="fr-FR" dirty="0"/>
                  <a:t>Pour chaque nœud, trois courbes sont superposées :</a:t>
                </a:r>
              </a:p>
              <a:p>
                <a:r>
                  <a:rPr lang="fr-FR" dirty="0"/>
                  <a:t>1.  Urgence réelle opérationnelle : Calculée par le moteur physique de </a:t>
                </a:r>
                <a:r>
                  <a:rPr lang="fr-FR" dirty="0" err="1"/>
                  <a:t>SupplyScore</a:t>
                </a:r>
                <a:r>
                  <a:rPr lang="fr-FR" dirty="0"/>
                  <a:t> à partir des données de terrain (délais fournisseurs, stocks, capacités, OEE, fret, événements).</a:t>
                </a:r>
              </a:p>
              <a:p>
                <a:r>
                  <a:rPr lang="fr-FR" dirty="0"/>
                  <a:t>2. Urgence déclarée synthétique : Générée mécaniquement par un algorithme simple (1 + 8x(Ur + bruit)). Par construction, elle colle au plus près du signal physique local sans décalage ni émotion.</a:t>
                </a:r>
              </a:p>
              <a:p>
                <a:r>
                  <a:rPr lang="fr-FR" dirty="0"/>
                  <a:t>3. Urgence déclarée par 8 agents IA autonomes: Produite par 8 agents LLM incarnant chaque rôle (sans accès aux autres rôles ni au futur), répondant au questionnaire AHP.</a:t>
                </a:r>
              </a:p>
              <a:p>
                <a:endParaRPr lang="fr-FR" dirty="0"/>
              </a:p>
              <a:p>
                <a:endParaRPr lang="fr-FR" dirty="0"/>
              </a:p>
              <a:p>
                <a:r>
                  <a:rPr lang="fr-FR" dirty="0"/>
                  <a:t>## 2. Bilan des 3 Phénomènes Psychologiques &amp; Opérationnels Révélés</a:t>
                </a:r>
              </a:p>
              <a:p>
                <a:endParaRPr lang="fr-FR" dirty="0"/>
              </a:p>
              <a:p>
                <a:r>
                  <a:rPr lang="fr-FR" sz="1200" b="1" i="0" kern="1200" dirty="0">
                    <a:solidFill>
                      <a:schemeClr val="tx1"/>
                    </a:solidFill>
                    <a:effectLst/>
                    <a:latin typeface="+mn-lt"/>
                    <a:ea typeface="+mn-ea"/>
                    <a:cs typeface="+mn-cs"/>
                  </a:rPr>
                  <a:t>Latence Cognitive -&gt; </a:t>
                </a:r>
                <a:r>
                  <a:rPr lang="fr-FR" sz="1200" b="0" i="0" kern="1200" dirty="0">
                    <a:solidFill>
                      <a:schemeClr val="tx1"/>
                    </a:solidFill>
                    <a:effectLst/>
                    <a:latin typeface="+mn-lt"/>
                    <a:ea typeface="+mn-ea"/>
                    <a:cs typeface="+mn-cs"/>
                  </a:rPr>
                  <a:t>Retard de </a:t>
                </a:r>
                <a14:m>
                  <m:oMath xmlns:m="http://schemas.openxmlformats.org/officeDocument/2006/math">
                    <m:sSub>
                      <m:sSubPr>
                        <m:ctrlPr>
                          <a:rPr lang="fr-FR" sz="1200" kern="1200">
                            <a:solidFill>
                              <a:schemeClr val="tx1"/>
                            </a:solidFill>
                            <a:latin typeface="+mn-lt"/>
                            <a:ea typeface="+mn-ea"/>
                            <a:cs typeface="+mn-cs"/>
                          </a:rPr>
                        </m:ctrlPr>
                      </m:sSubPr>
                      <m:e>
                        <m:r>
                          <a:rPr lang="fr-FR" sz="1200" i="1" kern="1200">
                            <a:solidFill>
                              <a:schemeClr val="tx1"/>
                            </a:solidFill>
                            <a:latin typeface="+mn-lt"/>
                            <a:ea typeface="+mn-ea"/>
                            <a:cs typeface="+mn-cs"/>
                          </a:rPr>
                          <m:t>𝑈</m:t>
                        </m:r>
                      </m:e>
                      <m:sub>
                        <m:r>
                          <a:rPr lang="fr-FR" sz="1200" i="1" kern="1200">
                            <a:solidFill>
                              <a:schemeClr val="tx1"/>
                            </a:solidFill>
                            <a:latin typeface="+mn-lt"/>
                            <a:ea typeface="+mn-ea"/>
                            <a:cs typeface="+mn-cs"/>
                          </a:rPr>
                          <m:t>𝑑</m:t>
                        </m:r>
                      </m:sub>
                    </m:sSub>
                  </m:oMath>
                </a14:m>
                <a:r>
                  <a:rPr lang="fr-FR" sz="1200" b="0" i="0" kern="1200" dirty="0">
                    <a:solidFill>
                      <a:schemeClr val="tx1"/>
                    </a:solidFill>
                    <a:effectLst/>
                    <a:latin typeface="+mn-lt"/>
                    <a:ea typeface="+mn-ea"/>
                    <a:cs typeface="+mn-cs"/>
                  </a:rPr>
                  <a:t> sur </a:t>
                </a:r>
                <a14:m>
                  <m:oMath xmlns:m="http://schemas.openxmlformats.org/officeDocument/2006/math">
                    <m:sSub>
                      <m:sSubPr>
                        <m:ctrlPr>
                          <a:rPr lang="fr-FR" sz="1200" kern="1200">
                            <a:solidFill>
                              <a:schemeClr val="tx1"/>
                            </a:solidFill>
                            <a:latin typeface="+mn-lt"/>
                            <a:ea typeface="+mn-ea"/>
                            <a:cs typeface="+mn-cs"/>
                          </a:rPr>
                        </m:ctrlPr>
                      </m:sSubPr>
                      <m:e>
                        <m:r>
                          <a:rPr lang="fr-FR" sz="1200" i="1" kern="1200">
                            <a:solidFill>
                              <a:schemeClr val="tx1"/>
                            </a:solidFill>
                            <a:latin typeface="+mn-lt"/>
                            <a:ea typeface="+mn-ea"/>
                            <a:cs typeface="+mn-cs"/>
                          </a:rPr>
                          <m:t>𝑈</m:t>
                        </m:r>
                      </m:e>
                      <m:sub>
                        <m:r>
                          <a:rPr lang="fr-FR" sz="1200" i="1" kern="1200">
                            <a:solidFill>
                              <a:schemeClr val="tx1"/>
                            </a:solidFill>
                            <a:latin typeface="+mn-lt"/>
                            <a:ea typeface="+mn-ea"/>
                            <a:cs typeface="+mn-cs"/>
                          </a:rPr>
                          <m:t>𝑟</m:t>
                        </m:r>
                      </m:sub>
                    </m:sSub>
                  </m:oMath>
                </a14:m>
                <a:r>
                  <a:rPr lang="fr-FR" sz="1200" b="0" i="0" kern="1200" dirty="0">
                    <a:solidFill>
                      <a:schemeClr val="tx1"/>
                    </a:solidFill>
                    <a:effectLst/>
                    <a:latin typeface="+mn-lt"/>
                    <a:ea typeface="+mn-ea"/>
                    <a:cs typeface="+mn-cs"/>
                  </a:rPr>
                  <a:t> chez les clients aval (</a:t>
                </a:r>
                <a:r>
                  <a:rPr lang="fr-FR" sz="1200" b="0" i="0" kern="1200" dirty="0" err="1">
                    <a:solidFill>
                      <a:schemeClr val="tx1"/>
                    </a:solidFill>
                    <a:effectLst/>
                    <a:latin typeface="+mn-lt"/>
                    <a:ea typeface="+mn-ea"/>
                    <a:cs typeface="+mn-cs"/>
                  </a:rPr>
                  <a:t>Orbitalys</a:t>
                </a:r>
                <a:r>
                  <a:rPr lang="fr-FR" sz="1200" b="0" i="0" kern="1200" dirty="0">
                    <a:solidFill>
                      <a:schemeClr val="tx1"/>
                    </a:solidFill>
                    <a:effectLst/>
                    <a:latin typeface="+mn-lt"/>
                    <a:ea typeface="+mn-ea"/>
                    <a:cs typeface="+mn-cs"/>
                  </a:rPr>
                  <a:t>, </a:t>
                </a:r>
                <a:r>
                  <a:rPr lang="fr-FR" sz="1200" b="0" i="0" kern="1200" dirty="0" err="1">
                    <a:solidFill>
                      <a:schemeClr val="tx1"/>
                    </a:solidFill>
                    <a:effectLst/>
                    <a:latin typeface="+mn-lt"/>
                    <a:ea typeface="+mn-ea"/>
                    <a:cs typeface="+mn-cs"/>
                  </a:rPr>
                  <a:t>AvioSys</a:t>
                </a:r>
                <a:r>
                  <a:rPr lang="fr-FR" sz="1200" b="0" i="0" kern="1200" dirty="0">
                    <a:solidFill>
                      <a:schemeClr val="tx1"/>
                    </a:solidFill>
                    <a:effectLst/>
                    <a:latin typeface="+mn-lt"/>
                    <a:ea typeface="+mn-ea"/>
                    <a:cs typeface="+mn-cs"/>
                  </a:rPr>
                  <a:t>) aux tours T3–T5. -&gt; Le client ne voit pas le risque arriver à temps en raison du masque créé par ses stocks de couverture.</a:t>
                </a:r>
              </a:p>
              <a:p>
                <a:endParaRPr lang="fr-FR" sz="1200" b="0" i="0" kern="1200" dirty="0">
                  <a:solidFill>
                    <a:schemeClr val="tx1"/>
                  </a:solidFill>
                  <a:effectLst/>
                  <a:latin typeface="+mn-lt"/>
                  <a:ea typeface="+mn-ea"/>
                  <a:cs typeface="+mn-cs"/>
                </a:endParaRPr>
              </a:p>
              <a:p>
                <a:r>
                  <a:rPr lang="fr-FR" sz="1200" b="1" i="0" kern="1200" dirty="0" err="1">
                    <a:solidFill>
                      <a:schemeClr val="tx1"/>
                    </a:solidFill>
                    <a:effectLst/>
                    <a:latin typeface="+mn-lt"/>
                    <a:ea typeface="+mn-ea"/>
                    <a:cs typeface="+mn-cs"/>
                  </a:rPr>
                  <a:t>Sur-réaction</a:t>
                </a:r>
                <a:r>
                  <a:rPr lang="fr-FR" sz="1200" b="1" i="0" kern="1200" dirty="0">
                    <a:solidFill>
                      <a:schemeClr val="tx1"/>
                    </a:solidFill>
                    <a:effectLst/>
                    <a:latin typeface="+mn-lt"/>
                    <a:ea typeface="+mn-ea"/>
                    <a:cs typeface="+mn-cs"/>
                  </a:rPr>
                  <a:t> &amp; Contagion -&gt; </a:t>
                </a:r>
                <a:r>
                  <a:rPr lang="fr-FR" sz="1200" b="0" i="0" kern="1200" dirty="0">
                    <a:solidFill>
                      <a:schemeClr val="tx1"/>
                    </a:solidFill>
                    <a:effectLst/>
                    <a:latin typeface="+mn-lt"/>
                    <a:ea typeface="+mn-ea"/>
                    <a:cs typeface="+mn-cs"/>
                  </a:rPr>
                  <a:t>Explosion précoce de </a:t>
                </a:r>
                <a14:m>
                  <m:oMath xmlns:m="http://schemas.openxmlformats.org/officeDocument/2006/math">
                    <m:sSub>
                      <m:sSubPr>
                        <m:ctrlPr>
                          <a:rPr lang="fr-FR" sz="1200" kern="1200">
                            <a:solidFill>
                              <a:schemeClr val="tx1"/>
                            </a:solidFill>
                            <a:latin typeface="+mn-lt"/>
                            <a:ea typeface="+mn-ea"/>
                            <a:cs typeface="+mn-cs"/>
                          </a:rPr>
                        </m:ctrlPr>
                      </m:sSubPr>
                      <m:e>
                        <m:r>
                          <a:rPr lang="fr-FR" sz="1200" i="1" kern="1200">
                            <a:solidFill>
                              <a:schemeClr val="tx1"/>
                            </a:solidFill>
                            <a:latin typeface="+mn-lt"/>
                            <a:ea typeface="+mn-ea"/>
                            <a:cs typeface="+mn-cs"/>
                          </a:rPr>
                          <m:t>𝑈</m:t>
                        </m:r>
                      </m:e>
                      <m:sub>
                        <m:r>
                          <a:rPr lang="fr-FR" sz="1200" i="1" kern="1200">
                            <a:solidFill>
                              <a:schemeClr val="tx1"/>
                            </a:solidFill>
                            <a:latin typeface="+mn-lt"/>
                            <a:ea typeface="+mn-ea"/>
                            <a:cs typeface="+mn-cs"/>
                          </a:rPr>
                          <m:t>𝑑</m:t>
                        </m:r>
                      </m:sub>
                    </m:sSub>
                  </m:oMath>
                </a14:m>
                <a:r>
                  <a:rPr lang="fr-FR" sz="1200" b="0" i="0" kern="1200" dirty="0">
                    <a:solidFill>
                      <a:schemeClr val="tx1"/>
                    </a:solidFill>
                    <a:effectLst/>
                    <a:latin typeface="+mn-lt"/>
                    <a:ea typeface="+mn-ea"/>
                    <a:cs typeface="+mn-cs"/>
                  </a:rPr>
                  <a:t> chez les nœuds profonds et backups (Meridian, </a:t>
                </a:r>
                <a:r>
                  <a:rPr lang="fr-FR" sz="1200" b="0" i="0" kern="1200" dirty="0" err="1">
                    <a:solidFill>
                      <a:schemeClr val="tx1"/>
                    </a:solidFill>
                    <a:effectLst/>
                    <a:latin typeface="+mn-lt"/>
                    <a:ea typeface="+mn-ea"/>
                    <a:cs typeface="+mn-cs"/>
                  </a:rPr>
                  <a:t>SilPure</a:t>
                </a:r>
                <a:r>
                  <a:rPr lang="fr-FR" sz="1200" b="0" i="0" kern="1200" dirty="0">
                    <a:solidFill>
                      <a:schemeClr val="tx1"/>
                    </a:solidFill>
                    <a:effectLst/>
                    <a:latin typeface="+mn-lt"/>
                    <a:ea typeface="+mn-ea"/>
                    <a:cs typeface="+mn-cs"/>
                  </a:rPr>
                  <a:t>) alors que </a:t>
                </a:r>
                <a14:m>
                  <m:oMath xmlns:m="http://schemas.openxmlformats.org/officeDocument/2006/math">
                    <m:sSub>
                      <m:sSubPr>
                        <m:ctrlPr>
                          <a:rPr lang="fr-FR" sz="1200" kern="1200">
                            <a:solidFill>
                              <a:schemeClr val="tx1"/>
                            </a:solidFill>
                            <a:latin typeface="+mn-lt"/>
                            <a:ea typeface="+mn-ea"/>
                            <a:cs typeface="+mn-cs"/>
                          </a:rPr>
                        </m:ctrlPr>
                      </m:sSubPr>
                      <m:e>
                        <m:r>
                          <a:rPr lang="fr-FR" sz="1200" i="1" kern="1200">
                            <a:solidFill>
                              <a:schemeClr val="tx1"/>
                            </a:solidFill>
                            <a:latin typeface="+mn-lt"/>
                            <a:ea typeface="+mn-ea"/>
                            <a:cs typeface="+mn-cs"/>
                          </a:rPr>
                          <m:t>𝑈</m:t>
                        </m:r>
                      </m:e>
                      <m:sub>
                        <m:r>
                          <a:rPr lang="fr-FR" sz="1200" i="1" kern="1200">
                            <a:solidFill>
                              <a:schemeClr val="tx1"/>
                            </a:solidFill>
                            <a:latin typeface="+mn-lt"/>
                            <a:ea typeface="+mn-ea"/>
                            <a:cs typeface="+mn-cs"/>
                          </a:rPr>
                          <m:t>𝑟</m:t>
                        </m:r>
                      </m:sub>
                    </m:sSub>
                  </m:oMath>
                </a14:m>
                <a:r>
                  <a:rPr lang="fr-FR" sz="1200" b="0" i="0" kern="1200" dirty="0">
                    <a:solidFill>
                      <a:schemeClr val="tx1"/>
                    </a:solidFill>
                    <a:effectLst/>
                    <a:latin typeface="+mn-lt"/>
                    <a:ea typeface="+mn-ea"/>
                    <a:cs typeface="+mn-cs"/>
                  </a:rPr>
                  <a:t> est encore bas. -&gt; Création d'une « fausse urgence » (</a:t>
                </a:r>
                <a14:m>
                  <m:oMath xmlns:m="http://schemas.openxmlformats.org/officeDocument/2006/math">
                    <m:r>
                      <a:rPr lang="fr-FR" sz="1200" i="1" kern="1200">
                        <a:solidFill>
                          <a:schemeClr val="tx1"/>
                        </a:solidFill>
                        <a:latin typeface="+mn-lt"/>
                        <a:ea typeface="+mn-ea"/>
                        <a:cs typeface="+mn-cs"/>
                      </a:rPr>
                      <m:t>𝐹</m:t>
                    </m:r>
                  </m:oMath>
                </a14:m>
                <a:r>
                  <a:rPr lang="fr-FR" sz="1200" b="0" i="0" kern="1200" dirty="0">
                    <a:solidFill>
                      <a:schemeClr val="tx1"/>
                    </a:solidFill>
                    <a:effectLst/>
                    <a:latin typeface="+mn-lt"/>
                    <a:ea typeface="+mn-ea"/>
                    <a:cs typeface="+mn-cs"/>
                  </a:rPr>
                  <a:t>) et </a:t>
                </a:r>
                <a:r>
                  <a:rPr lang="fr-FR" sz="1200" b="0" i="0" kern="1200" dirty="0" err="1">
                    <a:solidFill>
                      <a:schemeClr val="tx1"/>
                    </a:solidFill>
                    <a:effectLst/>
                    <a:latin typeface="+mn-lt"/>
                    <a:ea typeface="+mn-ea"/>
                    <a:cs typeface="+mn-cs"/>
                  </a:rPr>
                  <a:t>sur-réservations</a:t>
                </a:r>
                <a:r>
                  <a:rPr lang="fr-FR" sz="1200" b="0" i="0" kern="1200" dirty="0">
                    <a:solidFill>
                      <a:schemeClr val="tx1"/>
                    </a:solidFill>
                    <a:effectLst/>
                    <a:latin typeface="+mn-lt"/>
                    <a:ea typeface="+mn-ea"/>
                    <a:cs typeface="+mn-cs"/>
                  </a:rPr>
                  <a:t> de capacités qui aggravent la pénurie.</a:t>
                </a:r>
              </a:p>
              <a:p>
                <a:endParaRPr lang="fr-FR" sz="1200" b="0" i="0" kern="1200" dirty="0">
                  <a:solidFill>
                    <a:schemeClr val="tx1"/>
                  </a:solidFill>
                  <a:effectLst/>
                  <a:latin typeface="+mn-lt"/>
                  <a:ea typeface="+mn-ea"/>
                  <a:cs typeface="+mn-cs"/>
                </a:endParaRPr>
              </a:p>
              <a:p>
                <a:r>
                  <a:rPr lang="fr-FR" sz="1200" b="1" i="0" kern="1200" dirty="0">
                    <a:solidFill>
                      <a:schemeClr val="tx1"/>
                    </a:solidFill>
                    <a:effectLst/>
                    <a:latin typeface="+mn-lt"/>
                    <a:ea typeface="+mn-ea"/>
                    <a:cs typeface="+mn-cs"/>
                  </a:rPr>
                  <a:t>Hystérésis de redescente -&gt; </a:t>
                </a:r>
                <a:r>
                  <a:rPr lang="fr-FR" sz="1200" b="0" i="0" kern="1200" dirty="0">
                    <a:solidFill>
                      <a:schemeClr val="tx1"/>
                    </a:solidFill>
                    <a:effectLst/>
                    <a:latin typeface="+mn-lt"/>
                    <a:ea typeface="+mn-ea"/>
                    <a:cs typeface="+mn-cs"/>
                  </a:rPr>
                  <a:t>À T17–T18, </a:t>
                </a:r>
                <a14:m>
                  <m:oMath xmlns:m="http://schemas.openxmlformats.org/officeDocument/2006/math">
                    <m:sSub>
                      <m:sSubPr>
                        <m:ctrlPr>
                          <a:rPr lang="fr-FR" sz="1200" kern="1200">
                            <a:solidFill>
                              <a:schemeClr val="tx1"/>
                            </a:solidFill>
                            <a:latin typeface="+mn-lt"/>
                            <a:ea typeface="+mn-ea"/>
                            <a:cs typeface="+mn-cs"/>
                          </a:rPr>
                        </m:ctrlPr>
                      </m:sSubPr>
                      <m:e>
                        <m:r>
                          <a:rPr lang="fr-FR" sz="1200" i="1" kern="1200">
                            <a:solidFill>
                              <a:schemeClr val="tx1"/>
                            </a:solidFill>
                            <a:latin typeface="+mn-lt"/>
                            <a:ea typeface="+mn-ea"/>
                            <a:cs typeface="+mn-cs"/>
                          </a:rPr>
                          <m:t>𝑈</m:t>
                        </m:r>
                      </m:e>
                      <m:sub>
                        <m:r>
                          <a:rPr lang="fr-FR" sz="1200" i="1" kern="1200">
                            <a:solidFill>
                              <a:schemeClr val="tx1"/>
                            </a:solidFill>
                            <a:latin typeface="+mn-lt"/>
                            <a:ea typeface="+mn-ea"/>
                            <a:cs typeface="+mn-cs"/>
                          </a:rPr>
                          <m:t>𝑟</m:t>
                        </m:r>
                      </m:sub>
                    </m:sSub>
                  </m:oMath>
                </a14:m>
                <a:r>
                  <a:rPr lang="fr-FR" sz="1200" b="0" i="0" kern="1200" dirty="0">
                    <a:solidFill>
                      <a:schemeClr val="tx1"/>
                    </a:solidFill>
                    <a:effectLst/>
                    <a:latin typeface="+mn-lt"/>
                    <a:ea typeface="+mn-ea"/>
                    <a:cs typeface="+mn-cs"/>
                  </a:rPr>
                  <a:t> chute plus vite que </a:t>
                </a:r>
                <a14:m>
                  <m:oMath xmlns:m="http://schemas.openxmlformats.org/officeDocument/2006/math">
                    <m:sSub>
                      <m:sSubPr>
                        <m:ctrlPr>
                          <a:rPr lang="fr-FR" sz="1200" kern="1200">
                            <a:solidFill>
                              <a:schemeClr val="tx1"/>
                            </a:solidFill>
                            <a:latin typeface="+mn-lt"/>
                            <a:ea typeface="+mn-ea"/>
                            <a:cs typeface="+mn-cs"/>
                          </a:rPr>
                        </m:ctrlPr>
                      </m:sSubPr>
                      <m:e>
                        <m:r>
                          <a:rPr lang="fr-FR" sz="1200" i="1" kern="1200">
                            <a:solidFill>
                              <a:schemeClr val="tx1"/>
                            </a:solidFill>
                            <a:latin typeface="+mn-lt"/>
                            <a:ea typeface="+mn-ea"/>
                            <a:cs typeface="+mn-cs"/>
                          </a:rPr>
                          <m:t>𝑈</m:t>
                        </m:r>
                      </m:e>
                      <m:sub>
                        <m:r>
                          <a:rPr lang="fr-FR" sz="1200" i="1" kern="1200">
                            <a:solidFill>
                              <a:schemeClr val="tx1"/>
                            </a:solidFill>
                            <a:latin typeface="+mn-lt"/>
                            <a:ea typeface="+mn-ea"/>
                            <a:cs typeface="+mn-cs"/>
                          </a:rPr>
                          <m:t>𝑑</m:t>
                        </m:r>
                      </m:sub>
                    </m:sSub>
                  </m:oMath>
                </a14:m>
                <a:r>
                  <a:rPr lang="fr-FR" sz="1200" b="0" i="0" kern="1200" dirty="0">
                    <a:solidFill>
                      <a:schemeClr val="tx1"/>
                    </a:solidFill>
                    <a:effectLst/>
                    <a:latin typeface="+mn-lt"/>
                    <a:ea typeface="+mn-ea"/>
                    <a:cs typeface="+mn-cs"/>
                  </a:rPr>
                  <a:t>, les joueurs/humains restant méfiant. -&gt; Maintien de mesures d'urgence contractuelles alors que les flux physiques reviennent à la normale.</a:t>
                </a:r>
                <a:br>
                  <a:rPr lang="fr-FR" sz="1200" b="0" i="0" kern="1200" dirty="0">
                    <a:solidFill>
                      <a:schemeClr val="tx1"/>
                    </a:solidFill>
                    <a:effectLst/>
                    <a:latin typeface="+mn-lt"/>
                    <a:ea typeface="+mn-ea"/>
                    <a:cs typeface="+mn-cs"/>
                  </a:rPr>
                </a:br>
                <a:br>
                  <a:rPr lang="fr-FR" sz="1200" b="0" i="0" kern="1200" dirty="0">
                    <a:solidFill>
                      <a:schemeClr val="tx1"/>
                    </a:solidFill>
                    <a:effectLst/>
                    <a:latin typeface="+mn-lt"/>
                    <a:ea typeface="+mn-ea"/>
                    <a:cs typeface="+mn-cs"/>
                  </a:rPr>
                </a:br>
                <a:br>
                  <a:rPr lang="fr-FR" sz="1200" b="0" i="0" kern="1200" dirty="0">
                    <a:solidFill>
                      <a:schemeClr val="tx1"/>
                    </a:solidFill>
                    <a:effectLst/>
                    <a:latin typeface="+mn-lt"/>
                    <a:ea typeface="+mn-ea"/>
                    <a:cs typeface="+mn-cs"/>
                  </a:rPr>
                </a:br>
                <a:endParaRPr lang="fr-FR" sz="1200" b="0" i="0" kern="1200" dirty="0">
                  <a:solidFill>
                    <a:schemeClr val="tx1"/>
                  </a:solidFill>
                  <a:effectLst/>
                  <a:latin typeface="+mn-lt"/>
                  <a:ea typeface="+mn-ea"/>
                  <a:cs typeface="+mn-cs"/>
                </a:endParaRPr>
              </a:p>
              <a:p>
                <a:endParaRPr lang="fr-FR" sz="1200" b="0" i="0" kern="1200" dirty="0">
                  <a:solidFill>
                    <a:schemeClr val="tx1"/>
                  </a:solidFill>
                  <a:effectLst/>
                  <a:latin typeface="+mn-lt"/>
                  <a:ea typeface="+mn-ea"/>
                  <a:cs typeface="+mn-cs"/>
                </a:endParaRPr>
              </a:p>
              <a:p>
                <a:r>
                  <a:rPr lang="fr-FR" sz="1200" b="1" i="0" kern="1200" dirty="0">
                    <a:solidFill>
                      <a:schemeClr val="tx1"/>
                    </a:solidFill>
                    <a:effectLst/>
                    <a:latin typeface="+mn-lt"/>
                    <a:ea typeface="+mn-ea"/>
                    <a:cs typeface="+mn-cs"/>
                  </a:rPr>
                  <a:t>Phase P2 — Bascule (T5–T8)</a:t>
                </a:r>
                <a:r>
                  <a:rPr lang="fr-FR" sz="1200" b="0" i="0" kern="1200" dirty="0">
                    <a:solidFill>
                      <a:schemeClr val="tx1"/>
                    </a:solidFill>
                    <a:effectLst/>
                    <a:latin typeface="+mn-lt"/>
                    <a:ea typeface="+mn-ea"/>
                    <a:cs typeface="+mn-cs"/>
                  </a:rPr>
                  <a:t> :</a:t>
                </a:r>
              </a:p>
              <a:p>
                <a:pPr lvl="1"/>
                <a:r>
                  <a:rPr lang="fr-FR" sz="1200" b="0" i="0" kern="1200" dirty="0">
                    <a:solidFill>
                      <a:schemeClr val="tx1"/>
                    </a:solidFill>
                    <a:effectLst/>
                    <a:latin typeface="+mn-lt"/>
                    <a:ea typeface="+mn-ea"/>
                    <a:cs typeface="+mn-cs"/>
                  </a:rPr>
                  <a:t>Dans le </a:t>
                </a:r>
                <a:r>
                  <a:rPr lang="fr-FR" sz="1200" b="1" i="0" kern="1200" dirty="0">
                    <a:solidFill>
                      <a:schemeClr val="tx1"/>
                    </a:solidFill>
                    <a:effectLst/>
                    <a:latin typeface="+mn-lt"/>
                    <a:ea typeface="+mn-ea"/>
                    <a:cs typeface="+mn-cs"/>
                  </a:rPr>
                  <a:t>LLM Pilot</a:t>
                </a:r>
                <a:r>
                  <a:rPr lang="fr-FR" sz="1200" b="0" i="0" kern="1200" dirty="0">
                    <a:solidFill>
                      <a:schemeClr val="tx1"/>
                    </a:solidFill>
                    <a:effectLst/>
                    <a:latin typeface="+mn-lt"/>
                    <a:ea typeface="+mn-ea"/>
                    <a:cs typeface="+mn-cs"/>
                  </a:rPr>
                  <a:t>, l'adéquation moyenne chute plus fort à </a:t>
                </a:r>
                <a:r>
                  <a:rPr lang="fr-FR" sz="1200" b="1" i="0" kern="1200" dirty="0">
                    <a:solidFill>
                      <a:schemeClr val="tx1"/>
                    </a:solidFill>
                    <a:effectLst/>
                    <a:latin typeface="+mn-lt"/>
                    <a:ea typeface="+mn-ea"/>
                    <a:cs typeface="+mn-cs"/>
                  </a:rPr>
                  <a:t>T5</a:t>
                </a:r>
                <a:r>
                  <a:rPr lang="fr-FR" sz="1200" b="0" i="0" kern="1200" dirty="0">
                    <a:solidFill>
                      <a:schemeClr val="tx1"/>
                    </a:solidFill>
                    <a:effectLst/>
                    <a:latin typeface="+mn-lt"/>
                    <a:ea typeface="+mn-ea"/>
                    <a:cs typeface="+mn-cs"/>
                  </a:rPr>
                  <a:t> (jusqu'à </a:t>
                </a:r>
                <a14:m>
                  <m:oMath xmlns:m="http://schemas.openxmlformats.org/officeDocument/2006/math">
                    <m:r>
                      <a:rPr lang="fr-FR" sz="1600" i="1" kern="1200">
                        <a:solidFill>
                          <a:schemeClr val="tx1"/>
                        </a:solidFill>
                        <a:latin typeface="+mn-lt"/>
                        <a:ea typeface="+mn-ea"/>
                        <a:cs typeface="+mn-cs"/>
                      </a:rPr>
                      <m:t>𝐴</m:t>
                    </m:r>
                    <m:r>
                      <a:rPr lang="fr-FR" sz="1600" i="0" kern="1200">
                        <a:solidFill>
                          <a:schemeClr val="tx1"/>
                        </a:solidFill>
                        <a:latin typeface="+mn-lt"/>
                        <a:ea typeface="+mn-ea"/>
                        <a:cs typeface="+mn-cs"/>
                      </a:rPr>
                      <m:t>=44,4%</m:t>
                    </m:r>
                  </m:oMath>
                </a14:m>
                <a:r>
                  <a:rPr lang="fr-FR" sz="1200" b="0" i="0" kern="1200" dirty="0">
                    <a:solidFill>
                      <a:schemeClr val="tx1"/>
                    </a:solidFill>
                    <a:effectLst/>
                    <a:latin typeface="+mn-lt"/>
                    <a:ea typeface="+mn-ea"/>
                    <a:cs typeface="+mn-cs"/>
                  </a:rPr>
                  <a:t>), car les agents LLM ne perçoivent pas immédiatement l'ampleur du choc amont.</a:t>
                </a:r>
              </a:p>
              <a:p>
                <a:r>
                  <a:rPr lang="fr-FR" sz="1200" b="1" i="0" kern="1200" dirty="0">
                    <a:solidFill>
                      <a:schemeClr val="tx1"/>
                    </a:solidFill>
                    <a:effectLst/>
                    <a:latin typeface="+mn-lt"/>
                    <a:ea typeface="+mn-ea"/>
                    <a:cs typeface="+mn-cs"/>
                  </a:rPr>
                  <a:t>Phase P3 &amp; P4 — Étau et Rupture (T9–T16)</a:t>
                </a:r>
                <a:r>
                  <a:rPr lang="fr-FR" sz="1200" b="0" i="0" kern="1200" dirty="0">
                    <a:solidFill>
                      <a:schemeClr val="tx1"/>
                    </a:solidFill>
                    <a:effectLst/>
                    <a:latin typeface="+mn-lt"/>
                    <a:ea typeface="+mn-ea"/>
                    <a:cs typeface="+mn-cs"/>
                  </a:rPr>
                  <a:t> :</a:t>
                </a:r>
              </a:p>
              <a:p>
                <a:pPr lvl="1"/>
                <a:r>
                  <a:rPr lang="fr-FR" sz="1200" b="0" i="0" kern="1200" dirty="0">
                    <a:solidFill>
                      <a:schemeClr val="tx1"/>
                    </a:solidFill>
                    <a:effectLst/>
                    <a:latin typeface="+mn-lt"/>
                    <a:ea typeface="+mn-ea"/>
                    <a:cs typeface="+mn-cs"/>
                  </a:rPr>
                  <a:t>Alors que le </a:t>
                </a:r>
                <a:r>
                  <a:rPr lang="fr-FR" sz="1200" b="1" i="0" kern="1200" dirty="0" err="1">
                    <a:solidFill>
                      <a:schemeClr val="tx1"/>
                    </a:solidFill>
                    <a:effectLst/>
                    <a:latin typeface="+mn-lt"/>
                    <a:ea typeface="+mn-ea"/>
                    <a:cs typeface="+mn-cs"/>
                  </a:rPr>
                  <a:t>DryRun</a:t>
                </a:r>
                <a:r>
                  <a:rPr lang="fr-FR" sz="1200" b="0" i="0" kern="1200" dirty="0">
                    <a:solidFill>
                      <a:schemeClr val="tx1"/>
                    </a:solidFill>
                    <a:effectLst/>
                    <a:latin typeface="+mn-lt"/>
                    <a:ea typeface="+mn-ea"/>
                    <a:cs typeface="+mn-cs"/>
                  </a:rPr>
                  <a:t> (synthétique) s'alignait artificiellement à </a:t>
                </a:r>
                <a14:m>
                  <m:oMath xmlns:m="http://schemas.openxmlformats.org/officeDocument/2006/math">
                    <m:r>
                      <a:rPr lang="fr-FR" sz="1600" i="1" kern="1200">
                        <a:solidFill>
                          <a:schemeClr val="tx1"/>
                        </a:solidFill>
                        <a:latin typeface="+mn-lt"/>
                        <a:ea typeface="+mn-ea"/>
                        <a:cs typeface="+mn-cs"/>
                      </a:rPr>
                      <m:t>𝐴</m:t>
                    </m:r>
                    <m:r>
                      <a:rPr lang="fr-FR" sz="1600" i="0" kern="1200">
                        <a:solidFill>
                          <a:schemeClr val="tx1"/>
                        </a:solidFill>
                        <a:latin typeface="+mn-lt"/>
                        <a:ea typeface="+mn-ea"/>
                        <a:cs typeface="+mn-cs"/>
                      </a:rPr>
                      <m:t>≈90%</m:t>
                    </m:r>
                  </m:oMath>
                </a14:m>
                <a:r>
                  <a:rPr lang="fr-FR" sz="1200" b="0" i="0" kern="1200" dirty="0">
                    <a:solidFill>
                      <a:schemeClr val="tx1"/>
                    </a:solidFill>
                    <a:effectLst/>
                    <a:latin typeface="+mn-lt"/>
                    <a:ea typeface="+mn-ea"/>
                    <a:cs typeface="+mn-cs"/>
                  </a:rPr>
                  <a:t> (car le </a:t>
                </a:r>
                <a14:m>
                  <m:oMath xmlns:m="http://schemas.openxmlformats.org/officeDocument/2006/math">
                    <m:sSub>
                      <m:sSubPr>
                        <m:ctrlPr>
                          <a:rPr lang="fr-FR" sz="1600" kern="1200">
                            <a:solidFill>
                              <a:schemeClr val="tx1"/>
                            </a:solidFill>
                            <a:latin typeface="+mn-lt"/>
                            <a:ea typeface="+mn-ea"/>
                            <a:cs typeface="+mn-cs"/>
                          </a:rPr>
                        </m:ctrlPr>
                      </m:sSubPr>
                      <m:e>
                        <m:r>
                          <a:rPr lang="fr-FR" sz="1600" i="1" kern="1200">
                            <a:solidFill>
                              <a:schemeClr val="tx1"/>
                            </a:solidFill>
                            <a:latin typeface="+mn-lt"/>
                            <a:ea typeface="+mn-ea"/>
                            <a:cs typeface="+mn-cs"/>
                          </a:rPr>
                          <m:t>𝑈</m:t>
                        </m:r>
                      </m:e>
                      <m:sub>
                        <m:r>
                          <a:rPr lang="fr-FR" sz="1600" i="1" kern="1200">
                            <a:solidFill>
                              <a:schemeClr val="tx1"/>
                            </a:solidFill>
                            <a:latin typeface="+mn-lt"/>
                            <a:ea typeface="+mn-ea"/>
                            <a:cs typeface="+mn-cs"/>
                          </a:rPr>
                          <m:t>𝑑</m:t>
                        </m:r>
                      </m:sub>
                    </m:sSub>
                  </m:oMath>
                </a14:m>
                <a:r>
                  <a:rPr lang="fr-FR" sz="1200" b="0" i="0" kern="1200" dirty="0">
                    <a:solidFill>
                      <a:schemeClr val="tx1"/>
                    </a:solidFill>
                    <a:effectLst/>
                    <a:latin typeface="+mn-lt"/>
                    <a:ea typeface="+mn-ea"/>
                    <a:cs typeface="+mn-cs"/>
                  </a:rPr>
                  <a:t> synthétique collait directement au </a:t>
                </a:r>
                <a14:m>
                  <m:oMath xmlns:m="http://schemas.openxmlformats.org/officeDocument/2006/math">
                    <m:sSub>
                      <m:sSubPr>
                        <m:ctrlPr>
                          <a:rPr lang="fr-FR" sz="1600" kern="1200">
                            <a:solidFill>
                              <a:schemeClr val="tx1"/>
                            </a:solidFill>
                            <a:latin typeface="+mn-lt"/>
                            <a:ea typeface="+mn-ea"/>
                            <a:cs typeface="+mn-cs"/>
                          </a:rPr>
                        </m:ctrlPr>
                      </m:sSubPr>
                      <m:e>
                        <m:r>
                          <a:rPr lang="fr-FR" sz="1600" i="1" kern="1200">
                            <a:solidFill>
                              <a:schemeClr val="tx1"/>
                            </a:solidFill>
                            <a:latin typeface="+mn-lt"/>
                            <a:ea typeface="+mn-ea"/>
                            <a:cs typeface="+mn-cs"/>
                          </a:rPr>
                          <m:t>𝑈</m:t>
                        </m:r>
                      </m:e>
                      <m:sub>
                        <m:r>
                          <a:rPr lang="fr-FR" sz="1600" i="1" kern="1200">
                            <a:solidFill>
                              <a:schemeClr val="tx1"/>
                            </a:solidFill>
                            <a:latin typeface="+mn-lt"/>
                            <a:ea typeface="+mn-ea"/>
                            <a:cs typeface="+mn-cs"/>
                          </a:rPr>
                          <m:t>𝑟</m:t>
                        </m:r>
                      </m:sub>
                    </m:sSub>
                  </m:oMath>
                </a14:m>
                <a:r>
                  <a:rPr lang="fr-FR" sz="1200" b="0" i="0" kern="1200" dirty="0">
                    <a:solidFill>
                      <a:schemeClr val="tx1"/>
                    </a:solidFill>
                    <a:effectLst/>
                    <a:latin typeface="+mn-lt"/>
                    <a:ea typeface="+mn-ea"/>
                    <a:cs typeface="+mn-cs"/>
                  </a:rPr>
                  <a:t> local), le </a:t>
                </a:r>
                <a:r>
                  <a:rPr lang="fr-FR" sz="1200" b="1" i="0" kern="1200" dirty="0">
                    <a:solidFill>
                      <a:schemeClr val="tx1"/>
                    </a:solidFill>
                    <a:effectLst/>
                    <a:latin typeface="+mn-lt"/>
                    <a:ea typeface="+mn-ea"/>
                    <a:cs typeface="+mn-cs"/>
                  </a:rPr>
                  <a:t>LLM Pilot</a:t>
                </a:r>
                <a:r>
                  <a:rPr lang="fr-FR" sz="1200" b="0" i="0" kern="1200" dirty="0">
                    <a:solidFill>
                      <a:schemeClr val="tx1"/>
                    </a:solidFill>
                    <a:effectLst/>
                    <a:latin typeface="+mn-lt"/>
                    <a:ea typeface="+mn-ea"/>
                    <a:cs typeface="+mn-cs"/>
                  </a:rPr>
                  <a:t> maintient un score d'adéquation plus réaliste autour de </a:t>
                </a:r>
                <a14:m>
                  <m:oMath xmlns:m="http://schemas.openxmlformats.org/officeDocument/2006/math">
                    <m:r>
                      <a:rPr lang="fr-FR" sz="1600" kern="1200">
                        <a:solidFill>
                          <a:schemeClr val="tx1"/>
                        </a:solidFill>
                        <a:latin typeface="+mn-lt"/>
                        <a:ea typeface="+mn-ea"/>
                        <a:cs typeface="+mn-cs"/>
                      </a:rPr>
                      <m:t>75</m:t>
                    </m:r>
                    <m:r>
                      <a:rPr lang="fr-FR" sz="1600" i="0" kern="1200">
                        <a:solidFill>
                          <a:schemeClr val="tx1"/>
                        </a:solidFill>
                        <a:latin typeface="+mn-lt"/>
                        <a:ea typeface="+mn-ea"/>
                        <a:cs typeface="+mn-cs"/>
                      </a:rPr>
                      <m:t>%</m:t>
                    </m:r>
                  </m:oMath>
                </a14:m>
                <a:r>
                  <a:rPr lang="fr-FR" sz="1200" b="0" i="0" kern="1200" dirty="0">
                    <a:solidFill>
                      <a:schemeClr val="tx1"/>
                    </a:solidFill>
                    <a:effectLst/>
                    <a:latin typeface="+mn-lt"/>
                    <a:ea typeface="+mn-ea"/>
                    <a:cs typeface="+mn-cs"/>
                  </a:rPr>
                  <a:t>, reflétant l'hétérogénéité d'attention entre les rôles (rang 0 vs rangs profonds).</a:t>
                </a:r>
              </a:p>
              <a:p>
                <a:r>
                  <a:rPr lang="fr-FR" sz="1200" b="1" i="0" kern="1200" dirty="0">
                    <a:solidFill>
                      <a:schemeClr val="tx1"/>
                    </a:solidFill>
                    <a:effectLst/>
                    <a:latin typeface="+mn-lt"/>
                    <a:ea typeface="+mn-ea"/>
                    <a:cs typeface="+mn-cs"/>
                  </a:rPr>
                  <a:t>Phase P5 — Décrue (T17–T18)</a:t>
                </a:r>
                <a:r>
                  <a:rPr lang="fr-FR" sz="1200" b="0" i="0" kern="1200" dirty="0">
                    <a:solidFill>
                      <a:schemeClr val="tx1"/>
                    </a:solidFill>
                    <a:effectLst/>
                    <a:latin typeface="+mn-lt"/>
                    <a:ea typeface="+mn-ea"/>
                    <a:cs typeface="+mn-cs"/>
                  </a:rPr>
                  <a:t> :</a:t>
                </a:r>
              </a:p>
              <a:p>
                <a:pPr lvl="1"/>
                <a:r>
                  <a:rPr lang="fr-FR" sz="1200" b="0" i="0" kern="1200" dirty="0">
                    <a:solidFill>
                      <a:schemeClr val="tx1"/>
                    </a:solidFill>
                    <a:effectLst/>
                    <a:latin typeface="+mn-lt"/>
                    <a:ea typeface="+mn-ea"/>
                    <a:cs typeface="+mn-cs"/>
                  </a:rPr>
                  <a:t>On observe clairement la décroissance à T18 lorsque la crise se résout pour les acteurs aval (</a:t>
                </a:r>
                <a:r>
                  <a:rPr lang="fr-FR" sz="1200" b="0" i="0" kern="1200" dirty="0" err="1">
                    <a:solidFill>
                      <a:schemeClr val="tx1"/>
                    </a:solidFill>
                    <a:effectLst/>
                    <a:latin typeface="+mn-lt"/>
                    <a:ea typeface="+mn-ea"/>
                    <a:cs typeface="+mn-cs"/>
                  </a:rPr>
                  <a:t>Orbitalys</a:t>
                </a:r>
                <a:r>
                  <a:rPr lang="fr-FR" sz="1200" b="0" i="0" kern="1200" dirty="0">
                    <a:solidFill>
                      <a:schemeClr val="tx1"/>
                    </a:solidFill>
                    <a:effectLst/>
                    <a:latin typeface="+mn-lt"/>
                    <a:ea typeface="+mn-ea"/>
                    <a:cs typeface="+mn-cs"/>
                  </a:rPr>
                  <a:t> / </a:t>
                </a:r>
                <a:r>
                  <a:rPr lang="fr-FR" sz="1200" b="0" i="0" kern="1200" dirty="0" err="1">
                    <a:solidFill>
                      <a:schemeClr val="tx1"/>
                    </a:solidFill>
                    <a:effectLst/>
                    <a:latin typeface="+mn-lt"/>
                    <a:ea typeface="+mn-ea"/>
                    <a:cs typeface="+mn-cs"/>
                  </a:rPr>
                  <a:t>AvioSys</a:t>
                </a:r>
                <a:r>
                  <a:rPr lang="fr-FR" sz="1200" b="0" i="0" kern="1200" dirty="0">
                    <a:solidFill>
                      <a:schemeClr val="tx1"/>
                    </a:solidFill>
                    <a:effectLst/>
                    <a:latin typeface="+mn-lt"/>
                    <a:ea typeface="+mn-ea"/>
                    <a:cs typeface="+mn-cs"/>
                  </a:rPr>
                  <a:t>).</a:t>
                </a:r>
              </a:p>
            </p:txBody>
          </p:sp>
        </mc:Choice>
        <mc:Fallback>
          <p:sp>
            <p:nvSpPr>
              <p:cNvPr id="3" name="Notes Placeholder 2"/>
              <p:cNvSpPr>
                <a:spLocks noGrp="1"/>
              </p:cNvSpPr>
              <p:nvPr>
                <p:ph type="body" idx="1"/>
              </p:nvPr>
            </p:nvSpPr>
            <p:spPr/>
            <p:txBody>
              <a:bodyPr lIns="110962" tIns="55481" rIns="110962" bIns="55481"/>
              <a:lstStyle/>
              <a:p>
                <a:r>
                  <a:rPr lang="fr-FR" dirty="0"/>
                  <a:t>Explication Complète : Comparaison </a:t>
                </a:r>
                <a:r>
                  <a:rPr lang="fr-FR" dirty="0" err="1"/>
                  <a:t>DryRun</a:t>
                </a:r>
                <a:r>
                  <a:rPr lang="fr-FR" dirty="0"/>
                  <a:t> (Synthétique) vs. LLM Pilot (8 Agents AI)</a:t>
                </a:r>
              </a:p>
              <a:p>
                <a:endParaRPr lang="fr-FR" dirty="0"/>
              </a:p>
              <a:p>
                <a:r>
                  <a:rPr lang="fr-FR" dirty="0"/>
                  <a:t>Ce graphique retrace la crise des semi-conducteurs rejouée sur les 18 tours </a:t>
                </a:r>
                <a:br>
                  <a:rPr lang="fr-FR" dirty="0"/>
                </a:br>
                <a:r>
                  <a:rPr lang="fr-FR" dirty="0"/>
                  <a:t>Pour chaque nœud, trois courbes sont superposées :</a:t>
                </a:r>
              </a:p>
              <a:p>
                <a:r>
                  <a:rPr lang="fr-FR" dirty="0"/>
                  <a:t>1.  Urgence réelle opérationnelle : Calculée par le moteur physique de </a:t>
                </a:r>
                <a:r>
                  <a:rPr lang="fr-FR" dirty="0" err="1"/>
                  <a:t>SupplyScore</a:t>
                </a:r>
                <a:r>
                  <a:rPr lang="fr-FR" dirty="0"/>
                  <a:t> à partir des données de terrain (délais fournisseurs, stocks, capacités, OEE, fret, événements).</a:t>
                </a:r>
              </a:p>
              <a:p>
                <a:r>
                  <a:rPr lang="fr-FR" dirty="0"/>
                  <a:t>2. Urgence déclarée synthétique : Générée mécaniquement par un algorithme simple (1 + 8x(Ur + bruit)). Par construction, elle colle au plus près du signal physique local sans décalage ni émotion.</a:t>
                </a:r>
              </a:p>
              <a:p>
                <a:r>
                  <a:rPr lang="fr-FR" dirty="0"/>
                  <a:t>3. Urgence déclarée par 8 agents IA autonomes: Produite par 8 agents LLM incarnant chaque rôle (sans accès aux autres rôles ni au futur), répondant au questionnaire AHP.</a:t>
                </a:r>
              </a:p>
              <a:p>
                <a:endParaRPr lang="fr-FR" dirty="0"/>
              </a:p>
              <a:p>
                <a:endParaRPr lang="fr-FR" dirty="0"/>
              </a:p>
              <a:p>
                <a:r>
                  <a:rPr lang="fr-FR" dirty="0"/>
                  <a:t>## 2. Bilan des 3 Phénomènes Psychologiques &amp; Opérationnels Révélés</a:t>
                </a:r>
              </a:p>
              <a:p>
                <a:endParaRPr lang="fr-FR" dirty="0"/>
              </a:p>
              <a:p>
                <a:r>
                  <a:rPr lang="fr-FR" sz="1200" b="1" i="0" kern="1200" dirty="0">
                    <a:solidFill>
                      <a:schemeClr val="tx1"/>
                    </a:solidFill>
                    <a:effectLst/>
                    <a:latin typeface="+mn-lt"/>
                    <a:ea typeface="+mn-ea"/>
                    <a:cs typeface="+mn-cs"/>
                  </a:rPr>
                  <a:t>Latence Cognitive -&gt; </a:t>
                </a:r>
                <a:r>
                  <a:rPr lang="fr-FR" sz="1200" b="0" i="0" kern="1200" dirty="0">
                    <a:solidFill>
                      <a:schemeClr val="tx1"/>
                    </a:solidFill>
                    <a:effectLst/>
                    <a:latin typeface="+mn-lt"/>
                    <a:ea typeface="+mn-ea"/>
                    <a:cs typeface="+mn-cs"/>
                  </a:rPr>
                  <a:t>Retard de </a:t>
                </a:r>
                <a:r>
                  <a:rPr lang="fr-FR" sz="1200" i="0" kern="1200">
                    <a:solidFill>
                      <a:schemeClr val="tx1"/>
                    </a:solidFill>
                    <a:latin typeface="+mn-lt"/>
                    <a:ea typeface="+mn-ea"/>
                    <a:cs typeface="+mn-cs"/>
                  </a:rPr>
                  <a:t>𝑈_𝑑</a:t>
                </a:r>
                <a:r>
                  <a:rPr lang="fr-FR" sz="1200" b="0" i="0" kern="1200" dirty="0">
                    <a:solidFill>
                      <a:schemeClr val="tx1"/>
                    </a:solidFill>
                    <a:effectLst/>
                    <a:latin typeface="+mn-lt"/>
                    <a:ea typeface="+mn-ea"/>
                    <a:cs typeface="+mn-cs"/>
                  </a:rPr>
                  <a:t> sur </a:t>
                </a:r>
                <a:r>
                  <a:rPr lang="fr-FR" sz="1200" i="0" kern="1200">
                    <a:solidFill>
                      <a:schemeClr val="tx1"/>
                    </a:solidFill>
                    <a:latin typeface="+mn-lt"/>
                    <a:ea typeface="+mn-ea"/>
                    <a:cs typeface="+mn-cs"/>
                  </a:rPr>
                  <a:t>𝑈_𝑟</a:t>
                </a:r>
                <a:r>
                  <a:rPr lang="fr-FR" sz="1200" b="0" i="0" kern="1200" dirty="0">
                    <a:solidFill>
                      <a:schemeClr val="tx1"/>
                    </a:solidFill>
                    <a:effectLst/>
                    <a:latin typeface="+mn-lt"/>
                    <a:ea typeface="+mn-ea"/>
                    <a:cs typeface="+mn-cs"/>
                  </a:rPr>
                  <a:t> chez les clients aval (</a:t>
                </a:r>
                <a:r>
                  <a:rPr lang="fr-FR" sz="1200" b="0" i="0" kern="1200" dirty="0" err="1">
                    <a:solidFill>
                      <a:schemeClr val="tx1"/>
                    </a:solidFill>
                    <a:effectLst/>
                    <a:latin typeface="+mn-lt"/>
                    <a:ea typeface="+mn-ea"/>
                    <a:cs typeface="+mn-cs"/>
                  </a:rPr>
                  <a:t>Orbitalys</a:t>
                </a:r>
                <a:r>
                  <a:rPr lang="fr-FR" sz="1200" b="0" i="0" kern="1200" dirty="0">
                    <a:solidFill>
                      <a:schemeClr val="tx1"/>
                    </a:solidFill>
                    <a:effectLst/>
                    <a:latin typeface="+mn-lt"/>
                    <a:ea typeface="+mn-ea"/>
                    <a:cs typeface="+mn-cs"/>
                  </a:rPr>
                  <a:t>, </a:t>
                </a:r>
                <a:r>
                  <a:rPr lang="fr-FR" sz="1200" b="0" i="0" kern="1200" dirty="0" err="1">
                    <a:solidFill>
                      <a:schemeClr val="tx1"/>
                    </a:solidFill>
                    <a:effectLst/>
                    <a:latin typeface="+mn-lt"/>
                    <a:ea typeface="+mn-ea"/>
                    <a:cs typeface="+mn-cs"/>
                  </a:rPr>
                  <a:t>AvioSys</a:t>
                </a:r>
                <a:r>
                  <a:rPr lang="fr-FR" sz="1200" b="0" i="0" kern="1200" dirty="0">
                    <a:solidFill>
                      <a:schemeClr val="tx1"/>
                    </a:solidFill>
                    <a:effectLst/>
                    <a:latin typeface="+mn-lt"/>
                    <a:ea typeface="+mn-ea"/>
                    <a:cs typeface="+mn-cs"/>
                  </a:rPr>
                  <a:t>) aux tours T3–T5. -&gt; Le client ne voit pas le risque arriver à temps en raison du masque créé par ses stocks de couverture.</a:t>
                </a:r>
              </a:p>
              <a:p>
                <a:endParaRPr lang="fr-FR" sz="1200" b="0" i="0" kern="1200" dirty="0">
                  <a:solidFill>
                    <a:schemeClr val="tx1"/>
                  </a:solidFill>
                  <a:effectLst/>
                  <a:latin typeface="+mn-lt"/>
                  <a:ea typeface="+mn-ea"/>
                  <a:cs typeface="+mn-cs"/>
                </a:endParaRPr>
              </a:p>
              <a:p>
                <a:r>
                  <a:rPr lang="fr-FR" sz="1200" b="1" i="0" kern="1200" dirty="0" err="1">
                    <a:solidFill>
                      <a:schemeClr val="tx1"/>
                    </a:solidFill>
                    <a:effectLst/>
                    <a:latin typeface="+mn-lt"/>
                    <a:ea typeface="+mn-ea"/>
                    <a:cs typeface="+mn-cs"/>
                  </a:rPr>
                  <a:t>Sur-réaction</a:t>
                </a:r>
                <a:r>
                  <a:rPr lang="fr-FR" sz="1200" b="1" i="0" kern="1200" dirty="0">
                    <a:solidFill>
                      <a:schemeClr val="tx1"/>
                    </a:solidFill>
                    <a:effectLst/>
                    <a:latin typeface="+mn-lt"/>
                    <a:ea typeface="+mn-ea"/>
                    <a:cs typeface="+mn-cs"/>
                  </a:rPr>
                  <a:t> &amp; Contagion -&gt; </a:t>
                </a:r>
                <a:r>
                  <a:rPr lang="fr-FR" sz="1200" b="0" i="0" kern="1200" dirty="0">
                    <a:solidFill>
                      <a:schemeClr val="tx1"/>
                    </a:solidFill>
                    <a:effectLst/>
                    <a:latin typeface="+mn-lt"/>
                    <a:ea typeface="+mn-ea"/>
                    <a:cs typeface="+mn-cs"/>
                  </a:rPr>
                  <a:t>Explosion précoce de </a:t>
                </a:r>
                <a:r>
                  <a:rPr lang="fr-FR" sz="1200" i="0" kern="1200">
                    <a:solidFill>
                      <a:schemeClr val="tx1"/>
                    </a:solidFill>
                    <a:latin typeface="+mn-lt"/>
                    <a:ea typeface="+mn-ea"/>
                    <a:cs typeface="+mn-cs"/>
                  </a:rPr>
                  <a:t>𝑈_𝑑</a:t>
                </a:r>
                <a:r>
                  <a:rPr lang="fr-FR" sz="1200" b="0" i="0" kern="1200" dirty="0">
                    <a:solidFill>
                      <a:schemeClr val="tx1"/>
                    </a:solidFill>
                    <a:effectLst/>
                    <a:latin typeface="+mn-lt"/>
                    <a:ea typeface="+mn-ea"/>
                    <a:cs typeface="+mn-cs"/>
                  </a:rPr>
                  <a:t> chez les nœuds profonds et backups (Meridian, </a:t>
                </a:r>
                <a:r>
                  <a:rPr lang="fr-FR" sz="1200" b="0" i="0" kern="1200" dirty="0" err="1">
                    <a:solidFill>
                      <a:schemeClr val="tx1"/>
                    </a:solidFill>
                    <a:effectLst/>
                    <a:latin typeface="+mn-lt"/>
                    <a:ea typeface="+mn-ea"/>
                    <a:cs typeface="+mn-cs"/>
                  </a:rPr>
                  <a:t>SilPure</a:t>
                </a:r>
                <a:r>
                  <a:rPr lang="fr-FR" sz="1200" b="0" i="0" kern="1200" dirty="0">
                    <a:solidFill>
                      <a:schemeClr val="tx1"/>
                    </a:solidFill>
                    <a:effectLst/>
                    <a:latin typeface="+mn-lt"/>
                    <a:ea typeface="+mn-ea"/>
                    <a:cs typeface="+mn-cs"/>
                  </a:rPr>
                  <a:t>) alors que </a:t>
                </a:r>
                <a:r>
                  <a:rPr lang="fr-FR" sz="1200" i="0" kern="1200">
                    <a:solidFill>
                      <a:schemeClr val="tx1"/>
                    </a:solidFill>
                    <a:latin typeface="+mn-lt"/>
                    <a:ea typeface="+mn-ea"/>
                    <a:cs typeface="+mn-cs"/>
                  </a:rPr>
                  <a:t>𝑈_𝑟</a:t>
                </a:r>
                <a:r>
                  <a:rPr lang="fr-FR" sz="1200" b="0" i="0" kern="1200" dirty="0">
                    <a:solidFill>
                      <a:schemeClr val="tx1"/>
                    </a:solidFill>
                    <a:effectLst/>
                    <a:latin typeface="+mn-lt"/>
                    <a:ea typeface="+mn-ea"/>
                    <a:cs typeface="+mn-cs"/>
                  </a:rPr>
                  <a:t> est encore bas. -&gt; Création d'une « fausse urgence » (</a:t>
                </a:r>
                <a:r>
                  <a:rPr lang="fr-FR" sz="1200" i="0" kern="1200">
                    <a:solidFill>
                      <a:schemeClr val="tx1"/>
                    </a:solidFill>
                    <a:latin typeface="+mn-lt"/>
                    <a:ea typeface="+mn-ea"/>
                    <a:cs typeface="+mn-cs"/>
                  </a:rPr>
                  <a:t>𝐹</a:t>
                </a:r>
                <a:r>
                  <a:rPr lang="fr-FR" sz="1200" b="0" i="0" kern="1200" dirty="0">
                    <a:solidFill>
                      <a:schemeClr val="tx1"/>
                    </a:solidFill>
                    <a:effectLst/>
                    <a:latin typeface="+mn-lt"/>
                    <a:ea typeface="+mn-ea"/>
                    <a:cs typeface="+mn-cs"/>
                  </a:rPr>
                  <a:t>) et </a:t>
                </a:r>
                <a:r>
                  <a:rPr lang="fr-FR" sz="1200" b="0" i="0" kern="1200" dirty="0" err="1">
                    <a:solidFill>
                      <a:schemeClr val="tx1"/>
                    </a:solidFill>
                    <a:effectLst/>
                    <a:latin typeface="+mn-lt"/>
                    <a:ea typeface="+mn-ea"/>
                    <a:cs typeface="+mn-cs"/>
                  </a:rPr>
                  <a:t>sur-réservations</a:t>
                </a:r>
                <a:r>
                  <a:rPr lang="fr-FR" sz="1200" b="0" i="0" kern="1200" dirty="0">
                    <a:solidFill>
                      <a:schemeClr val="tx1"/>
                    </a:solidFill>
                    <a:effectLst/>
                    <a:latin typeface="+mn-lt"/>
                    <a:ea typeface="+mn-ea"/>
                    <a:cs typeface="+mn-cs"/>
                  </a:rPr>
                  <a:t> de capacités qui aggravent la pénurie.</a:t>
                </a:r>
              </a:p>
              <a:p>
                <a:endParaRPr lang="fr-FR" sz="1200" b="0" i="0" kern="1200" dirty="0">
                  <a:solidFill>
                    <a:schemeClr val="tx1"/>
                  </a:solidFill>
                  <a:effectLst/>
                  <a:latin typeface="+mn-lt"/>
                  <a:ea typeface="+mn-ea"/>
                  <a:cs typeface="+mn-cs"/>
                </a:endParaRPr>
              </a:p>
              <a:p>
                <a:r>
                  <a:rPr lang="fr-FR" sz="1200" b="1" i="0" kern="1200" dirty="0">
                    <a:solidFill>
                      <a:schemeClr val="tx1"/>
                    </a:solidFill>
                    <a:effectLst/>
                    <a:latin typeface="+mn-lt"/>
                    <a:ea typeface="+mn-ea"/>
                    <a:cs typeface="+mn-cs"/>
                  </a:rPr>
                  <a:t>Hystérésis de redescente -&gt; </a:t>
                </a:r>
                <a:r>
                  <a:rPr lang="fr-FR" sz="1200" b="0" i="0" kern="1200" dirty="0">
                    <a:solidFill>
                      <a:schemeClr val="tx1"/>
                    </a:solidFill>
                    <a:effectLst/>
                    <a:latin typeface="+mn-lt"/>
                    <a:ea typeface="+mn-ea"/>
                    <a:cs typeface="+mn-cs"/>
                  </a:rPr>
                  <a:t>À T17–T18, </a:t>
                </a:r>
                <a:r>
                  <a:rPr lang="fr-FR" sz="1200" i="0" kern="1200">
                    <a:solidFill>
                      <a:schemeClr val="tx1"/>
                    </a:solidFill>
                    <a:latin typeface="+mn-lt"/>
                    <a:ea typeface="+mn-ea"/>
                    <a:cs typeface="+mn-cs"/>
                  </a:rPr>
                  <a:t>𝑈_𝑟</a:t>
                </a:r>
                <a:r>
                  <a:rPr lang="fr-FR" sz="1200" b="0" i="0" kern="1200" dirty="0">
                    <a:solidFill>
                      <a:schemeClr val="tx1"/>
                    </a:solidFill>
                    <a:effectLst/>
                    <a:latin typeface="+mn-lt"/>
                    <a:ea typeface="+mn-ea"/>
                    <a:cs typeface="+mn-cs"/>
                  </a:rPr>
                  <a:t> chute plus vite que </a:t>
                </a:r>
                <a:r>
                  <a:rPr lang="fr-FR" sz="1200" i="0" kern="1200">
                    <a:solidFill>
                      <a:schemeClr val="tx1"/>
                    </a:solidFill>
                    <a:latin typeface="+mn-lt"/>
                    <a:ea typeface="+mn-ea"/>
                    <a:cs typeface="+mn-cs"/>
                  </a:rPr>
                  <a:t>𝑈_𝑑</a:t>
                </a:r>
                <a:r>
                  <a:rPr lang="fr-FR" sz="1200" b="0" i="0" kern="1200" dirty="0">
                    <a:solidFill>
                      <a:schemeClr val="tx1"/>
                    </a:solidFill>
                    <a:effectLst/>
                    <a:latin typeface="+mn-lt"/>
                    <a:ea typeface="+mn-ea"/>
                    <a:cs typeface="+mn-cs"/>
                  </a:rPr>
                  <a:t>, les joueurs/humains restant méfiant. -&gt; Maintien de mesures d'urgence contractuelles alors que les flux physiques reviennent à la normale.</a:t>
                </a:r>
                <a:br>
                  <a:rPr lang="fr-FR" sz="1200" b="0" i="0" kern="1200" dirty="0">
                    <a:solidFill>
                      <a:schemeClr val="tx1"/>
                    </a:solidFill>
                    <a:effectLst/>
                    <a:latin typeface="+mn-lt"/>
                    <a:ea typeface="+mn-ea"/>
                    <a:cs typeface="+mn-cs"/>
                  </a:rPr>
                </a:br>
                <a:br>
                  <a:rPr lang="fr-FR" sz="1200" b="0" i="0" kern="1200" dirty="0">
                    <a:solidFill>
                      <a:schemeClr val="tx1"/>
                    </a:solidFill>
                    <a:effectLst/>
                    <a:latin typeface="+mn-lt"/>
                    <a:ea typeface="+mn-ea"/>
                    <a:cs typeface="+mn-cs"/>
                  </a:rPr>
                </a:br>
                <a:br>
                  <a:rPr lang="fr-FR" sz="1200" b="0" i="0" kern="1200" dirty="0">
                    <a:solidFill>
                      <a:schemeClr val="tx1"/>
                    </a:solidFill>
                    <a:effectLst/>
                    <a:latin typeface="+mn-lt"/>
                    <a:ea typeface="+mn-ea"/>
                    <a:cs typeface="+mn-cs"/>
                  </a:rPr>
                </a:br>
                <a:endParaRPr lang="fr-FR" sz="1200" b="0" i="0" kern="1200" dirty="0">
                  <a:solidFill>
                    <a:schemeClr val="tx1"/>
                  </a:solidFill>
                  <a:effectLst/>
                  <a:latin typeface="+mn-lt"/>
                  <a:ea typeface="+mn-ea"/>
                  <a:cs typeface="+mn-cs"/>
                </a:endParaRPr>
              </a:p>
              <a:p>
                <a:endParaRPr lang="fr-FR" sz="1200" b="0" i="0" kern="1200" dirty="0">
                  <a:solidFill>
                    <a:schemeClr val="tx1"/>
                  </a:solidFill>
                  <a:effectLst/>
                  <a:latin typeface="+mn-lt"/>
                  <a:ea typeface="+mn-ea"/>
                  <a:cs typeface="+mn-cs"/>
                </a:endParaRPr>
              </a:p>
              <a:p>
                <a:r>
                  <a:rPr lang="fr-FR" sz="1200" b="1" i="0" kern="1200" dirty="0">
                    <a:solidFill>
                      <a:schemeClr val="tx1"/>
                    </a:solidFill>
                    <a:effectLst/>
                    <a:latin typeface="+mn-lt"/>
                    <a:ea typeface="+mn-ea"/>
                    <a:cs typeface="+mn-cs"/>
                  </a:rPr>
                  <a:t>Phase P2 — Bascule (T5–T8)</a:t>
                </a:r>
                <a:r>
                  <a:rPr lang="fr-FR" sz="1200" b="0" i="0" kern="1200" dirty="0">
                    <a:solidFill>
                      <a:schemeClr val="tx1"/>
                    </a:solidFill>
                    <a:effectLst/>
                    <a:latin typeface="+mn-lt"/>
                    <a:ea typeface="+mn-ea"/>
                    <a:cs typeface="+mn-cs"/>
                  </a:rPr>
                  <a:t> :</a:t>
                </a:r>
              </a:p>
              <a:p>
                <a:pPr lvl="1"/>
                <a:r>
                  <a:rPr lang="fr-FR" sz="1200" b="0" i="0" kern="1200" dirty="0">
                    <a:solidFill>
                      <a:schemeClr val="tx1"/>
                    </a:solidFill>
                    <a:effectLst/>
                    <a:latin typeface="+mn-lt"/>
                    <a:ea typeface="+mn-ea"/>
                    <a:cs typeface="+mn-cs"/>
                  </a:rPr>
                  <a:t>Dans le </a:t>
                </a:r>
                <a:r>
                  <a:rPr lang="fr-FR" sz="1200" b="1" i="0" kern="1200" dirty="0">
                    <a:solidFill>
                      <a:schemeClr val="tx1"/>
                    </a:solidFill>
                    <a:effectLst/>
                    <a:latin typeface="+mn-lt"/>
                    <a:ea typeface="+mn-ea"/>
                    <a:cs typeface="+mn-cs"/>
                  </a:rPr>
                  <a:t>LLM Pilot</a:t>
                </a:r>
                <a:r>
                  <a:rPr lang="fr-FR" sz="1200" b="0" i="0" kern="1200" dirty="0">
                    <a:solidFill>
                      <a:schemeClr val="tx1"/>
                    </a:solidFill>
                    <a:effectLst/>
                    <a:latin typeface="+mn-lt"/>
                    <a:ea typeface="+mn-ea"/>
                    <a:cs typeface="+mn-cs"/>
                  </a:rPr>
                  <a:t>, l'adéquation moyenne chute plus fort à </a:t>
                </a:r>
                <a:r>
                  <a:rPr lang="fr-FR" sz="1200" b="1" i="0" kern="1200" dirty="0">
                    <a:solidFill>
                      <a:schemeClr val="tx1"/>
                    </a:solidFill>
                    <a:effectLst/>
                    <a:latin typeface="+mn-lt"/>
                    <a:ea typeface="+mn-ea"/>
                    <a:cs typeface="+mn-cs"/>
                  </a:rPr>
                  <a:t>T5</a:t>
                </a:r>
                <a:r>
                  <a:rPr lang="fr-FR" sz="1200" b="0" i="0" kern="1200" dirty="0">
                    <a:solidFill>
                      <a:schemeClr val="tx1"/>
                    </a:solidFill>
                    <a:effectLst/>
                    <a:latin typeface="+mn-lt"/>
                    <a:ea typeface="+mn-ea"/>
                    <a:cs typeface="+mn-cs"/>
                  </a:rPr>
                  <a:t> (jusqu'à </a:t>
                </a:r>
                <a:r>
                  <a:rPr lang="fr-FR" sz="1600" i="0" kern="1200">
                    <a:solidFill>
                      <a:schemeClr val="tx1"/>
                    </a:solidFill>
                    <a:latin typeface="+mn-lt"/>
                    <a:ea typeface="+mn-ea"/>
                    <a:cs typeface="+mn-cs"/>
                  </a:rPr>
                  <a:t>𝐴=44,4%</a:t>
                </a:r>
                <a:r>
                  <a:rPr lang="fr-FR" sz="1200" b="0" i="0" kern="1200" dirty="0">
                    <a:solidFill>
                      <a:schemeClr val="tx1"/>
                    </a:solidFill>
                    <a:effectLst/>
                    <a:latin typeface="+mn-lt"/>
                    <a:ea typeface="+mn-ea"/>
                    <a:cs typeface="+mn-cs"/>
                  </a:rPr>
                  <a:t>), car les agents LLM ne perçoivent pas immédiatement l'ampleur du choc amont.</a:t>
                </a:r>
              </a:p>
              <a:p>
                <a:r>
                  <a:rPr lang="fr-FR" sz="1200" b="1" i="0" kern="1200" dirty="0">
                    <a:solidFill>
                      <a:schemeClr val="tx1"/>
                    </a:solidFill>
                    <a:effectLst/>
                    <a:latin typeface="+mn-lt"/>
                    <a:ea typeface="+mn-ea"/>
                    <a:cs typeface="+mn-cs"/>
                  </a:rPr>
                  <a:t>Phase P3 &amp; P4 — Étau et Rupture (T9–T16)</a:t>
                </a:r>
                <a:r>
                  <a:rPr lang="fr-FR" sz="1200" b="0" i="0" kern="1200" dirty="0">
                    <a:solidFill>
                      <a:schemeClr val="tx1"/>
                    </a:solidFill>
                    <a:effectLst/>
                    <a:latin typeface="+mn-lt"/>
                    <a:ea typeface="+mn-ea"/>
                    <a:cs typeface="+mn-cs"/>
                  </a:rPr>
                  <a:t> :</a:t>
                </a:r>
              </a:p>
              <a:p>
                <a:pPr lvl="1"/>
                <a:r>
                  <a:rPr lang="fr-FR" sz="1200" b="0" i="0" kern="1200" dirty="0">
                    <a:solidFill>
                      <a:schemeClr val="tx1"/>
                    </a:solidFill>
                    <a:effectLst/>
                    <a:latin typeface="+mn-lt"/>
                    <a:ea typeface="+mn-ea"/>
                    <a:cs typeface="+mn-cs"/>
                  </a:rPr>
                  <a:t>Alors que le </a:t>
                </a:r>
                <a:r>
                  <a:rPr lang="fr-FR" sz="1200" b="1" i="0" kern="1200" dirty="0" err="1">
                    <a:solidFill>
                      <a:schemeClr val="tx1"/>
                    </a:solidFill>
                    <a:effectLst/>
                    <a:latin typeface="+mn-lt"/>
                    <a:ea typeface="+mn-ea"/>
                    <a:cs typeface="+mn-cs"/>
                  </a:rPr>
                  <a:t>DryRun</a:t>
                </a:r>
                <a:r>
                  <a:rPr lang="fr-FR" sz="1200" b="0" i="0" kern="1200" dirty="0">
                    <a:solidFill>
                      <a:schemeClr val="tx1"/>
                    </a:solidFill>
                    <a:effectLst/>
                    <a:latin typeface="+mn-lt"/>
                    <a:ea typeface="+mn-ea"/>
                    <a:cs typeface="+mn-cs"/>
                  </a:rPr>
                  <a:t> (synthétique) s'alignait artificiellement à </a:t>
                </a:r>
                <a:r>
                  <a:rPr lang="fr-FR" sz="1600" i="0" kern="1200">
                    <a:solidFill>
                      <a:schemeClr val="tx1"/>
                    </a:solidFill>
                    <a:latin typeface="+mn-lt"/>
                    <a:ea typeface="+mn-ea"/>
                    <a:cs typeface="+mn-cs"/>
                  </a:rPr>
                  <a:t>𝐴≈90%</a:t>
                </a:r>
                <a:r>
                  <a:rPr lang="fr-FR" sz="1200" b="0" i="0" kern="1200" dirty="0">
                    <a:solidFill>
                      <a:schemeClr val="tx1"/>
                    </a:solidFill>
                    <a:effectLst/>
                    <a:latin typeface="+mn-lt"/>
                    <a:ea typeface="+mn-ea"/>
                    <a:cs typeface="+mn-cs"/>
                  </a:rPr>
                  <a:t> (car le </a:t>
                </a:r>
                <a:r>
                  <a:rPr lang="fr-FR" sz="1600" i="0" kern="1200">
                    <a:solidFill>
                      <a:schemeClr val="tx1"/>
                    </a:solidFill>
                    <a:latin typeface="+mn-lt"/>
                    <a:ea typeface="+mn-ea"/>
                    <a:cs typeface="+mn-cs"/>
                  </a:rPr>
                  <a:t>𝑈_𝑑</a:t>
                </a:r>
                <a:r>
                  <a:rPr lang="fr-FR" sz="1200" b="0" i="0" kern="1200" dirty="0">
                    <a:solidFill>
                      <a:schemeClr val="tx1"/>
                    </a:solidFill>
                    <a:effectLst/>
                    <a:latin typeface="+mn-lt"/>
                    <a:ea typeface="+mn-ea"/>
                    <a:cs typeface="+mn-cs"/>
                  </a:rPr>
                  <a:t> synthétique collait directement au </a:t>
                </a:r>
                <a:r>
                  <a:rPr lang="fr-FR" sz="1600" i="0" kern="1200">
                    <a:solidFill>
                      <a:schemeClr val="tx1"/>
                    </a:solidFill>
                    <a:latin typeface="+mn-lt"/>
                    <a:ea typeface="+mn-ea"/>
                    <a:cs typeface="+mn-cs"/>
                  </a:rPr>
                  <a:t>𝑈_𝑟</a:t>
                </a:r>
                <a:r>
                  <a:rPr lang="fr-FR" sz="1200" b="0" i="0" kern="1200" dirty="0">
                    <a:solidFill>
                      <a:schemeClr val="tx1"/>
                    </a:solidFill>
                    <a:effectLst/>
                    <a:latin typeface="+mn-lt"/>
                    <a:ea typeface="+mn-ea"/>
                    <a:cs typeface="+mn-cs"/>
                  </a:rPr>
                  <a:t> local), le </a:t>
                </a:r>
                <a:r>
                  <a:rPr lang="fr-FR" sz="1200" b="1" i="0" kern="1200" dirty="0">
                    <a:solidFill>
                      <a:schemeClr val="tx1"/>
                    </a:solidFill>
                    <a:effectLst/>
                    <a:latin typeface="+mn-lt"/>
                    <a:ea typeface="+mn-ea"/>
                    <a:cs typeface="+mn-cs"/>
                  </a:rPr>
                  <a:t>LLM Pilot</a:t>
                </a:r>
                <a:r>
                  <a:rPr lang="fr-FR" sz="1200" b="0" i="0" kern="1200" dirty="0">
                    <a:solidFill>
                      <a:schemeClr val="tx1"/>
                    </a:solidFill>
                    <a:effectLst/>
                    <a:latin typeface="+mn-lt"/>
                    <a:ea typeface="+mn-ea"/>
                    <a:cs typeface="+mn-cs"/>
                  </a:rPr>
                  <a:t> maintient un score d'adéquation plus réaliste autour de </a:t>
                </a:r>
                <a:r>
                  <a:rPr lang="fr-FR" sz="1600" i="0" kern="1200">
                    <a:solidFill>
                      <a:schemeClr val="tx1"/>
                    </a:solidFill>
                    <a:latin typeface="+mn-lt"/>
                    <a:ea typeface="+mn-ea"/>
                    <a:cs typeface="+mn-cs"/>
                  </a:rPr>
                  <a:t>75%</a:t>
                </a:r>
                <a:r>
                  <a:rPr lang="fr-FR" sz="1200" b="0" i="0" kern="1200" dirty="0">
                    <a:solidFill>
                      <a:schemeClr val="tx1"/>
                    </a:solidFill>
                    <a:effectLst/>
                    <a:latin typeface="+mn-lt"/>
                    <a:ea typeface="+mn-ea"/>
                    <a:cs typeface="+mn-cs"/>
                  </a:rPr>
                  <a:t>, reflétant l'hétérogénéité d'attention entre les rôles (rang 0 vs rangs profonds).</a:t>
                </a:r>
              </a:p>
              <a:p>
                <a:r>
                  <a:rPr lang="fr-FR" sz="1200" b="1" i="0" kern="1200" dirty="0">
                    <a:solidFill>
                      <a:schemeClr val="tx1"/>
                    </a:solidFill>
                    <a:effectLst/>
                    <a:latin typeface="+mn-lt"/>
                    <a:ea typeface="+mn-ea"/>
                    <a:cs typeface="+mn-cs"/>
                  </a:rPr>
                  <a:t>Phase P5 — Décrue (T17–T18)</a:t>
                </a:r>
                <a:r>
                  <a:rPr lang="fr-FR" sz="1200" b="0" i="0" kern="1200" dirty="0">
                    <a:solidFill>
                      <a:schemeClr val="tx1"/>
                    </a:solidFill>
                    <a:effectLst/>
                    <a:latin typeface="+mn-lt"/>
                    <a:ea typeface="+mn-ea"/>
                    <a:cs typeface="+mn-cs"/>
                  </a:rPr>
                  <a:t> :</a:t>
                </a:r>
              </a:p>
              <a:p>
                <a:pPr lvl="1"/>
                <a:r>
                  <a:rPr lang="fr-FR" sz="1200" b="0" i="0" kern="1200" dirty="0">
                    <a:solidFill>
                      <a:schemeClr val="tx1"/>
                    </a:solidFill>
                    <a:effectLst/>
                    <a:latin typeface="+mn-lt"/>
                    <a:ea typeface="+mn-ea"/>
                    <a:cs typeface="+mn-cs"/>
                  </a:rPr>
                  <a:t>On observe clairement la décroissance à T18 lorsque la crise se résout pour les acteurs aval (</a:t>
                </a:r>
                <a:r>
                  <a:rPr lang="fr-FR" sz="1200" b="0" i="0" kern="1200" dirty="0" err="1">
                    <a:solidFill>
                      <a:schemeClr val="tx1"/>
                    </a:solidFill>
                    <a:effectLst/>
                    <a:latin typeface="+mn-lt"/>
                    <a:ea typeface="+mn-ea"/>
                    <a:cs typeface="+mn-cs"/>
                  </a:rPr>
                  <a:t>Orbitalys</a:t>
                </a:r>
                <a:r>
                  <a:rPr lang="fr-FR" sz="1200" b="0" i="0" kern="1200" dirty="0">
                    <a:solidFill>
                      <a:schemeClr val="tx1"/>
                    </a:solidFill>
                    <a:effectLst/>
                    <a:latin typeface="+mn-lt"/>
                    <a:ea typeface="+mn-ea"/>
                    <a:cs typeface="+mn-cs"/>
                  </a:rPr>
                  <a:t> / </a:t>
                </a:r>
                <a:r>
                  <a:rPr lang="fr-FR" sz="1200" b="0" i="0" kern="1200" dirty="0" err="1">
                    <a:solidFill>
                      <a:schemeClr val="tx1"/>
                    </a:solidFill>
                    <a:effectLst/>
                    <a:latin typeface="+mn-lt"/>
                    <a:ea typeface="+mn-ea"/>
                    <a:cs typeface="+mn-cs"/>
                  </a:rPr>
                  <a:t>AvioSys</a:t>
                </a:r>
                <a:r>
                  <a:rPr lang="fr-FR" sz="1200" b="0" i="0" kern="1200" dirty="0">
                    <a:solidFill>
                      <a:schemeClr val="tx1"/>
                    </a:solidFill>
                    <a:effectLst/>
                    <a:latin typeface="+mn-lt"/>
                    <a:ea typeface="+mn-ea"/>
                    <a:cs typeface="+mn-cs"/>
                  </a:rPr>
                  <a:t>).</a:t>
                </a:r>
              </a:p>
            </p:txBody>
          </p:sp>
        </mc:Fallback>
      </mc:AlternateContent>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Le persona décrit comment l'entreprise parle et ce </a:t>
            </a:r>
            <a:r>
              <a:rPr lang="en-US" dirty="0" err="1"/>
              <a:t>qu'elle</a:t>
            </a:r>
            <a:r>
              <a:rPr lang="en-US" dirty="0"/>
              <a:t> </a:t>
            </a:r>
            <a:r>
              <a:rPr lang="en-US" dirty="0" err="1"/>
              <a:t>craint</a:t>
            </a:r>
            <a:endParaRPr lang="en-US" dirty="0"/>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Le persona décrit comment l'entreprise parle et ce </a:t>
            </a:r>
            <a:r>
              <a:rPr lang="en-US" dirty="0" err="1"/>
              <a:t>qu'elle</a:t>
            </a:r>
            <a:r>
              <a:rPr lang="en-US" dirty="0"/>
              <a:t> </a:t>
            </a:r>
            <a:r>
              <a:rPr lang="en-US" dirty="0" err="1"/>
              <a:t>craint</a:t>
            </a:r>
            <a:endParaRPr lang="en-US" dirty="0"/>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La revue de presse est le seul canal identique pour les </a:t>
            </a:r>
            <a:r>
              <a:rPr lang="en-US" dirty="0" err="1"/>
              <a:t>huit</a:t>
            </a:r>
            <a:r>
              <a:rPr lang="en-US" dirty="0"/>
              <a:t> </a:t>
            </a:r>
            <a:r>
              <a:rPr lang="en-US" dirty="0" err="1"/>
              <a:t>rôles</a:t>
            </a:r>
            <a:endParaRPr lang="en-US" dirty="0"/>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La revue de presse est le seul canal identique pour les </a:t>
            </a:r>
            <a:r>
              <a:rPr lang="en-US" dirty="0" err="1"/>
              <a:t>huit</a:t>
            </a:r>
            <a:r>
              <a:rPr lang="en-US" dirty="0"/>
              <a:t> </a:t>
            </a:r>
            <a:r>
              <a:rPr lang="en-US" dirty="0" err="1"/>
              <a:t>rôles</a:t>
            </a:r>
            <a:endParaRPr lang="en-US" dirty="0"/>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Chaque temps fort de la crise passe par un </a:t>
            </a:r>
            <a:r>
              <a:rPr lang="en-US" dirty="0" err="1"/>
              <a:t>événement</a:t>
            </a:r>
            <a:endParaRPr lang="en-US" dirty="0"/>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endParaRPr lang="en-US" dirty="0"/>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endParaRPr lang="en-US" dirty="0"/>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Chaque épisode du scénario est ancré sur un fait documenté, et la clé de gauche est celle qui figure dans le dictionnaire SOURCES de scenario.py, ce qui permet de remonter du récit à sa source en une recherche. C'est ce qui distingue une simulation d'une fiction : les magnitudes, les durées et les dates viennent de la crise réelle, seuls les noms d'entreprises sont changés. Au débrief, cette table est ce qui permet de montrer aux consultants, épisode par épisode, ce qu'ils viennent de rejouer.</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endParaRPr lang="en-US" dirty="0"/>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Voici une fiche réelle, celle de NovaFab au tour du gel du Texas, telle qu'elle sera distribuée. Remarquez ce qu'elle ne contient pas : aucune date réelle, aucun nom d'entreprise réelle, aucun ancrage documentaire, et rien sur les autres rôles. Le consultant qui la lit sait que sa fab texane est à l'arrêt pour quatre semaines et que sa demande client fléchit légèrement. Il ne sait pas que CompoDis reçoit au même moment une notification de force majeure à son sujet, ni que Meridian reçoit trois appels de prospects. C'est exactement l'asymétrie qu'on veut mesurer.</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La carte de rôle est remise une seule fois, au kickoff du jour cinq, avec la signature du contrat. Elle donne le persona et les règles du jeu, et elle ne change plus ensuite. Notez la dernière phrase du persona : il décrit comment l'entreprise parle et ce qu'elle craint, jamais combien il faut s'inquiéter à un tour donné. Ce jugement appartient au consultant, et c'est précisément ce qu'on mesure.</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Tour 1, qui rejoue 2020-09, phase P1 Baseline. Aucun événement moteur ce tour-ci. Les huit rôles lisent la même revue de presse, puis chacun ne voit que ses propres échanges et constats, listés ici. C'est cette asymétrie qui fait la mesure : au même tour, deux rôles n'ont pas la même information et n'ont aucune raison de déclarer la même urgence.</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Tour 2, qui rejoue 2020-10, phase P1 Baseline. Aucun événement moteur ce tour-ci. Les huit rôles lisent la même revue de presse, puis chacun ne voit que ses propres échanges et constats, listés ici. C'est cette asymétrie qui fait la mesure : au même tour, deux rôles n'ont pas la même information et n'ont aucune raison de déclarer la même urgence.</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Tour 3, qui rejoue 2020-11, phase P1 Baseline. Le facilitateur injecte 1 événement : </a:t>
            </a:r>
            <a:r>
              <a:rPr lang="en-US"/>
              <a:t>NovaFab - </a:t>
            </a:r>
            <a:r>
              <a:rPr lang="en-US" dirty="0"/>
              <a:t>pic_demande : demande 110 (base 100). Les huit rôles lisent la même revue de presse, puis chacun ne voit que ses propres échanges et constats, listés ici. C'est cette asymétrie qui fait la mesure : au même tour, deux rôles n'ont pas la même information et n'ont aucune raison de déclarer la même urgence.</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Tour 4, qui rejoue 2020-12, phase P1 Baseline. Aucun événement moteur ce tour-ci. Les huit rôles lisent la même revue de presse, puis chacun ne voit que ses propres échanges et constats, listés ici. C'est cette asymétrie qui fait la mesure : au même tour, deux rôles n'ont pas la même information et n'ont aucune raison de déclarer la même urgence.</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Tour 5, qui rejoue 2021-01, phase P2 Bascule. Le facilitateur injecte 1 événement : </a:t>
            </a:r>
            <a:r>
              <a:rPr lang="en-US"/>
              <a:t>CompoDis - </a:t>
            </a:r>
            <a:r>
              <a:rPr lang="en-US" dirty="0"/>
              <a:t>retard_fournisseur : 77 h moteur (2 sem. réelles). Les huit rôles lisent la même revue de presse, puis chacun ne voit que ses propres échanges et constats, listés ici. C'est cette asymétrie qui fait la mesure : au même tour, deux rôles n'ont pas la même information et n'ont aucune raison de déclarer la même urgence.</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Tour 6, qui rejoue 2021-02, phase P2 Bascule. Le facilitateur injecte 1 événement : </a:t>
            </a:r>
            <a:r>
              <a:rPr lang="en-US"/>
              <a:t>NovaFab - </a:t>
            </a:r>
            <a:r>
              <a:rPr lang="en-US" dirty="0"/>
              <a:t>accident : 155 h moteur (4 sem. réelles) ; gravité critique. Côté jalons : </a:t>
            </a:r>
            <a:r>
              <a:rPr lang="en-US"/>
              <a:t>AvioSys - </a:t>
            </a:r>
            <a:r>
              <a:rPr lang="en-US" dirty="0"/>
              <a:t>Sous-système avionique lot 1 : terminé ; </a:t>
            </a:r>
            <a:r>
              <a:rPr lang="en-US"/>
              <a:t>Électis - </a:t>
            </a:r>
            <a:r>
              <a:rPr lang="en-US" dirty="0"/>
              <a:t>Cartes HÉLIOS série A : terminé. Les huit rôles lisent la même revue de presse, puis chacun ne voit que ses propres échanges et constats, listés ici. C'est cette asymétrie qui fait la mesure : au même tour, deux rôles n'ont pas la même information et n'ont aucune raison de déclarer la même urgence.</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Tour 7, qui rejoue 2021-03, phase P2 Bascule. Le facilitateur injecte 2 événements : </a:t>
            </a:r>
            <a:r>
              <a:rPr lang="en-US"/>
              <a:t>NovaFab - </a:t>
            </a:r>
            <a:r>
              <a:rPr lang="en-US" dirty="0"/>
              <a:t>pic_demande : demande 125 (base 100) ; </a:t>
            </a:r>
            <a:r>
              <a:rPr lang="en-US"/>
              <a:t>TransGlobal - </a:t>
            </a:r>
            <a:r>
              <a:rPr lang="en-US" dirty="0"/>
              <a:t>perturbation_transport : 33 h moteur (6 j réels) ; surcoût 15 000. Côté jalons : </a:t>
            </a:r>
            <a:r>
              <a:rPr lang="en-US"/>
              <a:t>Orbitalys - </a:t>
            </a:r>
            <a:r>
              <a:rPr lang="en-US" dirty="0"/>
              <a:t>Livraison HÉLIOS-1 : avancement 80% (dérive). Les huit rôles lisent la même revue de presse, puis chacun ne voit que ses propres échanges et constats, listés ici. C'est cette asymétrie qui fait la mesure : au même tour, deux rôles n'ont pas la même information et n'ont aucune raison de déclarer la même urgence.</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Tour 8, qui rejoue 2021-04, phase P2 Bascule. Aucun événement moteur ce tour-ci. Côté jalons : </a:t>
            </a:r>
            <a:r>
              <a:rPr lang="en-US"/>
              <a:t>Orbitalys - </a:t>
            </a:r>
            <a:r>
              <a:rPr lang="en-US" dirty="0"/>
              <a:t>Livraison HÉLIOS-1 : avancement 88% (dérive). Les huit rôles lisent la même revue de presse, puis chacun ne voit que ses propres échanges et constats, listés ici. C'est cette asymétrie qui fait la mesure : au même tour, deux rôles n'ont pas la même information et n'ont aucune raison de déclarer la même urgence.</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Tour 9, qui rejoue 2021-05, phase P3 Étau. Aucun événement moteur ce tour-ci. Côté jalons : </a:t>
            </a:r>
            <a:r>
              <a:rPr lang="en-US"/>
              <a:t>AvioSys - </a:t>
            </a:r>
            <a:r>
              <a:rPr lang="en-US" dirty="0"/>
              <a:t>Sous-système avionique lot 2 : avancement 60% (dérive) ; </a:t>
            </a:r>
            <a:r>
              <a:rPr lang="en-US"/>
              <a:t>NovaFab - </a:t>
            </a:r>
            <a:r>
              <a:rPr lang="en-US" dirty="0"/>
              <a:t>Allocation wafers HÉLIOS : avancement 82% (dérive) ; </a:t>
            </a:r>
            <a:r>
              <a:rPr lang="en-US"/>
              <a:t>CompoDis - </a:t>
            </a:r>
            <a:r>
              <a:rPr lang="en-US" dirty="0"/>
              <a:t>Couverture composants S1 : terminé. Attention, c'est un tour à placebo : AvioSys reçoit une fiche à continuation alternative, remise par la doctorante sans mention de sa nature. Les huit rôles lisent la même revue de presse, puis chacun ne voit que ses propres échanges et constats, listés ici. C'est cette asymétrie qui fait la mesure : au même tour, deux rôles n'ont pas la même information et n'ont aucune raison de déclarer la même urgence.</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Tour 10, qui rejoue 2021-06, phase P3 Étau. Le facilitateur injecte 1 événement : </a:t>
            </a:r>
            <a:r>
              <a:rPr lang="en-US"/>
              <a:t>NovaFab - </a:t>
            </a:r>
            <a:r>
              <a:rPr lang="en-US" dirty="0"/>
              <a:t>rupture_matiere : 309 h moteur (8 sem. réelles) ; criticité 0.7. Côté jalons : </a:t>
            </a:r>
            <a:r>
              <a:rPr lang="en-US"/>
              <a:t>AvioSys - </a:t>
            </a:r>
            <a:r>
              <a:rPr lang="en-US" dirty="0"/>
              <a:t>Sous-système avionique lot 2 : avancement 75% (dérive) ; </a:t>
            </a:r>
            <a:r>
              <a:rPr lang="en-US"/>
              <a:t>NovaFab - </a:t>
            </a:r>
            <a:r>
              <a:rPr lang="en-US" dirty="0"/>
              <a:t>Allocation wafers HÉLIOS : avancement 95% (dérive). Les huit rôles lisent la même revue de presse, puis chacun ne voit que ses propres échanges et constats, listés ici. C'est cette asymétrie qui fait la mesure : au même tour, deux rôles n'ont pas la même information et n'ont aucune raison de déclarer la même urgence.</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Tour 11, qui rejoue 2021-07, phase P3 Étau. Aucun événement moteur ce tour-ci. Côté jalons : </a:t>
            </a:r>
            <a:r>
              <a:rPr lang="en-US"/>
              <a:t>AvioSys - </a:t>
            </a:r>
            <a:r>
              <a:rPr lang="en-US" dirty="0"/>
              <a:t>Sous-système avionique lot 2 : avancement 85% (dérive) ; </a:t>
            </a:r>
            <a:r>
              <a:rPr lang="en-US"/>
              <a:t>AvioSys - </a:t>
            </a:r>
            <a:r>
              <a:rPr lang="en-US" dirty="0"/>
              <a:t>Sous-système avionique lot 2 : re-planifié en semaine 12 ; </a:t>
            </a:r>
            <a:r>
              <a:rPr lang="en-US"/>
              <a:t>NovaFab - </a:t>
            </a:r>
            <a:r>
              <a:rPr lang="en-US" dirty="0"/>
              <a:t>Allocation wafers HÉLIOS : terminé. Les huit rôles lisent la même revue de presse, puis chacun ne voit que ses propres échanges et constats, listés ici. C'est cette asymétrie qui fait la mesure : au même tour, deux rôles n'ont pas la même information et n'ont aucune raison de déclarer la même urgence.</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Tour 12, qui rejoue 2021-08, phase P3 Étau. Le facilitateur injecte 2 événements : </a:t>
            </a:r>
            <a:r>
              <a:rPr lang="en-US"/>
              <a:t>Électis - </a:t>
            </a:r>
            <a:r>
              <a:rPr lang="en-US" dirty="0"/>
              <a:t>perte_capacite : 30 % du volume ; </a:t>
            </a:r>
            <a:r>
              <a:rPr lang="en-US"/>
              <a:t>TransGlobal - </a:t>
            </a:r>
            <a:r>
              <a:rPr lang="en-US" dirty="0"/>
              <a:t>perturbation_transport : 77 h moteur (2 sem. réelles) ; surcoût 20 000. Côté jalons : </a:t>
            </a:r>
            <a:r>
              <a:rPr lang="en-US"/>
              <a:t>Électis - </a:t>
            </a:r>
            <a:r>
              <a:rPr lang="en-US" dirty="0"/>
              <a:t>Cartes HÉLIOS série B : avancement 72% (dérive) ; </a:t>
            </a:r>
            <a:r>
              <a:rPr lang="en-US"/>
              <a:t>AvioSys - </a:t>
            </a:r>
            <a:r>
              <a:rPr lang="en-US" dirty="0"/>
              <a:t>Sous-système avionique lot 2 : terminé ; </a:t>
            </a:r>
            <a:r>
              <a:rPr lang="en-US"/>
              <a:t>TransGlobal - </a:t>
            </a:r>
            <a:r>
              <a:rPr lang="en-US" dirty="0"/>
              <a:t>Contrat de flux annuel : terminé. Les huit rôles lisent la même revue de presse, puis chacun ne voit que ses propres échanges et constats, listés ici. C'est cette asymétrie qui fait la mesure : au même tour, deux rôles n'ont pas la même information et n'ont aucune raison de déclarer la même urgence.</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Tour 13, qui rejoue 2021-09, phase P4 Rupture. Le facilitateur injecte 1 événement : </a:t>
            </a:r>
            <a:r>
              <a:rPr lang="en-US"/>
              <a:t>CompoDis - </a:t>
            </a:r>
            <a:r>
              <a:rPr lang="en-US" dirty="0"/>
              <a:t>pic_demande : demande 160 (base 100). Côté jalons : </a:t>
            </a:r>
            <a:r>
              <a:rPr lang="en-US"/>
              <a:t>Orbitalys - </a:t>
            </a:r>
            <a:r>
              <a:rPr lang="en-US" dirty="0"/>
              <a:t>Livraison HÉLIOS-1 : avancement 92% (dérive) ; </a:t>
            </a:r>
            <a:r>
              <a:rPr lang="en-US"/>
              <a:t>Électis - </a:t>
            </a:r>
            <a:r>
              <a:rPr lang="en-US" dirty="0"/>
              <a:t>Cartes HÉLIOS série B : avancement 85% (dérive) ; </a:t>
            </a:r>
            <a:r>
              <a:rPr lang="en-US"/>
              <a:t>Orbitalys - </a:t>
            </a:r>
            <a:r>
              <a:rPr lang="en-US" dirty="0"/>
              <a:t>Livraison HÉLIOS-1 : re-planifié en semaine 14. Les huit rôles lisent la même revue de presse, puis chacun ne voit que ses propres échanges et constats, listés ici. C'est cette asymétrie qui fait la mesure : au même tour, deux rôles n'ont pas la même information et n'ont aucune raison de déclarer la même urgence.</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Tour 14, qui rejoue 2021-10, phase P4 Rupture. Le facilitateur injecte 2 événements : </a:t>
            </a:r>
            <a:r>
              <a:rPr lang="en-US"/>
              <a:t>TransGlobal - </a:t>
            </a:r>
            <a:r>
              <a:rPr lang="en-US" dirty="0"/>
              <a:t>perturbation_transport : 116 h moteur (3 sem. réelles) ; surcoût 30 000 ; </a:t>
            </a:r>
            <a:r>
              <a:rPr lang="en-US"/>
              <a:t>CompoDis - </a:t>
            </a:r>
            <a:r>
              <a:rPr lang="en-US" dirty="0"/>
              <a:t>hausse_tarif : +25 %. Côté jalons : </a:t>
            </a:r>
            <a:r>
              <a:rPr lang="en-US"/>
              <a:t>AvioSys - </a:t>
            </a:r>
            <a:r>
              <a:rPr lang="en-US" dirty="0"/>
              <a:t>Sous-système avionique lot 3 : avancement 45% (dérive) ; </a:t>
            </a:r>
            <a:r>
              <a:rPr lang="en-US"/>
              <a:t>Orbitalys - </a:t>
            </a:r>
            <a:r>
              <a:rPr lang="en-US" dirty="0"/>
              <a:t>Livraison HÉLIOS-1 : terminé ; </a:t>
            </a:r>
            <a:r>
              <a:rPr lang="en-US"/>
              <a:t>Électis - </a:t>
            </a:r>
            <a:r>
              <a:rPr lang="en-US" dirty="0"/>
              <a:t>Cartes HÉLIOS série B : terminé ; </a:t>
            </a:r>
            <a:r>
              <a:rPr lang="en-US"/>
              <a:t>SilPure - </a:t>
            </a:r>
            <a:r>
              <a:rPr lang="en-US" dirty="0"/>
              <a:t>Contrat wafers annuel : terminé. Les huit rôles lisent la même revue de presse, puis chacun ne voit que ses propres échanges et constats, listés ici. C'est cette asymétrie qui fait la mesure : au même tour, deux rôles n'ont pas la même information et n'ont aucune raison de déclarer la même urgence.</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Tour 15, qui rejoue 2021-11, phase P4 Rupture. Aucun événement moteur ce tour-ci. Côté jalons : </a:t>
            </a:r>
            <a:r>
              <a:rPr lang="en-US"/>
              <a:t>AvioSys - </a:t>
            </a:r>
            <a:r>
              <a:rPr lang="en-US" dirty="0"/>
              <a:t>Sous-système avionique lot 3 : avancement 60% (dérive) ; </a:t>
            </a:r>
            <a:r>
              <a:rPr lang="en-US"/>
              <a:t>Orbitalys - </a:t>
            </a:r>
            <a:r>
              <a:rPr lang="en-US" dirty="0"/>
              <a:t>Livraison HÉLIOS-2 : avancement 70% (dérive). Attention, c'est un tour à placebo : SilPure reçoit une fiche à continuation alternative, remise par la doctorante sans mention de sa nature. Les huit rôles lisent la même revue de presse, puis chacun ne voit que ses propres échanges et constats, listés ici. C'est cette asymétrie qui fait la mesure : au même tour, deux rôles n'ont pas la même information et n'ont aucune raison de déclarer la même urgence.</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Tour 16, qui rejoue 2021-12, phase P4 Rupture. Le facilitateur injecte 1 événement : </a:t>
            </a:r>
            <a:r>
              <a:rPr lang="en-US"/>
              <a:t>SilPure - </a:t>
            </a:r>
            <a:r>
              <a:rPr lang="en-US" dirty="0"/>
              <a:t>hausse_tarif : +18 %. Côté jalons : </a:t>
            </a:r>
            <a:r>
              <a:rPr lang="en-US"/>
              <a:t>AvioSys - </a:t>
            </a:r>
            <a:r>
              <a:rPr lang="en-US" dirty="0"/>
              <a:t>Sous-système avionique lot 3 : avancement 75% (dérive) ; </a:t>
            </a:r>
            <a:r>
              <a:rPr lang="en-US"/>
              <a:t>Orbitalys - </a:t>
            </a:r>
            <a:r>
              <a:rPr lang="en-US" dirty="0"/>
              <a:t>Livraison HÉLIOS-2 : avancement 82% (dérive) ; </a:t>
            </a:r>
            <a:r>
              <a:rPr lang="en-US"/>
              <a:t>Orbitalys - </a:t>
            </a:r>
            <a:r>
              <a:rPr lang="en-US" dirty="0"/>
              <a:t>Livraison HÉLIOS-2 : re-planifié en semaine 19 ; </a:t>
            </a:r>
            <a:r>
              <a:rPr lang="en-US"/>
              <a:t>AvioSys - </a:t>
            </a:r>
            <a:r>
              <a:rPr lang="en-US" dirty="0"/>
              <a:t>Sous-système avionique lot 3 : re-planifié en semaine 18. Les huit rôles lisent la même revue de presse, puis chacun ne voit que ses propres échanges et constats, listés ici. C'est cette asymétrie qui fait la mesure : au même tour, deux rôles n'ont pas la même information et n'ont aucune raison de déclarer la même urgence.</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Tour 17, qui rejoue 2022-01, phase P5 Décrue. Aucun événement moteur ce tour-ci. Côté jalons : </a:t>
            </a:r>
            <a:r>
              <a:rPr lang="en-US"/>
              <a:t>AvioSys - </a:t>
            </a:r>
            <a:r>
              <a:rPr lang="en-US" dirty="0"/>
              <a:t>Sous-système avionique lot 3 : avancement 90% (dérive). Les huit rôles lisent la même revue de presse, puis chacun ne voit que ses propres échanges et constats, listés ici. C'est cette asymétrie qui fait la mesure : au même tour, deux rôles n'ont pas la même information et n'ont aucune raison de déclarer la même urgence.</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10962" tIns="55481" rIns="110962" bIns="55481"/>
          <a:lstStyle/>
          <a:p>
            <a:r>
              <a:rPr lang="en-US" dirty="0"/>
              <a:t>Tour 18, qui rejoue 2022-02, phase P5 Décrue. Aucun événement moteur ce tour-ci. Côté jalons : </a:t>
            </a:r>
            <a:r>
              <a:rPr lang="en-US"/>
              <a:t>Orbitalys - </a:t>
            </a:r>
            <a:r>
              <a:rPr lang="en-US" dirty="0"/>
              <a:t>Livraison HÉLIOS-2 : avancement 95% (dérive) ; </a:t>
            </a:r>
            <a:r>
              <a:rPr lang="en-US"/>
              <a:t>AvioSys - </a:t>
            </a:r>
            <a:r>
              <a:rPr lang="en-US" dirty="0"/>
              <a:t>Sous-système avionique lot 3 : terminé. Les huit rôles lisent la même revue de presse, puis chacun ne voit que ses propres échanges et constats, listés ici. C'est cette asymétrie qui fait la mesure : au même tour, deux rôles n'ont pas la même information et n'ont aucune raison de déclarer la même urgence.</a:t>
            </a:r>
          </a:p>
        </p:txBody>
      </p:sp>
      <p:sp>
        <p:nvSpPr>
          <p:cNvPr id="4" name="Slide Number Placeholder 3"/>
          <p:cNvSpPr>
            <a:spLocks noGrp="1"/>
          </p:cNvSpPr>
          <p:nvPr>
            <p:ph type="sldNum" sz="quarter" idx="10"/>
          </p:nvPr>
        </p:nvSpPr>
        <p:spPr/>
        <p:txBody>
          <a:bodyPr lIns="110962" tIns="55481" rIns="110962" bIns="55481"/>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4B56F20-289F-7843-3045-32309680B1E8}"/>
              </a:ext>
            </a:extLst>
          </p:cNvPr>
          <p:cNvSpPr txBox="1"/>
          <p:nvPr userDrawn="1">
            <p:extLst>
              <p:ext uri="{1162E1C5-73C7-4A58-AE30-91384D911F3F}">
                <p184:classification xmlns:p184="http://schemas.microsoft.com/office/powerpoint/2018/4/main" val="ftr"/>
              </p:ext>
            </p:extLst>
          </p:nvPr>
        </p:nvSpPr>
        <p:spPr>
          <a:xfrm>
            <a:off x="63500" y="4927600"/>
            <a:ext cx="1268413" cy="152400"/>
          </a:xfrm>
          <a:prstGeom prst="rect">
            <a:avLst/>
          </a:prstGeom>
        </p:spPr>
        <p:txBody>
          <a:bodyPr horzOverflow="overflow" lIns="0" tIns="0" rIns="0" bIns="0">
            <a:spAutoFit/>
          </a:bodyPr>
          <a:lstStyle/>
          <a:p>
            <a:pPr algn="l"/>
            <a:r>
              <a:rPr lang="fr-FR" sz="1000">
                <a:solidFill>
                  <a:srgbClr val="000000">
                    <a:alpha val="50000"/>
                  </a:srgbClr>
                </a:solidFill>
                <a:latin typeface="Aptos" panose="020B0004020202020204" pitchFamily="34" charset="0"/>
              </a:rPr>
              <a:t>Sensitivity: C1-Internal</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658368"/>
            <a:ext cx="7955280" cy="274320"/>
          </a:xfrm>
          <a:prstGeom prst="rect">
            <a:avLst/>
          </a:prstGeom>
          <a:noFill/>
          <a:ln/>
        </p:spPr>
        <p:txBody>
          <a:bodyPr wrap="square" lIns="0" tIns="0" rIns="0" bIns="0" rtlCol="0" anchor="ctr"/>
          <a:lstStyle/>
          <a:p>
            <a:pPr marL="0" indent="0">
              <a:buNone/>
            </a:pPr>
            <a:r>
              <a:rPr lang="fr-FR" sz="1100" b="1" kern="0" spc="300" noProof="0" dirty="0">
                <a:solidFill>
                  <a:srgbClr val="176F98"/>
                </a:solidFill>
                <a:latin typeface="Calibri" pitchFamily="34" charset="0"/>
                <a:ea typeface="Calibri" pitchFamily="34" charset="-122"/>
                <a:cs typeface="Calibri" pitchFamily="34" charset="-120"/>
              </a:rPr>
              <a:t>SUPPLYSCORE - VALIDATION EMPIRIQUE</a:t>
            </a:r>
            <a:endParaRPr lang="fr-FR" sz="1100" noProof="0" dirty="0"/>
          </a:p>
        </p:txBody>
      </p:sp>
      <p:sp>
        <p:nvSpPr>
          <p:cNvPr id="3" name="Text 1"/>
          <p:cNvSpPr/>
          <p:nvPr/>
        </p:nvSpPr>
        <p:spPr>
          <a:xfrm>
            <a:off x="594360" y="1051560"/>
            <a:ext cx="7955280" cy="868680"/>
          </a:xfrm>
          <a:prstGeom prst="rect">
            <a:avLst/>
          </a:prstGeom>
          <a:noFill/>
          <a:ln/>
        </p:spPr>
        <p:txBody>
          <a:bodyPr wrap="square" lIns="0" tIns="0" rIns="0" bIns="0" rtlCol="0" anchor="ctr"/>
          <a:lstStyle/>
          <a:p>
            <a:pPr marL="0" indent="0">
              <a:buNone/>
            </a:pPr>
            <a:r>
              <a:rPr lang="fr-FR" sz="4700" b="1" noProof="0" dirty="0">
                <a:solidFill>
                  <a:srgbClr val="043962"/>
                </a:solidFill>
                <a:latin typeface="Calibri" pitchFamily="34" charset="0"/>
                <a:ea typeface="Calibri" pitchFamily="34" charset="-122"/>
                <a:cs typeface="Calibri" pitchFamily="34" charset="-120"/>
              </a:rPr>
              <a:t>Campagne HÉLIOS</a:t>
            </a:r>
            <a:endParaRPr lang="fr-FR" sz="4700" noProof="0" dirty="0"/>
          </a:p>
        </p:txBody>
      </p:sp>
      <p:sp>
        <p:nvSpPr>
          <p:cNvPr id="4" name="Text 2"/>
          <p:cNvSpPr/>
          <p:nvPr/>
        </p:nvSpPr>
        <p:spPr>
          <a:xfrm>
            <a:off x="594360" y="1993392"/>
            <a:ext cx="7680960" cy="777240"/>
          </a:xfrm>
          <a:prstGeom prst="rect">
            <a:avLst/>
          </a:prstGeom>
          <a:noFill/>
          <a:ln/>
        </p:spPr>
        <p:txBody>
          <a:bodyPr wrap="square" lIns="0" tIns="0" rIns="0" bIns="0" rtlCol="0" anchor="ctr"/>
          <a:lstStyle/>
          <a:p>
            <a:pPr marL="0" indent="0">
              <a:lnSpc>
                <a:spcPct val="115000"/>
              </a:lnSpc>
              <a:buNone/>
            </a:pPr>
            <a:r>
              <a:rPr lang="fr-FR" sz="1700" noProof="0" dirty="0">
                <a:solidFill>
                  <a:srgbClr val="043962"/>
                </a:solidFill>
                <a:latin typeface="Calibri" pitchFamily="34" charset="0"/>
                <a:ea typeface="Calibri" pitchFamily="34" charset="-122"/>
                <a:cs typeface="Calibri" pitchFamily="34" charset="-120"/>
              </a:rPr>
              <a:t>Rejouer la crise des semi-conducteurs 2020-2022 pour confronter</a:t>
            </a:r>
            <a:endParaRPr lang="fr-FR" sz="1700" noProof="0" dirty="0"/>
          </a:p>
          <a:p>
            <a:pPr marL="0" indent="0">
              <a:lnSpc>
                <a:spcPct val="115000"/>
              </a:lnSpc>
              <a:buNone/>
            </a:pPr>
            <a:r>
              <a:rPr lang="fr-FR" sz="1700" noProof="0" dirty="0">
                <a:solidFill>
                  <a:srgbClr val="043962"/>
                </a:solidFill>
                <a:latin typeface="Calibri" pitchFamily="34" charset="0"/>
                <a:ea typeface="Calibri" pitchFamily="34" charset="-122"/>
                <a:cs typeface="Calibri" pitchFamily="34" charset="-120"/>
              </a:rPr>
              <a:t>l'urgence déclarée des opérateurs à l'urgence réelle calculée.</a:t>
            </a:r>
            <a:endParaRPr lang="fr-FR" sz="1700" noProof="0" dirty="0"/>
          </a:p>
        </p:txBody>
      </p:sp>
      <p:pic>
        <p:nvPicPr>
          <p:cNvPr id="6" name="Image 5">
            <a:extLst>
              <a:ext uri="{FF2B5EF4-FFF2-40B4-BE49-F238E27FC236}">
                <a16:creationId xmlns:a16="http://schemas.microsoft.com/office/drawing/2014/main" id="{7948CA38-D880-1F4E-718F-AB2376C12F65}"/>
              </a:ext>
            </a:extLst>
          </p:cNvPr>
          <p:cNvPicPr>
            <a:picLocks noChangeAspect="1"/>
          </p:cNvPicPr>
          <p:nvPr/>
        </p:nvPicPr>
        <p:blipFill>
          <a:blip r:embed="rId3"/>
          <a:stretch>
            <a:fillRect/>
          </a:stretch>
        </p:blipFill>
        <p:spPr>
          <a:xfrm>
            <a:off x="2735421" y="2763472"/>
            <a:ext cx="3398837" cy="209427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LE PROBLÈME</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700" b="1" noProof="0" dirty="0">
                <a:solidFill>
                  <a:srgbClr val="043962"/>
                </a:solidFill>
                <a:latin typeface="Calibri" pitchFamily="34" charset="0"/>
                <a:ea typeface="Calibri" pitchFamily="34" charset="-122"/>
                <a:cs typeface="Calibri" pitchFamily="34" charset="-120"/>
              </a:rPr>
              <a:t>Deux urgences, et un écart qui décide</a:t>
            </a:r>
            <a:endParaRPr lang="fr-FR" sz="2700" noProof="0" dirty="0"/>
          </a:p>
        </p:txBody>
      </p:sp>
      <p:sp>
        <p:nvSpPr>
          <p:cNvPr id="4" name="Text 2"/>
          <p:cNvSpPr/>
          <p:nvPr/>
        </p:nvSpPr>
        <p:spPr>
          <a:xfrm>
            <a:off x="502920" y="1298448"/>
            <a:ext cx="3794760" cy="1234440"/>
          </a:xfrm>
          <a:prstGeom prst="rect">
            <a:avLst/>
          </a:prstGeom>
          <a:noFill/>
          <a:ln/>
        </p:spPr>
        <p:txBody>
          <a:bodyPr wrap="square" lIns="0" tIns="0" rIns="0" bIns="0" rtlCol="0" anchor="t"/>
          <a:lstStyle/>
          <a:p>
            <a:pPr marL="127000" indent="-127000" algn="l">
              <a:spcAft>
                <a:spcPts val="700"/>
              </a:spcAft>
              <a:buSzPct val="100000"/>
              <a:buChar char="•"/>
            </a:pPr>
            <a:r>
              <a:rPr lang="fr-FR" sz="1250" noProof="0" dirty="0">
                <a:solidFill>
                  <a:srgbClr val="043962"/>
                </a:solidFill>
                <a:latin typeface="Calibri" pitchFamily="34" charset="0"/>
                <a:ea typeface="Calibri" pitchFamily="34" charset="-122"/>
                <a:cs typeface="Calibri" pitchFamily="34" charset="-120"/>
              </a:rPr>
              <a:t>Ud : ce que l'opérateur déclare chaque semaine (perception).</a:t>
            </a:r>
            <a:endParaRPr lang="fr-FR" sz="1250" noProof="0" dirty="0"/>
          </a:p>
          <a:p>
            <a:pPr marL="127000" indent="-127000" algn="l">
              <a:spcAft>
                <a:spcPts val="700"/>
              </a:spcAft>
              <a:buSzPct val="100000"/>
              <a:buChar char="•"/>
            </a:pPr>
            <a:r>
              <a:rPr lang="fr-FR" sz="1250" noProof="0" dirty="0">
                <a:solidFill>
                  <a:srgbClr val="043962"/>
                </a:solidFill>
                <a:latin typeface="Calibri" pitchFamily="34" charset="0"/>
                <a:ea typeface="Calibri" pitchFamily="34" charset="-122"/>
                <a:cs typeface="Calibri" pitchFamily="34" charset="-120"/>
              </a:rPr>
              <a:t>Ur : ce que les indicateurs physiques du jumeau numérique </a:t>
            </a:r>
            <a:r>
              <a:rPr lang="fr-FR" sz="1250" noProof="0" dirty="0" err="1">
                <a:solidFill>
                  <a:srgbClr val="043962"/>
                </a:solidFill>
                <a:latin typeface="Calibri" pitchFamily="34" charset="0"/>
                <a:ea typeface="Calibri" pitchFamily="34" charset="-122"/>
                <a:cs typeface="Calibri" pitchFamily="34" charset="-120"/>
              </a:rPr>
              <a:t>calculents</a:t>
            </a:r>
            <a:endParaRPr lang="fr-FR" sz="1250" noProof="0" dirty="0"/>
          </a:p>
        </p:txBody>
      </p:sp>
      <p:sp>
        <p:nvSpPr>
          <p:cNvPr id="5" name="Shape 3"/>
          <p:cNvSpPr/>
          <p:nvPr/>
        </p:nvSpPr>
        <p:spPr>
          <a:xfrm>
            <a:off x="502920" y="2715768"/>
            <a:ext cx="3794760" cy="758952"/>
          </a:xfrm>
          <a:prstGeom prst="roundRect">
            <a:avLst>
              <a:gd name="adj" fmla="val 7368"/>
            </a:avLst>
          </a:prstGeom>
          <a:solidFill>
            <a:srgbClr val="FFF3D6"/>
          </a:solidFill>
          <a:ln w="12700">
            <a:solidFill>
              <a:srgbClr val="FFF3D6"/>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6" name="Text 4"/>
          <p:cNvSpPr/>
          <p:nvPr/>
        </p:nvSpPr>
        <p:spPr>
          <a:xfrm>
            <a:off x="685800" y="2715768"/>
            <a:ext cx="3474720" cy="685800"/>
          </a:xfrm>
          <a:prstGeom prst="rect">
            <a:avLst/>
          </a:prstGeom>
          <a:noFill/>
          <a:ln/>
        </p:spPr>
        <p:txBody>
          <a:bodyPr wrap="square" lIns="0" tIns="0" rIns="0" bIns="0" rtlCol="0" anchor="ctr"/>
          <a:lstStyle/>
          <a:p>
            <a:pPr marL="0" indent="0">
              <a:buNone/>
            </a:pPr>
            <a:r>
              <a:rPr lang="fr-FR" sz="1200" b="1" noProof="0" dirty="0">
                <a:solidFill>
                  <a:srgbClr val="043962"/>
                </a:solidFill>
                <a:latin typeface="Calibri" pitchFamily="34" charset="0"/>
                <a:ea typeface="Calibri" pitchFamily="34" charset="-122"/>
                <a:cs typeface="Calibri" pitchFamily="34" charset="-120"/>
              </a:rPr>
              <a:t>F = [Ud − Ur]+  </a:t>
            </a:r>
            <a:r>
              <a:rPr lang="fr-FR" sz="1200" noProof="0" dirty="0">
                <a:solidFill>
                  <a:srgbClr val="043962"/>
                </a:solidFill>
                <a:latin typeface="Calibri" pitchFamily="34" charset="0"/>
                <a:ea typeface="Calibri" pitchFamily="34" charset="-122"/>
                <a:cs typeface="Calibri" pitchFamily="34" charset="-120"/>
              </a:rPr>
              <a:t>Fausse urgence : panique injustifiée, ressources gaspillées.</a:t>
            </a:r>
            <a:endParaRPr lang="fr-FR" sz="1200" noProof="0" dirty="0"/>
          </a:p>
        </p:txBody>
      </p:sp>
      <p:sp>
        <p:nvSpPr>
          <p:cNvPr id="7" name="Shape 5"/>
          <p:cNvSpPr/>
          <p:nvPr/>
        </p:nvSpPr>
        <p:spPr>
          <a:xfrm>
            <a:off x="502920" y="3721608"/>
            <a:ext cx="3794760" cy="758952"/>
          </a:xfrm>
          <a:prstGeom prst="roundRect">
            <a:avLst>
              <a:gd name="adj" fmla="val 7368"/>
            </a:avLst>
          </a:prstGeom>
          <a:solidFill>
            <a:srgbClr val="F8ACA6"/>
          </a:solidFill>
          <a:ln w="12700">
            <a:solidFill>
              <a:srgbClr val="EBF3F9"/>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8" name="Text 6"/>
          <p:cNvSpPr/>
          <p:nvPr/>
        </p:nvSpPr>
        <p:spPr>
          <a:xfrm>
            <a:off x="685800" y="3721608"/>
            <a:ext cx="3474720" cy="685800"/>
          </a:xfrm>
          <a:prstGeom prst="rect">
            <a:avLst/>
          </a:prstGeom>
          <a:noFill/>
          <a:ln/>
        </p:spPr>
        <p:txBody>
          <a:bodyPr wrap="square" lIns="0" tIns="0" rIns="0" bIns="0" rtlCol="0" anchor="ctr"/>
          <a:lstStyle/>
          <a:p>
            <a:pPr marL="0" indent="0">
              <a:buNone/>
            </a:pPr>
            <a:r>
              <a:rPr lang="fr-FR" sz="1200" b="1" noProof="0" dirty="0">
                <a:solidFill>
                  <a:srgbClr val="176F98"/>
                </a:solidFill>
                <a:latin typeface="Calibri" pitchFamily="34" charset="0"/>
                <a:ea typeface="Calibri" pitchFamily="34" charset="-122"/>
                <a:cs typeface="Calibri" pitchFamily="34" charset="-120"/>
              </a:rPr>
              <a:t>H = [Ur − Ud]+  </a:t>
            </a:r>
            <a:r>
              <a:rPr lang="fr-FR" sz="1200" noProof="0" dirty="0">
                <a:solidFill>
                  <a:srgbClr val="043962"/>
                </a:solidFill>
                <a:latin typeface="Calibri" pitchFamily="34" charset="0"/>
                <a:ea typeface="Calibri" pitchFamily="34" charset="-122"/>
                <a:cs typeface="Calibri" pitchFamily="34" charset="-120"/>
              </a:rPr>
              <a:t>Risque caché : le danger invisible, la rupture qui se prépare sans bruit.</a:t>
            </a:r>
            <a:endParaRPr lang="fr-FR" sz="1200" noProof="0" dirty="0"/>
          </a:p>
        </p:txBody>
      </p:sp>
      <p:sp>
        <p:nvSpPr>
          <p:cNvPr id="9" name="Text 7"/>
          <p:cNvSpPr/>
          <p:nvPr/>
        </p:nvSpPr>
        <p:spPr>
          <a:xfrm>
            <a:off x="502920" y="4590288"/>
            <a:ext cx="3794760" cy="457200"/>
          </a:xfrm>
          <a:prstGeom prst="rect">
            <a:avLst/>
          </a:prstGeom>
          <a:noFill/>
          <a:ln/>
        </p:spPr>
        <p:txBody>
          <a:bodyPr wrap="square" lIns="0" tIns="0" rIns="0" bIns="0" rtlCol="0" anchor="ctr"/>
          <a:lstStyle/>
          <a:p>
            <a:pPr marL="0" indent="0">
              <a:buNone/>
            </a:pPr>
            <a:r>
              <a:rPr lang="fr-FR" sz="1050" i="1" noProof="0" dirty="0">
                <a:solidFill>
                  <a:srgbClr val="8C8C9A"/>
                </a:solidFill>
                <a:latin typeface="Calibri" pitchFamily="34" charset="0"/>
                <a:ea typeface="Calibri" pitchFamily="34" charset="-122"/>
                <a:cs typeface="Calibri" pitchFamily="34" charset="-120"/>
              </a:rPr>
              <a:t>Règle de gouvernance : le danger invisible coûte 2.25 fois plus cher que la panique.</a:t>
            </a:r>
            <a:endParaRPr lang="fr-FR" sz="1050" noProof="0" dirty="0"/>
          </a:p>
        </p:txBody>
      </p:sp>
      <p:sp>
        <p:nvSpPr>
          <p:cNvPr id="10" name="Shape 8"/>
          <p:cNvSpPr/>
          <p:nvPr/>
        </p:nvSpPr>
        <p:spPr>
          <a:xfrm>
            <a:off x="4526280" y="1298448"/>
            <a:ext cx="4114800" cy="3310128"/>
          </a:xfrm>
          <a:prstGeom prst="roundRect">
            <a:avLst>
              <a:gd name="adj" fmla="val 1934"/>
            </a:avLst>
          </a:prstGeom>
          <a:solidFill>
            <a:srgbClr val="FFFFFF"/>
          </a:solidFill>
          <a:ln w="12700">
            <a:solidFill>
              <a:srgbClr val="FFFFFF"/>
            </a:solidFill>
            <a:prstDash val="solid"/>
          </a:ln>
          <a:effectLst>
            <a:outerShdw blurRad="88900" dist="25400" dir="2700000" algn="bl" rotWithShape="0">
              <a:srgbClr val="1F3050">
                <a:alpha val="18000"/>
              </a:srgbClr>
            </a:outerShdw>
          </a:effectLst>
        </p:spPr>
        <p:txBody>
          <a:bodyPr/>
          <a:lstStyle/>
          <a:p>
            <a:endParaRPr lang="fr-FR" noProof="0" dirty="0"/>
          </a:p>
        </p:txBody>
      </p:sp>
      <p:pic>
        <p:nvPicPr>
          <p:cNvPr id="11" name="Image 0" descr="C:/Users/jhoarau/AppData/Local/Temp/claude/C--PRIVEE-AZURE/f8b0be80-80ed-4b8e-b83d-292634a7e08a/scratchpad/docx_build/bst_urgency_gap.png"/>
          <p:cNvPicPr>
            <a:picLocks noChangeAspect="1"/>
          </p:cNvPicPr>
          <p:nvPr/>
        </p:nvPicPr>
        <p:blipFill>
          <a:blip r:embed="rId3"/>
          <a:stretch>
            <a:fillRect/>
          </a:stretch>
        </p:blipFill>
        <p:spPr>
          <a:xfrm>
            <a:off x="4636008" y="1492758"/>
            <a:ext cx="3895344" cy="2921508"/>
          </a:xfrm>
          <a:prstGeom prst="rect">
            <a:avLst/>
          </a:prstGeom>
        </p:spPr>
      </p:pic>
      <p:sp>
        <p:nvSpPr>
          <p:cNvPr id="12" name="Text 9"/>
          <p:cNvSpPr/>
          <p:nvPr/>
        </p:nvSpPr>
        <p:spPr>
          <a:xfrm>
            <a:off x="4526280" y="4663440"/>
            <a:ext cx="4114800" cy="201168"/>
          </a:xfrm>
          <a:prstGeom prst="rect">
            <a:avLst/>
          </a:prstGeom>
          <a:noFill/>
          <a:ln/>
        </p:spPr>
        <p:txBody>
          <a:bodyPr wrap="square" lIns="0" tIns="0" rIns="0" bIns="0" rtlCol="0" anchor="ctr"/>
          <a:lstStyle/>
          <a:p>
            <a:pPr marL="0" indent="0" algn="ctr">
              <a:buNone/>
            </a:pPr>
            <a:r>
              <a:rPr lang="fr-FR" sz="900" i="1" noProof="0" dirty="0">
                <a:solidFill>
                  <a:srgbClr val="8C8C9A"/>
                </a:solidFill>
                <a:latin typeface="Calibri" pitchFamily="34" charset="0"/>
                <a:ea typeface="Calibri" pitchFamily="34" charset="-122"/>
                <a:cs typeface="Calibri" pitchFamily="34" charset="-120"/>
              </a:rPr>
              <a:t>Le fossé Ud/Ur au fil des semaines : F en jaune, H en rouge (figure du BST).</a:t>
            </a:r>
            <a:endParaRPr lang="fr-FR" sz="900" noProof="0" dirty="0"/>
          </a:p>
        </p:txBody>
      </p:sp>
      <p:sp>
        <p:nvSpPr>
          <p:cNvPr id="13" name="Text 10"/>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- 2/50</a:t>
            </a:r>
            <a:endParaRPr lang="fr-FR" sz="8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LA MESURE DÉCLARÉE</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700" b="1" noProof="0" dirty="0">
                <a:solidFill>
                  <a:srgbClr val="043962"/>
                </a:solidFill>
                <a:latin typeface="Calibri" pitchFamily="34" charset="0"/>
                <a:ea typeface="Calibri" pitchFamily="34" charset="-122"/>
                <a:cs typeface="Calibri" pitchFamily="34" charset="-120"/>
              </a:rPr>
              <a:t>Ud : un questionnaire AHP, dix minutes par tour</a:t>
            </a:r>
            <a:endParaRPr lang="fr-FR" sz="2700" noProof="0" dirty="0"/>
          </a:p>
        </p:txBody>
      </p:sp>
      <p:sp>
        <p:nvSpPr>
          <p:cNvPr id="4" name="Shape 2"/>
          <p:cNvSpPr/>
          <p:nvPr/>
        </p:nvSpPr>
        <p:spPr>
          <a:xfrm>
            <a:off x="502920" y="1298448"/>
            <a:ext cx="5257800" cy="2788920"/>
          </a:xfrm>
          <a:prstGeom prst="roundRect">
            <a:avLst>
              <a:gd name="adj" fmla="val 2295"/>
            </a:avLst>
          </a:prstGeom>
          <a:solidFill>
            <a:srgbClr val="FFFFFF"/>
          </a:solidFill>
          <a:ln w="12700">
            <a:solidFill>
              <a:srgbClr val="FFFFFF"/>
            </a:solidFill>
            <a:prstDash val="solid"/>
          </a:ln>
          <a:effectLst>
            <a:outerShdw blurRad="88900" dist="25400" dir="2700000" algn="bl" rotWithShape="0">
              <a:srgbClr val="1F3050">
                <a:alpha val="18000"/>
              </a:srgbClr>
            </a:outerShdw>
          </a:effectLst>
        </p:spPr>
        <p:txBody>
          <a:bodyPr/>
          <a:lstStyle/>
          <a:p>
            <a:endParaRPr lang="fr-FR" noProof="0" dirty="0"/>
          </a:p>
        </p:txBody>
      </p:sp>
      <p:pic>
        <p:nvPicPr>
          <p:cNvPr id="5" name="Image 0" descr="C:/Users/jhoarau/AppData/Local/Temp/claude/C--PRIVEE-AZURE/f8b0be80-80ed-4b8e-b83d-292634a7e08a/scratchpad/docx_build/bst_questionnaire.png"/>
          <p:cNvPicPr>
            <a:picLocks noChangeAspect="1"/>
          </p:cNvPicPr>
          <p:nvPr/>
        </p:nvPicPr>
        <p:blipFill>
          <a:blip r:embed="rId3"/>
          <a:stretch>
            <a:fillRect/>
          </a:stretch>
        </p:blipFill>
        <p:spPr>
          <a:xfrm>
            <a:off x="612648" y="1463849"/>
            <a:ext cx="5038344" cy="2458117"/>
          </a:xfrm>
          <a:prstGeom prst="rect">
            <a:avLst/>
          </a:prstGeom>
        </p:spPr>
      </p:pic>
      <p:sp>
        <p:nvSpPr>
          <p:cNvPr id="6" name="Text 3"/>
          <p:cNvSpPr/>
          <p:nvPr/>
        </p:nvSpPr>
        <p:spPr>
          <a:xfrm>
            <a:off x="502920" y="4114800"/>
            <a:ext cx="5257800" cy="256032"/>
          </a:xfrm>
          <a:prstGeom prst="rect">
            <a:avLst/>
          </a:prstGeom>
          <a:noFill/>
          <a:ln/>
        </p:spPr>
        <p:txBody>
          <a:bodyPr wrap="square" lIns="0" tIns="0" rIns="0" bIns="0" rtlCol="0" anchor="ctr"/>
          <a:lstStyle/>
          <a:p>
            <a:pPr marL="0" indent="0" algn="ctr">
              <a:buNone/>
            </a:pPr>
            <a:r>
              <a:rPr lang="fr-FR" sz="900" i="1" noProof="0" dirty="0">
                <a:solidFill>
                  <a:srgbClr val="8C8C9A"/>
                </a:solidFill>
                <a:latin typeface="Calibri" pitchFamily="34" charset="0"/>
                <a:ea typeface="Calibri" pitchFamily="34" charset="-122"/>
                <a:cs typeface="Calibri" pitchFamily="34" charset="-120"/>
              </a:rPr>
              <a:t>Le volet AHP réel de l'outil : curseurs de comparaison par paires.</a:t>
            </a:r>
            <a:endParaRPr lang="fr-FR" sz="900" noProof="0" dirty="0"/>
          </a:p>
        </p:txBody>
      </p:sp>
      <p:sp>
        <p:nvSpPr>
          <p:cNvPr id="7" name="Text 4"/>
          <p:cNvSpPr/>
          <p:nvPr/>
        </p:nvSpPr>
        <p:spPr>
          <a:xfrm>
            <a:off x="5943600" y="1325880"/>
            <a:ext cx="2697480" cy="3474720"/>
          </a:xfrm>
          <a:prstGeom prst="rect">
            <a:avLst/>
          </a:prstGeom>
          <a:noFill/>
          <a:ln/>
        </p:spPr>
        <p:txBody>
          <a:bodyPr wrap="square" lIns="0" tIns="0" rIns="0" bIns="0" rtlCol="0" anchor="t"/>
          <a:lstStyle/>
          <a:p>
            <a:pPr marL="127000" indent="-127000" algn="l">
              <a:spcAft>
                <a:spcPts val="700"/>
              </a:spcAft>
              <a:buSzPct val="100000"/>
              <a:buChar char="•"/>
            </a:pPr>
            <a:r>
              <a:rPr lang="fr-FR" sz="1250" noProof="0" dirty="0">
                <a:solidFill>
                  <a:srgbClr val="043962"/>
                </a:solidFill>
                <a:latin typeface="Calibri" pitchFamily="34" charset="0"/>
                <a:ea typeface="Calibri" pitchFamily="34" charset="-122"/>
                <a:cs typeface="Calibri" pitchFamily="34" charset="-120"/>
              </a:rPr>
              <a:t>4 critères comparés deux à deux : impact opérationnel, fenêtre temporelle, dépendances aval, récupérabilité.</a:t>
            </a:r>
            <a:endParaRPr lang="fr-FR" sz="1250" noProof="0" dirty="0"/>
          </a:p>
          <a:p>
            <a:pPr marL="127000" indent="-127000" algn="l">
              <a:spcAft>
                <a:spcPts val="700"/>
              </a:spcAft>
              <a:buSzPct val="100000"/>
              <a:buChar char="•"/>
            </a:pPr>
            <a:r>
              <a:rPr lang="fr-FR" sz="1250" noProof="0" dirty="0">
                <a:solidFill>
                  <a:srgbClr val="043962"/>
                </a:solidFill>
                <a:latin typeface="Calibri" pitchFamily="34" charset="0"/>
                <a:ea typeface="Calibri" pitchFamily="34" charset="-122"/>
                <a:cs typeface="Calibri" pitchFamily="34" charset="-120"/>
              </a:rPr>
              <a:t>Ud = moyenne des notes pondérée par les priorités, ramenée sur [0, 1].</a:t>
            </a:r>
            <a:endParaRPr lang="fr-FR" sz="1250" noProof="0" dirty="0"/>
          </a:p>
          <a:p>
            <a:pPr marL="127000" indent="-127000" algn="l">
              <a:spcAft>
                <a:spcPts val="700"/>
              </a:spcAft>
              <a:buSzPct val="100000"/>
              <a:buChar char="•"/>
            </a:pPr>
            <a:r>
              <a:rPr lang="fr-FR" sz="1250" noProof="0" dirty="0">
                <a:solidFill>
                  <a:srgbClr val="043962"/>
                </a:solidFill>
                <a:latin typeface="Calibri" pitchFamily="34" charset="0"/>
                <a:ea typeface="Calibri" pitchFamily="34" charset="-122"/>
                <a:cs typeface="Calibri" pitchFamily="34" charset="-120"/>
              </a:rPr>
              <a:t>Cohérence : CR &lt; 0.10, sinon l'outil refuse et guide vers la comparaison la plus contradictoire.</a:t>
            </a:r>
            <a:endParaRPr lang="fr-FR" sz="1250" noProof="0" dirty="0"/>
          </a:p>
        </p:txBody>
      </p:sp>
      <p:sp>
        <p:nvSpPr>
          <p:cNvPr id="8" name="Text 5"/>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- 4/50</a:t>
            </a:r>
            <a:endParaRPr lang="fr-FR" sz="8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LES DONNÉES</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700" b="1" noProof="0" dirty="0">
                <a:solidFill>
                  <a:srgbClr val="043962"/>
                </a:solidFill>
                <a:latin typeface="Calibri" pitchFamily="34" charset="0"/>
                <a:ea typeface="Calibri" pitchFamily="34" charset="-122"/>
                <a:cs typeface="Calibri" pitchFamily="34" charset="-120"/>
              </a:rPr>
              <a:t>Ur alimenté par le réel</a:t>
            </a:r>
            <a:endParaRPr lang="fr-FR" sz="2700" noProof="0" dirty="0"/>
          </a:p>
        </p:txBody>
      </p:sp>
      <p:sp>
        <p:nvSpPr>
          <p:cNvPr id="4" name="Shape 2"/>
          <p:cNvSpPr/>
          <p:nvPr/>
        </p:nvSpPr>
        <p:spPr>
          <a:xfrm>
            <a:off x="502920" y="1325880"/>
            <a:ext cx="1938528" cy="1828800"/>
          </a:xfrm>
          <a:prstGeom prst="roundRect">
            <a:avLst>
              <a:gd name="adj" fmla="val 3500"/>
            </a:avLst>
          </a:prstGeom>
          <a:solidFill>
            <a:srgbClr val="EBF3F9"/>
          </a:solidFill>
          <a:ln w="12700">
            <a:solidFill>
              <a:srgbClr val="EBF3F9"/>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30936" y="1435608"/>
            <a:ext cx="1682496" cy="274320"/>
          </a:xfrm>
          <a:prstGeom prst="rect">
            <a:avLst/>
          </a:prstGeom>
          <a:noFill/>
          <a:ln/>
        </p:spPr>
        <p:txBody>
          <a:bodyPr wrap="square" lIns="0" tIns="0" rIns="0" bIns="0" rtlCol="0" anchor="ctr"/>
          <a:lstStyle/>
          <a:p>
            <a:pPr marL="0" indent="0">
              <a:buNone/>
            </a:pPr>
            <a:r>
              <a:rPr lang="fr-FR" sz="1150" b="1" noProof="0" dirty="0">
                <a:solidFill>
                  <a:srgbClr val="176F98"/>
                </a:solidFill>
                <a:latin typeface="Calibri" pitchFamily="34" charset="0"/>
                <a:ea typeface="Calibri" pitchFamily="34" charset="-122"/>
                <a:cs typeface="Calibri" pitchFamily="34" charset="-120"/>
              </a:rPr>
              <a:t>INSEE (API BDM)</a:t>
            </a:r>
            <a:endParaRPr lang="fr-FR" sz="1150" noProof="0" dirty="0"/>
          </a:p>
        </p:txBody>
      </p:sp>
      <p:sp>
        <p:nvSpPr>
          <p:cNvPr id="6" name="Text 4"/>
          <p:cNvSpPr/>
          <p:nvPr/>
        </p:nvSpPr>
        <p:spPr>
          <a:xfrm>
            <a:off x="630936" y="1755648"/>
            <a:ext cx="1682496" cy="1298448"/>
          </a:xfrm>
          <a:prstGeom prst="rect">
            <a:avLst/>
          </a:prstGeom>
          <a:noFill/>
          <a:ln/>
        </p:spPr>
        <p:txBody>
          <a:bodyPr wrap="square" lIns="0" tIns="0" rIns="0" bIns="0" rtlCol="0" anchor="ctr"/>
          <a:lstStyle/>
          <a:p>
            <a:pPr marL="0" indent="0">
              <a:lnSpc>
                <a:spcPct val="112000"/>
              </a:lnSpc>
              <a:buNone/>
            </a:pPr>
            <a:r>
              <a:rPr lang="fr-FR" sz="960" noProof="0" dirty="0">
                <a:solidFill>
                  <a:srgbClr val="043962"/>
                </a:solidFill>
                <a:latin typeface="Calibri" pitchFamily="34" charset="0"/>
                <a:ea typeface="Calibri" pitchFamily="34" charset="-122"/>
                <a:cs typeface="Calibri" pitchFamily="34" charset="-120"/>
              </a:rPr>
              <a:t>6 séries : production NAF 26.1, prix industrie et composants, défaillances, taux d'utilisation des capacités.</a:t>
            </a:r>
            <a:endParaRPr lang="fr-FR" sz="960" noProof="0" dirty="0"/>
          </a:p>
        </p:txBody>
      </p:sp>
      <p:sp>
        <p:nvSpPr>
          <p:cNvPr id="7" name="Shape 5"/>
          <p:cNvSpPr/>
          <p:nvPr/>
        </p:nvSpPr>
        <p:spPr>
          <a:xfrm>
            <a:off x="2578608" y="1325880"/>
            <a:ext cx="1938528" cy="1828800"/>
          </a:xfrm>
          <a:prstGeom prst="roundRect">
            <a:avLst>
              <a:gd name="adj" fmla="val 3500"/>
            </a:avLst>
          </a:prstGeom>
          <a:solidFill>
            <a:srgbClr val="EBF3F9"/>
          </a:solidFill>
          <a:ln w="12700">
            <a:solidFill>
              <a:srgbClr val="EBF3F9"/>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8" name="Text 6"/>
          <p:cNvSpPr/>
          <p:nvPr/>
        </p:nvSpPr>
        <p:spPr>
          <a:xfrm>
            <a:off x="2706624" y="1435608"/>
            <a:ext cx="1682496" cy="274320"/>
          </a:xfrm>
          <a:prstGeom prst="rect">
            <a:avLst/>
          </a:prstGeom>
          <a:noFill/>
          <a:ln/>
        </p:spPr>
        <p:txBody>
          <a:bodyPr wrap="square" lIns="0" tIns="0" rIns="0" bIns="0" rtlCol="0" anchor="ctr"/>
          <a:lstStyle/>
          <a:p>
            <a:pPr marL="0" indent="0">
              <a:buNone/>
            </a:pPr>
            <a:r>
              <a:rPr lang="fr-FR" sz="1150" b="1" noProof="0" dirty="0">
                <a:solidFill>
                  <a:srgbClr val="176F98"/>
                </a:solidFill>
                <a:latin typeface="Calibri" pitchFamily="34" charset="0"/>
                <a:ea typeface="Calibri" pitchFamily="34" charset="-122"/>
                <a:cs typeface="Calibri" pitchFamily="34" charset="-120"/>
              </a:rPr>
              <a:t>WSTS</a:t>
            </a:r>
            <a:endParaRPr lang="fr-FR" sz="1150" noProof="0" dirty="0"/>
          </a:p>
        </p:txBody>
      </p:sp>
      <p:sp>
        <p:nvSpPr>
          <p:cNvPr id="9" name="Text 7"/>
          <p:cNvSpPr/>
          <p:nvPr/>
        </p:nvSpPr>
        <p:spPr>
          <a:xfrm>
            <a:off x="2706624" y="1755648"/>
            <a:ext cx="1682496" cy="1298448"/>
          </a:xfrm>
          <a:prstGeom prst="rect">
            <a:avLst/>
          </a:prstGeom>
          <a:noFill/>
          <a:ln/>
        </p:spPr>
        <p:txBody>
          <a:bodyPr wrap="square" lIns="0" tIns="0" rIns="0" bIns="0" rtlCol="0" anchor="ctr"/>
          <a:lstStyle/>
          <a:p>
            <a:pPr marL="0" indent="0">
              <a:lnSpc>
                <a:spcPct val="112000"/>
              </a:lnSpc>
              <a:buNone/>
            </a:pPr>
            <a:r>
              <a:rPr lang="fr-FR" sz="960" noProof="0" dirty="0">
                <a:solidFill>
                  <a:srgbClr val="043962"/>
                </a:solidFill>
                <a:latin typeface="Calibri" pitchFamily="34" charset="0"/>
                <a:ea typeface="Calibri" pitchFamily="34" charset="-122"/>
                <a:cs typeface="Calibri" pitchFamily="34" charset="-120"/>
              </a:rPr>
              <a:t>Facturations mondiales mensuelles de semi-conducteurs : la série de référence du secteur, pilote de la demande.</a:t>
            </a:r>
            <a:endParaRPr lang="fr-FR" sz="960" noProof="0" dirty="0"/>
          </a:p>
        </p:txBody>
      </p:sp>
      <p:sp>
        <p:nvSpPr>
          <p:cNvPr id="10" name="Shape 8"/>
          <p:cNvSpPr/>
          <p:nvPr/>
        </p:nvSpPr>
        <p:spPr>
          <a:xfrm>
            <a:off x="4654296" y="1325880"/>
            <a:ext cx="1938528" cy="1828800"/>
          </a:xfrm>
          <a:prstGeom prst="roundRect">
            <a:avLst>
              <a:gd name="adj" fmla="val 3500"/>
            </a:avLst>
          </a:prstGeom>
          <a:solidFill>
            <a:srgbClr val="EBF3F9"/>
          </a:solidFill>
          <a:ln w="12700">
            <a:solidFill>
              <a:srgbClr val="EBF3F9"/>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11" name="Text 9"/>
          <p:cNvSpPr/>
          <p:nvPr/>
        </p:nvSpPr>
        <p:spPr>
          <a:xfrm>
            <a:off x="4782312" y="1435608"/>
            <a:ext cx="1682496" cy="274320"/>
          </a:xfrm>
          <a:prstGeom prst="rect">
            <a:avLst/>
          </a:prstGeom>
          <a:noFill/>
          <a:ln/>
        </p:spPr>
        <p:txBody>
          <a:bodyPr wrap="square" lIns="0" tIns="0" rIns="0" bIns="0" rtlCol="0" anchor="ctr"/>
          <a:lstStyle/>
          <a:p>
            <a:pPr marL="0" indent="0">
              <a:buNone/>
            </a:pPr>
            <a:r>
              <a:rPr lang="fr-FR" sz="1150" b="1" noProof="0" dirty="0" err="1">
                <a:solidFill>
                  <a:srgbClr val="176F98"/>
                </a:solidFill>
                <a:latin typeface="Calibri" pitchFamily="34" charset="0"/>
                <a:ea typeface="Calibri" pitchFamily="34" charset="-122"/>
                <a:cs typeface="Calibri" pitchFamily="34" charset="-120"/>
              </a:rPr>
              <a:t>Kaggle</a:t>
            </a:r>
            <a:r>
              <a:rPr lang="fr-FR" sz="1150" b="1" noProof="0" dirty="0">
                <a:solidFill>
                  <a:srgbClr val="176F98"/>
                </a:solidFill>
                <a:latin typeface="Calibri" pitchFamily="34" charset="0"/>
                <a:ea typeface="Calibri" pitchFamily="34" charset="-122"/>
                <a:cs typeface="Calibri" pitchFamily="34" charset="-120"/>
              </a:rPr>
              <a:t> / BLS</a:t>
            </a:r>
            <a:endParaRPr lang="fr-FR" sz="1150" noProof="0" dirty="0"/>
          </a:p>
        </p:txBody>
      </p:sp>
      <p:sp>
        <p:nvSpPr>
          <p:cNvPr id="12" name="Text 10"/>
          <p:cNvSpPr/>
          <p:nvPr/>
        </p:nvSpPr>
        <p:spPr>
          <a:xfrm>
            <a:off x="4782312" y="1755648"/>
            <a:ext cx="1682496" cy="1298448"/>
          </a:xfrm>
          <a:prstGeom prst="rect">
            <a:avLst/>
          </a:prstGeom>
          <a:noFill/>
          <a:ln/>
        </p:spPr>
        <p:txBody>
          <a:bodyPr wrap="square" lIns="0" tIns="0" rIns="0" bIns="0" rtlCol="0" anchor="ctr"/>
          <a:lstStyle/>
          <a:p>
            <a:pPr marL="0" indent="0">
              <a:lnSpc>
                <a:spcPct val="112000"/>
              </a:lnSpc>
              <a:buNone/>
            </a:pPr>
            <a:r>
              <a:rPr lang="fr-FR" sz="960" noProof="0" dirty="0">
                <a:solidFill>
                  <a:srgbClr val="043962"/>
                </a:solidFill>
                <a:latin typeface="Calibri" pitchFamily="34" charset="0"/>
                <a:ea typeface="Calibri" pitchFamily="34" charset="-122"/>
                <a:cs typeface="Calibri" pitchFamily="34" charset="-120"/>
              </a:rPr>
              <a:t>PPI semi-conducteurs US 1985-2021. </a:t>
            </a:r>
            <a:endParaRPr lang="fr-FR" sz="960" noProof="0" dirty="0"/>
          </a:p>
        </p:txBody>
      </p:sp>
      <p:sp>
        <p:nvSpPr>
          <p:cNvPr id="16" name="Text 14"/>
          <p:cNvSpPr/>
          <p:nvPr/>
        </p:nvSpPr>
        <p:spPr>
          <a:xfrm>
            <a:off x="502920" y="3817916"/>
            <a:ext cx="8138160" cy="1074123"/>
          </a:xfrm>
          <a:prstGeom prst="rect">
            <a:avLst/>
          </a:prstGeom>
          <a:noFill/>
          <a:ln/>
        </p:spPr>
        <p:txBody>
          <a:bodyPr wrap="square" lIns="0" tIns="0" rIns="0" bIns="0" rtlCol="0" anchor="t"/>
          <a:lstStyle/>
          <a:p>
            <a:pPr marL="127000" indent="-127000" algn="l">
              <a:spcAft>
                <a:spcPts val="700"/>
              </a:spcAft>
              <a:buSzPct val="100000"/>
              <a:buChar char="•"/>
            </a:pPr>
            <a:r>
              <a:rPr lang="fr-FR" sz="1250" noProof="0" dirty="0">
                <a:solidFill>
                  <a:srgbClr val="043962"/>
                </a:solidFill>
                <a:latin typeface="Calibri" pitchFamily="34" charset="0"/>
                <a:ea typeface="Calibri" pitchFamily="34" charset="-122"/>
                <a:cs typeface="Calibri" pitchFamily="34" charset="-120"/>
              </a:rPr>
              <a:t>Normalisation sur la </a:t>
            </a:r>
            <a:r>
              <a:rPr lang="fr-FR" sz="1250" noProof="0" dirty="0" err="1">
                <a:solidFill>
                  <a:srgbClr val="043962"/>
                </a:solidFill>
                <a:latin typeface="Calibri" pitchFamily="34" charset="0"/>
                <a:ea typeface="Calibri" pitchFamily="34" charset="-122"/>
                <a:cs typeface="Calibri" pitchFamily="34" charset="-120"/>
              </a:rPr>
              <a:t>baseline</a:t>
            </a:r>
            <a:r>
              <a:rPr lang="fr-FR" sz="1250" noProof="0" dirty="0">
                <a:solidFill>
                  <a:srgbClr val="043962"/>
                </a:solidFill>
                <a:latin typeface="Calibri" pitchFamily="34" charset="0"/>
                <a:ea typeface="Calibri" pitchFamily="34" charset="-122"/>
                <a:cs typeface="Calibri" pitchFamily="34" charset="-120"/>
              </a:rPr>
              <a:t> juillet-août 2020 ; Certains délais reconstruits </a:t>
            </a:r>
            <a:r>
              <a:rPr lang="fr-FR" sz="1250" dirty="0">
                <a:solidFill>
                  <a:srgbClr val="043962"/>
                </a:solidFill>
                <a:latin typeface="Calibri" pitchFamily="34" charset="0"/>
                <a:ea typeface="Calibri" pitchFamily="34" charset="-122"/>
                <a:cs typeface="Calibri" pitchFamily="34" charset="-120"/>
              </a:rPr>
              <a:t>basée sur estimations du réel.</a:t>
            </a:r>
            <a:endParaRPr lang="fr-FR" sz="1250" noProof="0" dirty="0">
              <a:solidFill>
                <a:srgbClr val="043962"/>
              </a:solidFill>
              <a:latin typeface="Calibri" pitchFamily="34" charset="0"/>
              <a:ea typeface="Calibri" pitchFamily="34" charset="-122"/>
              <a:cs typeface="Calibri" pitchFamily="34" charset="-120"/>
            </a:endParaRPr>
          </a:p>
          <a:p>
            <a:pPr marL="127000" indent="-127000" algn="l">
              <a:spcAft>
                <a:spcPts val="700"/>
              </a:spcAft>
              <a:buSzPct val="100000"/>
              <a:buChar char="•"/>
            </a:pPr>
            <a:r>
              <a:rPr lang="fr-FR" sz="1250" noProof="0" dirty="0">
                <a:solidFill>
                  <a:srgbClr val="043962"/>
                </a:solidFill>
                <a:latin typeface="Calibri" pitchFamily="34" charset="0"/>
                <a:ea typeface="Calibri" pitchFamily="34" charset="-122"/>
                <a:cs typeface="Calibri" pitchFamily="34" charset="-120"/>
              </a:rPr>
              <a:t>La série des défaillances BAISSE pendant la crise (soutien public) ; conservée telle quelle, c'est l'argument multi-blocs.</a:t>
            </a:r>
            <a:endParaRPr lang="fr-FR" sz="1250" noProof="0" dirty="0"/>
          </a:p>
        </p:txBody>
      </p:sp>
      <p:sp>
        <p:nvSpPr>
          <p:cNvPr id="17" name="Text 15"/>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- 11/50</a:t>
            </a:r>
            <a:endParaRPr lang="fr-FR" sz="80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LE SCÉNARIO</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700" b="1" noProof="0" dirty="0">
                <a:solidFill>
                  <a:srgbClr val="043962"/>
                </a:solidFill>
                <a:latin typeface="Calibri" pitchFamily="34" charset="0"/>
                <a:ea typeface="Calibri" pitchFamily="34" charset="-122"/>
                <a:cs typeface="Calibri" pitchFamily="34" charset="-120"/>
              </a:rPr>
              <a:t>Programme HÉLIOS</a:t>
            </a:r>
            <a:endParaRPr lang="fr-FR" sz="2700" noProof="0" dirty="0"/>
          </a:p>
        </p:txBody>
      </p:sp>
      <p:sp>
        <p:nvSpPr>
          <p:cNvPr id="4" name="Shape 2"/>
          <p:cNvSpPr/>
          <p:nvPr/>
        </p:nvSpPr>
        <p:spPr>
          <a:xfrm>
            <a:off x="502920" y="1371600"/>
            <a:ext cx="5760720" cy="3063240"/>
          </a:xfrm>
          <a:prstGeom prst="roundRect">
            <a:avLst>
              <a:gd name="adj" fmla="val 2090"/>
            </a:avLst>
          </a:prstGeom>
          <a:solidFill>
            <a:srgbClr val="FFFFFF"/>
          </a:solidFill>
          <a:ln w="12700">
            <a:solidFill>
              <a:srgbClr val="FFFFFF"/>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7" name="Text 4"/>
          <p:cNvSpPr/>
          <p:nvPr/>
        </p:nvSpPr>
        <p:spPr>
          <a:xfrm>
            <a:off x="6446520" y="1417320"/>
            <a:ext cx="2194560" cy="3383280"/>
          </a:xfrm>
          <a:prstGeom prst="rect">
            <a:avLst/>
          </a:prstGeom>
          <a:noFill/>
          <a:ln/>
        </p:spPr>
        <p:txBody>
          <a:bodyPr wrap="square" lIns="0" tIns="0" rIns="0" bIns="0" rtlCol="0" anchor="t"/>
          <a:lstStyle/>
          <a:p>
            <a:pPr marL="127000" indent="-127000" algn="l">
              <a:spcAft>
                <a:spcPts val="700"/>
              </a:spcAft>
              <a:buSzPct val="100000"/>
              <a:buChar char="•"/>
            </a:pPr>
            <a:r>
              <a:rPr lang="fr-FR" sz="1250" dirty="0">
                <a:solidFill>
                  <a:srgbClr val="043962"/>
                </a:solidFill>
                <a:latin typeface="Calibri" pitchFamily="34" charset="0"/>
                <a:ea typeface="Calibri" pitchFamily="34" charset="-122"/>
                <a:cs typeface="Calibri" pitchFamily="34" charset="-120"/>
              </a:rPr>
              <a:t>L</a:t>
            </a:r>
            <a:r>
              <a:rPr lang="fr-FR" sz="1250" noProof="0" dirty="0">
                <a:solidFill>
                  <a:srgbClr val="043962"/>
                </a:solidFill>
                <a:latin typeface="Calibri" pitchFamily="34" charset="0"/>
                <a:ea typeface="Calibri" pitchFamily="34" charset="-122"/>
                <a:cs typeface="Calibri" pitchFamily="34" charset="-120"/>
              </a:rPr>
              <a:t>ivrer 2 satellites, échéances T8 et T16, pénalités lourdes.</a:t>
            </a:r>
            <a:endParaRPr lang="fr-FR" sz="1250" noProof="0" dirty="0"/>
          </a:p>
          <a:p>
            <a:pPr marL="127000" indent="-127000" algn="l">
              <a:spcAft>
                <a:spcPts val="700"/>
              </a:spcAft>
              <a:buSzPct val="100000"/>
              <a:buChar char="•"/>
            </a:pPr>
            <a:r>
              <a:rPr lang="fr-FR" sz="1250" noProof="0" dirty="0">
                <a:solidFill>
                  <a:srgbClr val="043962"/>
                </a:solidFill>
                <a:latin typeface="Calibri" pitchFamily="34" charset="0"/>
                <a:ea typeface="Calibri" pitchFamily="34" charset="-122"/>
                <a:cs typeface="Calibri" pitchFamily="34" charset="-120"/>
              </a:rPr>
              <a:t>8 rôles ancrés sur des acteurs réels : TSMC + Austin (fondeur), </a:t>
            </a:r>
            <a:r>
              <a:rPr lang="fr-FR" sz="1250" noProof="0" dirty="0" err="1">
                <a:solidFill>
                  <a:srgbClr val="043962"/>
                </a:solidFill>
                <a:latin typeface="Calibri" pitchFamily="34" charset="0"/>
                <a:ea typeface="Calibri" pitchFamily="34" charset="-122"/>
                <a:cs typeface="Calibri" pitchFamily="34" charset="-120"/>
              </a:rPr>
              <a:t>GlobalFoundries</a:t>
            </a:r>
            <a:r>
              <a:rPr lang="fr-FR" sz="1250" noProof="0" dirty="0">
                <a:solidFill>
                  <a:srgbClr val="043962"/>
                </a:solidFill>
                <a:latin typeface="Calibri" pitchFamily="34" charset="0"/>
                <a:ea typeface="Calibri" pitchFamily="34" charset="-122"/>
                <a:cs typeface="Calibri" pitchFamily="34" charset="-120"/>
              </a:rPr>
              <a:t> (secours), Shin-Etsu (wafers).</a:t>
            </a:r>
            <a:endParaRPr lang="fr-FR" sz="1250" noProof="0" dirty="0"/>
          </a:p>
          <a:p>
            <a:pPr marL="127000" indent="-127000" algn="l">
              <a:spcAft>
                <a:spcPts val="700"/>
              </a:spcAft>
              <a:buSzPct val="100000"/>
              <a:buChar char="•"/>
            </a:pPr>
            <a:r>
              <a:rPr lang="fr-FR" sz="1250" noProof="0" dirty="0">
                <a:solidFill>
                  <a:srgbClr val="043962"/>
                </a:solidFill>
                <a:latin typeface="Calibri" pitchFamily="34" charset="0"/>
                <a:ea typeface="Calibri" pitchFamily="34" charset="-122"/>
                <a:cs typeface="Calibri" pitchFamily="34" charset="-120"/>
              </a:rPr>
              <a:t>1 tour = 1 mois réel ; 18 tours, de sept. 2020 à févr. 2022.</a:t>
            </a:r>
            <a:endParaRPr lang="fr-FR" sz="1250" noProof="0" dirty="0"/>
          </a:p>
          <a:p>
            <a:pPr algn="l">
              <a:spcAft>
                <a:spcPts val="700"/>
              </a:spcAft>
              <a:buSzPct val="100000"/>
            </a:pPr>
            <a:endParaRPr lang="fr-FR" sz="1250" noProof="0" dirty="0"/>
          </a:p>
        </p:txBody>
      </p:sp>
      <p:sp>
        <p:nvSpPr>
          <p:cNvPr id="8" name="Text 5"/>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- 8/50</a:t>
            </a:r>
            <a:endParaRPr lang="fr-FR" sz="800" noProof="0" dirty="0"/>
          </a:p>
        </p:txBody>
      </p:sp>
      <p:pic>
        <p:nvPicPr>
          <p:cNvPr id="10" name="Image 9">
            <a:extLst>
              <a:ext uri="{FF2B5EF4-FFF2-40B4-BE49-F238E27FC236}">
                <a16:creationId xmlns:a16="http://schemas.microsoft.com/office/drawing/2014/main" id="{EC27F62B-125A-9B34-F768-E678CF027488}"/>
              </a:ext>
            </a:extLst>
          </p:cNvPr>
          <p:cNvPicPr>
            <a:picLocks noChangeAspect="1"/>
          </p:cNvPicPr>
          <p:nvPr/>
        </p:nvPicPr>
        <p:blipFill>
          <a:blip r:embed="rId3"/>
          <a:stretch>
            <a:fillRect/>
          </a:stretch>
        </p:blipFill>
        <p:spPr>
          <a:xfrm>
            <a:off x="1116280" y="1557165"/>
            <a:ext cx="4369068" cy="269210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LES HUIT RÔLES</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700" b="1" noProof="0" dirty="0">
                <a:solidFill>
                  <a:srgbClr val="043962"/>
                </a:solidFill>
                <a:latin typeface="Calibri" pitchFamily="34" charset="0"/>
                <a:ea typeface="Calibri" pitchFamily="34" charset="-122"/>
                <a:cs typeface="Calibri" pitchFamily="34" charset="-120"/>
              </a:rPr>
              <a:t>Ce que chaque personnes doit vivre</a:t>
            </a:r>
            <a:endParaRPr lang="fr-FR" sz="2700" noProof="0" dirty="0"/>
          </a:p>
        </p:txBody>
      </p:sp>
      <p:sp>
        <p:nvSpPr>
          <p:cNvPr id="4" name="Shape 2"/>
          <p:cNvSpPr/>
          <p:nvPr/>
        </p:nvSpPr>
        <p:spPr>
          <a:xfrm>
            <a:off x="502920" y="1325880"/>
            <a:ext cx="1929384" cy="1389888"/>
          </a:xfrm>
          <a:prstGeom prst="roundRect">
            <a:avLst>
              <a:gd name="adj" fmla="val 4605"/>
            </a:avLst>
          </a:prstGeom>
          <a:solidFill>
            <a:srgbClr val="EBF3F9"/>
          </a:solidFill>
          <a:ln w="12700">
            <a:solidFill>
              <a:srgbClr val="EBF3F9"/>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21792" y="1408176"/>
            <a:ext cx="1691640" cy="237744"/>
          </a:xfrm>
          <a:prstGeom prst="rect">
            <a:avLst/>
          </a:prstGeom>
          <a:noFill/>
          <a:ln/>
        </p:spPr>
        <p:txBody>
          <a:bodyPr wrap="square" lIns="0" tIns="0" rIns="0" bIns="0" rtlCol="0" anchor="ctr"/>
          <a:lstStyle/>
          <a:p>
            <a:pPr marL="0" indent="0">
              <a:buNone/>
            </a:pPr>
            <a:r>
              <a:rPr lang="fr-FR" sz="1050" b="1" noProof="0" dirty="0" err="1">
                <a:solidFill>
                  <a:srgbClr val="176F98"/>
                </a:solidFill>
                <a:latin typeface="Calibri" pitchFamily="34" charset="0"/>
                <a:ea typeface="Calibri" pitchFamily="34" charset="-122"/>
                <a:cs typeface="Calibri" pitchFamily="34" charset="-120"/>
              </a:rPr>
              <a:t>Orbitalys</a:t>
            </a:r>
            <a:r>
              <a:rPr lang="fr-FR" sz="1050" b="1" noProof="0" dirty="0">
                <a:solidFill>
                  <a:srgbClr val="176F98"/>
                </a:solidFill>
                <a:latin typeface="Calibri" pitchFamily="34" charset="0"/>
                <a:ea typeface="Calibri" pitchFamily="34" charset="-122"/>
                <a:cs typeface="Calibri" pitchFamily="34" charset="-120"/>
              </a:rPr>
              <a:t> - C1</a:t>
            </a:r>
            <a:endParaRPr lang="fr-FR" sz="1050" noProof="0" dirty="0"/>
          </a:p>
        </p:txBody>
      </p:sp>
      <p:sp>
        <p:nvSpPr>
          <p:cNvPr id="6" name="Text 4"/>
          <p:cNvSpPr/>
          <p:nvPr/>
        </p:nvSpPr>
        <p:spPr>
          <a:xfrm>
            <a:off x="621792" y="1664208"/>
            <a:ext cx="1691640" cy="969264"/>
          </a:xfrm>
          <a:prstGeom prst="rect">
            <a:avLst/>
          </a:prstGeom>
          <a:noFill/>
          <a:ln/>
        </p:spPr>
        <p:txBody>
          <a:bodyPr wrap="square" lIns="0" tIns="0" rIns="0" bIns="0" rtlCol="0" anchor="ctr"/>
          <a:lstStyle/>
          <a:p>
            <a:pPr marL="0" indent="0">
              <a:lnSpc>
                <a:spcPct val="105000"/>
              </a:lnSpc>
              <a:buNone/>
            </a:pPr>
            <a:r>
              <a:rPr lang="fr-FR" sz="820" noProof="0" dirty="0">
                <a:solidFill>
                  <a:srgbClr val="043962"/>
                </a:solidFill>
                <a:latin typeface="Calibri" pitchFamily="34" charset="0"/>
                <a:ea typeface="Calibri" pitchFamily="34" charset="-122"/>
                <a:cs typeface="Calibri" pitchFamily="34" charset="-120"/>
              </a:rPr>
              <a:t>La pression contractuelle. Ne voit la crise qu'à travers la presse et </a:t>
            </a:r>
            <a:r>
              <a:rPr lang="fr-FR" sz="820" noProof="0" dirty="0" err="1">
                <a:solidFill>
                  <a:srgbClr val="043962"/>
                </a:solidFill>
                <a:latin typeface="Calibri" pitchFamily="34" charset="0"/>
                <a:ea typeface="Calibri" pitchFamily="34" charset="-122"/>
                <a:cs typeface="Calibri" pitchFamily="34" charset="-120"/>
              </a:rPr>
              <a:t>AvioSys</a:t>
            </a:r>
            <a:r>
              <a:rPr lang="fr-FR" sz="820" noProof="0" dirty="0">
                <a:solidFill>
                  <a:srgbClr val="043962"/>
                </a:solidFill>
                <a:latin typeface="Calibri" pitchFamily="34" charset="0"/>
                <a:ea typeface="Calibri" pitchFamily="34" charset="-122"/>
                <a:cs typeface="Calibri" pitchFamily="34" charset="-120"/>
              </a:rPr>
              <a:t> : le test de contagion se joue surtout ici.</a:t>
            </a:r>
            <a:endParaRPr lang="fr-FR" sz="820" noProof="0" dirty="0"/>
          </a:p>
        </p:txBody>
      </p:sp>
      <p:sp>
        <p:nvSpPr>
          <p:cNvPr id="7" name="Shape 5"/>
          <p:cNvSpPr/>
          <p:nvPr/>
        </p:nvSpPr>
        <p:spPr>
          <a:xfrm>
            <a:off x="2569464" y="1325880"/>
            <a:ext cx="1929384" cy="1389888"/>
          </a:xfrm>
          <a:prstGeom prst="roundRect">
            <a:avLst>
              <a:gd name="adj" fmla="val 4605"/>
            </a:avLst>
          </a:prstGeom>
          <a:solidFill>
            <a:srgbClr val="EBF3F9"/>
          </a:solidFill>
          <a:ln w="12700">
            <a:solidFill>
              <a:srgbClr val="EBF3F9"/>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8" name="Text 6"/>
          <p:cNvSpPr/>
          <p:nvPr/>
        </p:nvSpPr>
        <p:spPr>
          <a:xfrm>
            <a:off x="2688336" y="1408176"/>
            <a:ext cx="1691640" cy="237744"/>
          </a:xfrm>
          <a:prstGeom prst="rect">
            <a:avLst/>
          </a:prstGeom>
          <a:noFill/>
          <a:ln/>
        </p:spPr>
        <p:txBody>
          <a:bodyPr wrap="square" lIns="0" tIns="0" rIns="0" bIns="0" rtlCol="0" anchor="ctr"/>
          <a:lstStyle/>
          <a:p>
            <a:pPr marL="0" indent="0">
              <a:buNone/>
            </a:pPr>
            <a:r>
              <a:rPr lang="fr-FR" sz="1050" b="1" noProof="0" dirty="0" err="1">
                <a:solidFill>
                  <a:srgbClr val="176F98"/>
                </a:solidFill>
                <a:latin typeface="Calibri" pitchFamily="34" charset="0"/>
                <a:ea typeface="Calibri" pitchFamily="34" charset="-122"/>
                <a:cs typeface="Calibri" pitchFamily="34" charset="-120"/>
              </a:rPr>
              <a:t>AvioSys</a:t>
            </a:r>
            <a:r>
              <a:rPr lang="fr-FR" sz="1050" b="1" noProof="0" dirty="0">
                <a:solidFill>
                  <a:srgbClr val="176F98"/>
                </a:solidFill>
                <a:latin typeface="Calibri" pitchFamily="34" charset="0"/>
                <a:ea typeface="Calibri" pitchFamily="34" charset="-122"/>
                <a:cs typeface="Calibri" pitchFamily="34" charset="-120"/>
              </a:rPr>
              <a:t> - C2</a:t>
            </a:r>
            <a:endParaRPr lang="fr-FR" sz="1050" noProof="0" dirty="0"/>
          </a:p>
        </p:txBody>
      </p:sp>
      <p:sp>
        <p:nvSpPr>
          <p:cNvPr id="9" name="Text 7"/>
          <p:cNvSpPr/>
          <p:nvPr/>
        </p:nvSpPr>
        <p:spPr>
          <a:xfrm>
            <a:off x="2688336" y="1664208"/>
            <a:ext cx="1691640" cy="969264"/>
          </a:xfrm>
          <a:prstGeom prst="rect">
            <a:avLst/>
          </a:prstGeom>
          <a:noFill/>
          <a:ln/>
        </p:spPr>
        <p:txBody>
          <a:bodyPr wrap="square" lIns="0" tIns="0" rIns="0" bIns="0" rtlCol="0" anchor="ctr"/>
          <a:lstStyle/>
          <a:p>
            <a:pPr marL="0" indent="0">
              <a:lnSpc>
                <a:spcPct val="105000"/>
              </a:lnSpc>
              <a:buNone/>
            </a:pPr>
            <a:r>
              <a:rPr lang="fr-FR" sz="820" noProof="0" dirty="0">
                <a:solidFill>
                  <a:srgbClr val="043962"/>
                </a:solidFill>
                <a:latin typeface="Calibri" pitchFamily="34" charset="0"/>
                <a:ea typeface="Calibri" pitchFamily="34" charset="-122"/>
                <a:cs typeface="Calibri" pitchFamily="34" charset="-120"/>
              </a:rPr>
              <a:t>Le compte à rebours du stock qualifié, de 11 à 7 semaines, sans substitution possible. La montée d'angoisse la plus mécanique du jeu.</a:t>
            </a:r>
            <a:endParaRPr lang="fr-FR" sz="820" noProof="0" dirty="0"/>
          </a:p>
        </p:txBody>
      </p:sp>
      <p:sp>
        <p:nvSpPr>
          <p:cNvPr id="10" name="Shape 8"/>
          <p:cNvSpPr/>
          <p:nvPr/>
        </p:nvSpPr>
        <p:spPr>
          <a:xfrm>
            <a:off x="4636008" y="1325880"/>
            <a:ext cx="1929384" cy="1389888"/>
          </a:xfrm>
          <a:prstGeom prst="roundRect">
            <a:avLst>
              <a:gd name="adj" fmla="val 4605"/>
            </a:avLst>
          </a:prstGeom>
          <a:solidFill>
            <a:srgbClr val="EBF3F9"/>
          </a:solidFill>
          <a:ln w="12700">
            <a:solidFill>
              <a:srgbClr val="EBF3F9"/>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11" name="Text 9"/>
          <p:cNvSpPr/>
          <p:nvPr/>
        </p:nvSpPr>
        <p:spPr>
          <a:xfrm>
            <a:off x="4754880" y="1408176"/>
            <a:ext cx="1691640" cy="237744"/>
          </a:xfrm>
          <a:prstGeom prst="rect">
            <a:avLst/>
          </a:prstGeom>
          <a:noFill/>
          <a:ln/>
        </p:spPr>
        <p:txBody>
          <a:bodyPr wrap="square" lIns="0" tIns="0" rIns="0" bIns="0" rtlCol="0" anchor="ctr"/>
          <a:lstStyle/>
          <a:p>
            <a:pPr marL="0" indent="0">
              <a:buNone/>
            </a:pPr>
            <a:r>
              <a:rPr lang="fr-FR" sz="1050" b="1" noProof="0" dirty="0" err="1">
                <a:solidFill>
                  <a:srgbClr val="176F98"/>
                </a:solidFill>
                <a:latin typeface="Calibri" pitchFamily="34" charset="0"/>
                <a:ea typeface="Calibri" pitchFamily="34" charset="-122"/>
                <a:cs typeface="Calibri" pitchFamily="34" charset="-120"/>
              </a:rPr>
              <a:t>Électis</a:t>
            </a:r>
            <a:r>
              <a:rPr lang="fr-FR" sz="1050" b="1" noProof="0" dirty="0">
                <a:solidFill>
                  <a:srgbClr val="176F98"/>
                </a:solidFill>
                <a:latin typeface="Calibri" pitchFamily="34" charset="0"/>
                <a:ea typeface="Calibri" pitchFamily="34" charset="-122"/>
                <a:cs typeface="Calibri" pitchFamily="34" charset="-120"/>
              </a:rPr>
              <a:t> EMS - C3</a:t>
            </a:r>
            <a:endParaRPr lang="fr-FR" sz="1050" noProof="0" dirty="0"/>
          </a:p>
        </p:txBody>
      </p:sp>
      <p:sp>
        <p:nvSpPr>
          <p:cNvPr id="12" name="Text 10"/>
          <p:cNvSpPr/>
          <p:nvPr/>
        </p:nvSpPr>
        <p:spPr>
          <a:xfrm>
            <a:off x="4754880" y="1664208"/>
            <a:ext cx="1691640" cy="969264"/>
          </a:xfrm>
          <a:prstGeom prst="rect">
            <a:avLst/>
          </a:prstGeom>
          <a:noFill/>
          <a:ln/>
        </p:spPr>
        <p:txBody>
          <a:bodyPr wrap="square" lIns="0" tIns="0" rIns="0" bIns="0" rtlCol="0" anchor="ctr"/>
          <a:lstStyle/>
          <a:p>
            <a:pPr marL="0" indent="0">
              <a:lnSpc>
                <a:spcPct val="105000"/>
              </a:lnSpc>
              <a:buNone/>
            </a:pPr>
            <a:r>
              <a:rPr lang="fr-FR" sz="820" noProof="0" dirty="0">
                <a:solidFill>
                  <a:srgbClr val="043962"/>
                </a:solidFill>
                <a:latin typeface="Calibri" pitchFamily="34" charset="0"/>
                <a:ea typeface="Calibri" pitchFamily="34" charset="-122"/>
                <a:cs typeface="Calibri" pitchFamily="34" charset="-120"/>
              </a:rPr>
              <a:t>Les arbitrages impossibles entre lignes clients, l'achat au spot, puis sa propre perte de capacité à T12.</a:t>
            </a:r>
            <a:endParaRPr lang="fr-FR" sz="820" noProof="0" dirty="0"/>
          </a:p>
        </p:txBody>
      </p:sp>
      <p:sp>
        <p:nvSpPr>
          <p:cNvPr id="13" name="Shape 11"/>
          <p:cNvSpPr/>
          <p:nvPr/>
        </p:nvSpPr>
        <p:spPr>
          <a:xfrm>
            <a:off x="6702552" y="1325880"/>
            <a:ext cx="1929384" cy="1389888"/>
          </a:xfrm>
          <a:prstGeom prst="roundRect">
            <a:avLst>
              <a:gd name="adj" fmla="val 4605"/>
            </a:avLst>
          </a:prstGeom>
          <a:solidFill>
            <a:srgbClr val="EBF3F9"/>
          </a:solidFill>
          <a:ln w="12700">
            <a:solidFill>
              <a:srgbClr val="EBF3F9"/>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14" name="Text 12"/>
          <p:cNvSpPr/>
          <p:nvPr/>
        </p:nvSpPr>
        <p:spPr>
          <a:xfrm>
            <a:off x="6821424" y="1408176"/>
            <a:ext cx="1691640" cy="237744"/>
          </a:xfrm>
          <a:prstGeom prst="rect">
            <a:avLst/>
          </a:prstGeom>
          <a:noFill/>
          <a:ln/>
        </p:spPr>
        <p:txBody>
          <a:bodyPr wrap="square" lIns="0" tIns="0" rIns="0" bIns="0" rtlCol="0" anchor="ctr"/>
          <a:lstStyle/>
          <a:p>
            <a:pPr marL="0" indent="0">
              <a:buNone/>
            </a:pPr>
            <a:r>
              <a:rPr lang="fr-FR" sz="1050" b="1" noProof="0" dirty="0" err="1">
                <a:solidFill>
                  <a:srgbClr val="176F98"/>
                </a:solidFill>
                <a:latin typeface="Calibri" pitchFamily="34" charset="0"/>
                <a:ea typeface="Calibri" pitchFamily="34" charset="-122"/>
                <a:cs typeface="Calibri" pitchFamily="34" charset="-120"/>
              </a:rPr>
              <a:t>CompoDis</a:t>
            </a:r>
            <a:r>
              <a:rPr lang="fr-FR" sz="1050" b="1" noProof="0" dirty="0">
                <a:solidFill>
                  <a:srgbClr val="176F98"/>
                </a:solidFill>
                <a:latin typeface="Calibri" pitchFamily="34" charset="0"/>
                <a:ea typeface="Calibri" pitchFamily="34" charset="-122"/>
                <a:cs typeface="Calibri" pitchFamily="34" charset="-120"/>
              </a:rPr>
              <a:t> - C4</a:t>
            </a:r>
            <a:endParaRPr lang="fr-FR" sz="1050" noProof="0" dirty="0"/>
          </a:p>
        </p:txBody>
      </p:sp>
      <p:sp>
        <p:nvSpPr>
          <p:cNvPr id="15" name="Text 13"/>
          <p:cNvSpPr/>
          <p:nvPr/>
        </p:nvSpPr>
        <p:spPr>
          <a:xfrm>
            <a:off x="6821424" y="1664208"/>
            <a:ext cx="1691640" cy="969264"/>
          </a:xfrm>
          <a:prstGeom prst="rect">
            <a:avLst/>
          </a:prstGeom>
          <a:noFill/>
          <a:ln/>
        </p:spPr>
        <p:txBody>
          <a:bodyPr wrap="square" lIns="0" tIns="0" rIns="0" bIns="0" rtlCol="0" anchor="ctr"/>
          <a:lstStyle/>
          <a:p>
            <a:pPr marL="0" indent="0">
              <a:lnSpc>
                <a:spcPct val="105000"/>
              </a:lnSpc>
              <a:buNone/>
            </a:pPr>
            <a:r>
              <a:rPr lang="fr-FR" sz="820" noProof="0" dirty="0">
                <a:solidFill>
                  <a:srgbClr val="043962"/>
                </a:solidFill>
                <a:latin typeface="Calibri" pitchFamily="34" charset="0"/>
                <a:ea typeface="Calibri" pitchFamily="34" charset="-122"/>
                <a:cs typeface="Calibri" pitchFamily="34" charset="-120"/>
              </a:rPr>
              <a:t>Il voit tout le monde paniquer et participe lui-même au </a:t>
            </a:r>
            <a:r>
              <a:rPr lang="fr-FR" sz="820" noProof="0" dirty="0" err="1">
                <a:solidFill>
                  <a:srgbClr val="043962"/>
                </a:solidFill>
                <a:latin typeface="Calibri" pitchFamily="34" charset="0"/>
                <a:ea typeface="Calibri" pitchFamily="34" charset="-122"/>
                <a:cs typeface="Calibri" pitchFamily="34" charset="-120"/>
              </a:rPr>
              <a:t>bullwhip</a:t>
            </a:r>
            <a:r>
              <a:rPr lang="fr-FR" sz="820" noProof="0" dirty="0">
                <a:solidFill>
                  <a:srgbClr val="043962"/>
                </a:solidFill>
                <a:latin typeface="Calibri" pitchFamily="34" charset="0"/>
                <a:ea typeface="Calibri" pitchFamily="34" charset="-122"/>
                <a:cs typeface="Calibri" pitchFamily="34" charset="-120"/>
              </a:rPr>
              <a:t> à T13.</a:t>
            </a:r>
            <a:endParaRPr lang="fr-FR" sz="820" noProof="0" dirty="0"/>
          </a:p>
        </p:txBody>
      </p:sp>
      <p:sp>
        <p:nvSpPr>
          <p:cNvPr id="16" name="Shape 14"/>
          <p:cNvSpPr/>
          <p:nvPr/>
        </p:nvSpPr>
        <p:spPr>
          <a:xfrm>
            <a:off x="502920" y="2862072"/>
            <a:ext cx="1929384" cy="1389888"/>
          </a:xfrm>
          <a:prstGeom prst="roundRect">
            <a:avLst>
              <a:gd name="adj" fmla="val 4605"/>
            </a:avLst>
          </a:prstGeom>
          <a:solidFill>
            <a:srgbClr val="EBF3F9"/>
          </a:solidFill>
          <a:ln w="12700">
            <a:solidFill>
              <a:srgbClr val="EBF3F9"/>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17" name="Text 15"/>
          <p:cNvSpPr/>
          <p:nvPr/>
        </p:nvSpPr>
        <p:spPr>
          <a:xfrm>
            <a:off x="621792" y="2944368"/>
            <a:ext cx="1691640" cy="237744"/>
          </a:xfrm>
          <a:prstGeom prst="rect">
            <a:avLst/>
          </a:prstGeom>
          <a:noFill/>
          <a:ln/>
        </p:spPr>
        <p:txBody>
          <a:bodyPr wrap="square" lIns="0" tIns="0" rIns="0" bIns="0" rtlCol="0" anchor="ctr"/>
          <a:lstStyle/>
          <a:p>
            <a:pPr marL="0" indent="0">
              <a:buNone/>
            </a:pPr>
            <a:r>
              <a:rPr lang="fr-FR" sz="1050" b="1" noProof="0" dirty="0" err="1">
                <a:solidFill>
                  <a:srgbClr val="176F98"/>
                </a:solidFill>
                <a:latin typeface="Calibri" pitchFamily="34" charset="0"/>
                <a:ea typeface="Calibri" pitchFamily="34" charset="-122"/>
                <a:cs typeface="Calibri" pitchFamily="34" charset="-120"/>
              </a:rPr>
              <a:t>TransGlobal</a:t>
            </a:r>
            <a:r>
              <a:rPr lang="fr-FR" sz="1050" b="1" noProof="0" dirty="0">
                <a:solidFill>
                  <a:srgbClr val="176F98"/>
                </a:solidFill>
                <a:latin typeface="Calibri" pitchFamily="34" charset="0"/>
                <a:ea typeface="Calibri" pitchFamily="34" charset="-122"/>
                <a:cs typeface="Calibri" pitchFamily="34" charset="-120"/>
              </a:rPr>
              <a:t> - C5</a:t>
            </a:r>
            <a:endParaRPr lang="fr-FR" sz="1050" noProof="0" dirty="0"/>
          </a:p>
        </p:txBody>
      </p:sp>
      <p:sp>
        <p:nvSpPr>
          <p:cNvPr id="18" name="Text 16"/>
          <p:cNvSpPr/>
          <p:nvPr/>
        </p:nvSpPr>
        <p:spPr>
          <a:xfrm>
            <a:off x="621792" y="3200400"/>
            <a:ext cx="1691640" cy="969264"/>
          </a:xfrm>
          <a:prstGeom prst="rect">
            <a:avLst/>
          </a:prstGeom>
          <a:noFill/>
          <a:ln/>
        </p:spPr>
        <p:txBody>
          <a:bodyPr wrap="square" lIns="0" tIns="0" rIns="0" bIns="0" rtlCol="0" anchor="ctr"/>
          <a:lstStyle/>
          <a:p>
            <a:pPr marL="0" indent="0">
              <a:lnSpc>
                <a:spcPct val="105000"/>
              </a:lnSpc>
              <a:buNone/>
            </a:pPr>
            <a:r>
              <a:rPr lang="fr-FR" sz="820" noProof="0" dirty="0">
                <a:solidFill>
                  <a:srgbClr val="043962"/>
                </a:solidFill>
                <a:latin typeface="Calibri" pitchFamily="34" charset="0"/>
                <a:ea typeface="Calibri" pitchFamily="34" charset="-122"/>
                <a:cs typeface="Calibri" pitchFamily="34" charset="-120"/>
              </a:rPr>
              <a:t>Les crises en rafale : Suez, backend, congestion. Habitué au court terme, déstabilisé par la durée.</a:t>
            </a:r>
            <a:endParaRPr lang="fr-FR" sz="820" noProof="0" dirty="0"/>
          </a:p>
        </p:txBody>
      </p:sp>
      <p:sp>
        <p:nvSpPr>
          <p:cNvPr id="19" name="Shape 17"/>
          <p:cNvSpPr/>
          <p:nvPr/>
        </p:nvSpPr>
        <p:spPr>
          <a:xfrm>
            <a:off x="2569464" y="2862072"/>
            <a:ext cx="1929384" cy="1389888"/>
          </a:xfrm>
          <a:prstGeom prst="roundRect">
            <a:avLst>
              <a:gd name="adj" fmla="val 4605"/>
            </a:avLst>
          </a:prstGeom>
          <a:solidFill>
            <a:srgbClr val="FFF3D6"/>
          </a:solidFill>
          <a:ln w="12700">
            <a:solidFill>
              <a:srgbClr val="FFF3D6"/>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20" name="Text 18"/>
          <p:cNvSpPr/>
          <p:nvPr/>
        </p:nvSpPr>
        <p:spPr>
          <a:xfrm>
            <a:off x="2688336" y="2944368"/>
            <a:ext cx="1691640" cy="237744"/>
          </a:xfrm>
          <a:prstGeom prst="rect">
            <a:avLst/>
          </a:prstGeom>
          <a:noFill/>
          <a:ln/>
        </p:spPr>
        <p:txBody>
          <a:bodyPr wrap="square" lIns="0" tIns="0" rIns="0" bIns="0" rtlCol="0" anchor="ctr"/>
          <a:lstStyle/>
          <a:p>
            <a:pPr marL="0" indent="0">
              <a:buNone/>
            </a:pPr>
            <a:r>
              <a:rPr lang="fr-FR" sz="1050" b="1" noProof="0" dirty="0">
                <a:solidFill>
                  <a:srgbClr val="043962"/>
                </a:solidFill>
                <a:latin typeface="Calibri" pitchFamily="34" charset="0"/>
                <a:ea typeface="Calibri" pitchFamily="34" charset="-122"/>
                <a:cs typeface="Calibri" pitchFamily="34" charset="-120"/>
              </a:rPr>
              <a:t>NovaFab - C6</a:t>
            </a:r>
            <a:endParaRPr lang="fr-FR" sz="1050" noProof="0" dirty="0"/>
          </a:p>
        </p:txBody>
      </p:sp>
      <p:sp>
        <p:nvSpPr>
          <p:cNvPr id="21" name="Text 19"/>
          <p:cNvSpPr/>
          <p:nvPr/>
        </p:nvSpPr>
        <p:spPr>
          <a:xfrm>
            <a:off x="2688336" y="3200400"/>
            <a:ext cx="1691640" cy="969264"/>
          </a:xfrm>
          <a:prstGeom prst="rect">
            <a:avLst/>
          </a:prstGeom>
          <a:noFill/>
          <a:ln/>
        </p:spPr>
        <p:txBody>
          <a:bodyPr wrap="square" lIns="0" tIns="0" rIns="0" bIns="0" rtlCol="0" anchor="ctr"/>
          <a:lstStyle/>
          <a:p>
            <a:pPr marL="0" indent="0">
              <a:lnSpc>
                <a:spcPct val="105000"/>
              </a:lnSpc>
              <a:buNone/>
            </a:pPr>
            <a:r>
              <a:rPr lang="fr-FR" sz="820" noProof="0" dirty="0">
                <a:solidFill>
                  <a:srgbClr val="043962"/>
                </a:solidFill>
                <a:latin typeface="Calibri" pitchFamily="34" charset="0"/>
                <a:ea typeface="Calibri" pitchFamily="34" charset="-122"/>
                <a:cs typeface="Calibri" pitchFamily="34" charset="-120"/>
              </a:rPr>
              <a:t>L'asymétrie d'information : il sait ce que les autres devinent. Son Ud honnête face à sa communication </a:t>
            </a:r>
            <a:r>
              <a:rPr lang="fr-FR" sz="820" noProof="0" dirty="0" err="1">
                <a:solidFill>
                  <a:srgbClr val="043962"/>
                </a:solidFill>
                <a:latin typeface="Calibri" pitchFamily="34" charset="0"/>
                <a:ea typeface="Calibri" pitchFamily="34" charset="-122"/>
                <a:cs typeface="Calibri" pitchFamily="34" charset="-120"/>
              </a:rPr>
              <a:t>corporate</a:t>
            </a:r>
            <a:r>
              <a:rPr lang="fr-FR" sz="820" noProof="0" dirty="0">
                <a:solidFill>
                  <a:srgbClr val="043962"/>
                </a:solidFill>
                <a:latin typeface="Calibri" pitchFamily="34" charset="0"/>
                <a:ea typeface="Calibri" pitchFamily="34" charset="-122"/>
                <a:cs typeface="Calibri" pitchFamily="34" charset="-120"/>
              </a:rPr>
              <a:t>.</a:t>
            </a:r>
            <a:endParaRPr lang="fr-FR" sz="820" noProof="0" dirty="0"/>
          </a:p>
        </p:txBody>
      </p:sp>
      <p:sp>
        <p:nvSpPr>
          <p:cNvPr id="22" name="Shape 20"/>
          <p:cNvSpPr/>
          <p:nvPr/>
        </p:nvSpPr>
        <p:spPr>
          <a:xfrm>
            <a:off x="4636008" y="2862072"/>
            <a:ext cx="1929384" cy="1389888"/>
          </a:xfrm>
          <a:prstGeom prst="roundRect">
            <a:avLst>
              <a:gd name="adj" fmla="val 4605"/>
            </a:avLst>
          </a:prstGeom>
          <a:solidFill>
            <a:srgbClr val="EBF3F9"/>
          </a:solidFill>
          <a:ln w="12700">
            <a:solidFill>
              <a:srgbClr val="EBF3F9"/>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23" name="Text 21"/>
          <p:cNvSpPr/>
          <p:nvPr/>
        </p:nvSpPr>
        <p:spPr>
          <a:xfrm>
            <a:off x="4754880" y="2944368"/>
            <a:ext cx="1691640" cy="237744"/>
          </a:xfrm>
          <a:prstGeom prst="rect">
            <a:avLst/>
          </a:prstGeom>
          <a:noFill/>
          <a:ln/>
        </p:spPr>
        <p:txBody>
          <a:bodyPr wrap="square" lIns="0" tIns="0" rIns="0" bIns="0" rtlCol="0" anchor="ctr"/>
          <a:lstStyle/>
          <a:p>
            <a:pPr marL="0" indent="0">
              <a:buNone/>
            </a:pPr>
            <a:r>
              <a:rPr lang="fr-FR" sz="1050" b="1" noProof="0" dirty="0">
                <a:solidFill>
                  <a:srgbClr val="176F98"/>
                </a:solidFill>
                <a:latin typeface="Calibri" pitchFamily="34" charset="0"/>
                <a:ea typeface="Calibri" pitchFamily="34" charset="-122"/>
                <a:cs typeface="Calibri" pitchFamily="34" charset="-120"/>
              </a:rPr>
              <a:t>Meridian - C7</a:t>
            </a:r>
            <a:endParaRPr lang="fr-FR" sz="1050" noProof="0" dirty="0"/>
          </a:p>
        </p:txBody>
      </p:sp>
      <p:sp>
        <p:nvSpPr>
          <p:cNvPr id="24" name="Text 22"/>
          <p:cNvSpPr/>
          <p:nvPr/>
        </p:nvSpPr>
        <p:spPr>
          <a:xfrm>
            <a:off x="4754880" y="3200400"/>
            <a:ext cx="1691640" cy="969264"/>
          </a:xfrm>
          <a:prstGeom prst="rect">
            <a:avLst/>
          </a:prstGeom>
          <a:noFill/>
          <a:ln/>
        </p:spPr>
        <p:txBody>
          <a:bodyPr wrap="square" lIns="0" tIns="0" rIns="0" bIns="0" rtlCol="0" anchor="ctr"/>
          <a:lstStyle/>
          <a:p>
            <a:pPr marL="0" indent="0">
              <a:lnSpc>
                <a:spcPct val="105000"/>
              </a:lnSpc>
              <a:buNone/>
            </a:pPr>
            <a:r>
              <a:rPr lang="fr-FR" sz="820" noProof="0" dirty="0">
                <a:solidFill>
                  <a:srgbClr val="043962"/>
                </a:solidFill>
                <a:latin typeface="Calibri" pitchFamily="34" charset="0"/>
                <a:ea typeface="Calibri" pitchFamily="34" charset="-122"/>
                <a:cs typeface="Calibri" pitchFamily="34" charset="-120"/>
              </a:rPr>
              <a:t>La fausse position de sauveur : sollicité partout, incapable d'aider. L'urgence des autres ne fait pas la sienne.</a:t>
            </a:r>
            <a:endParaRPr lang="fr-FR" sz="820" noProof="0" dirty="0"/>
          </a:p>
        </p:txBody>
      </p:sp>
      <p:sp>
        <p:nvSpPr>
          <p:cNvPr id="25" name="Shape 23"/>
          <p:cNvSpPr/>
          <p:nvPr/>
        </p:nvSpPr>
        <p:spPr>
          <a:xfrm>
            <a:off x="6702552" y="2862072"/>
            <a:ext cx="1929384" cy="1389888"/>
          </a:xfrm>
          <a:prstGeom prst="roundRect">
            <a:avLst>
              <a:gd name="adj" fmla="val 4605"/>
            </a:avLst>
          </a:prstGeom>
          <a:solidFill>
            <a:srgbClr val="EBF3F9"/>
          </a:solidFill>
          <a:ln w="12700">
            <a:solidFill>
              <a:srgbClr val="EBF3F9"/>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26" name="Text 24"/>
          <p:cNvSpPr/>
          <p:nvPr/>
        </p:nvSpPr>
        <p:spPr>
          <a:xfrm>
            <a:off x="6821424" y="2944368"/>
            <a:ext cx="1691640" cy="237744"/>
          </a:xfrm>
          <a:prstGeom prst="rect">
            <a:avLst/>
          </a:prstGeom>
          <a:noFill/>
          <a:ln/>
        </p:spPr>
        <p:txBody>
          <a:bodyPr wrap="square" lIns="0" tIns="0" rIns="0" bIns="0" rtlCol="0" anchor="ctr"/>
          <a:lstStyle/>
          <a:p>
            <a:pPr marL="0" indent="0">
              <a:buNone/>
            </a:pPr>
            <a:r>
              <a:rPr lang="fr-FR" sz="1050" b="1" noProof="0" dirty="0" err="1">
                <a:solidFill>
                  <a:srgbClr val="176F98"/>
                </a:solidFill>
                <a:latin typeface="Calibri" pitchFamily="34" charset="0"/>
                <a:ea typeface="Calibri" pitchFamily="34" charset="-122"/>
                <a:cs typeface="Calibri" pitchFamily="34" charset="-120"/>
              </a:rPr>
              <a:t>SilPure</a:t>
            </a:r>
            <a:r>
              <a:rPr lang="fr-FR" sz="1050" b="1" noProof="0" dirty="0">
                <a:solidFill>
                  <a:srgbClr val="176F98"/>
                </a:solidFill>
                <a:latin typeface="Calibri" pitchFamily="34" charset="0"/>
                <a:ea typeface="Calibri" pitchFamily="34" charset="-122"/>
                <a:cs typeface="Calibri" pitchFamily="34" charset="-120"/>
              </a:rPr>
              <a:t> - C8</a:t>
            </a:r>
            <a:endParaRPr lang="fr-FR" sz="1050" noProof="0" dirty="0"/>
          </a:p>
        </p:txBody>
      </p:sp>
      <p:sp>
        <p:nvSpPr>
          <p:cNvPr id="27" name="Text 25"/>
          <p:cNvSpPr/>
          <p:nvPr/>
        </p:nvSpPr>
        <p:spPr>
          <a:xfrm>
            <a:off x="6821424" y="3200400"/>
            <a:ext cx="1691640" cy="969264"/>
          </a:xfrm>
          <a:prstGeom prst="rect">
            <a:avLst/>
          </a:prstGeom>
          <a:noFill/>
          <a:ln/>
        </p:spPr>
        <p:txBody>
          <a:bodyPr wrap="square" lIns="0" tIns="0" rIns="0" bIns="0" rtlCol="0" anchor="ctr"/>
          <a:lstStyle/>
          <a:p>
            <a:pPr marL="0" indent="0">
              <a:lnSpc>
                <a:spcPct val="105000"/>
              </a:lnSpc>
              <a:buNone/>
            </a:pPr>
            <a:r>
              <a:rPr lang="fr-FR" sz="820" noProof="0" dirty="0">
                <a:solidFill>
                  <a:srgbClr val="043962"/>
                </a:solidFill>
                <a:latin typeface="Calibri" pitchFamily="34" charset="0"/>
                <a:ea typeface="Calibri" pitchFamily="34" charset="-122"/>
                <a:cs typeface="Calibri" pitchFamily="34" charset="-120"/>
              </a:rPr>
              <a:t>Carnet plein, contrats honorés. Ur modéré et tension faible, le contrepoint qui teste HA5.</a:t>
            </a:r>
            <a:endParaRPr lang="fr-FR" sz="820" noProof="0" dirty="0"/>
          </a:p>
        </p:txBody>
      </p:sp>
      <p:sp>
        <p:nvSpPr>
          <p:cNvPr id="28" name="Shape 26"/>
          <p:cNvSpPr/>
          <p:nvPr/>
        </p:nvSpPr>
        <p:spPr>
          <a:xfrm>
            <a:off x="502920" y="4434840"/>
            <a:ext cx="8138160" cy="402336"/>
          </a:xfrm>
          <a:prstGeom prst="roundRect">
            <a:avLst>
              <a:gd name="adj" fmla="val 15909"/>
            </a:avLst>
          </a:prstGeom>
          <a:solidFill>
            <a:srgbClr val="FFFFFF"/>
          </a:solidFill>
          <a:ln w="12700">
            <a:solidFill>
              <a:srgbClr val="FFFFFF"/>
            </a:solidFill>
            <a:prstDash val="solid"/>
          </a:ln>
        </p:spPr>
        <p:txBody>
          <a:bodyPr/>
          <a:lstStyle/>
          <a:p>
            <a:endParaRPr lang="fr-FR" noProof="0" dirty="0"/>
          </a:p>
        </p:txBody>
      </p:sp>
      <p:sp>
        <p:nvSpPr>
          <p:cNvPr id="29" name="Text 27"/>
          <p:cNvSpPr/>
          <p:nvPr/>
        </p:nvSpPr>
        <p:spPr>
          <a:xfrm>
            <a:off x="502920" y="4453128"/>
            <a:ext cx="8138160" cy="365760"/>
          </a:xfrm>
          <a:prstGeom prst="rect">
            <a:avLst/>
          </a:prstGeom>
          <a:noFill/>
          <a:ln/>
        </p:spPr>
        <p:txBody>
          <a:bodyPr wrap="square" lIns="0" tIns="0" rIns="0" bIns="0" rtlCol="0" anchor="ctr"/>
          <a:lstStyle/>
          <a:p>
            <a:pPr marL="0" indent="0">
              <a:buNone/>
            </a:pPr>
            <a:r>
              <a:rPr lang="fr-FR" sz="920" b="1" noProof="0" dirty="0">
                <a:solidFill>
                  <a:srgbClr val="176F98"/>
                </a:solidFill>
                <a:latin typeface="Calibri" pitchFamily="34" charset="0"/>
                <a:ea typeface="Calibri" pitchFamily="34" charset="-122"/>
                <a:cs typeface="Calibri" pitchFamily="34" charset="-120"/>
              </a:rPr>
              <a:t>Deux personnages récurrents, jamais joués : </a:t>
            </a:r>
            <a:r>
              <a:rPr lang="fr-FR" sz="920" noProof="0" dirty="0">
                <a:solidFill>
                  <a:srgbClr val="043962"/>
                </a:solidFill>
                <a:latin typeface="Calibri" pitchFamily="34" charset="0"/>
                <a:ea typeface="Calibri" pitchFamily="34" charset="-122"/>
                <a:cs typeface="Calibri" pitchFamily="34" charset="-120"/>
              </a:rPr>
              <a:t>Claire Vasseur, directrice du programme chez </a:t>
            </a:r>
            <a:r>
              <a:rPr lang="fr-FR" sz="920" noProof="0" dirty="0" err="1">
                <a:solidFill>
                  <a:srgbClr val="043962"/>
                </a:solidFill>
                <a:latin typeface="Calibri" pitchFamily="34" charset="0"/>
                <a:ea typeface="Calibri" pitchFamily="34" charset="-122"/>
                <a:cs typeface="Calibri" pitchFamily="34" charset="-120"/>
              </a:rPr>
              <a:t>Orbitalys</a:t>
            </a:r>
            <a:r>
              <a:rPr lang="fr-FR" sz="920" noProof="0" dirty="0">
                <a:solidFill>
                  <a:srgbClr val="043962"/>
                </a:solidFill>
                <a:latin typeface="Calibri" pitchFamily="34" charset="0"/>
                <a:ea typeface="Calibri" pitchFamily="34" charset="-122"/>
                <a:cs typeface="Calibri" pitchFamily="34" charset="-120"/>
              </a:rPr>
              <a:t>, dont les courriels rythment la dérive des jalons ; Wei-Han Lu, VP commercial de NovaFab, dont les réponses aux demandes d'allocation servent de baromètre de la crise.</a:t>
            </a:r>
            <a:endParaRPr lang="fr-FR" sz="920" noProof="0" dirty="0"/>
          </a:p>
        </p:txBody>
      </p:sp>
      <p:sp>
        <p:nvSpPr>
          <p:cNvPr id="30" name="Text 28"/>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- 9/50</a:t>
            </a:r>
            <a:endParaRPr lang="fr-FR" sz="800"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L’HISTOIRE</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700" b="1" noProof="0" dirty="0">
                <a:solidFill>
                  <a:srgbClr val="043962"/>
                </a:solidFill>
                <a:latin typeface="Calibri" pitchFamily="34" charset="0"/>
                <a:ea typeface="Calibri" pitchFamily="34" charset="-122"/>
                <a:cs typeface="Calibri" pitchFamily="34" charset="-120"/>
              </a:rPr>
              <a:t>La chronologie</a:t>
            </a:r>
            <a:endParaRPr lang="fr-FR" sz="2700" noProof="0" dirty="0"/>
          </a:p>
        </p:txBody>
      </p:sp>
      <p:sp>
        <p:nvSpPr>
          <p:cNvPr id="4" name="Shape 2"/>
          <p:cNvSpPr/>
          <p:nvPr/>
        </p:nvSpPr>
        <p:spPr>
          <a:xfrm>
            <a:off x="502920" y="1371600"/>
            <a:ext cx="1536192" cy="2377440"/>
          </a:xfrm>
          <a:prstGeom prst="roundRect">
            <a:avLst>
              <a:gd name="adj" fmla="val 4167"/>
            </a:avLst>
          </a:prstGeom>
          <a:solidFill>
            <a:srgbClr val="EBF3F9"/>
          </a:solidFill>
          <a:ln w="12700">
            <a:solidFill>
              <a:srgbClr val="EBF3F9"/>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12648" y="1481328"/>
            <a:ext cx="1316736" cy="274320"/>
          </a:xfrm>
          <a:prstGeom prst="rect">
            <a:avLst/>
          </a:prstGeom>
          <a:noFill/>
          <a:ln/>
        </p:spPr>
        <p:txBody>
          <a:bodyPr wrap="square" lIns="0" tIns="0" rIns="0" bIns="0" rtlCol="0" anchor="ctr"/>
          <a:lstStyle/>
          <a:p>
            <a:pPr marL="0" indent="0">
              <a:buNone/>
            </a:pPr>
            <a:r>
              <a:rPr lang="fr-FR" sz="1200" b="1" noProof="0" dirty="0">
                <a:solidFill>
                  <a:srgbClr val="176F98"/>
                </a:solidFill>
                <a:latin typeface="Calibri" pitchFamily="34" charset="0"/>
                <a:ea typeface="Calibri" pitchFamily="34" charset="-122"/>
                <a:cs typeface="Calibri" pitchFamily="34" charset="-120"/>
              </a:rPr>
              <a:t>Baseline</a:t>
            </a:r>
            <a:endParaRPr lang="fr-FR" sz="1200" noProof="0" dirty="0"/>
          </a:p>
        </p:txBody>
      </p:sp>
      <p:sp>
        <p:nvSpPr>
          <p:cNvPr id="6" name="Text 4"/>
          <p:cNvSpPr/>
          <p:nvPr/>
        </p:nvSpPr>
        <p:spPr>
          <a:xfrm>
            <a:off x="612648" y="1773936"/>
            <a:ext cx="1316736" cy="384048"/>
          </a:xfrm>
          <a:prstGeom prst="rect">
            <a:avLst/>
          </a:prstGeom>
          <a:noFill/>
          <a:ln/>
        </p:spPr>
        <p:txBody>
          <a:bodyPr wrap="square" lIns="0" tIns="0" rIns="0" bIns="0" rtlCol="0" anchor="ctr"/>
          <a:lstStyle/>
          <a:p>
            <a:pPr marL="0" indent="0">
              <a:buNone/>
            </a:pPr>
            <a:r>
              <a:rPr lang="fr-FR" sz="900" noProof="0" dirty="0">
                <a:solidFill>
                  <a:srgbClr val="8C8C9A"/>
                </a:solidFill>
                <a:latin typeface="Calibri" pitchFamily="34" charset="0"/>
                <a:ea typeface="Calibri" pitchFamily="34" charset="-122"/>
                <a:cs typeface="Calibri" pitchFamily="34" charset="-120"/>
              </a:rPr>
              <a:t>T1-T4 - sept-</a:t>
            </a:r>
            <a:r>
              <a:rPr lang="fr-FR" sz="900" noProof="0" dirty="0" err="1">
                <a:solidFill>
                  <a:srgbClr val="8C8C9A"/>
                </a:solidFill>
                <a:latin typeface="Calibri" pitchFamily="34" charset="0"/>
                <a:ea typeface="Calibri" pitchFamily="34" charset="-122"/>
                <a:cs typeface="Calibri" pitchFamily="34" charset="-120"/>
              </a:rPr>
              <a:t>déc</a:t>
            </a:r>
            <a:r>
              <a:rPr lang="fr-FR" sz="900" noProof="0" dirty="0">
                <a:solidFill>
                  <a:srgbClr val="8C8C9A"/>
                </a:solidFill>
                <a:latin typeface="Calibri" pitchFamily="34" charset="0"/>
                <a:ea typeface="Calibri" pitchFamily="34" charset="-122"/>
                <a:cs typeface="Calibri" pitchFamily="34" charset="-120"/>
              </a:rPr>
              <a:t> 2020</a:t>
            </a:r>
            <a:endParaRPr lang="fr-FR" sz="900" noProof="0" dirty="0"/>
          </a:p>
        </p:txBody>
      </p:sp>
      <p:sp>
        <p:nvSpPr>
          <p:cNvPr id="7" name="Text 5"/>
          <p:cNvSpPr/>
          <p:nvPr/>
        </p:nvSpPr>
        <p:spPr>
          <a:xfrm>
            <a:off x="612648" y="2176272"/>
            <a:ext cx="1316736" cy="1463040"/>
          </a:xfrm>
          <a:prstGeom prst="rect">
            <a:avLst/>
          </a:prstGeom>
          <a:noFill/>
          <a:ln/>
        </p:spPr>
        <p:txBody>
          <a:bodyPr wrap="square" lIns="0" tIns="0" rIns="0" bIns="0" rtlCol="0" anchor="ctr"/>
          <a:lstStyle/>
          <a:p>
            <a:pPr marL="0" indent="0">
              <a:lnSpc>
                <a:spcPct val="110000"/>
              </a:lnSpc>
              <a:buNone/>
            </a:pPr>
            <a:r>
              <a:rPr lang="fr-FR" sz="980" noProof="0" dirty="0">
                <a:solidFill>
                  <a:srgbClr val="043962"/>
                </a:solidFill>
                <a:latin typeface="Calibri" pitchFamily="34" charset="0"/>
                <a:ea typeface="Calibri" pitchFamily="34" charset="-122"/>
                <a:cs typeface="Calibri" pitchFamily="34" charset="-120"/>
              </a:rPr>
              <a:t>Signaux faibles que personne ne veut voir ; délais de 12 à 14 sem.</a:t>
            </a:r>
            <a:endParaRPr lang="fr-FR" sz="980" noProof="0" dirty="0"/>
          </a:p>
        </p:txBody>
      </p:sp>
      <p:sp>
        <p:nvSpPr>
          <p:cNvPr id="8" name="Shape 6"/>
          <p:cNvSpPr/>
          <p:nvPr/>
        </p:nvSpPr>
        <p:spPr>
          <a:xfrm>
            <a:off x="2167128" y="1371600"/>
            <a:ext cx="1536192" cy="2377440"/>
          </a:xfrm>
          <a:prstGeom prst="roundRect">
            <a:avLst>
              <a:gd name="adj" fmla="val 4167"/>
            </a:avLst>
          </a:prstGeom>
          <a:solidFill>
            <a:srgbClr val="EBF3F9"/>
          </a:solidFill>
          <a:ln w="12700">
            <a:solidFill>
              <a:srgbClr val="EBF3F9"/>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9" name="Text 7"/>
          <p:cNvSpPr/>
          <p:nvPr/>
        </p:nvSpPr>
        <p:spPr>
          <a:xfrm>
            <a:off x="2276856" y="1481328"/>
            <a:ext cx="1316736" cy="274320"/>
          </a:xfrm>
          <a:prstGeom prst="rect">
            <a:avLst/>
          </a:prstGeom>
          <a:noFill/>
          <a:ln/>
        </p:spPr>
        <p:txBody>
          <a:bodyPr wrap="square" lIns="0" tIns="0" rIns="0" bIns="0" rtlCol="0" anchor="ctr"/>
          <a:lstStyle/>
          <a:p>
            <a:pPr marL="0" indent="0">
              <a:buNone/>
            </a:pPr>
            <a:r>
              <a:rPr lang="fr-FR" sz="1200" b="1" noProof="0" dirty="0">
                <a:solidFill>
                  <a:srgbClr val="176F98"/>
                </a:solidFill>
                <a:latin typeface="Calibri" pitchFamily="34" charset="0"/>
                <a:ea typeface="Calibri" pitchFamily="34" charset="-122"/>
                <a:cs typeface="Calibri" pitchFamily="34" charset="-120"/>
              </a:rPr>
              <a:t>Bascule</a:t>
            </a:r>
            <a:endParaRPr lang="fr-FR" sz="1200" noProof="0" dirty="0"/>
          </a:p>
        </p:txBody>
      </p:sp>
      <p:sp>
        <p:nvSpPr>
          <p:cNvPr id="10" name="Text 8"/>
          <p:cNvSpPr/>
          <p:nvPr/>
        </p:nvSpPr>
        <p:spPr>
          <a:xfrm>
            <a:off x="2276856" y="1773936"/>
            <a:ext cx="1316736" cy="384048"/>
          </a:xfrm>
          <a:prstGeom prst="rect">
            <a:avLst/>
          </a:prstGeom>
          <a:noFill/>
          <a:ln/>
        </p:spPr>
        <p:txBody>
          <a:bodyPr wrap="square" lIns="0" tIns="0" rIns="0" bIns="0" rtlCol="0" anchor="ctr"/>
          <a:lstStyle/>
          <a:p>
            <a:pPr marL="0" indent="0">
              <a:buNone/>
            </a:pPr>
            <a:r>
              <a:rPr lang="fr-FR" sz="900" noProof="0" dirty="0">
                <a:solidFill>
                  <a:srgbClr val="8C8C9A"/>
                </a:solidFill>
                <a:latin typeface="Calibri" pitchFamily="34" charset="0"/>
                <a:ea typeface="Calibri" pitchFamily="34" charset="-122"/>
                <a:cs typeface="Calibri" pitchFamily="34" charset="-120"/>
              </a:rPr>
              <a:t>T5-T8 - </a:t>
            </a:r>
            <a:r>
              <a:rPr lang="fr-FR" sz="900" noProof="0" dirty="0" err="1">
                <a:solidFill>
                  <a:srgbClr val="8C8C9A"/>
                </a:solidFill>
                <a:latin typeface="Calibri" pitchFamily="34" charset="0"/>
                <a:ea typeface="Calibri" pitchFamily="34" charset="-122"/>
                <a:cs typeface="Calibri" pitchFamily="34" charset="-120"/>
              </a:rPr>
              <a:t>janv-avr</a:t>
            </a:r>
            <a:r>
              <a:rPr lang="fr-FR" sz="900" noProof="0" dirty="0">
                <a:solidFill>
                  <a:srgbClr val="8C8C9A"/>
                </a:solidFill>
                <a:latin typeface="Calibri" pitchFamily="34" charset="0"/>
                <a:ea typeface="Calibri" pitchFamily="34" charset="-122"/>
                <a:cs typeface="Calibri" pitchFamily="34" charset="-120"/>
              </a:rPr>
              <a:t> 2021</a:t>
            </a:r>
            <a:endParaRPr lang="fr-FR" sz="900" noProof="0" dirty="0"/>
          </a:p>
        </p:txBody>
      </p:sp>
      <p:sp>
        <p:nvSpPr>
          <p:cNvPr id="11" name="Text 9"/>
          <p:cNvSpPr/>
          <p:nvPr/>
        </p:nvSpPr>
        <p:spPr>
          <a:xfrm>
            <a:off x="2276856" y="2176272"/>
            <a:ext cx="1316736" cy="1463040"/>
          </a:xfrm>
          <a:prstGeom prst="rect">
            <a:avLst/>
          </a:prstGeom>
          <a:noFill/>
          <a:ln/>
        </p:spPr>
        <p:txBody>
          <a:bodyPr wrap="square" lIns="0" tIns="0" rIns="0" bIns="0" rtlCol="0" anchor="ctr"/>
          <a:lstStyle/>
          <a:p>
            <a:pPr marL="0" indent="0">
              <a:lnSpc>
                <a:spcPct val="110000"/>
              </a:lnSpc>
              <a:buNone/>
            </a:pPr>
            <a:r>
              <a:rPr lang="fr-FR" sz="980" noProof="0" dirty="0">
                <a:solidFill>
                  <a:srgbClr val="043962"/>
                </a:solidFill>
                <a:latin typeface="Calibri" pitchFamily="34" charset="0"/>
                <a:ea typeface="Calibri" pitchFamily="34" charset="-122"/>
                <a:cs typeface="Calibri" pitchFamily="34" charset="-120"/>
              </a:rPr>
              <a:t>Gel Texas, incendie </a:t>
            </a:r>
            <a:r>
              <a:rPr lang="fr-FR" sz="980" noProof="0" dirty="0" err="1">
                <a:solidFill>
                  <a:srgbClr val="043962"/>
                </a:solidFill>
                <a:latin typeface="Calibri" pitchFamily="34" charset="0"/>
                <a:ea typeface="Calibri" pitchFamily="34" charset="-122"/>
                <a:cs typeface="Calibri" pitchFamily="34" charset="-120"/>
              </a:rPr>
              <a:t>Renesas</a:t>
            </a:r>
            <a:r>
              <a:rPr lang="fr-FR" sz="980" noProof="0" dirty="0">
                <a:solidFill>
                  <a:srgbClr val="043962"/>
                </a:solidFill>
                <a:latin typeface="Calibri" pitchFamily="34" charset="0"/>
                <a:ea typeface="Calibri" pitchFamily="34" charset="-122"/>
                <a:cs typeface="Calibri" pitchFamily="34" charset="-120"/>
              </a:rPr>
              <a:t>, Suez ; délais publiés : 22 sem.</a:t>
            </a:r>
            <a:endParaRPr lang="fr-FR" sz="980" noProof="0" dirty="0"/>
          </a:p>
        </p:txBody>
      </p:sp>
      <p:sp>
        <p:nvSpPr>
          <p:cNvPr id="12" name="Shape 10"/>
          <p:cNvSpPr/>
          <p:nvPr/>
        </p:nvSpPr>
        <p:spPr>
          <a:xfrm>
            <a:off x="3831336" y="1371600"/>
            <a:ext cx="1536192" cy="2377440"/>
          </a:xfrm>
          <a:prstGeom prst="roundRect">
            <a:avLst>
              <a:gd name="adj" fmla="val 4167"/>
            </a:avLst>
          </a:prstGeom>
          <a:solidFill>
            <a:srgbClr val="EBF3F9"/>
          </a:solidFill>
          <a:ln w="12700">
            <a:solidFill>
              <a:srgbClr val="EBF3F9"/>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13" name="Text 11"/>
          <p:cNvSpPr/>
          <p:nvPr/>
        </p:nvSpPr>
        <p:spPr>
          <a:xfrm>
            <a:off x="3941064" y="1481328"/>
            <a:ext cx="1316736" cy="274320"/>
          </a:xfrm>
          <a:prstGeom prst="rect">
            <a:avLst/>
          </a:prstGeom>
          <a:noFill/>
          <a:ln/>
        </p:spPr>
        <p:txBody>
          <a:bodyPr wrap="square" lIns="0" tIns="0" rIns="0" bIns="0" rtlCol="0" anchor="ctr"/>
          <a:lstStyle/>
          <a:p>
            <a:pPr marL="0" indent="0">
              <a:buNone/>
            </a:pPr>
            <a:r>
              <a:rPr lang="fr-FR" sz="1200" b="1" noProof="0" dirty="0">
                <a:solidFill>
                  <a:srgbClr val="176F98"/>
                </a:solidFill>
                <a:latin typeface="Calibri" pitchFamily="34" charset="0"/>
                <a:ea typeface="Calibri" pitchFamily="34" charset="-122"/>
                <a:cs typeface="Calibri" pitchFamily="34" charset="-120"/>
              </a:rPr>
              <a:t>Étau</a:t>
            </a:r>
            <a:endParaRPr lang="fr-FR" sz="1200" noProof="0" dirty="0"/>
          </a:p>
        </p:txBody>
      </p:sp>
      <p:sp>
        <p:nvSpPr>
          <p:cNvPr id="14" name="Text 12"/>
          <p:cNvSpPr/>
          <p:nvPr/>
        </p:nvSpPr>
        <p:spPr>
          <a:xfrm>
            <a:off x="3941064" y="1773936"/>
            <a:ext cx="1316736" cy="384048"/>
          </a:xfrm>
          <a:prstGeom prst="rect">
            <a:avLst/>
          </a:prstGeom>
          <a:noFill/>
          <a:ln/>
        </p:spPr>
        <p:txBody>
          <a:bodyPr wrap="square" lIns="0" tIns="0" rIns="0" bIns="0" rtlCol="0" anchor="ctr"/>
          <a:lstStyle/>
          <a:p>
            <a:pPr marL="0" indent="0">
              <a:buNone/>
            </a:pPr>
            <a:r>
              <a:rPr lang="fr-FR" sz="900" noProof="0" dirty="0">
                <a:solidFill>
                  <a:srgbClr val="8C8C9A"/>
                </a:solidFill>
                <a:latin typeface="Calibri" pitchFamily="34" charset="0"/>
                <a:ea typeface="Calibri" pitchFamily="34" charset="-122"/>
                <a:cs typeface="Calibri" pitchFamily="34" charset="-120"/>
              </a:rPr>
              <a:t>T9-T12 - mai-août 2021</a:t>
            </a:r>
            <a:endParaRPr lang="fr-FR" sz="900" noProof="0" dirty="0"/>
          </a:p>
        </p:txBody>
      </p:sp>
      <p:sp>
        <p:nvSpPr>
          <p:cNvPr id="15" name="Text 13"/>
          <p:cNvSpPr/>
          <p:nvPr/>
        </p:nvSpPr>
        <p:spPr>
          <a:xfrm>
            <a:off x="3941064" y="2176272"/>
            <a:ext cx="1316736" cy="1463040"/>
          </a:xfrm>
          <a:prstGeom prst="rect">
            <a:avLst/>
          </a:prstGeom>
          <a:noFill/>
          <a:ln/>
        </p:spPr>
        <p:txBody>
          <a:bodyPr wrap="square" lIns="0" tIns="0" rIns="0" bIns="0" rtlCol="0" anchor="ctr"/>
          <a:lstStyle/>
          <a:p>
            <a:pPr marL="0" indent="0">
              <a:lnSpc>
                <a:spcPct val="110000"/>
              </a:lnSpc>
              <a:buNone/>
            </a:pPr>
            <a:r>
              <a:rPr lang="fr-FR" sz="980" noProof="0" dirty="0">
                <a:solidFill>
                  <a:srgbClr val="043962"/>
                </a:solidFill>
                <a:latin typeface="Calibri" pitchFamily="34" charset="0"/>
                <a:ea typeface="Calibri" pitchFamily="34" charset="-122"/>
                <a:cs typeface="Calibri" pitchFamily="34" charset="-120"/>
              </a:rPr>
              <a:t>Sécheresse à Taïwan, spot à 10-40×, le backend casse.</a:t>
            </a:r>
            <a:endParaRPr lang="fr-FR" sz="980" noProof="0" dirty="0"/>
          </a:p>
        </p:txBody>
      </p:sp>
      <p:sp>
        <p:nvSpPr>
          <p:cNvPr id="16" name="Shape 14"/>
          <p:cNvSpPr/>
          <p:nvPr/>
        </p:nvSpPr>
        <p:spPr>
          <a:xfrm>
            <a:off x="5495544" y="1371600"/>
            <a:ext cx="1536192" cy="2377440"/>
          </a:xfrm>
          <a:prstGeom prst="roundRect">
            <a:avLst>
              <a:gd name="adj" fmla="val 4167"/>
            </a:avLst>
          </a:prstGeom>
          <a:solidFill>
            <a:srgbClr val="FFF3D6"/>
          </a:solidFill>
          <a:ln w="12700">
            <a:solidFill>
              <a:srgbClr val="FFF3D6"/>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17" name="Text 15"/>
          <p:cNvSpPr/>
          <p:nvPr/>
        </p:nvSpPr>
        <p:spPr>
          <a:xfrm>
            <a:off x="5605272" y="1481328"/>
            <a:ext cx="1316736" cy="274320"/>
          </a:xfrm>
          <a:prstGeom prst="rect">
            <a:avLst/>
          </a:prstGeom>
          <a:noFill/>
          <a:ln/>
        </p:spPr>
        <p:txBody>
          <a:bodyPr wrap="square" lIns="0" tIns="0" rIns="0" bIns="0" rtlCol="0" anchor="ctr"/>
          <a:lstStyle/>
          <a:p>
            <a:pPr marL="0" indent="0">
              <a:buNone/>
            </a:pPr>
            <a:r>
              <a:rPr lang="fr-FR" sz="1200" b="1" noProof="0" dirty="0">
                <a:solidFill>
                  <a:srgbClr val="043962"/>
                </a:solidFill>
                <a:latin typeface="Calibri" pitchFamily="34" charset="0"/>
                <a:ea typeface="Calibri" pitchFamily="34" charset="-122"/>
                <a:cs typeface="Calibri" pitchFamily="34" charset="-120"/>
              </a:rPr>
              <a:t>Rupture</a:t>
            </a:r>
            <a:endParaRPr lang="fr-FR" sz="1200" noProof="0" dirty="0"/>
          </a:p>
        </p:txBody>
      </p:sp>
      <p:sp>
        <p:nvSpPr>
          <p:cNvPr id="18" name="Text 16"/>
          <p:cNvSpPr/>
          <p:nvPr/>
        </p:nvSpPr>
        <p:spPr>
          <a:xfrm>
            <a:off x="5605272" y="1773936"/>
            <a:ext cx="1316736" cy="384048"/>
          </a:xfrm>
          <a:prstGeom prst="rect">
            <a:avLst/>
          </a:prstGeom>
          <a:noFill/>
          <a:ln/>
        </p:spPr>
        <p:txBody>
          <a:bodyPr wrap="square" lIns="0" tIns="0" rIns="0" bIns="0" rtlCol="0" anchor="ctr"/>
          <a:lstStyle/>
          <a:p>
            <a:pPr marL="0" indent="0">
              <a:buNone/>
            </a:pPr>
            <a:r>
              <a:rPr lang="fr-FR" sz="900" noProof="0" dirty="0">
                <a:solidFill>
                  <a:srgbClr val="8C8C9A"/>
                </a:solidFill>
                <a:latin typeface="Calibri" pitchFamily="34" charset="0"/>
                <a:ea typeface="Calibri" pitchFamily="34" charset="-122"/>
                <a:cs typeface="Calibri" pitchFamily="34" charset="-120"/>
              </a:rPr>
              <a:t>T13-T16 - sept-</a:t>
            </a:r>
            <a:r>
              <a:rPr lang="fr-FR" sz="900" noProof="0" dirty="0" err="1">
                <a:solidFill>
                  <a:srgbClr val="8C8C9A"/>
                </a:solidFill>
                <a:latin typeface="Calibri" pitchFamily="34" charset="0"/>
                <a:ea typeface="Calibri" pitchFamily="34" charset="-122"/>
                <a:cs typeface="Calibri" pitchFamily="34" charset="-120"/>
              </a:rPr>
              <a:t>déc</a:t>
            </a:r>
            <a:r>
              <a:rPr lang="fr-FR" sz="900" noProof="0" dirty="0">
                <a:solidFill>
                  <a:srgbClr val="8C8C9A"/>
                </a:solidFill>
                <a:latin typeface="Calibri" pitchFamily="34" charset="0"/>
                <a:ea typeface="Calibri" pitchFamily="34" charset="-122"/>
                <a:cs typeface="Calibri" pitchFamily="34" charset="-120"/>
              </a:rPr>
              <a:t> 2021</a:t>
            </a:r>
            <a:endParaRPr lang="fr-FR" sz="900" noProof="0" dirty="0"/>
          </a:p>
        </p:txBody>
      </p:sp>
      <p:sp>
        <p:nvSpPr>
          <p:cNvPr id="19" name="Text 17"/>
          <p:cNvSpPr/>
          <p:nvPr/>
        </p:nvSpPr>
        <p:spPr>
          <a:xfrm>
            <a:off x="5605272" y="2176272"/>
            <a:ext cx="1316736" cy="1463040"/>
          </a:xfrm>
          <a:prstGeom prst="rect">
            <a:avLst/>
          </a:prstGeom>
          <a:noFill/>
          <a:ln/>
        </p:spPr>
        <p:txBody>
          <a:bodyPr wrap="square" lIns="0" tIns="0" rIns="0" bIns="0" rtlCol="0" anchor="ctr"/>
          <a:lstStyle/>
          <a:p>
            <a:pPr marL="0" indent="0">
              <a:lnSpc>
                <a:spcPct val="110000"/>
              </a:lnSpc>
              <a:buNone/>
            </a:pPr>
            <a:r>
              <a:rPr lang="fr-FR" sz="980" noProof="0" dirty="0">
                <a:solidFill>
                  <a:srgbClr val="043962"/>
                </a:solidFill>
                <a:latin typeface="Calibri" pitchFamily="34" charset="0"/>
                <a:ea typeface="Calibri" pitchFamily="34" charset="-122"/>
                <a:cs typeface="Calibri" pitchFamily="34" charset="-120"/>
              </a:rPr>
              <a:t>Toyota −40 %, </a:t>
            </a:r>
            <a:r>
              <a:rPr lang="fr-FR" sz="980" noProof="0" dirty="0" err="1">
                <a:solidFill>
                  <a:srgbClr val="043962"/>
                </a:solidFill>
                <a:latin typeface="Calibri" pitchFamily="34" charset="0"/>
                <a:ea typeface="Calibri" pitchFamily="34" charset="-122"/>
                <a:cs typeface="Calibri" pitchFamily="34" charset="-120"/>
              </a:rPr>
              <a:t>bullwhip</a:t>
            </a:r>
            <a:r>
              <a:rPr lang="fr-FR" sz="980" noProof="0" dirty="0">
                <a:solidFill>
                  <a:srgbClr val="043962"/>
                </a:solidFill>
                <a:latin typeface="Calibri" pitchFamily="34" charset="0"/>
                <a:ea typeface="Calibri" pitchFamily="34" charset="-122"/>
                <a:cs typeface="Calibri" pitchFamily="34" charset="-120"/>
              </a:rPr>
              <a:t>, HÉLIOS-1 glisse</a:t>
            </a:r>
            <a:endParaRPr lang="fr-FR" sz="980" noProof="0" dirty="0"/>
          </a:p>
        </p:txBody>
      </p:sp>
      <p:sp>
        <p:nvSpPr>
          <p:cNvPr id="20" name="Shape 18"/>
          <p:cNvSpPr/>
          <p:nvPr/>
        </p:nvSpPr>
        <p:spPr>
          <a:xfrm>
            <a:off x="7159752" y="1371600"/>
            <a:ext cx="1536192" cy="2377440"/>
          </a:xfrm>
          <a:prstGeom prst="roundRect">
            <a:avLst>
              <a:gd name="adj" fmla="val 4167"/>
            </a:avLst>
          </a:prstGeom>
          <a:solidFill>
            <a:srgbClr val="EBF3F9"/>
          </a:solidFill>
          <a:ln w="12700">
            <a:solidFill>
              <a:srgbClr val="EBF3F9"/>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21" name="Text 19"/>
          <p:cNvSpPr/>
          <p:nvPr/>
        </p:nvSpPr>
        <p:spPr>
          <a:xfrm>
            <a:off x="7269480" y="1481328"/>
            <a:ext cx="1316736" cy="274320"/>
          </a:xfrm>
          <a:prstGeom prst="rect">
            <a:avLst/>
          </a:prstGeom>
          <a:noFill/>
          <a:ln/>
        </p:spPr>
        <p:txBody>
          <a:bodyPr wrap="square" lIns="0" tIns="0" rIns="0" bIns="0" rtlCol="0" anchor="ctr"/>
          <a:lstStyle/>
          <a:p>
            <a:pPr marL="0" indent="0">
              <a:buNone/>
            </a:pPr>
            <a:r>
              <a:rPr lang="fr-FR" sz="1200" b="1" dirty="0">
                <a:solidFill>
                  <a:srgbClr val="176F98"/>
                </a:solidFill>
                <a:latin typeface="Calibri" pitchFamily="34" charset="0"/>
                <a:ea typeface="Calibri" pitchFamily="34" charset="-122"/>
                <a:cs typeface="Calibri" pitchFamily="34" charset="-120"/>
              </a:rPr>
              <a:t>Détente</a:t>
            </a:r>
            <a:endParaRPr lang="fr-FR" sz="1200" noProof="0" dirty="0"/>
          </a:p>
        </p:txBody>
      </p:sp>
      <p:sp>
        <p:nvSpPr>
          <p:cNvPr id="22" name="Text 20"/>
          <p:cNvSpPr/>
          <p:nvPr/>
        </p:nvSpPr>
        <p:spPr>
          <a:xfrm>
            <a:off x="7269480" y="1773936"/>
            <a:ext cx="1316736" cy="384048"/>
          </a:xfrm>
          <a:prstGeom prst="rect">
            <a:avLst/>
          </a:prstGeom>
          <a:noFill/>
          <a:ln/>
        </p:spPr>
        <p:txBody>
          <a:bodyPr wrap="square" lIns="0" tIns="0" rIns="0" bIns="0" rtlCol="0" anchor="ctr"/>
          <a:lstStyle/>
          <a:p>
            <a:pPr marL="0" indent="0">
              <a:buNone/>
            </a:pPr>
            <a:r>
              <a:rPr lang="fr-FR" sz="900" noProof="0" dirty="0">
                <a:solidFill>
                  <a:srgbClr val="8C8C9A"/>
                </a:solidFill>
                <a:latin typeface="Calibri" pitchFamily="34" charset="0"/>
                <a:ea typeface="Calibri" pitchFamily="34" charset="-122"/>
                <a:cs typeface="Calibri" pitchFamily="34" charset="-120"/>
              </a:rPr>
              <a:t>T17-T18 - </a:t>
            </a:r>
            <a:r>
              <a:rPr lang="fr-FR" sz="900" noProof="0" dirty="0" err="1">
                <a:solidFill>
                  <a:srgbClr val="8C8C9A"/>
                </a:solidFill>
                <a:latin typeface="Calibri" pitchFamily="34" charset="0"/>
                <a:ea typeface="Calibri" pitchFamily="34" charset="-122"/>
                <a:cs typeface="Calibri" pitchFamily="34" charset="-120"/>
              </a:rPr>
              <a:t>janv-févr</a:t>
            </a:r>
            <a:r>
              <a:rPr lang="fr-FR" sz="900" noProof="0" dirty="0">
                <a:solidFill>
                  <a:srgbClr val="8C8C9A"/>
                </a:solidFill>
                <a:latin typeface="Calibri" pitchFamily="34" charset="0"/>
                <a:ea typeface="Calibri" pitchFamily="34" charset="-122"/>
                <a:cs typeface="Calibri" pitchFamily="34" charset="-120"/>
              </a:rPr>
              <a:t> 2022</a:t>
            </a:r>
            <a:endParaRPr lang="fr-FR" sz="900" noProof="0" dirty="0"/>
          </a:p>
        </p:txBody>
      </p:sp>
      <p:sp>
        <p:nvSpPr>
          <p:cNvPr id="23" name="Text 21"/>
          <p:cNvSpPr/>
          <p:nvPr/>
        </p:nvSpPr>
        <p:spPr>
          <a:xfrm>
            <a:off x="7269480" y="2176272"/>
            <a:ext cx="1316736" cy="1463040"/>
          </a:xfrm>
          <a:prstGeom prst="rect">
            <a:avLst/>
          </a:prstGeom>
          <a:noFill/>
          <a:ln/>
        </p:spPr>
        <p:txBody>
          <a:bodyPr wrap="square" lIns="0" tIns="0" rIns="0" bIns="0" rtlCol="0" anchor="ctr"/>
          <a:lstStyle/>
          <a:p>
            <a:pPr marL="0" indent="0">
              <a:lnSpc>
                <a:spcPct val="110000"/>
              </a:lnSpc>
              <a:buNone/>
            </a:pPr>
            <a:r>
              <a:rPr lang="fr-FR" sz="980" noProof="0" dirty="0">
                <a:solidFill>
                  <a:srgbClr val="043962"/>
                </a:solidFill>
                <a:latin typeface="Calibri" pitchFamily="34" charset="0"/>
                <a:ea typeface="Calibri" pitchFamily="34" charset="-122"/>
                <a:cs typeface="Calibri" pitchFamily="34" charset="-120"/>
              </a:rPr>
              <a:t>Détente lente : le terrain de l'hypothèse d'hystérésis.</a:t>
            </a:r>
            <a:endParaRPr lang="fr-FR" sz="980" noProof="0" dirty="0"/>
          </a:p>
        </p:txBody>
      </p:sp>
      <p:sp>
        <p:nvSpPr>
          <p:cNvPr id="25" name="Text 23"/>
          <p:cNvSpPr/>
          <p:nvPr/>
        </p:nvSpPr>
        <p:spPr>
          <a:xfrm>
            <a:off x="685800" y="4059936"/>
            <a:ext cx="7772400" cy="713232"/>
          </a:xfrm>
          <a:prstGeom prst="rect">
            <a:avLst/>
          </a:prstGeom>
          <a:noFill/>
          <a:ln/>
        </p:spPr>
        <p:txBody>
          <a:bodyPr wrap="square" lIns="0" tIns="0" rIns="0" bIns="0" rtlCol="0" anchor="ctr"/>
          <a:lstStyle/>
          <a:p>
            <a:pPr marL="0" indent="0">
              <a:buNone/>
            </a:pPr>
            <a:r>
              <a:rPr lang="fr-FR" sz="1050" b="1" noProof="0" dirty="0">
                <a:solidFill>
                  <a:srgbClr val="176F98"/>
                </a:solidFill>
                <a:latin typeface="Calibri" pitchFamily="34" charset="0"/>
                <a:ea typeface="Calibri" pitchFamily="34" charset="-122"/>
                <a:cs typeface="Calibri" pitchFamily="34" charset="-120"/>
              </a:rPr>
              <a:t>12 événements moteur calibrés, validés contre le catalogue du moteur (7 types sur 14) : </a:t>
            </a:r>
            <a:r>
              <a:rPr lang="fr-FR" sz="1050" noProof="0" dirty="0">
                <a:solidFill>
                  <a:srgbClr val="043962"/>
                </a:solidFill>
                <a:latin typeface="Calibri" pitchFamily="34" charset="0"/>
                <a:ea typeface="Calibri" pitchFamily="34" charset="-122"/>
                <a:cs typeface="Calibri" pitchFamily="34" charset="-120"/>
              </a:rPr>
              <a:t>pic de demande (T3, T7, T13), allocation (T5), gel Texas en accident critique (T6), Suez (T7), rationnement d'eau (T10), backend (T12), congestion et majorations (T14), polysilicium +18 % (T16).</a:t>
            </a:r>
            <a:endParaRPr lang="fr-FR" sz="1050" noProof="0" dirty="0"/>
          </a:p>
        </p:txBody>
      </p:sp>
      <p:sp>
        <p:nvSpPr>
          <p:cNvPr id="26" name="Text 24"/>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- 10/50</a:t>
            </a:r>
            <a:endParaRPr lang="fr-FR" sz="80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LE JE</a:t>
            </a:r>
            <a:r>
              <a:rPr lang="fr-FR" sz="1050" b="1" kern="0" spc="300" dirty="0">
                <a:solidFill>
                  <a:srgbClr val="176F98"/>
                </a:solidFill>
                <a:latin typeface="Calibri" pitchFamily="34" charset="0"/>
                <a:ea typeface="Calibri" pitchFamily="34" charset="-122"/>
                <a:cs typeface="Calibri" pitchFamily="34" charset="-120"/>
              </a:rPr>
              <a:t>U</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700" b="1" noProof="0" dirty="0">
                <a:solidFill>
                  <a:srgbClr val="043962"/>
                </a:solidFill>
                <a:latin typeface="Calibri" pitchFamily="34" charset="0"/>
                <a:ea typeface="Calibri" pitchFamily="34" charset="-122"/>
                <a:cs typeface="Calibri" pitchFamily="34" charset="-120"/>
              </a:rPr>
              <a:t>Test avec un LLM</a:t>
            </a:r>
            <a:endParaRPr lang="fr-FR" sz="2700" noProof="0" dirty="0"/>
          </a:p>
        </p:txBody>
      </p:sp>
      <p:sp>
        <p:nvSpPr>
          <p:cNvPr id="4" name="Shape 2"/>
          <p:cNvSpPr/>
          <p:nvPr/>
        </p:nvSpPr>
        <p:spPr>
          <a:xfrm>
            <a:off x="502920" y="1298448"/>
            <a:ext cx="3154680" cy="3520440"/>
          </a:xfrm>
          <a:prstGeom prst="roundRect">
            <a:avLst>
              <a:gd name="adj" fmla="val 2029"/>
            </a:avLst>
          </a:prstGeom>
          <a:solidFill>
            <a:srgbClr val="FFFFFF"/>
          </a:solidFill>
          <a:ln w="12700">
            <a:solidFill>
              <a:srgbClr val="FFFFFF"/>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6" name="Shape 3"/>
          <p:cNvSpPr/>
          <p:nvPr/>
        </p:nvSpPr>
        <p:spPr>
          <a:xfrm>
            <a:off x="3886200" y="1087170"/>
            <a:ext cx="4754880" cy="841248"/>
          </a:xfrm>
          <a:prstGeom prst="roundRect">
            <a:avLst>
              <a:gd name="adj" fmla="val 7609"/>
            </a:avLst>
          </a:prstGeom>
          <a:solidFill>
            <a:srgbClr val="FFF3D6"/>
          </a:solidFill>
          <a:ln w="12700">
            <a:solidFill>
              <a:srgbClr val="FFF3D6"/>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7" name="Text 4"/>
          <p:cNvSpPr/>
          <p:nvPr/>
        </p:nvSpPr>
        <p:spPr>
          <a:xfrm>
            <a:off x="4046220" y="1165377"/>
            <a:ext cx="4434840" cy="713232"/>
          </a:xfrm>
          <a:prstGeom prst="rect">
            <a:avLst/>
          </a:prstGeom>
          <a:noFill/>
          <a:ln/>
        </p:spPr>
        <p:txBody>
          <a:bodyPr wrap="square" lIns="0" tIns="0" rIns="0" bIns="0" rtlCol="0" anchor="ctr"/>
          <a:lstStyle/>
          <a:p>
            <a:pPr marL="0" indent="0">
              <a:buNone/>
            </a:pPr>
            <a:r>
              <a:rPr lang="fr-FR" sz="1080" b="1" noProof="0" dirty="0">
                <a:solidFill>
                  <a:srgbClr val="043962"/>
                </a:solidFill>
                <a:latin typeface="Calibri" pitchFamily="34" charset="0"/>
                <a:ea typeface="Calibri" pitchFamily="34" charset="-122"/>
                <a:cs typeface="Calibri" pitchFamily="34" charset="-120"/>
              </a:rPr>
              <a:t>Lecture indispensable : </a:t>
            </a:r>
            <a:r>
              <a:rPr lang="fr-FR" sz="1080" noProof="0" dirty="0">
                <a:solidFill>
                  <a:srgbClr val="043962"/>
                </a:solidFill>
                <a:latin typeface="Calibri" pitchFamily="34" charset="0"/>
                <a:ea typeface="Calibri" pitchFamily="34" charset="-122"/>
                <a:cs typeface="Calibri" pitchFamily="34" charset="-120"/>
              </a:rPr>
              <a:t>19 tours joués de bout en bout avec les données réelles côté Ur, mais un Ud SYNTHÉTIQUE. Cela valide la mécanique et le scénario, pas la cognition.</a:t>
            </a:r>
            <a:br>
              <a:rPr lang="fr-FR" sz="1080" noProof="0" dirty="0">
                <a:solidFill>
                  <a:srgbClr val="043962"/>
                </a:solidFill>
                <a:latin typeface="Calibri" pitchFamily="34" charset="0"/>
                <a:ea typeface="Calibri" pitchFamily="34" charset="-122"/>
                <a:cs typeface="Calibri" pitchFamily="34" charset="-120"/>
              </a:rPr>
            </a:br>
            <a:r>
              <a:rPr lang="fr-FR" sz="1080" noProof="0" dirty="0">
                <a:solidFill>
                  <a:srgbClr val="043962"/>
                </a:solidFill>
                <a:latin typeface="Calibri" pitchFamily="34" charset="0"/>
                <a:ea typeface="Calibri" pitchFamily="34" charset="-122"/>
                <a:cs typeface="Calibri" pitchFamily="34" charset="-120"/>
              </a:rPr>
              <a:t>La partie Ud simulé par les 8 agents IA montre une meilleure cognition.</a:t>
            </a:r>
            <a:endParaRPr lang="fr-FR" sz="1080" noProof="0" dirty="0"/>
          </a:p>
        </p:txBody>
      </p:sp>
      <p:sp>
        <p:nvSpPr>
          <p:cNvPr id="24" name="Text 21"/>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- 15/50</a:t>
            </a:r>
            <a:endParaRPr lang="fr-FR" sz="800" noProof="0" dirty="0"/>
          </a:p>
        </p:txBody>
      </p:sp>
      <p:pic>
        <p:nvPicPr>
          <p:cNvPr id="26" name="Image 0" descr="C:/Users/jhoarau/AppData/Local/Temp/claude/C--PRIVEE-AZURE/f8b0be80-80ed-4b8e-b83d-292634a7e08a/scratchpad/docx_build/fig_adequation_slide.png">
            <a:extLst>
              <a:ext uri="{FF2B5EF4-FFF2-40B4-BE49-F238E27FC236}">
                <a16:creationId xmlns:a16="http://schemas.microsoft.com/office/drawing/2014/main" id="{BD6F6AD0-F318-1B39-CE77-2F3A79198889}"/>
              </a:ext>
            </a:extLst>
          </p:cNvPr>
          <p:cNvPicPr>
            <a:picLocks noChangeAspect="1"/>
          </p:cNvPicPr>
          <p:nvPr/>
        </p:nvPicPr>
        <p:blipFill>
          <a:blip r:embed="rId3"/>
          <a:stretch>
            <a:fillRect/>
          </a:stretch>
        </p:blipFill>
        <p:spPr>
          <a:xfrm>
            <a:off x="3771900" y="1978227"/>
            <a:ext cx="4855464" cy="1108703"/>
          </a:xfrm>
          <a:prstGeom prst="rect">
            <a:avLst/>
          </a:prstGeom>
        </p:spPr>
      </p:pic>
      <p:pic>
        <p:nvPicPr>
          <p:cNvPr id="9" name="Image 8">
            <a:extLst>
              <a:ext uri="{FF2B5EF4-FFF2-40B4-BE49-F238E27FC236}">
                <a16:creationId xmlns:a16="http://schemas.microsoft.com/office/drawing/2014/main" id="{E089D735-752B-5012-2419-A4DE30372F53}"/>
              </a:ext>
            </a:extLst>
          </p:cNvPr>
          <p:cNvPicPr>
            <a:picLocks noChangeAspect="1"/>
          </p:cNvPicPr>
          <p:nvPr/>
        </p:nvPicPr>
        <p:blipFill>
          <a:blip r:embed="rId4"/>
          <a:stretch>
            <a:fillRect/>
          </a:stretch>
        </p:blipFill>
        <p:spPr>
          <a:xfrm>
            <a:off x="288036" y="1053444"/>
            <a:ext cx="3483864" cy="3779160"/>
          </a:xfrm>
          <a:prstGeom prst="rect">
            <a:avLst/>
          </a:prstGeom>
        </p:spPr>
      </p:pic>
      <p:pic>
        <p:nvPicPr>
          <p:cNvPr id="11" name="Image 10">
            <a:extLst>
              <a:ext uri="{FF2B5EF4-FFF2-40B4-BE49-F238E27FC236}">
                <a16:creationId xmlns:a16="http://schemas.microsoft.com/office/drawing/2014/main" id="{07BD8549-1C22-F3A1-DD59-FFCABAD0CF92}"/>
              </a:ext>
            </a:extLst>
          </p:cNvPr>
          <p:cNvPicPr>
            <a:picLocks noChangeAspect="1"/>
          </p:cNvPicPr>
          <p:nvPr/>
        </p:nvPicPr>
        <p:blipFill>
          <a:blip r:embed="rId5"/>
          <a:stretch>
            <a:fillRect/>
          </a:stretch>
        </p:blipFill>
        <p:spPr>
          <a:xfrm>
            <a:off x="3899917" y="2850311"/>
            <a:ext cx="4522300" cy="1099278"/>
          </a:xfrm>
          <a:prstGeom prst="rect">
            <a:avLst/>
          </a:prstGeom>
        </p:spPr>
      </p:pic>
      <p:pic>
        <p:nvPicPr>
          <p:cNvPr id="13" name="Image 12">
            <a:extLst>
              <a:ext uri="{FF2B5EF4-FFF2-40B4-BE49-F238E27FC236}">
                <a16:creationId xmlns:a16="http://schemas.microsoft.com/office/drawing/2014/main" id="{FD15B02E-14D9-1BF6-E1C6-2376FE8B6198}"/>
              </a:ext>
            </a:extLst>
          </p:cNvPr>
          <p:cNvPicPr>
            <a:picLocks noChangeAspect="1"/>
          </p:cNvPicPr>
          <p:nvPr/>
        </p:nvPicPr>
        <p:blipFill>
          <a:blip r:embed="rId6"/>
          <a:stretch>
            <a:fillRect/>
          </a:stretch>
        </p:blipFill>
        <p:spPr>
          <a:xfrm>
            <a:off x="3905601" y="3766071"/>
            <a:ext cx="4516616" cy="106896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BB864A96-AE01-5010-3417-3AC79A1D4A51}"/>
              </a:ext>
            </a:extLst>
          </p:cNvPr>
          <p:cNvSpPr/>
          <p:nvPr/>
        </p:nvSpPr>
        <p:spPr>
          <a:xfrm>
            <a:off x="3999230" y="2303272"/>
            <a:ext cx="114554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ANNEXE</a:t>
            </a:r>
            <a:endParaRPr lang="fr-FR" sz="2500" noProof="0" dirty="0"/>
          </a:p>
        </p:txBody>
      </p:sp>
    </p:spTree>
    <p:extLst>
      <p:ext uri="{BB962C8B-B14F-4D97-AF65-F5344CB8AC3E}">
        <p14:creationId xmlns:p14="http://schemas.microsoft.com/office/powerpoint/2010/main" val="2609256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LES PERSONAS (1 SUR 2)</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Comment chaque entreprise parle</a:t>
            </a:r>
            <a:endParaRPr lang="fr-FR" sz="2500" noProof="0" dirty="0"/>
          </a:p>
        </p:txBody>
      </p:sp>
      <p:sp>
        <p:nvSpPr>
          <p:cNvPr id="4" name="Shape 2"/>
          <p:cNvSpPr/>
          <p:nvPr/>
        </p:nvSpPr>
        <p:spPr>
          <a:xfrm>
            <a:off x="502920" y="1325880"/>
            <a:ext cx="8138160" cy="777240"/>
          </a:xfrm>
          <a:prstGeom prst="roundRect">
            <a:avLst>
              <a:gd name="adj" fmla="val 8235"/>
            </a:avLst>
          </a:prstGeom>
          <a:solidFill>
            <a:srgbClr val="FFFFFF"/>
          </a:solidFill>
          <a:ln w="12700">
            <a:solidFill>
              <a:srgbClr val="FFFFFF"/>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40080" y="1380744"/>
            <a:ext cx="1371600" cy="667512"/>
          </a:xfrm>
          <a:prstGeom prst="rect">
            <a:avLst/>
          </a:prstGeom>
          <a:noFill/>
          <a:ln/>
        </p:spPr>
        <p:txBody>
          <a:bodyPr wrap="square" lIns="0" tIns="0" rIns="0" bIns="0" rtlCol="0" anchor="ctr"/>
          <a:lstStyle/>
          <a:p>
            <a:pPr marL="0" indent="0">
              <a:buNone/>
            </a:pPr>
            <a:r>
              <a:rPr lang="fr-FR" sz="950" b="1" noProof="0" dirty="0" err="1">
                <a:solidFill>
                  <a:srgbClr val="176F98"/>
                </a:solidFill>
                <a:latin typeface="Calibri" pitchFamily="34" charset="0"/>
                <a:ea typeface="Calibri" pitchFamily="34" charset="-122"/>
                <a:cs typeface="Calibri" pitchFamily="34" charset="-120"/>
              </a:rPr>
              <a:t>Orbitalys</a:t>
            </a:r>
            <a:endParaRPr lang="fr-FR" sz="950" noProof="0" dirty="0"/>
          </a:p>
          <a:p>
            <a:pPr marL="0" indent="0">
              <a:buNone/>
            </a:pPr>
            <a:r>
              <a:rPr lang="fr-FR" sz="950" b="1" noProof="0" dirty="0">
                <a:solidFill>
                  <a:srgbClr val="176F98"/>
                </a:solidFill>
                <a:latin typeface="Calibri" pitchFamily="34" charset="0"/>
                <a:ea typeface="Calibri" pitchFamily="34" charset="-122"/>
                <a:cs typeface="Calibri" pitchFamily="34" charset="-120"/>
              </a:rPr>
              <a:t>C1</a:t>
            </a:r>
            <a:endParaRPr lang="fr-FR" sz="950" noProof="0" dirty="0"/>
          </a:p>
        </p:txBody>
      </p:sp>
      <p:sp>
        <p:nvSpPr>
          <p:cNvPr id="6" name="Text 4"/>
          <p:cNvSpPr/>
          <p:nvPr/>
        </p:nvSpPr>
        <p:spPr>
          <a:xfrm>
            <a:off x="2103120" y="1380744"/>
            <a:ext cx="6400800" cy="667512"/>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Ton : </a:t>
            </a:r>
            <a:r>
              <a:rPr lang="fr-FR" sz="840" noProof="0" dirty="0">
                <a:solidFill>
                  <a:srgbClr val="043962"/>
                </a:solidFill>
                <a:latin typeface="Calibri" pitchFamily="34" charset="0"/>
                <a:ea typeface="Calibri" pitchFamily="34" charset="-122"/>
                <a:cs typeface="Calibri" pitchFamily="34" charset="-120"/>
              </a:rPr>
              <a:t>courtois mais contractuel. </a:t>
            </a:r>
            <a:r>
              <a:rPr lang="fr-FR" sz="840" b="1" noProof="0" dirty="0">
                <a:solidFill>
                  <a:srgbClr val="043962"/>
                </a:solidFill>
                <a:latin typeface="Calibri" pitchFamily="34" charset="0"/>
                <a:ea typeface="Calibri" pitchFamily="34" charset="-122"/>
                <a:cs typeface="Calibri" pitchFamily="34" charset="-120"/>
              </a:rPr>
              <a:t>Parle en : </a:t>
            </a:r>
            <a:r>
              <a:rPr lang="fr-FR" sz="840" noProof="0" dirty="0">
                <a:solidFill>
                  <a:srgbClr val="043962"/>
                </a:solidFill>
                <a:latin typeface="Calibri" pitchFamily="34" charset="0"/>
                <a:ea typeface="Calibri" pitchFamily="34" charset="-122"/>
                <a:cs typeface="Calibri" pitchFamily="34" charset="-120"/>
              </a:rPr>
              <a:t>jalons, pénalités, « engagements », courriels formels. </a:t>
            </a:r>
            <a:r>
              <a:rPr lang="fr-FR" sz="840" b="1" noProof="0" dirty="0">
                <a:solidFill>
                  <a:srgbClr val="043962"/>
                </a:solidFill>
                <a:latin typeface="Calibri" pitchFamily="34" charset="0"/>
                <a:ea typeface="Calibri" pitchFamily="34" charset="-122"/>
                <a:cs typeface="Calibri" pitchFamily="34" charset="-120"/>
              </a:rPr>
              <a:t>Peur : </a:t>
            </a:r>
            <a:r>
              <a:rPr lang="fr-FR" sz="840" noProof="0" dirty="0">
                <a:solidFill>
                  <a:srgbClr val="043962"/>
                </a:solidFill>
                <a:latin typeface="Calibri" pitchFamily="34" charset="0"/>
                <a:ea typeface="Calibri" pitchFamily="34" charset="-122"/>
                <a:cs typeface="Calibri" pitchFamily="34" charset="-120"/>
              </a:rPr>
              <a:t>l'annonce publique d'un retard (réputation). </a:t>
            </a:r>
            <a:r>
              <a:rPr lang="fr-FR" sz="840" b="1" noProof="0" dirty="0">
                <a:solidFill>
                  <a:srgbClr val="043962"/>
                </a:solidFill>
                <a:latin typeface="Calibri" pitchFamily="34" charset="0"/>
                <a:ea typeface="Calibri" pitchFamily="34" charset="-122"/>
                <a:cs typeface="Calibri" pitchFamily="34" charset="-120"/>
              </a:rPr>
              <a:t>Réflexe : </a:t>
            </a:r>
            <a:r>
              <a:rPr lang="fr-FR" sz="840" noProof="0" dirty="0">
                <a:solidFill>
                  <a:srgbClr val="043962"/>
                </a:solidFill>
                <a:latin typeface="Calibri" pitchFamily="34" charset="0"/>
                <a:ea typeface="Calibri" pitchFamily="34" charset="-122"/>
                <a:cs typeface="Calibri" pitchFamily="34" charset="-120"/>
              </a:rPr>
              <a:t>escalader chez le fournisseur, exiger un plan de rattrapage. </a:t>
            </a:r>
            <a:r>
              <a:rPr lang="fr-FR" sz="840" b="1" noProof="0" dirty="0">
                <a:solidFill>
                  <a:srgbClr val="043962"/>
                </a:solidFill>
                <a:latin typeface="Calibri" pitchFamily="34" charset="0"/>
                <a:ea typeface="Calibri" pitchFamily="34" charset="-122"/>
                <a:cs typeface="Calibri" pitchFamily="34" charset="-120"/>
              </a:rPr>
              <a:t>Angle : </a:t>
            </a:r>
            <a:r>
              <a:rPr lang="fr-FR" sz="840" noProof="0" dirty="0">
                <a:solidFill>
                  <a:srgbClr val="043962"/>
                </a:solidFill>
                <a:latin typeface="Calibri" pitchFamily="34" charset="0"/>
                <a:ea typeface="Calibri" pitchFamily="34" charset="-122"/>
                <a:cs typeface="Calibri" pitchFamily="34" charset="-120"/>
              </a:rPr>
              <a:t>aversion à la perte de face : sensible aux signaux visibles du client, moins aux signaux amont lointains.</a:t>
            </a:r>
            <a:endParaRPr lang="fr-FR" sz="840" noProof="0" dirty="0"/>
          </a:p>
        </p:txBody>
      </p:sp>
      <p:sp>
        <p:nvSpPr>
          <p:cNvPr id="7" name="Shape 5"/>
          <p:cNvSpPr/>
          <p:nvPr/>
        </p:nvSpPr>
        <p:spPr>
          <a:xfrm>
            <a:off x="502920" y="2212848"/>
            <a:ext cx="8138160" cy="777240"/>
          </a:xfrm>
          <a:prstGeom prst="roundRect">
            <a:avLst>
              <a:gd name="adj" fmla="val 8235"/>
            </a:avLst>
          </a:prstGeom>
          <a:solidFill>
            <a:srgbClr val="EBF3F9"/>
          </a:solidFill>
          <a:ln w="12700">
            <a:solidFill>
              <a:srgbClr val="EBF3F9"/>
            </a:solidFill>
            <a:prstDash val="solid"/>
          </a:ln>
        </p:spPr>
        <p:txBody>
          <a:bodyPr/>
          <a:lstStyle/>
          <a:p>
            <a:endParaRPr lang="fr-FR" noProof="0" dirty="0"/>
          </a:p>
        </p:txBody>
      </p:sp>
      <p:sp>
        <p:nvSpPr>
          <p:cNvPr id="8" name="Text 6"/>
          <p:cNvSpPr/>
          <p:nvPr/>
        </p:nvSpPr>
        <p:spPr>
          <a:xfrm>
            <a:off x="640080" y="2267712"/>
            <a:ext cx="1371600" cy="667512"/>
          </a:xfrm>
          <a:prstGeom prst="rect">
            <a:avLst/>
          </a:prstGeom>
          <a:noFill/>
          <a:ln/>
        </p:spPr>
        <p:txBody>
          <a:bodyPr wrap="square" lIns="0" tIns="0" rIns="0" bIns="0" rtlCol="0" anchor="ctr"/>
          <a:lstStyle/>
          <a:p>
            <a:pPr marL="0" indent="0">
              <a:buNone/>
            </a:pPr>
            <a:r>
              <a:rPr lang="fr-FR" sz="950" b="1" noProof="0" dirty="0" err="1">
                <a:solidFill>
                  <a:srgbClr val="176F98"/>
                </a:solidFill>
                <a:latin typeface="Calibri" pitchFamily="34" charset="0"/>
                <a:ea typeface="Calibri" pitchFamily="34" charset="-122"/>
                <a:cs typeface="Calibri" pitchFamily="34" charset="-120"/>
              </a:rPr>
              <a:t>AvioSys</a:t>
            </a:r>
            <a:r>
              <a:rPr lang="fr-FR" sz="950" b="1" noProof="0" dirty="0">
                <a:solidFill>
                  <a:srgbClr val="176F98"/>
                </a:solidFill>
                <a:latin typeface="Calibri" pitchFamily="34" charset="0"/>
                <a:ea typeface="Calibri" pitchFamily="34" charset="-122"/>
                <a:cs typeface="Calibri" pitchFamily="34" charset="-120"/>
              </a:rPr>
              <a:t> Intégration</a:t>
            </a:r>
            <a:endParaRPr lang="fr-FR" sz="950" noProof="0" dirty="0"/>
          </a:p>
          <a:p>
            <a:pPr marL="0" indent="0">
              <a:buNone/>
            </a:pPr>
            <a:r>
              <a:rPr lang="fr-FR" sz="950" b="1" noProof="0" dirty="0">
                <a:solidFill>
                  <a:srgbClr val="176F98"/>
                </a:solidFill>
                <a:latin typeface="Calibri" pitchFamily="34" charset="0"/>
                <a:ea typeface="Calibri" pitchFamily="34" charset="-122"/>
                <a:cs typeface="Calibri" pitchFamily="34" charset="-120"/>
              </a:rPr>
              <a:t>C2</a:t>
            </a:r>
            <a:endParaRPr lang="fr-FR" sz="950" noProof="0" dirty="0"/>
          </a:p>
        </p:txBody>
      </p:sp>
      <p:sp>
        <p:nvSpPr>
          <p:cNvPr id="9" name="Text 7"/>
          <p:cNvSpPr/>
          <p:nvPr/>
        </p:nvSpPr>
        <p:spPr>
          <a:xfrm>
            <a:off x="2103120" y="2267712"/>
            <a:ext cx="6400800" cy="667512"/>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Ton : </a:t>
            </a:r>
            <a:r>
              <a:rPr lang="fr-FR" sz="840" noProof="0" dirty="0">
                <a:solidFill>
                  <a:srgbClr val="043962"/>
                </a:solidFill>
                <a:latin typeface="Calibri" pitchFamily="34" charset="0"/>
                <a:ea typeface="Calibri" pitchFamily="34" charset="-122"/>
                <a:cs typeface="Calibri" pitchFamily="34" charset="-120"/>
              </a:rPr>
              <a:t>ingénieur, précis, prudent. </a:t>
            </a:r>
            <a:r>
              <a:rPr lang="fr-FR" sz="840" b="1" noProof="0" dirty="0">
                <a:solidFill>
                  <a:srgbClr val="043962"/>
                </a:solidFill>
                <a:latin typeface="Calibri" pitchFamily="34" charset="0"/>
                <a:ea typeface="Calibri" pitchFamily="34" charset="-122"/>
                <a:cs typeface="Calibri" pitchFamily="34" charset="-120"/>
              </a:rPr>
              <a:t>Parle en : </a:t>
            </a:r>
            <a:r>
              <a:rPr lang="fr-FR" sz="840" noProof="0" dirty="0">
                <a:solidFill>
                  <a:srgbClr val="043962"/>
                </a:solidFill>
                <a:latin typeface="Calibri" pitchFamily="34" charset="0"/>
                <a:ea typeface="Calibri" pitchFamily="34" charset="-122"/>
                <a:cs typeface="Calibri" pitchFamily="34" charset="-120"/>
              </a:rPr>
              <a:t>références qualifiées, lots, dossiers de requalification. </a:t>
            </a:r>
            <a:r>
              <a:rPr lang="fr-FR" sz="840" b="1" noProof="0" dirty="0">
                <a:solidFill>
                  <a:srgbClr val="043962"/>
                </a:solidFill>
                <a:latin typeface="Calibri" pitchFamily="34" charset="0"/>
                <a:ea typeface="Calibri" pitchFamily="34" charset="-122"/>
                <a:cs typeface="Calibri" pitchFamily="34" charset="-120"/>
              </a:rPr>
              <a:t>Peur : </a:t>
            </a:r>
            <a:r>
              <a:rPr lang="fr-FR" sz="840" noProof="0" dirty="0">
                <a:solidFill>
                  <a:srgbClr val="043962"/>
                </a:solidFill>
                <a:latin typeface="Calibri" pitchFamily="34" charset="0"/>
                <a:ea typeface="Calibri" pitchFamily="34" charset="-122"/>
                <a:cs typeface="Calibri" pitchFamily="34" charset="-120"/>
              </a:rPr>
              <a:t>la rupture d'un composant qualifié (= 6 mois de requalification). </a:t>
            </a:r>
            <a:r>
              <a:rPr lang="fr-FR" sz="840" b="1" noProof="0" dirty="0">
                <a:solidFill>
                  <a:srgbClr val="043962"/>
                </a:solidFill>
                <a:latin typeface="Calibri" pitchFamily="34" charset="0"/>
                <a:ea typeface="Calibri" pitchFamily="34" charset="-122"/>
                <a:cs typeface="Calibri" pitchFamily="34" charset="-120"/>
              </a:rPr>
              <a:t>Réflexe : </a:t>
            </a:r>
            <a:r>
              <a:rPr lang="fr-FR" sz="840" noProof="0" dirty="0">
                <a:solidFill>
                  <a:srgbClr val="043962"/>
                </a:solidFill>
                <a:latin typeface="Calibri" pitchFamily="34" charset="0"/>
                <a:ea typeface="Calibri" pitchFamily="34" charset="-122"/>
                <a:cs typeface="Calibri" pitchFamily="34" charset="-120"/>
              </a:rPr>
              <a:t>constituer du stock dès le premier doute. </a:t>
            </a:r>
            <a:r>
              <a:rPr lang="fr-FR" sz="840" b="1" noProof="0" dirty="0">
                <a:solidFill>
                  <a:srgbClr val="043962"/>
                </a:solidFill>
                <a:latin typeface="Calibri" pitchFamily="34" charset="0"/>
                <a:ea typeface="Calibri" pitchFamily="34" charset="-122"/>
                <a:cs typeface="Calibri" pitchFamily="34" charset="-120"/>
              </a:rPr>
              <a:t>Angle : </a:t>
            </a:r>
            <a:r>
              <a:rPr lang="fr-FR" sz="840" noProof="0" dirty="0">
                <a:solidFill>
                  <a:srgbClr val="043962"/>
                </a:solidFill>
                <a:latin typeface="Calibri" pitchFamily="34" charset="0"/>
                <a:ea typeface="Calibri" pitchFamily="34" charset="-122"/>
                <a:cs typeface="Calibri" pitchFamily="34" charset="-120"/>
              </a:rPr>
              <a:t>biais de statu quo : ne jamais changer un composant ; pense en semaines de couverture.</a:t>
            </a:r>
            <a:endParaRPr lang="fr-FR" sz="840" noProof="0" dirty="0"/>
          </a:p>
        </p:txBody>
      </p:sp>
      <p:sp>
        <p:nvSpPr>
          <p:cNvPr id="10" name="Shape 8"/>
          <p:cNvSpPr/>
          <p:nvPr/>
        </p:nvSpPr>
        <p:spPr>
          <a:xfrm>
            <a:off x="502920" y="3099816"/>
            <a:ext cx="8138160" cy="777240"/>
          </a:xfrm>
          <a:prstGeom prst="roundRect">
            <a:avLst>
              <a:gd name="adj" fmla="val 8235"/>
            </a:avLst>
          </a:prstGeom>
          <a:solidFill>
            <a:srgbClr val="FFFFFF"/>
          </a:solidFill>
          <a:ln w="12700">
            <a:solidFill>
              <a:srgbClr val="FFFFFF"/>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11" name="Text 9"/>
          <p:cNvSpPr/>
          <p:nvPr/>
        </p:nvSpPr>
        <p:spPr>
          <a:xfrm>
            <a:off x="640080" y="3154680"/>
            <a:ext cx="1371600" cy="667512"/>
          </a:xfrm>
          <a:prstGeom prst="rect">
            <a:avLst/>
          </a:prstGeom>
          <a:noFill/>
          <a:ln/>
        </p:spPr>
        <p:txBody>
          <a:bodyPr wrap="square" lIns="0" tIns="0" rIns="0" bIns="0" rtlCol="0" anchor="ctr"/>
          <a:lstStyle/>
          <a:p>
            <a:pPr marL="0" indent="0">
              <a:buNone/>
            </a:pPr>
            <a:r>
              <a:rPr lang="fr-FR" sz="950" b="1" noProof="0" dirty="0" err="1">
                <a:solidFill>
                  <a:srgbClr val="176F98"/>
                </a:solidFill>
                <a:latin typeface="Calibri" pitchFamily="34" charset="0"/>
                <a:ea typeface="Calibri" pitchFamily="34" charset="-122"/>
                <a:cs typeface="Calibri" pitchFamily="34" charset="-120"/>
              </a:rPr>
              <a:t>Électis</a:t>
            </a:r>
            <a:r>
              <a:rPr lang="fr-FR" sz="950" b="1" noProof="0" dirty="0">
                <a:solidFill>
                  <a:srgbClr val="176F98"/>
                </a:solidFill>
                <a:latin typeface="Calibri" pitchFamily="34" charset="0"/>
                <a:ea typeface="Calibri" pitchFamily="34" charset="-122"/>
                <a:cs typeface="Calibri" pitchFamily="34" charset="-120"/>
              </a:rPr>
              <a:t> EMS</a:t>
            </a:r>
            <a:endParaRPr lang="fr-FR" sz="950" noProof="0" dirty="0"/>
          </a:p>
          <a:p>
            <a:pPr marL="0" indent="0">
              <a:buNone/>
            </a:pPr>
            <a:r>
              <a:rPr lang="fr-FR" sz="950" b="1" noProof="0" dirty="0">
                <a:solidFill>
                  <a:srgbClr val="176F98"/>
                </a:solidFill>
                <a:latin typeface="Calibri" pitchFamily="34" charset="0"/>
                <a:ea typeface="Calibri" pitchFamily="34" charset="-122"/>
                <a:cs typeface="Calibri" pitchFamily="34" charset="-120"/>
              </a:rPr>
              <a:t>C3</a:t>
            </a:r>
            <a:endParaRPr lang="fr-FR" sz="950" noProof="0" dirty="0"/>
          </a:p>
        </p:txBody>
      </p:sp>
      <p:sp>
        <p:nvSpPr>
          <p:cNvPr id="12" name="Text 10"/>
          <p:cNvSpPr/>
          <p:nvPr/>
        </p:nvSpPr>
        <p:spPr>
          <a:xfrm>
            <a:off x="2103120" y="3154680"/>
            <a:ext cx="6400800" cy="667512"/>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Ton : </a:t>
            </a:r>
            <a:r>
              <a:rPr lang="fr-FR" sz="840" noProof="0" dirty="0">
                <a:solidFill>
                  <a:srgbClr val="043962"/>
                </a:solidFill>
                <a:latin typeface="Calibri" pitchFamily="34" charset="0"/>
                <a:ea typeface="Calibri" pitchFamily="34" charset="-122"/>
                <a:cs typeface="Calibri" pitchFamily="34" charset="-120"/>
              </a:rPr>
              <a:t>pragmatique d'atelier, direct. </a:t>
            </a:r>
            <a:r>
              <a:rPr lang="fr-FR" sz="840" b="1" noProof="0" dirty="0">
                <a:solidFill>
                  <a:srgbClr val="043962"/>
                </a:solidFill>
                <a:latin typeface="Calibri" pitchFamily="34" charset="0"/>
                <a:ea typeface="Calibri" pitchFamily="34" charset="-122"/>
                <a:cs typeface="Calibri" pitchFamily="34" charset="-120"/>
              </a:rPr>
              <a:t>Parle en : </a:t>
            </a:r>
            <a:r>
              <a:rPr lang="fr-FR" sz="840" noProof="0" dirty="0">
                <a:solidFill>
                  <a:srgbClr val="043962"/>
                </a:solidFill>
                <a:latin typeface="Calibri" pitchFamily="34" charset="0"/>
                <a:ea typeface="Calibri" pitchFamily="34" charset="-122"/>
                <a:cs typeface="Calibri" pitchFamily="34" charset="-120"/>
              </a:rPr>
              <a:t>lignes, cadences, ordres de fabrication. </a:t>
            </a:r>
            <a:r>
              <a:rPr lang="fr-FR" sz="840" b="1" noProof="0" dirty="0">
                <a:solidFill>
                  <a:srgbClr val="043962"/>
                </a:solidFill>
                <a:latin typeface="Calibri" pitchFamily="34" charset="0"/>
                <a:ea typeface="Calibri" pitchFamily="34" charset="-122"/>
                <a:cs typeface="Calibri" pitchFamily="34" charset="-120"/>
              </a:rPr>
              <a:t>Peur : </a:t>
            </a:r>
            <a:r>
              <a:rPr lang="fr-FR" sz="840" noProof="0" dirty="0">
                <a:solidFill>
                  <a:srgbClr val="043962"/>
                </a:solidFill>
                <a:latin typeface="Calibri" pitchFamily="34" charset="0"/>
                <a:ea typeface="Calibri" pitchFamily="34" charset="-122"/>
                <a:cs typeface="Calibri" pitchFamily="34" charset="-120"/>
              </a:rPr>
              <a:t>l'arrêt de ligne (équipes au chômage technique). </a:t>
            </a:r>
            <a:r>
              <a:rPr lang="fr-FR" sz="840" b="1" noProof="0" dirty="0">
                <a:solidFill>
                  <a:srgbClr val="043962"/>
                </a:solidFill>
                <a:latin typeface="Calibri" pitchFamily="34" charset="0"/>
                <a:ea typeface="Calibri" pitchFamily="34" charset="-122"/>
                <a:cs typeface="Calibri" pitchFamily="34" charset="-120"/>
              </a:rPr>
              <a:t>Réflexe : </a:t>
            </a:r>
            <a:r>
              <a:rPr lang="fr-FR" sz="840" noProof="0" dirty="0">
                <a:solidFill>
                  <a:srgbClr val="043962"/>
                </a:solidFill>
                <a:latin typeface="Calibri" pitchFamily="34" charset="0"/>
                <a:ea typeface="Calibri" pitchFamily="34" charset="-122"/>
                <a:cs typeface="Calibri" pitchFamily="34" charset="-120"/>
              </a:rPr>
              <a:t>arbitrer entre clients, acheter au spot. </a:t>
            </a:r>
            <a:r>
              <a:rPr lang="fr-FR" sz="840" b="1" noProof="0" dirty="0">
                <a:solidFill>
                  <a:srgbClr val="043962"/>
                </a:solidFill>
                <a:latin typeface="Calibri" pitchFamily="34" charset="0"/>
                <a:ea typeface="Calibri" pitchFamily="34" charset="-122"/>
                <a:cs typeface="Calibri" pitchFamily="34" charset="-120"/>
              </a:rPr>
              <a:t>Angle : </a:t>
            </a:r>
            <a:r>
              <a:rPr lang="fr-FR" sz="840" noProof="0" dirty="0">
                <a:solidFill>
                  <a:srgbClr val="043962"/>
                </a:solidFill>
                <a:latin typeface="Calibri" pitchFamily="34" charset="0"/>
                <a:ea typeface="Calibri" pitchFamily="34" charset="-122"/>
                <a:cs typeface="Calibri" pitchFamily="34" charset="-120"/>
              </a:rPr>
              <a:t>surcharge d'arbitrages simultanés ; tendance à servir le client qui insiste le plus.</a:t>
            </a:r>
            <a:endParaRPr lang="fr-FR" sz="840" noProof="0" dirty="0"/>
          </a:p>
        </p:txBody>
      </p:sp>
      <p:sp>
        <p:nvSpPr>
          <p:cNvPr id="13" name="Shape 11"/>
          <p:cNvSpPr/>
          <p:nvPr/>
        </p:nvSpPr>
        <p:spPr>
          <a:xfrm>
            <a:off x="502920" y="3986784"/>
            <a:ext cx="8138160" cy="777240"/>
          </a:xfrm>
          <a:prstGeom prst="roundRect">
            <a:avLst>
              <a:gd name="adj" fmla="val 8235"/>
            </a:avLst>
          </a:prstGeom>
          <a:solidFill>
            <a:srgbClr val="EBF3F9"/>
          </a:solidFill>
          <a:ln w="12700">
            <a:solidFill>
              <a:srgbClr val="EBF3F9"/>
            </a:solidFill>
            <a:prstDash val="solid"/>
          </a:ln>
        </p:spPr>
        <p:txBody>
          <a:bodyPr/>
          <a:lstStyle/>
          <a:p>
            <a:endParaRPr lang="fr-FR" noProof="0" dirty="0"/>
          </a:p>
        </p:txBody>
      </p:sp>
      <p:sp>
        <p:nvSpPr>
          <p:cNvPr id="14" name="Text 12"/>
          <p:cNvSpPr/>
          <p:nvPr/>
        </p:nvSpPr>
        <p:spPr>
          <a:xfrm>
            <a:off x="640080" y="4041648"/>
            <a:ext cx="1371600" cy="667512"/>
          </a:xfrm>
          <a:prstGeom prst="rect">
            <a:avLst/>
          </a:prstGeom>
          <a:noFill/>
          <a:ln/>
        </p:spPr>
        <p:txBody>
          <a:bodyPr wrap="square" lIns="0" tIns="0" rIns="0" bIns="0" rtlCol="0" anchor="ctr"/>
          <a:lstStyle/>
          <a:p>
            <a:pPr marL="0" indent="0">
              <a:buNone/>
            </a:pPr>
            <a:r>
              <a:rPr lang="fr-FR" sz="950" b="1" noProof="0" dirty="0" err="1">
                <a:solidFill>
                  <a:srgbClr val="176F98"/>
                </a:solidFill>
                <a:latin typeface="Calibri" pitchFamily="34" charset="0"/>
                <a:ea typeface="Calibri" pitchFamily="34" charset="-122"/>
                <a:cs typeface="Calibri" pitchFamily="34" charset="-120"/>
              </a:rPr>
              <a:t>CompoDis</a:t>
            </a:r>
            <a:r>
              <a:rPr lang="fr-FR" sz="950" b="1" noProof="0" dirty="0">
                <a:solidFill>
                  <a:srgbClr val="176F98"/>
                </a:solidFill>
                <a:latin typeface="Calibri" pitchFamily="34" charset="0"/>
                <a:ea typeface="Calibri" pitchFamily="34" charset="-122"/>
                <a:cs typeface="Calibri" pitchFamily="34" charset="-120"/>
              </a:rPr>
              <a:t> Europe</a:t>
            </a:r>
            <a:endParaRPr lang="fr-FR" sz="950" noProof="0" dirty="0"/>
          </a:p>
          <a:p>
            <a:pPr marL="0" indent="0">
              <a:buNone/>
            </a:pPr>
            <a:r>
              <a:rPr lang="fr-FR" sz="950" b="1" noProof="0" dirty="0">
                <a:solidFill>
                  <a:srgbClr val="176F98"/>
                </a:solidFill>
                <a:latin typeface="Calibri" pitchFamily="34" charset="0"/>
                <a:ea typeface="Calibri" pitchFamily="34" charset="-122"/>
                <a:cs typeface="Calibri" pitchFamily="34" charset="-120"/>
              </a:rPr>
              <a:t>C4</a:t>
            </a:r>
            <a:endParaRPr lang="fr-FR" sz="950" noProof="0" dirty="0"/>
          </a:p>
        </p:txBody>
      </p:sp>
      <p:sp>
        <p:nvSpPr>
          <p:cNvPr id="15" name="Text 13"/>
          <p:cNvSpPr/>
          <p:nvPr/>
        </p:nvSpPr>
        <p:spPr>
          <a:xfrm>
            <a:off x="2103120" y="4041648"/>
            <a:ext cx="6400800" cy="667512"/>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Ton : </a:t>
            </a:r>
            <a:r>
              <a:rPr lang="fr-FR" sz="840" noProof="0" dirty="0">
                <a:solidFill>
                  <a:srgbClr val="043962"/>
                </a:solidFill>
                <a:latin typeface="Calibri" pitchFamily="34" charset="0"/>
                <a:ea typeface="Calibri" pitchFamily="34" charset="-122"/>
                <a:cs typeface="Calibri" pitchFamily="34" charset="-120"/>
              </a:rPr>
              <a:t>commercial, rapide, au téléphone. </a:t>
            </a:r>
            <a:r>
              <a:rPr lang="fr-FR" sz="840" b="1" noProof="0" dirty="0">
                <a:solidFill>
                  <a:srgbClr val="043962"/>
                </a:solidFill>
                <a:latin typeface="Calibri" pitchFamily="34" charset="0"/>
                <a:ea typeface="Calibri" pitchFamily="34" charset="-122"/>
                <a:cs typeface="Calibri" pitchFamily="34" charset="-120"/>
              </a:rPr>
              <a:t>Parle en : </a:t>
            </a:r>
            <a:r>
              <a:rPr lang="fr-FR" sz="840" noProof="0" dirty="0">
                <a:solidFill>
                  <a:srgbClr val="043962"/>
                </a:solidFill>
                <a:latin typeface="Calibri" pitchFamily="34" charset="0"/>
                <a:ea typeface="Calibri" pitchFamily="34" charset="-122"/>
                <a:cs typeface="Calibri" pitchFamily="34" charset="-120"/>
              </a:rPr>
              <a:t>allocations, quotas, primes, commandes fermes (NCNR). </a:t>
            </a:r>
            <a:r>
              <a:rPr lang="fr-FR" sz="840" b="1" noProof="0" dirty="0">
                <a:solidFill>
                  <a:srgbClr val="043962"/>
                </a:solidFill>
                <a:latin typeface="Calibri" pitchFamily="34" charset="0"/>
                <a:ea typeface="Calibri" pitchFamily="34" charset="-122"/>
                <a:cs typeface="Calibri" pitchFamily="34" charset="-120"/>
              </a:rPr>
              <a:t>Peur : </a:t>
            </a:r>
            <a:r>
              <a:rPr lang="fr-FR" sz="840" noProof="0" dirty="0">
                <a:solidFill>
                  <a:srgbClr val="043962"/>
                </a:solidFill>
                <a:latin typeface="Calibri" pitchFamily="34" charset="0"/>
                <a:ea typeface="Calibri" pitchFamily="34" charset="-122"/>
                <a:cs typeface="Calibri" pitchFamily="34" charset="-120"/>
              </a:rPr>
              <a:t>perdre un client historique faute d'allocation. </a:t>
            </a:r>
            <a:r>
              <a:rPr lang="fr-FR" sz="840" b="1" noProof="0" dirty="0">
                <a:solidFill>
                  <a:srgbClr val="043962"/>
                </a:solidFill>
                <a:latin typeface="Calibri" pitchFamily="34" charset="0"/>
                <a:ea typeface="Calibri" pitchFamily="34" charset="-122"/>
                <a:cs typeface="Calibri" pitchFamily="34" charset="-120"/>
              </a:rPr>
              <a:t>Réflexe : </a:t>
            </a:r>
            <a:r>
              <a:rPr lang="fr-FR" sz="840" noProof="0" dirty="0">
                <a:solidFill>
                  <a:srgbClr val="043962"/>
                </a:solidFill>
                <a:latin typeface="Calibri" pitchFamily="34" charset="0"/>
                <a:ea typeface="Calibri" pitchFamily="34" charset="-122"/>
                <a:cs typeface="Calibri" pitchFamily="34" charset="-120"/>
              </a:rPr>
              <a:t>sur-commander en amont pour sécuriser ses quotas. </a:t>
            </a:r>
            <a:r>
              <a:rPr lang="fr-FR" sz="840" b="1" noProof="0" dirty="0">
                <a:solidFill>
                  <a:srgbClr val="043962"/>
                </a:solidFill>
                <a:latin typeface="Calibri" pitchFamily="34" charset="0"/>
                <a:ea typeface="Calibri" pitchFamily="34" charset="-122"/>
                <a:cs typeface="Calibri" pitchFamily="34" charset="-120"/>
              </a:rPr>
              <a:t>Angle : </a:t>
            </a:r>
            <a:r>
              <a:rPr lang="fr-FR" sz="840" noProof="0" dirty="0">
                <a:solidFill>
                  <a:srgbClr val="043962"/>
                </a:solidFill>
                <a:latin typeface="Calibri" pitchFamily="34" charset="0"/>
                <a:ea typeface="Calibri" pitchFamily="34" charset="-122"/>
                <a:cs typeface="Calibri" pitchFamily="34" charset="-120"/>
              </a:rPr>
              <a:t>difficulté à distinguer la vraie demande des </a:t>
            </a:r>
            <a:r>
              <a:rPr lang="fr-FR" sz="840" noProof="0" dirty="0" err="1">
                <a:solidFill>
                  <a:srgbClr val="043962"/>
                </a:solidFill>
                <a:latin typeface="Calibri" pitchFamily="34" charset="0"/>
                <a:ea typeface="Calibri" pitchFamily="34" charset="-122"/>
                <a:cs typeface="Calibri" pitchFamily="34" charset="-120"/>
              </a:rPr>
              <a:t>double-commandes</a:t>
            </a:r>
            <a:r>
              <a:rPr lang="fr-FR" sz="840" noProof="0" dirty="0">
                <a:solidFill>
                  <a:srgbClr val="043962"/>
                </a:solidFill>
                <a:latin typeface="Calibri" pitchFamily="34" charset="0"/>
                <a:ea typeface="Calibri" pitchFamily="34" charset="-122"/>
                <a:cs typeface="Calibri" pitchFamily="34" charset="-120"/>
              </a:rPr>
              <a:t>.</a:t>
            </a:r>
            <a:endParaRPr lang="fr-FR" sz="840" noProof="0" dirty="0"/>
          </a:p>
        </p:txBody>
      </p:sp>
      <p:sp>
        <p:nvSpPr>
          <p:cNvPr id="16" name="Text 14"/>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- 19/50</a:t>
            </a:r>
            <a:endParaRPr lang="fr-FR" sz="80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LES PERSONAS (2 SUR 2)</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Comment chaque entreprise parle (suite)</a:t>
            </a:r>
            <a:endParaRPr lang="fr-FR" sz="2500" noProof="0" dirty="0"/>
          </a:p>
        </p:txBody>
      </p:sp>
      <p:sp>
        <p:nvSpPr>
          <p:cNvPr id="4" name="Shape 2"/>
          <p:cNvSpPr/>
          <p:nvPr/>
        </p:nvSpPr>
        <p:spPr>
          <a:xfrm>
            <a:off x="502920" y="1325880"/>
            <a:ext cx="8138160" cy="777240"/>
          </a:xfrm>
          <a:prstGeom prst="roundRect">
            <a:avLst>
              <a:gd name="adj" fmla="val 8235"/>
            </a:avLst>
          </a:prstGeom>
          <a:solidFill>
            <a:srgbClr val="FFFFFF"/>
          </a:solidFill>
          <a:ln w="12700">
            <a:solidFill>
              <a:srgbClr val="FFFFFF"/>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40080" y="1380744"/>
            <a:ext cx="1371600" cy="667512"/>
          </a:xfrm>
          <a:prstGeom prst="rect">
            <a:avLst/>
          </a:prstGeom>
          <a:noFill/>
          <a:ln/>
        </p:spPr>
        <p:txBody>
          <a:bodyPr wrap="square" lIns="0" tIns="0" rIns="0" bIns="0" rtlCol="0" anchor="ctr"/>
          <a:lstStyle/>
          <a:p>
            <a:pPr marL="0" indent="0">
              <a:buNone/>
            </a:pPr>
            <a:r>
              <a:rPr lang="fr-FR" sz="950" b="1" noProof="0" dirty="0" err="1">
                <a:solidFill>
                  <a:srgbClr val="176F98"/>
                </a:solidFill>
                <a:latin typeface="Calibri" pitchFamily="34" charset="0"/>
                <a:ea typeface="Calibri" pitchFamily="34" charset="-122"/>
                <a:cs typeface="Calibri" pitchFamily="34" charset="-120"/>
              </a:rPr>
              <a:t>TransGlobal</a:t>
            </a:r>
            <a:r>
              <a:rPr lang="fr-FR" sz="950" b="1" noProof="0" dirty="0">
                <a:solidFill>
                  <a:srgbClr val="176F98"/>
                </a:solidFill>
                <a:latin typeface="Calibri" pitchFamily="34" charset="0"/>
                <a:ea typeface="Calibri" pitchFamily="34" charset="-122"/>
                <a:cs typeface="Calibri" pitchFamily="34" charset="-120"/>
              </a:rPr>
              <a:t> Fret</a:t>
            </a:r>
            <a:endParaRPr lang="fr-FR" sz="950" noProof="0" dirty="0"/>
          </a:p>
          <a:p>
            <a:pPr marL="0" indent="0">
              <a:buNone/>
            </a:pPr>
            <a:r>
              <a:rPr lang="fr-FR" sz="950" b="1" noProof="0" dirty="0">
                <a:solidFill>
                  <a:srgbClr val="176F98"/>
                </a:solidFill>
                <a:latin typeface="Calibri" pitchFamily="34" charset="0"/>
                <a:ea typeface="Calibri" pitchFamily="34" charset="-122"/>
                <a:cs typeface="Calibri" pitchFamily="34" charset="-120"/>
              </a:rPr>
              <a:t>C5</a:t>
            </a:r>
            <a:endParaRPr lang="fr-FR" sz="950" noProof="0" dirty="0"/>
          </a:p>
        </p:txBody>
      </p:sp>
      <p:sp>
        <p:nvSpPr>
          <p:cNvPr id="6" name="Text 4"/>
          <p:cNvSpPr/>
          <p:nvPr/>
        </p:nvSpPr>
        <p:spPr>
          <a:xfrm>
            <a:off x="2103120" y="1380744"/>
            <a:ext cx="6400800" cy="667512"/>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Ton : </a:t>
            </a:r>
            <a:r>
              <a:rPr lang="fr-FR" sz="840" noProof="0" dirty="0">
                <a:solidFill>
                  <a:srgbClr val="043962"/>
                </a:solidFill>
                <a:latin typeface="Calibri" pitchFamily="34" charset="0"/>
                <a:ea typeface="Calibri" pitchFamily="34" charset="-122"/>
                <a:cs typeface="Calibri" pitchFamily="34" charset="-120"/>
              </a:rPr>
              <a:t>opérationnel, factuel, un rien fataliste. </a:t>
            </a:r>
            <a:r>
              <a:rPr lang="fr-FR" sz="840" b="1" noProof="0" dirty="0">
                <a:solidFill>
                  <a:srgbClr val="043962"/>
                </a:solidFill>
                <a:latin typeface="Calibri" pitchFamily="34" charset="0"/>
                <a:ea typeface="Calibri" pitchFamily="34" charset="-122"/>
                <a:cs typeface="Calibri" pitchFamily="34" charset="-120"/>
              </a:rPr>
              <a:t>Parle en : </a:t>
            </a:r>
            <a:r>
              <a:rPr lang="fr-FR" sz="840" noProof="0" dirty="0">
                <a:solidFill>
                  <a:srgbClr val="043962"/>
                </a:solidFill>
                <a:latin typeface="Calibri" pitchFamily="34" charset="0"/>
                <a:ea typeface="Calibri" pitchFamily="34" charset="-122"/>
                <a:cs typeface="Calibri" pitchFamily="34" charset="-120"/>
              </a:rPr>
              <a:t>ETA, rotations, taux, force majeure. </a:t>
            </a:r>
            <a:r>
              <a:rPr lang="fr-FR" sz="840" b="1" noProof="0" dirty="0">
                <a:solidFill>
                  <a:srgbClr val="043962"/>
                </a:solidFill>
                <a:latin typeface="Calibri" pitchFamily="34" charset="0"/>
                <a:ea typeface="Calibri" pitchFamily="34" charset="-122"/>
                <a:cs typeface="Calibri" pitchFamily="34" charset="-120"/>
              </a:rPr>
              <a:t>Peur : </a:t>
            </a:r>
            <a:r>
              <a:rPr lang="fr-FR" sz="840" noProof="0" dirty="0">
                <a:solidFill>
                  <a:srgbClr val="043962"/>
                </a:solidFill>
                <a:latin typeface="Calibri" pitchFamily="34" charset="0"/>
                <a:ea typeface="Calibri" pitchFamily="34" charset="-122"/>
                <a:cs typeface="Calibri" pitchFamily="34" charset="-120"/>
              </a:rPr>
              <a:t>promettre un délai qu'il ne contrôle pas. </a:t>
            </a:r>
            <a:r>
              <a:rPr lang="fr-FR" sz="840" b="1" noProof="0" dirty="0">
                <a:solidFill>
                  <a:srgbClr val="043962"/>
                </a:solidFill>
                <a:latin typeface="Calibri" pitchFamily="34" charset="0"/>
                <a:ea typeface="Calibri" pitchFamily="34" charset="-122"/>
                <a:cs typeface="Calibri" pitchFamily="34" charset="-120"/>
              </a:rPr>
              <a:t>Réflexe : </a:t>
            </a:r>
            <a:r>
              <a:rPr lang="fr-FR" sz="840" noProof="0" dirty="0">
                <a:solidFill>
                  <a:srgbClr val="043962"/>
                </a:solidFill>
                <a:latin typeface="Calibri" pitchFamily="34" charset="0"/>
                <a:ea typeface="Calibri" pitchFamily="34" charset="-122"/>
                <a:cs typeface="Calibri" pitchFamily="34" charset="-120"/>
              </a:rPr>
              <a:t>rerouter (aérien vs maritime), payer le surcoût plutôt que le retard. </a:t>
            </a:r>
            <a:r>
              <a:rPr lang="fr-FR" sz="840" b="1" noProof="0" dirty="0">
                <a:solidFill>
                  <a:srgbClr val="043962"/>
                </a:solidFill>
                <a:latin typeface="Calibri" pitchFamily="34" charset="0"/>
                <a:ea typeface="Calibri" pitchFamily="34" charset="-122"/>
                <a:cs typeface="Calibri" pitchFamily="34" charset="-120"/>
              </a:rPr>
              <a:t>Angle : </a:t>
            </a:r>
            <a:r>
              <a:rPr lang="fr-FR" sz="840" noProof="0" dirty="0">
                <a:solidFill>
                  <a:srgbClr val="043962"/>
                </a:solidFill>
                <a:latin typeface="Calibri" pitchFamily="34" charset="0"/>
                <a:ea typeface="Calibri" pitchFamily="34" charset="-122"/>
                <a:cs typeface="Calibri" pitchFamily="34" charset="-120"/>
              </a:rPr>
              <a:t>habitué aux crises courtes ; les crises longues sortent de son cadre.</a:t>
            </a:r>
            <a:endParaRPr lang="fr-FR" sz="840" noProof="0" dirty="0"/>
          </a:p>
        </p:txBody>
      </p:sp>
      <p:sp>
        <p:nvSpPr>
          <p:cNvPr id="7" name="Shape 5"/>
          <p:cNvSpPr/>
          <p:nvPr/>
        </p:nvSpPr>
        <p:spPr>
          <a:xfrm>
            <a:off x="502920" y="2212848"/>
            <a:ext cx="8138160" cy="777240"/>
          </a:xfrm>
          <a:prstGeom prst="roundRect">
            <a:avLst>
              <a:gd name="adj" fmla="val 8235"/>
            </a:avLst>
          </a:prstGeom>
          <a:solidFill>
            <a:srgbClr val="EBF3F9"/>
          </a:solidFill>
          <a:ln w="12700">
            <a:solidFill>
              <a:srgbClr val="EBF3F9"/>
            </a:solidFill>
            <a:prstDash val="solid"/>
          </a:ln>
        </p:spPr>
        <p:txBody>
          <a:bodyPr/>
          <a:lstStyle/>
          <a:p>
            <a:endParaRPr lang="fr-FR" noProof="0" dirty="0"/>
          </a:p>
        </p:txBody>
      </p:sp>
      <p:sp>
        <p:nvSpPr>
          <p:cNvPr id="8" name="Text 6"/>
          <p:cNvSpPr/>
          <p:nvPr/>
        </p:nvSpPr>
        <p:spPr>
          <a:xfrm>
            <a:off x="640080" y="2267712"/>
            <a:ext cx="1371600" cy="667512"/>
          </a:xfrm>
          <a:prstGeom prst="rect">
            <a:avLst/>
          </a:prstGeom>
          <a:noFill/>
          <a:ln/>
        </p:spPr>
        <p:txBody>
          <a:bodyPr wrap="square" lIns="0" tIns="0" rIns="0" bIns="0" rtlCol="0" anchor="ctr"/>
          <a:lstStyle/>
          <a:p>
            <a:pPr marL="0" indent="0">
              <a:buNone/>
            </a:pPr>
            <a:r>
              <a:rPr lang="fr-FR" sz="950" b="1" noProof="0" dirty="0">
                <a:solidFill>
                  <a:srgbClr val="176F98"/>
                </a:solidFill>
                <a:latin typeface="Calibri" pitchFamily="34" charset="0"/>
                <a:ea typeface="Calibri" pitchFamily="34" charset="-122"/>
                <a:cs typeface="Calibri" pitchFamily="34" charset="-120"/>
              </a:rPr>
              <a:t>NovaFab </a:t>
            </a:r>
            <a:r>
              <a:rPr lang="fr-FR" sz="950" b="1" noProof="0" dirty="0" err="1">
                <a:solidFill>
                  <a:srgbClr val="176F98"/>
                </a:solidFill>
                <a:latin typeface="Calibri" pitchFamily="34" charset="0"/>
                <a:ea typeface="Calibri" pitchFamily="34" charset="-122"/>
                <a:cs typeface="Calibri" pitchFamily="34" charset="-120"/>
              </a:rPr>
              <a:t>Semiconductors</a:t>
            </a:r>
            <a:endParaRPr lang="fr-FR" sz="950" noProof="0" dirty="0"/>
          </a:p>
          <a:p>
            <a:pPr marL="0" indent="0">
              <a:buNone/>
            </a:pPr>
            <a:r>
              <a:rPr lang="fr-FR" sz="950" b="1" noProof="0" dirty="0">
                <a:solidFill>
                  <a:srgbClr val="176F98"/>
                </a:solidFill>
                <a:latin typeface="Calibri" pitchFamily="34" charset="0"/>
                <a:ea typeface="Calibri" pitchFamily="34" charset="-122"/>
                <a:cs typeface="Calibri" pitchFamily="34" charset="-120"/>
              </a:rPr>
              <a:t>C6</a:t>
            </a:r>
            <a:endParaRPr lang="fr-FR" sz="950" noProof="0" dirty="0"/>
          </a:p>
        </p:txBody>
      </p:sp>
      <p:sp>
        <p:nvSpPr>
          <p:cNvPr id="9" name="Text 7"/>
          <p:cNvSpPr/>
          <p:nvPr/>
        </p:nvSpPr>
        <p:spPr>
          <a:xfrm>
            <a:off x="2103120" y="2267712"/>
            <a:ext cx="6400800" cy="667512"/>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Ton : </a:t>
            </a:r>
            <a:r>
              <a:rPr lang="fr-FR" sz="840" noProof="0" dirty="0" err="1">
                <a:solidFill>
                  <a:srgbClr val="043962"/>
                </a:solidFill>
                <a:latin typeface="Calibri" pitchFamily="34" charset="0"/>
                <a:ea typeface="Calibri" pitchFamily="34" charset="-122"/>
                <a:cs typeface="Calibri" pitchFamily="34" charset="-120"/>
              </a:rPr>
              <a:t>corporate</a:t>
            </a:r>
            <a:r>
              <a:rPr lang="fr-FR" sz="840" noProof="0" dirty="0">
                <a:solidFill>
                  <a:srgbClr val="043962"/>
                </a:solidFill>
                <a:latin typeface="Calibri" pitchFamily="34" charset="0"/>
                <a:ea typeface="Calibri" pitchFamily="34" charset="-122"/>
                <a:cs typeface="Calibri" pitchFamily="34" charset="-120"/>
              </a:rPr>
              <a:t>, posé, sûr de soi. </a:t>
            </a:r>
            <a:r>
              <a:rPr lang="fr-FR" sz="840" b="1" noProof="0" dirty="0">
                <a:solidFill>
                  <a:srgbClr val="043962"/>
                </a:solidFill>
                <a:latin typeface="Calibri" pitchFamily="34" charset="0"/>
                <a:ea typeface="Calibri" pitchFamily="34" charset="-122"/>
                <a:cs typeface="Calibri" pitchFamily="34" charset="-120"/>
              </a:rPr>
              <a:t>Parle en : </a:t>
            </a:r>
            <a:r>
              <a:rPr lang="fr-FR" sz="840" noProof="0" dirty="0">
                <a:solidFill>
                  <a:srgbClr val="043962"/>
                </a:solidFill>
                <a:latin typeface="Calibri" pitchFamily="34" charset="0"/>
                <a:ea typeface="Calibri" pitchFamily="34" charset="-122"/>
                <a:cs typeface="Calibri" pitchFamily="34" charset="-120"/>
              </a:rPr>
              <a:t>capacité, wafers/mois, mix produit, allocation. </a:t>
            </a:r>
            <a:r>
              <a:rPr lang="fr-FR" sz="840" b="1" noProof="0" dirty="0">
                <a:solidFill>
                  <a:srgbClr val="043962"/>
                </a:solidFill>
                <a:latin typeface="Calibri" pitchFamily="34" charset="0"/>
                <a:ea typeface="Calibri" pitchFamily="34" charset="-122"/>
                <a:cs typeface="Calibri" pitchFamily="34" charset="-120"/>
              </a:rPr>
              <a:t>Peur : </a:t>
            </a:r>
            <a:r>
              <a:rPr lang="fr-FR" sz="840" noProof="0" dirty="0" err="1">
                <a:solidFill>
                  <a:srgbClr val="043962"/>
                </a:solidFill>
                <a:latin typeface="Calibri" pitchFamily="34" charset="0"/>
                <a:ea typeface="Calibri" pitchFamily="34" charset="-122"/>
                <a:cs typeface="Calibri" pitchFamily="34" charset="-120"/>
              </a:rPr>
              <a:t>sur-investir</a:t>
            </a:r>
            <a:r>
              <a:rPr lang="fr-FR" sz="840" noProof="0" dirty="0">
                <a:solidFill>
                  <a:srgbClr val="043962"/>
                </a:solidFill>
                <a:latin typeface="Calibri" pitchFamily="34" charset="0"/>
                <a:ea typeface="Calibri" pitchFamily="34" charset="-122"/>
                <a:cs typeface="Calibri" pitchFamily="34" charset="-120"/>
              </a:rPr>
              <a:t> dans une capacité qui se retournera (cycle du silicium). </a:t>
            </a:r>
            <a:r>
              <a:rPr lang="fr-FR" sz="840" b="1" noProof="0" dirty="0">
                <a:solidFill>
                  <a:srgbClr val="043962"/>
                </a:solidFill>
                <a:latin typeface="Calibri" pitchFamily="34" charset="0"/>
                <a:ea typeface="Calibri" pitchFamily="34" charset="-122"/>
                <a:cs typeface="Calibri" pitchFamily="34" charset="-120"/>
              </a:rPr>
              <a:t>Réflexe : </a:t>
            </a:r>
            <a:r>
              <a:rPr lang="fr-FR" sz="840" noProof="0" dirty="0">
                <a:solidFill>
                  <a:srgbClr val="043962"/>
                </a:solidFill>
                <a:latin typeface="Calibri" pitchFamily="34" charset="0"/>
                <a:ea typeface="Calibri" pitchFamily="34" charset="-122"/>
                <a:cs typeface="Calibri" pitchFamily="34" charset="-120"/>
              </a:rPr>
              <a:t>prioriser les marges, lisser la communication externe. </a:t>
            </a:r>
            <a:r>
              <a:rPr lang="fr-FR" sz="840" b="1" noProof="0" dirty="0">
                <a:solidFill>
                  <a:srgbClr val="043962"/>
                </a:solidFill>
                <a:latin typeface="Calibri" pitchFamily="34" charset="0"/>
                <a:ea typeface="Calibri" pitchFamily="34" charset="-122"/>
                <a:cs typeface="Calibri" pitchFamily="34" charset="-120"/>
              </a:rPr>
              <a:t>Angle : </a:t>
            </a:r>
            <a:r>
              <a:rPr lang="fr-FR" sz="840" noProof="0" dirty="0">
                <a:solidFill>
                  <a:srgbClr val="043962"/>
                </a:solidFill>
                <a:latin typeface="Calibri" pitchFamily="34" charset="0"/>
                <a:ea typeface="Calibri" pitchFamily="34" charset="-122"/>
                <a:cs typeface="Calibri" pitchFamily="34" charset="-120"/>
              </a:rPr>
              <a:t>asymétrie d'information : sait l'état réel du carnet, communique prudemment.</a:t>
            </a:r>
            <a:endParaRPr lang="fr-FR" sz="840" noProof="0" dirty="0"/>
          </a:p>
        </p:txBody>
      </p:sp>
      <p:sp>
        <p:nvSpPr>
          <p:cNvPr id="10" name="Shape 8"/>
          <p:cNvSpPr/>
          <p:nvPr/>
        </p:nvSpPr>
        <p:spPr>
          <a:xfrm>
            <a:off x="502920" y="3099816"/>
            <a:ext cx="8138160" cy="777240"/>
          </a:xfrm>
          <a:prstGeom prst="roundRect">
            <a:avLst>
              <a:gd name="adj" fmla="val 8235"/>
            </a:avLst>
          </a:prstGeom>
          <a:solidFill>
            <a:srgbClr val="FFFFFF"/>
          </a:solidFill>
          <a:ln w="12700">
            <a:solidFill>
              <a:srgbClr val="FFFFFF"/>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11" name="Text 9"/>
          <p:cNvSpPr/>
          <p:nvPr/>
        </p:nvSpPr>
        <p:spPr>
          <a:xfrm>
            <a:off x="640080" y="3154680"/>
            <a:ext cx="1371600" cy="667512"/>
          </a:xfrm>
          <a:prstGeom prst="rect">
            <a:avLst/>
          </a:prstGeom>
          <a:noFill/>
          <a:ln/>
        </p:spPr>
        <p:txBody>
          <a:bodyPr wrap="square" lIns="0" tIns="0" rIns="0" bIns="0" rtlCol="0" anchor="ctr"/>
          <a:lstStyle/>
          <a:p>
            <a:pPr marL="0" indent="0">
              <a:buNone/>
            </a:pPr>
            <a:r>
              <a:rPr lang="fr-FR" sz="950" b="1" noProof="0" dirty="0">
                <a:solidFill>
                  <a:srgbClr val="176F98"/>
                </a:solidFill>
                <a:latin typeface="Calibri" pitchFamily="34" charset="0"/>
                <a:ea typeface="Calibri" pitchFamily="34" charset="-122"/>
                <a:cs typeface="Calibri" pitchFamily="34" charset="-120"/>
              </a:rPr>
              <a:t>Meridian Semi</a:t>
            </a:r>
            <a:endParaRPr lang="fr-FR" sz="950" noProof="0" dirty="0"/>
          </a:p>
          <a:p>
            <a:pPr marL="0" indent="0">
              <a:buNone/>
            </a:pPr>
            <a:r>
              <a:rPr lang="fr-FR" sz="950" b="1" noProof="0" dirty="0">
                <a:solidFill>
                  <a:srgbClr val="176F98"/>
                </a:solidFill>
                <a:latin typeface="Calibri" pitchFamily="34" charset="0"/>
                <a:ea typeface="Calibri" pitchFamily="34" charset="-122"/>
                <a:cs typeface="Calibri" pitchFamily="34" charset="-120"/>
              </a:rPr>
              <a:t>C7</a:t>
            </a:r>
            <a:endParaRPr lang="fr-FR" sz="950" noProof="0" dirty="0"/>
          </a:p>
        </p:txBody>
      </p:sp>
      <p:sp>
        <p:nvSpPr>
          <p:cNvPr id="12" name="Text 10"/>
          <p:cNvSpPr/>
          <p:nvPr/>
        </p:nvSpPr>
        <p:spPr>
          <a:xfrm>
            <a:off x="2103120" y="3154680"/>
            <a:ext cx="6400800" cy="667512"/>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Ton : </a:t>
            </a:r>
            <a:r>
              <a:rPr lang="fr-FR" sz="840" noProof="0" dirty="0">
                <a:solidFill>
                  <a:srgbClr val="043962"/>
                </a:solidFill>
                <a:latin typeface="Calibri" pitchFamily="34" charset="0"/>
                <a:ea typeface="Calibri" pitchFamily="34" charset="-122"/>
                <a:cs typeface="Calibri" pitchFamily="34" charset="-120"/>
              </a:rPr>
              <a:t>modeste, réaliste. </a:t>
            </a:r>
            <a:r>
              <a:rPr lang="fr-FR" sz="840" b="1" noProof="0" dirty="0">
                <a:solidFill>
                  <a:srgbClr val="043962"/>
                </a:solidFill>
                <a:latin typeface="Calibri" pitchFamily="34" charset="0"/>
                <a:ea typeface="Calibri" pitchFamily="34" charset="-122"/>
                <a:cs typeface="Calibri" pitchFamily="34" charset="-120"/>
              </a:rPr>
              <a:t>Parle en : </a:t>
            </a:r>
            <a:r>
              <a:rPr lang="fr-FR" sz="840" noProof="0" dirty="0">
                <a:solidFill>
                  <a:srgbClr val="043962"/>
                </a:solidFill>
                <a:latin typeface="Calibri" pitchFamily="34" charset="0"/>
                <a:ea typeface="Calibri" pitchFamily="34" charset="-122"/>
                <a:cs typeface="Calibri" pitchFamily="34" charset="-120"/>
              </a:rPr>
              <a:t>nœuds matures, créneaux, files d'attente. </a:t>
            </a:r>
            <a:r>
              <a:rPr lang="fr-FR" sz="840" b="1" noProof="0" dirty="0">
                <a:solidFill>
                  <a:srgbClr val="043962"/>
                </a:solidFill>
                <a:latin typeface="Calibri" pitchFamily="34" charset="0"/>
                <a:ea typeface="Calibri" pitchFamily="34" charset="-122"/>
                <a:cs typeface="Calibri" pitchFamily="34" charset="-120"/>
              </a:rPr>
              <a:t>Peur : </a:t>
            </a:r>
            <a:r>
              <a:rPr lang="fr-FR" sz="840" noProof="0" dirty="0">
                <a:solidFill>
                  <a:srgbClr val="043962"/>
                </a:solidFill>
                <a:latin typeface="Calibri" pitchFamily="34" charset="0"/>
                <a:ea typeface="Calibri" pitchFamily="34" charset="-122"/>
                <a:cs typeface="Calibri" pitchFamily="34" charset="-120"/>
              </a:rPr>
              <a:t>accepter plus que ce qu'il peut livrer. </a:t>
            </a:r>
            <a:r>
              <a:rPr lang="fr-FR" sz="840" b="1" noProof="0" dirty="0">
                <a:solidFill>
                  <a:srgbClr val="043962"/>
                </a:solidFill>
                <a:latin typeface="Calibri" pitchFamily="34" charset="0"/>
                <a:ea typeface="Calibri" pitchFamily="34" charset="-122"/>
                <a:cs typeface="Calibri" pitchFamily="34" charset="-120"/>
              </a:rPr>
              <a:t>Réflexe : </a:t>
            </a:r>
            <a:r>
              <a:rPr lang="fr-FR" sz="840" noProof="0" dirty="0">
                <a:solidFill>
                  <a:srgbClr val="043962"/>
                </a:solidFill>
                <a:latin typeface="Calibri" pitchFamily="34" charset="0"/>
                <a:ea typeface="Calibri" pitchFamily="34" charset="-122"/>
                <a:cs typeface="Calibri" pitchFamily="34" charset="-120"/>
              </a:rPr>
              <a:t>refuser poliment, allonger les délais annoncés. </a:t>
            </a:r>
            <a:r>
              <a:rPr lang="fr-FR" sz="840" b="1" noProof="0" dirty="0">
                <a:solidFill>
                  <a:srgbClr val="043962"/>
                </a:solidFill>
                <a:latin typeface="Calibri" pitchFamily="34" charset="0"/>
                <a:ea typeface="Calibri" pitchFamily="34" charset="-122"/>
                <a:cs typeface="Calibri" pitchFamily="34" charset="-120"/>
              </a:rPr>
              <a:t>Angle : </a:t>
            </a:r>
            <a:r>
              <a:rPr lang="fr-FR" sz="840" noProof="0" dirty="0">
                <a:solidFill>
                  <a:srgbClr val="043962"/>
                </a:solidFill>
                <a:latin typeface="Calibri" pitchFamily="34" charset="0"/>
                <a:ea typeface="Calibri" pitchFamily="34" charset="-122"/>
                <a:cs typeface="Calibri" pitchFamily="34" charset="-120"/>
              </a:rPr>
              <a:t>sollicité de toutes parts ; tentation de sur-promettre.</a:t>
            </a:r>
            <a:endParaRPr lang="fr-FR" sz="840" noProof="0" dirty="0"/>
          </a:p>
        </p:txBody>
      </p:sp>
      <p:sp>
        <p:nvSpPr>
          <p:cNvPr id="13" name="Shape 11"/>
          <p:cNvSpPr/>
          <p:nvPr/>
        </p:nvSpPr>
        <p:spPr>
          <a:xfrm>
            <a:off x="502920" y="3986784"/>
            <a:ext cx="8138160" cy="777240"/>
          </a:xfrm>
          <a:prstGeom prst="roundRect">
            <a:avLst>
              <a:gd name="adj" fmla="val 8235"/>
            </a:avLst>
          </a:prstGeom>
          <a:solidFill>
            <a:srgbClr val="EBF3F9"/>
          </a:solidFill>
          <a:ln w="12700">
            <a:solidFill>
              <a:srgbClr val="EBF3F9"/>
            </a:solidFill>
            <a:prstDash val="solid"/>
          </a:ln>
        </p:spPr>
        <p:txBody>
          <a:bodyPr/>
          <a:lstStyle/>
          <a:p>
            <a:endParaRPr lang="fr-FR" noProof="0" dirty="0"/>
          </a:p>
        </p:txBody>
      </p:sp>
      <p:sp>
        <p:nvSpPr>
          <p:cNvPr id="14" name="Text 12"/>
          <p:cNvSpPr/>
          <p:nvPr/>
        </p:nvSpPr>
        <p:spPr>
          <a:xfrm>
            <a:off x="640080" y="4041648"/>
            <a:ext cx="1371600" cy="667512"/>
          </a:xfrm>
          <a:prstGeom prst="rect">
            <a:avLst/>
          </a:prstGeom>
          <a:noFill/>
          <a:ln/>
        </p:spPr>
        <p:txBody>
          <a:bodyPr wrap="square" lIns="0" tIns="0" rIns="0" bIns="0" rtlCol="0" anchor="ctr"/>
          <a:lstStyle/>
          <a:p>
            <a:pPr marL="0" indent="0">
              <a:buNone/>
            </a:pPr>
            <a:r>
              <a:rPr lang="fr-FR" sz="950" b="1" noProof="0" dirty="0" err="1">
                <a:solidFill>
                  <a:srgbClr val="176F98"/>
                </a:solidFill>
                <a:latin typeface="Calibri" pitchFamily="34" charset="0"/>
                <a:ea typeface="Calibri" pitchFamily="34" charset="-122"/>
                <a:cs typeface="Calibri" pitchFamily="34" charset="-120"/>
              </a:rPr>
              <a:t>SilPure</a:t>
            </a:r>
            <a:r>
              <a:rPr lang="fr-FR" sz="950" b="1" noProof="0" dirty="0">
                <a:solidFill>
                  <a:srgbClr val="176F98"/>
                </a:solidFill>
                <a:latin typeface="Calibri" pitchFamily="34" charset="0"/>
                <a:ea typeface="Calibri" pitchFamily="34" charset="-122"/>
                <a:cs typeface="Calibri" pitchFamily="34" charset="-120"/>
              </a:rPr>
              <a:t> Materials</a:t>
            </a:r>
            <a:endParaRPr lang="fr-FR" sz="950" noProof="0" dirty="0"/>
          </a:p>
          <a:p>
            <a:pPr marL="0" indent="0">
              <a:buNone/>
            </a:pPr>
            <a:r>
              <a:rPr lang="fr-FR" sz="950" b="1" noProof="0" dirty="0">
                <a:solidFill>
                  <a:srgbClr val="176F98"/>
                </a:solidFill>
                <a:latin typeface="Calibri" pitchFamily="34" charset="0"/>
                <a:ea typeface="Calibri" pitchFamily="34" charset="-122"/>
                <a:cs typeface="Calibri" pitchFamily="34" charset="-120"/>
              </a:rPr>
              <a:t>C8</a:t>
            </a:r>
            <a:endParaRPr lang="fr-FR" sz="950" noProof="0" dirty="0"/>
          </a:p>
        </p:txBody>
      </p:sp>
      <p:sp>
        <p:nvSpPr>
          <p:cNvPr id="15" name="Text 13"/>
          <p:cNvSpPr/>
          <p:nvPr/>
        </p:nvSpPr>
        <p:spPr>
          <a:xfrm>
            <a:off x="2103120" y="4041648"/>
            <a:ext cx="6400800" cy="667512"/>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Ton : </a:t>
            </a:r>
            <a:r>
              <a:rPr lang="fr-FR" sz="840" noProof="0" dirty="0">
                <a:solidFill>
                  <a:srgbClr val="043962"/>
                </a:solidFill>
                <a:latin typeface="Calibri" pitchFamily="34" charset="0"/>
                <a:ea typeface="Calibri" pitchFamily="34" charset="-122"/>
                <a:cs typeface="Calibri" pitchFamily="34" charset="-120"/>
              </a:rPr>
              <a:t>long-termiste, sobre. </a:t>
            </a:r>
            <a:r>
              <a:rPr lang="fr-FR" sz="840" b="1" noProof="0" dirty="0">
                <a:solidFill>
                  <a:srgbClr val="043962"/>
                </a:solidFill>
                <a:latin typeface="Calibri" pitchFamily="34" charset="0"/>
                <a:ea typeface="Calibri" pitchFamily="34" charset="-122"/>
                <a:cs typeface="Calibri" pitchFamily="34" charset="-120"/>
              </a:rPr>
              <a:t>Parle en : </a:t>
            </a:r>
            <a:r>
              <a:rPr lang="fr-FR" sz="840" noProof="0" dirty="0">
                <a:solidFill>
                  <a:srgbClr val="043962"/>
                </a:solidFill>
                <a:latin typeface="Calibri" pitchFamily="34" charset="0"/>
                <a:ea typeface="Calibri" pitchFamily="34" charset="-122"/>
                <a:cs typeface="Calibri" pitchFamily="34" charset="-120"/>
              </a:rPr>
              <a:t>contrats pluriannuels, pureté, lingots. </a:t>
            </a:r>
            <a:r>
              <a:rPr lang="fr-FR" sz="840" b="1" noProof="0" dirty="0">
                <a:solidFill>
                  <a:srgbClr val="043962"/>
                </a:solidFill>
                <a:latin typeface="Calibri" pitchFamily="34" charset="0"/>
                <a:ea typeface="Calibri" pitchFamily="34" charset="-122"/>
                <a:cs typeface="Calibri" pitchFamily="34" charset="-120"/>
              </a:rPr>
              <a:t>Peur : </a:t>
            </a:r>
            <a:r>
              <a:rPr lang="fr-FR" sz="840" noProof="0" dirty="0">
                <a:solidFill>
                  <a:srgbClr val="043962"/>
                </a:solidFill>
                <a:latin typeface="Calibri" pitchFamily="34" charset="0"/>
                <a:ea typeface="Calibri" pitchFamily="34" charset="-122"/>
                <a:cs typeface="Calibri" pitchFamily="34" charset="-120"/>
              </a:rPr>
              <a:t>casser une relation de 20 ans pour un gain ponctuel. </a:t>
            </a:r>
            <a:r>
              <a:rPr lang="fr-FR" sz="840" b="1" noProof="0" dirty="0">
                <a:solidFill>
                  <a:srgbClr val="043962"/>
                </a:solidFill>
                <a:latin typeface="Calibri" pitchFamily="34" charset="0"/>
                <a:ea typeface="Calibri" pitchFamily="34" charset="-122"/>
                <a:cs typeface="Calibri" pitchFamily="34" charset="-120"/>
              </a:rPr>
              <a:t>Réflexe : </a:t>
            </a:r>
            <a:r>
              <a:rPr lang="fr-FR" sz="840" noProof="0" dirty="0">
                <a:solidFill>
                  <a:srgbClr val="043962"/>
                </a:solidFill>
                <a:latin typeface="Calibri" pitchFamily="34" charset="0"/>
                <a:ea typeface="Calibri" pitchFamily="34" charset="-122"/>
                <a:cs typeface="Calibri" pitchFamily="34" charset="-120"/>
              </a:rPr>
              <a:t>honorer d'abord les contrats historiques. </a:t>
            </a:r>
            <a:r>
              <a:rPr lang="fr-FR" sz="840" b="1" noProof="0" dirty="0">
                <a:solidFill>
                  <a:srgbClr val="043962"/>
                </a:solidFill>
                <a:latin typeface="Calibri" pitchFamily="34" charset="0"/>
                <a:ea typeface="Calibri" pitchFamily="34" charset="-122"/>
                <a:cs typeface="Calibri" pitchFamily="34" charset="-120"/>
              </a:rPr>
              <a:t>Angle : </a:t>
            </a:r>
            <a:r>
              <a:rPr lang="fr-FR" sz="840" noProof="0" dirty="0">
                <a:solidFill>
                  <a:srgbClr val="043962"/>
                </a:solidFill>
                <a:latin typeface="Calibri" pitchFamily="34" charset="0"/>
                <a:ea typeface="Calibri" pitchFamily="34" charset="-122"/>
                <a:cs typeface="Calibri" pitchFamily="34" charset="-120"/>
              </a:rPr>
              <a:t>lent à réagir, mais stable - le contrepoint des paniqueurs.</a:t>
            </a:r>
            <a:endParaRPr lang="fr-FR" sz="840" noProof="0" dirty="0"/>
          </a:p>
        </p:txBody>
      </p:sp>
      <p:sp>
        <p:nvSpPr>
          <p:cNvPr id="16" name="Text 14"/>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- 20/50</a:t>
            </a:r>
            <a:endParaRPr lang="fr-FR" sz="8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CHRONOLOGIE (1 SUR 2)</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Tour par tour : ce que voit la presse</a:t>
            </a:r>
            <a:endParaRPr lang="fr-FR" sz="2500" noProof="0" dirty="0"/>
          </a:p>
        </p:txBody>
      </p:sp>
      <p:graphicFrame>
        <p:nvGraphicFramePr>
          <p:cNvPr id="22" name="Table 0"/>
          <p:cNvGraphicFramePr>
            <a:graphicFrameLocks noGrp="1"/>
          </p:cNvGraphicFramePr>
          <p:nvPr>
            <p:extLst>
              <p:ext uri="{D42A27DB-BD31-4B8C-83A1-F6EECF244321}">
                <p14:modId xmlns:p14="http://schemas.microsoft.com/office/powerpoint/2010/main" val="368849885"/>
              </p:ext>
            </p:extLst>
          </p:nvPr>
        </p:nvGraphicFramePr>
        <p:xfrm>
          <a:off x="502920" y="1298448"/>
          <a:ext cx="8138160" cy="3154680"/>
        </p:xfrm>
        <a:graphic>
          <a:graphicData uri="http://schemas.openxmlformats.org/drawingml/2006/table">
            <a:tbl>
              <a:tblPr/>
              <a:tblGrid>
                <a:gridCol w="45720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603504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tblGrid>
              <a:tr h="274320">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Tour</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Mois réel</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Phase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Revue de presse du secteur (identique pour les 8 rôles)</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err="1">
                          <a:solidFill>
                            <a:srgbClr val="FFFFFF"/>
                          </a:solidFill>
                          <a:latin typeface="Calibri" pitchFamily="34" charset="0"/>
                          <a:ea typeface="Calibri" pitchFamily="34" charset="-122"/>
                          <a:cs typeface="Calibri" pitchFamily="34" charset="-120"/>
                        </a:rPr>
                        <a:t>Évts</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extLst>
                  <a:ext uri="{0D108BD9-81ED-4DB2-BD59-A6C34878D82A}">
                    <a16:rowId xmlns:a16="http://schemas.microsoft.com/office/drawing/2014/main" val="10000"/>
                  </a:ext>
                </a:extLst>
              </a:tr>
              <a:tr h="274320">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T0</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essai</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T0</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Numéro d'essai : la revue de presse de votre secteur ne signale rien de notable ce mois-ci.</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T1</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2020-09</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P1</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Sortie du premier confinement : les ventes d'ordinateurs et d'équipements de télétravail battent des records. Les usines électroniques mondiales tournent à plein.</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2"/>
                  </a:ext>
                </a:extLst>
              </a:tr>
              <a:tr h="274320">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2020-10</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P1</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Les constructeurs automobiles, qui avaient annulé leurs commandes de composants au printemps, constatent une reprise plus forte que prévu.</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T3</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2020-11</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P1</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Les recommandes du secteur automobile affluent chez les fondeurs. Un dirigeant cité : « les créneaux de production de ce trimestre sont vendus depuis longtemps ».</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1</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4"/>
                  </a:ext>
                </a:extLst>
              </a:tr>
              <a:tr h="274320">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T4</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2020-12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P1</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Premiers articles spécialisés sur une « tension sur les semi-conducteurs ». Les analystes sont partagés sur sa durée.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T5</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2021-01</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P2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Un grand constructeur automobile européen annonce des arrêts de lignes faute de puces. Le mot « pénurie » entre dans les titres.</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1</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6"/>
                  </a:ext>
                </a:extLst>
              </a:tr>
              <a:tr h="274320">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T6</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2021-02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P2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Une tempête hivernale exceptionnelle paralyse le Texas : réseau électrique effondré, plusieurs usines de semi-conducteurs arrêtées à chaud.</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1</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74320">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T7</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2021-03</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P2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Un incendie détruit une ligne majeure chez un fondeur spécialisé dans l'automobile. La même semaine, un porte-conteneurs s'échoue en travers du canal de Suez : trafic bloqué six jours.</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8"/>
                  </a:ext>
                </a:extLst>
              </a:tr>
              <a:tr h="274320">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T8</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2021-04</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P2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Les délais moyens de livraison des semi-conducteurs atteignent 22 semaines, contre 12 un an plus tôt, selon les distributeurs.</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4320">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T9</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2021-05</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P3</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Sécheresse historique en Asie de l'Est : les réservoirs de l'île où se concentre la production mondiale de puces sont à 15 % de leur capacité.</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10"/>
                  </a:ext>
                </a:extLst>
              </a:tr>
            </a:tbl>
          </a:graphicData>
        </a:graphic>
      </p:graphicFrame>
      <p:sp>
        <p:nvSpPr>
          <p:cNvPr id="5" name="Text 2"/>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- 21/50</a:t>
            </a:r>
            <a:endParaRPr lang="fr-FR" sz="800"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CHRONOLOGIE (2 SUR 2)</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Tour par tour : ce que voit la presse</a:t>
            </a:r>
            <a:endParaRPr lang="fr-FR" sz="2500" noProof="0" dirty="0"/>
          </a:p>
        </p:txBody>
      </p:sp>
      <p:graphicFrame>
        <p:nvGraphicFramePr>
          <p:cNvPr id="23" name="Table 0"/>
          <p:cNvGraphicFramePr>
            <a:graphicFrameLocks noGrp="1"/>
          </p:cNvGraphicFramePr>
          <p:nvPr>
            <p:extLst>
              <p:ext uri="{D42A27DB-BD31-4B8C-83A1-F6EECF244321}">
                <p14:modId xmlns:p14="http://schemas.microsoft.com/office/powerpoint/2010/main" val="1058878847"/>
              </p:ext>
            </p:extLst>
          </p:nvPr>
        </p:nvGraphicFramePr>
        <p:xfrm>
          <a:off x="502920" y="1298448"/>
          <a:ext cx="8138160" cy="2834640"/>
        </p:xfrm>
        <a:graphic>
          <a:graphicData uri="http://schemas.openxmlformats.org/drawingml/2006/table">
            <a:tbl>
              <a:tblPr/>
              <a:tblGrid>
                <a:gridCol w="45720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603504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tblGrid>
              <a:tr h="274320">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Tour</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Mois réel</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Phase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Revue de presse du secteur (identique pour les 8 rôles)</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err="1">
                          <a:solidFill>
                            <a:srgbClr val="FFFFFF"/>
                          </a:solidFill>
                          <a:latin typeface="Calibri" pitchFamily="34" charset="0"/>
                          <a:ea typeface="Calibri" pitchFamily="34" charset="-122"/>
                          <a:cs typeface="Calibri" pitchFamily="34" charset="-120"/>
                        </a:rPr>
                        <a:t>Évts</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extLst>
                  <a:ext uri="{0D108BD9-81ED-4DB2-BD59-A6C34878D82A}">
                    <a16:rowId xmlns:a16="http://schemas.microsoft.com/office/drawing/2014/main" val="10000"/>
                  </a:ext>
                </a:extLst>
              </a:tr>
              <a:tr h="274320">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T10</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2021-06</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P3</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La sécheresse s'aggrave. Des fondeurs affrètent des camions-citernes pour alimenter leurs usines. Un fournisseur majeur de wafers annonce que ses capacités sont vendues jusqu'à fin 2022.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1</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T11</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2021-07</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P3</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Le marché spot des composants s'envole : certaines références se négocient à des multiples de leur prix catalogue chez les courtiers.</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2"/>
                  </a:ext>
                </a:extLst>
              </a:tr>
              <a:tr h="274320">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T12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2021-08</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P3</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Vague épidémique en Asie du Sud-Est : les usines d'assemblage et de test de composants tournent par rotations réduites. Le maillon aval de la filière, peu connu du grand public, devient le sujet.</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T13</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2021-09</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P4</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Un constructeur automobile majeur annonce une réduction de 40 % de sa production mondiale. Arrêts d'usines en cascade chez ses concurrents.</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1</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4"/>
                  </a:ext>
                </a:extLst>
              </a:tr>
              <a:tr h="274320">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T14</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2021-10</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P4</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Congestion portuaire record sur la côte ouest américaine : plus de cent navires attendent au mouillage.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T15</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2021-11</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P4</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Les délais de livraison des composants plafonnent à des niveaux records. Les fondeurs alternatifs affichent complet.</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6"/>
                  </a:ext>
                </a:extLst>
              </a:tr>
              <a:tr h="274320">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T16</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2021-12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P4</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Le prix du polysilicium a triplé sur un an. Les fabricants de wafers répercutent la hausse sur leurs contrats.</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1</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74320">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T17</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2022-01</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P5</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Premiers signes de détente sur les composants grand public (smartphones). L'automobile et l'industriel restent tendus, selon les distributeurs.</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8"/>
                  </a:ext>
                </a:extLst>
              </a:tr>
              <a:tr h="274320">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T18</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2022-02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P5</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La détente se confirme lentement. Les délais restent longs mais cessent de s'allonger, pour la première fois depuis un an et demi.</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5" name="Text 2"/>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- 22/50</a:t>
            </a:r>
            <a:endParaRPr lang="fr-FR" sz="800" noProof="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LE MOTEUR</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Les 12 événements calibrés, tour par tour</a:t>
            </a:r>
            <a:endParaRPr lang="fr-FR" sz="2500" noProof="0" dirty="0"/>
          </a:p>
        </p:txBody>
      </p:sp>
      <p:graphicFrame>
        <p:nvGraphicFramePr>
          <p:cNvPr id="24" name="Table 0"/>
          <p:cNvGraphicFramePr>
            <a:graphicFrameLocks noGrp="1"/>
          </p:cNvGraphicFramePr>
          <p:nvPr>
            <p:extLst>
              <p:ext uri="{D42A27DB-BD31-4B8C-83A1-F6EECF244321}">
                <p14:modId xmlns:p14="http://schemas.microsoft.com/office/powerpoint/2010/main" val="3294389650"/>
              </p:ext>
            </p:extLst>
          </p:nvPr>
        </p:nvGraphicFramePr>
        <p:xfrm>
          <a:off x="502920" y="1298448"/>
          <a:ext cx="8138160" cy="3273552"/>
        </p:xfrm>
        <a:graphic>
          <a:graphicData uri="http://schemas.openxmlformats.org/drawingml/2006/table">
            <a:tbl>
              <a:tblPr/>
              <a:tblGrid>
                <a:gridCol w="4114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743200">
                  <a:extLst>
                    <a:ext uri="{9D8B030D-6E8A-4147-A177-3AD203B41FA5}">
                      <a16:colId xmlns:a16="http://schemas.microsoft.com/office/drawing/2014/main" val="20004"/>
                    </a:ext>
                  </a:extLst>
                </a:gridCol>
              </a:tblGrid>
              <a:tr h="246888">
                <a:tc>
                  <a:txBody>
                    <a:bodyPr/>
                    <a:lstStyle/>
                    <a:p>
                      <a:pPr marL="0" indent="0">
                        <a:buNone/>
                      </a:pPr>
                      <a:r>
                        <a:rPr lang="fr-FR" sz="720" b="1" noProof="0" dirty="0">
                          <a:solidFill>
                            <a:srgbClr val="FFFFFF"/>
                          </a:solidFill>
                          <a:latin typeface="Calibri" pitchFamily="34" charset="0"/>
                          <a:ea typeface="Calibri" pitchFamily="34" charset="-122"/>
                          <a:cs typeface="Calibri" pitchFamily="34" charset="-120"/>
                        </a:rPr>
                        <a:t>Tour</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20" b="1" noProof="0" dirty="0">
                          <a:solidFill>
                            <a:srgbClr val="FFFFFF"/>
                          </a:solidFill>
                          <a:latin typeface="Calibri" pitchFamily="34" charset="0"/>
                          <a:ea typeface="Calibri" pitchFamily="34" charset="-122"/>
                          <a:cs typeface="Calibri" pitchFamily="34" charset="-120"/>
                        </a:rPr>
                        <a:t>Nœud</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20" b="1" noProof="0" dirty="0">
                          <a:solidFill>
                            <a:srgbClr val="FFFFFF"/>
                          </a:solidFill>
                          <a:latin typeface="Calibri" pitchFamily="34" charset="0"/>
                          <a:ea typeface="Calibri" pitchFamily="34" charset="-122"/>
                          <a:cs typeface="Calibri" pitchFamily="34" charset="-120"/>
                        </a:rPr>
                        <a:t>Type moteur</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20" b="1" noProof="0" dirty="0">
                          <a:solidFill>
                            <a:srgbClr val="FFFFFF"/>
                          </a:solidFill>
                          <a:latin typeface="Calibri" pitchFamily="34" charset="0"/>
                          <a:ea typeface="Calibri" pitchFamily="34" charset="-122"/>
                          <a:cs typeface="Calibri" pitchFamily="34" charset="-120"/>
                        </a:rPr>
                        <a:t>Paramètres injectés</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20" b="1" noProof="0" dirty="0">
                          <a:solidFill>
                            <a:srgbClr val="FFFFFF"/>
                          </a:solidFill>
                          <a:latin typeface="Calibri" pitchFamily="34" charset="0"/>
                          <a:ea typeface="Calibri" pitchFamily="34" charset="-122"/>
                          <a:cs typeface="Calibri" pitchFamily="34" charset="-120"/>
                        </a:rPr>
                        <a:t>Ancrage réel</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extLst>
                  <a:ext uri="{0D108BD9-81ED-4DB2-BD59-A6C34878D82A}">
                    <a16:rowId xmlns:a16="http://schemas.microsoft.com/office/drawing/2014/main" val="10000"/>
                  </a:ext>
                </a:extLst>
              </a:tr>
              <a:tr h="246888">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T3</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NovaFab </a:t>
                      </a:r>
                      <a:r>
                        <a:rPr lang="fr-FR" sz="720" noProof="0" dirty="0" err="1">
                          <a:solidFill>
                            <a:srgbClr val="043962"/>
                          </a:solidFill>
                          <a:latin typeface="Calibri" pitchFamily="34" charset="0"/>
                          <a:ea typeface="Calibri" pitchFamily="34" charset="-122"/>
                          <a:cs typeface="Calibri" pitchFamily="34" charset="-120"/>
                        </a:rPr>
                        <a:t>Semiconductors</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20" noProof="0" dirty="0" err="1">
                          <a:solidFill>
                            <a:srgbClr val="043962"/>
                          </a:solidFill>
                          <a:latin typeface="Calibri" pitchFamily="34" charset="0"/>
                          <a:ea typeface="Calibri" pitchFamily="34" charset="-122"/>
                          <a:cs typeface="Calibri" pitchFamily="34" charset="-120"/>
                        </a:rPr>
                        <a:t>pic_demande</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demande 110 (base 100)</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Recommandes automobiles sur créneaux déjà vendus (nov. 2020).</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T5</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20" noProof="0" dirty="0" err="1">
                          <a:solidFill>
                            <a:srgbClr val="043962"/>
                          </a:solidFill>
                          <a:latin typeface="Calibri" pitchFamily="34" charset="0"/>
                          <a:ea typeface="Calibri" pitchFamily="34" charset="-122"/>
                          <a:cs typeface="Calibri" pitchFamily="34" charset="-120"/>
                        </a:rPr>
                        <a:t>CompoDis</a:t>
                      </a:r>
                      <a:r>
                        <a:rPr lang="fr-FR" sz="720" noProof="0" dirty="0">
                          <a:solidFill>
                            <a:srgbClr val="043962"/>
                          </a:solidFill>
                          <a:latin typeface="Calibri" pitchFamily="34" charset="0"/>
                          <a:ea typeface="Calibri" pitchFamily="34" charset="-122"/>
                          <a:cs typeface="Calibri" pitchFamily="34" charset="-120"/>
                        </a:rPr>
                        <a:t> Europe</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20" noProof="0" dirty="0" err="1">
                          <a:solidFill>
                            <a:srgbClr val="043962"/>
                          </a:solidFill>
                          <a:latin typeface="Calibri" pitchFamily="34" charset="0"/>
                          <a:ea typeface="Calibri" pitchFamily="34" charset="-122"/>
                          <a:cs typeface="Calibri" pitchFamily="34" charset="-120"/>
                        </a:rPr>
                        <a:t>retard_fournisseur</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77 h moteur (2 sem. réelles)</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Passage en mode allocation ; livraisons amont décalées (janv. 2021).</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2"/>
                  </a:ext>
                </a:extLst>
              </a:tr>
              <a:tr h="246888">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T6</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NovaFab </a:t>
                      </a:r>
                      <a:r>
                        <a:rPr lang="fr-FR" sz="720" noProof="0" dirty="0" err="1">
                          <a:solidFill>
                            <a:srgbClr val="043962"/>
                          </a:solidFill>
                          <a:latin typeface="Calibri" pitchFamily="34" charset="0"/>
                          <a:ea typeface="Calibri" pitchFamily="34" charset="-122"/>
                          <a:cs typeface="Calibri" pitchFamily="34" charset="-120"/>
                        </a:rPr>
                        <a:t>Semiconductors</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accident</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155 h moteur (4 sem. réelles) ; gravité critique</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Gel Texas : arrêt à chaud de la </a:t>
                      </a:r>
                      <a:r>
                        <a:rPr lang="fr-FR" sz="720" noProof="0" dirty="0" err="1">
                          <a:solidFill>
                            <a:srgbClr val="043962"/>
                          </a:solidFill>
                          <a:latin typeface="Calibri" pitchFamily="34" charset="0"/>
                          <a:ea typeface="Calibri" pitchFamily="34" charset="-122"/>
                          <a:cs typeface="Calibri" pitchFamily="34" charset="-120"/>
                        </a:rPr>
                        <a:t>fab</a:t>
                      </a:r>
                      <a:r>
                        <a:rPr lang="fr-FR" sz="720" noProof="0" dirty="0">
                          <a:solidFill>
                            <a:srgbClr val="043962"/>
                          </a:solidFill>
                          <a:latin typeface="Calibri" pitchFamily="34" charset="0"/>
                          <a:ea typeface="Calibri" pitchFamily="34" charset="-122"/>
                          <a:cs typeface="Calibri" pitchFamily="34" charset="-120"/>
                        </a:rPr>
                        <a:t> texane (févr. 2021).</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6888">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T7</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NovaFab </a:t>
                      </a:r>
                      <a:r>
                        <a:rPr lang="fr-FR" sz="720" noProof="0" dirty="0" err="1">
                          <a:solidFill>
                            <a:srgbClr val="043962"/>
                          </a:solidFill>
                          <a:latin typeface="Calibri" pitchFamily="34" charset="0"/>
                          <a:ea typeface="Calibri" pitchFamily="34" charset="-122"/>
                          <a:cs typeface="Calibri" pitchFamily="34" charset="-120"/>
                        </a:rPr>
                        <a:t>Semiconductors</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20" noProof="0" dirty="0" err="1">
                          <a:solidFill>
                            <a:srgbClr val="043962"/>
                          </a:solidFill>
                          <a:latin typeface="Calibri" pitchFamily="34" charset="0"/>
                          <a:ea typeface="Calibri" pitchFamily="34" charset="-122"/>
                          <a:cs typeface="Calibri" pitchFamily="34" charset="-120"/>
                        </a:rPr>
                        <a:t>pic_demande</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demande 125 (base 100)</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Report de commandes après l'incendie d'un concurrent (mars 2021).</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4"/>
                  </a:ext>
                </a:extLst>
              </a:tr>
              <a:tr h="246888">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T7</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20" noProof="0" dirty="0" err="1">
                          <a:solidFill>
                            <a:srgbClr val="043962"/>
                          </a:solidFill>
                          <a:latin typeface="Calibri" pitchFamily="34" charset="0"/>
                          <a:ea typeface="Calibri" pitchFamily="34" charset="-122"/>
                          <a:cs typeface="Calibri" pitchFamily="34" charset="-120"/>
                        </a:rPr>
                        <a:t>TransGlobal</a:t>
                      </a:r>
                      <a:r>
                        <a:rPr lang="fr-FR" sz="720" noProof="0" dirty="0">
                          <a:solidFill>
                            <a:srgbClr val="043962"/>
                          </a:solidFill>
                          <a:latin typeface="Calibri" pitchFamily="34" charset="0"/>
                          <a:ea typeface="Calibri" pitchFamily="34" charset="-122"/>
                          <a:cs typeface="Calibri" pitchFamily="34" charset="-120"/>
                        </a:rPr>
                        <a:t> Fret</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20" noProof="0" dirty="0" err="1">
                          <a:solidFill>
                            <a:srgbClr val="043962"/>
                          </a:solidFill>
                          <a:latin typeface="Calibri" pitchFamily="34" charset="0"/>
                          <a:ea typeface="Calibri" pitchFamily="34" charset="-122"/>
                          <a:cs typeface="Calibri" pitchFamily="34" charset="-120"/>
                        </a:rPr>
                        <a:t>perturbation_transport</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33 h moteur (6 j réels) ; surcoût 15 000</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Blocage du canal de Suez, 6 jours + désorganisation (mars 2021).</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46888">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T10</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NovaFab </a:t>
                      </a:r>
                      <a:r>
                        <a:rPr lang="fr-FR" sz="720" noProof="0" dirty="0" err="1">
                          <a:solidFill>
                            <a:srgbClr val="043962"/>
                          </a:solidFill>
                          <a:latin typeface="Calibri" pitchFamily="34" charset="0"/>
                          <a:ea typeface="Calibri" pitchFamily="34" charset="-122"/>
                          <a:cs typeface="Calibri" pitchFamily="34" charset="-120"/>
                        </a:rPr>
                        <a:t>Semiconductors</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20" noProof="0" dirty="0" err="1">
                          <a:solidFill>
                            <a:srgbClr val="043962"/>
                          </a:solidFill>
                          <a:latin typeface="Calibri" pitchFamily="34" charset="0"/>
                          <a:ea typeface="Calibri" pitchFamily="34" charset="-122"/>
                          <a:cs typeface="Calibri" pitchFamily="34" charset="-120"/>
                        </a:rPr>
                        <a:t>rupture_matiere</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309 h moteur (8 sem. réelles) ; criticité 0.7</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Sécheresse : rationnement d'eau ultrapure (juin 2021).</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6"/>
                  </a:ext>
                </a:extLst>
              </a:tr>
              <a:tr h="246888">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T12</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20" noProof="0" dirty="0" err="1">
                          <a:solidFill>
                            <a:srgbClr val="043962"/>
                          </a:solidFill>
                          <a:latin typeface="Calibri" pitchFamily="34" charset="0"/>
                          <a:ea typeface="Calibri" pitchFamily="34" charset="-122"/>
                          <a:cs typeface="Calibri" pitchFamily="34" charset="-120"/>
                        </a:rPr>
                        <a:t>Électis</a:t>
                      </a:r>
                      <a:r>
                        <a:rPr lang="fr-FR" sz="720" noProof="0" dirty="0">
                          <a:solidFill>
                            <a:srgbClr val="043962"/>
                          </a:solidFill>
                          <a:latin typeface="Calibri" pitchFamily="34" charset="0"/>
                          <a:ea typeface="Calibri" pitchFamily="34" charset="-122"/>
                          <a:cs typeface="Calibri" pitchFamily="34" charset="-120"/>
                        </a:rPr>
                        <a:t> EMS</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20" noProof="0" dirty="0" err="1">
                          <a:solidFill>
                            <a:srgbClr val="043962"/>
                          </a:solidFill>
                          <a:latin typeface="Calibri" pitchFamily="34" charset="0"/>
                          <a:ea typeface="Calibri" pitchFamily="34" charset="-122"/>
                          <a:cs typeface="Calibri" pitchFamily="34" charset="-120"/>
                        </a:rPr>
                        <a:t>perte_capacite</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30 % du volume</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Backend Asie du Sud-Est en rotation : capacité aval amputée (août 2021).</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46888">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T12</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20" noProof="0" dirty="0" err="1">
                          <a:solidFill>
                            <a:srgbClr val="043962"/>
                          </a:solidFill>
                          <a:latin typeface="Calibri" pitchFamily="34" charset="0"/>
                          <a:ea typeface="Calibri" pitchFamily="34" charset="-122"/>
                          <a:cs typeface="Calibri" pitchFamily="34" charset="-120"/>
                        </a:rPr>
                        <a:t>TransGlobal</a:t>
                      </a:r>
                      <a:r>
                        <a:rPr lang="fr-FR" sz="720" noProof="0" dirty="0">
                          <a:solidFill>
                            <a:srgbClr val="043962"/>
                          </a:solidFill>
                          <a:latin typeface="Calibri" pitchFamily="34" charset="0"/>
                          <a:ea typeface="Calibri" pitchFamily="34" charset="-122"/>
                          <a:cs typeface="Calibri" pitchFamily="34" charset="-120"/>
                        </a:rPr>
                        <a:t> Fret</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20" noProof="0" dirty="0" err="1">
                          <a:solidFill>
                            <a:srgbClr val="043962"/>
                          </a:solidFill>
                          <a:latin typeface="Calibri" pitchFamily="34" charset="0"/>
                          <a:ea typeface="Calibri" pitchFamily="34" charset="-122"/>
                          <a:cs typeface="Calibri" pitchFamily="34" charset="-120"/>
                        </a:rPr>
                        <a:t>perturbation_transport</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77 h moteur (2 sem. réelles) ; surcoût 20 000</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Flux backend ralentis, bascule vers le fret aérien (août 2021).</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8"/>
                  </a:ext>
                </a:extLst>
              </a:tr>
              <a:tr h="246888">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T13</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20" noProof="0" dirty="0" err="1">
                          <a:solidFill>
                            <a:srgbClr val="043962"/>
                          </a:solidFill>
                          <a:latin typeface="Calibri" pitchFamily="34" charset="0"/>
                          <a:ea typeface="Calibri" pitchFamily="34" charset="-122"/>
                          <a:cs typeface="Calibri" pitchFamily="34" charset="-120"/>
                        </a:rPr>
                        <a:t>CompoDis</a:t>
                      </a:r>
                      <a:r>
                        <a:rPr lang="fr-FR" sz="720" noProof="0" dirty="0">
                          <a:solidFill>
                            <a:srgbClr val="043962"/>
                          </a:solidFill>
                          <a:latin typeface="Calibri" pitchFamily="34" charset="0"/>
                          <a:ea typeface="Calibri" pitchFamily="34" charset="-122"/>
                          <a:cs typeface="Calibri" pitchFamily="34" charset="-120"/>
                        </a:rPr>
                        <a:t> Europe</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20" noProof="0" dirty="0" err="1">
                          <a:solidFill>
                            <a:srgbClr val="043962"/>
                          </a:solidFill>
                          <a:latin typeface="Calibri" pitchFamily="34" charset="0"/>
                          <a:ea typeface="Calibri" pitchFamily="34" charset="-122"/>
                          <a:cs typeface="Calibri" pitchFamily="34" charset="-120"/>
                        </a:rPr>
                        <a:t>pic_demande</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demande 160 (base 100)</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Sur-commandes massives des clients (</a:t>
                      </a:r>
                      <a:r>
                        <a:rPr lang="fr-FR" sz="720" noProof="0" dirty="0" err="1">
                          <a:solidFill>
                            <a:srgbClr val="043962"/>
                          </a:solidFill>
                          <a:latin typeface="Calibri" pitchFamily="34" charset="0"/>
                          <a:ea typeface="Calibri" pitchFamily="34" charset="-122"/>
                          <a:cs typeface="Calibri" pitchFamily="34" charset="-120"/>
                        </a:rPr>
                        <a:t>bullwhip</a:t>
                      </a:r>
                      <a:r>
                        <a:rPr lang="fr-FR" sz="720" noProof="0" dirty="0">
                          <a:solidFill>
                            <a:srgbClr val="043962"/>
                          </a:solidFill>
                          <a:latin typeface="Calibri" pitchFamily="34" charset="0"/>
                          <a:ea typeface="Calibri" pitchFamily="34" charset="-122"/>
                          <a:cs typeface="Calibri" pitchFamily="34" charset="-120"/>
                        </a:rPr>
                        <a:t>, sept. 2021).</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46888">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T14</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20" noProof="0" dirty="0" err="1">
                          <a:solidFill>
                            <a:srgbClr val="043962"/>
                          </a:solidFill>
                          <a:latin typeface="Calibri" pitchFamily="34" charset="0"/>
                          <a:ea typeface="Calibri" pitchFamily="34" charset="-122"/>
                          <a:cs typeface="Calibri" pitchFamily="34" charset="-120"/>
                        </a:rPr>
                        <a:t>TransGlobal</a:t>
                      </a:r>
                      <a:r>
                        <a:rPr lang="fr-FR" sz="720" noProof="0" dirty="0">
                          <a:solidFill>
                            <a:srgbClr val="043962"/>
                          </a:solidFill>
                          <a:latin typeface="Calibri" pitchFamily="34" charset="0"/>
                          <a:ea typeface="Calibri" pitchFamily="34" charset="-122"/>
                          <a:cs typeface="Calibri" pitchFamily="34" charset="-120"/>
                        </a:rPr>
                        <a:t> Fret</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20" noProof="0" dirty="0" err="1">
                          <a:solidFill>
                            <a:srgbClr val="043962"/>
                          </a:solidFill>
                          <a:latin typeface="Calibri" pitchFamily="34" charset="0"/>
                          <a:ea typeface="Calibri" pitchFamily="34" charset="-122"/>
                          <a:cs typeface="Calibri" pitchFamily="34" charset="-120"/>
                        </a:rPr>
                        <a:t>perturbation_transport</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116 h moteur (3 sem. réelles) ; surcoût 30 000</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Congestion portuaire côte ouest US, 100+ navires (oct. 2021).</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10"/>
                  </a:ext>
                </a:extLst>
              </a:tr>
              <a:tr h="246888">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T14</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20" noProof="0" dirty="0" err="1">
                          <a:solidFill>
                            <a:srgbClr val="043962"/>
                          </a:solidFill>
                          <a:latin typeface="Calibri" pitchFamily="34" charset="0"/>
                          <a:ea typeface="Calibri" pitchFamily="34" charset="-122"/>
                          <a:cs typeface="Calibri" pitchFamily="34" charset="-120"/>
                        </a:rPr>
                        <a:t>CompoDis</a:t>
                      </a:r>
                      <a:r>
                        <a:rPr lang="fr-FR" sz="720" noProof="0" dirty="0">
                          <a:solidFill>
                            <a:srgbClr val="043962"/>
                          </a:solidFill>
                          <a:latin typeface="Calibri" pitchFamily="34" charset="0"/>
                          <a:ea typeface="Calibri" pitchFamily="34" charset="-122"/>
                          <a:cs typeface="Calibri" pitchFamily="34" charset="-120"/>
                        </a:rPr>
                        <a:t> Europe</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20" noProof="0" dirty="0" err="1">
                          <a:solidFill>
                            <a:srgbClr val="043962"/>
                          </a:solidFill>
                          <a:latin typeface="Calibri" pitchFamily="34" charset="0"/>
                          <a:ea typeface="Calibri" pitchFamily="34" charset="-122"/>
                          <a:cs typeface="Calibri" pitchFamily="34" charset="-120"/>
                        </a:rPr>
                        <a:t>hausse_tarif</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+25 %</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Majorations tarifaires, primes spot (oct. 2021).</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46888">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T16</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20" noProof="0" dirty="0" err="1">
                          <a:solidFill>
                            <a:srgbClr val="043962"/>
                          </a:solidFill>
                          <a:latin typeface="Calibri" pitchFamily="34" charset="0"/>
                          <a:ea typeface="Calibri" pitchFamily="34" charset="-122"/>
                          <a:cs typeface="Calibri" pitchFamily="34" charset="-120"/>
                        </a:rPr>
                        <a:t>SilPure</a:t>
                      </a:r>
                      <a:r>
                        <a:rPr lang="fr-FR" sz="720" noProof="0" dirty="0">
                          <a:solidFill>
                            <a:srgbClr val="043962"/>
                          </a:solidFill>
                          <a:latin typeface="Calibri" pitchFamily="34" charset="0"/>
                          <a:ea typeface="Calibri" pitchFamily="34" charset="-122"/>
                          <a:cs typeface="Calibri" pitchFamily="34" charset="-120"/>
                        </a:rPr>
                        <a:t> Materials</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20" noProof="0" dirty="0" err="1">
                          <a:solidFill>
                            <a:srgbClr val="043962"/>
                          </a:solidFill>
                          <a:latin typeface="Calibri" pitchFamily="34" charset="0"/>
                          <a:ea typeface="Calibri" pitchFamily="34" charset="-122"/>
                          <a:cs typeface="Calibri" pitchFamily="34" charset="-120"/>
                        </a:rPr>
                        <a:t>hausse_tarif</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+18 %</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20" noProof="0" dirty="0">
                          <a:solidFill>
                            <a:srgbClr val="043962"/>
                          </a:solidFill>
                          <a:latin typeface="Calibri" pitchFamily="34" charset="0"/>
                          <a:ea typeface="Calibri" pitchFamily="34" charset="-122"/>
                          <a:cs typeface="Calibri" pitchFamily="34" charset="-120"/>
                        </a:rPr>
                        <a:t>Répercussion de la flambée du polysilicium (déc. 2021).</a:t>
                      </a:r>
                      <a:endParaRPr lang="fr-FR" sz="72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12"/>
                  </a:ext>
                </a:extLst>
              </a:tr>
            </a:tbl>
          </a:graphicData>
        </a:graphic>
      </p:graphicFrame>
      <p:sp>
        <p:nvSpPr>
          <p:cNvPr id="5" name="Text 2"/>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- 23/50</a:t>
            </a:r>
            <a:endParaRPr lang="fr-FR" sz="800" noProof="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LES JALONS (1 SUR 2)</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Les 18 jalons et leur dérive scriptée</a:t>
            </a:r>
            <a:endParaRPr lang="fr-FR" sz="2500" noProof="0" dirty="0"/>
          </a:p>
        </p:txBody>
      </p:sp>
      <p:graphicFrame>
        <p:nvGraphicFramePr>
          <p:cNvPr id="25" name="Table 0"/>
          <p:cNvGraphicFramePr>
            <a:graphicFrameLocks noGrp="1"/>
          </p:cNvGraphicFramePr>
          <p:nvPr>
            <p:extLst>
              <p:ext uri="{D42A27DB-BD31-4B8C-83A1-F6EECF244321}">
                <p14:modId xmlns:p14="http://schemas.microsoft.com/office/powerpoint/2010/main" val="281882679"/>
              </p:ext>
            </p:extLst>
          </p:nvPr>
        </p:nvGraphicFramePr>
        <p:xfrm>
          <a:off x="502920" y="1298448"/>
          <a:ext cx="8138160" cy="3291840"/>
        </p:xfrm>
        <a:graphic>
          <a:graphicData uri="http://schemas.openxmlformats.org/drawingml/2006/table">
            <a:tbl>
              <a:tblPr/>
              <a:tblGrid>
                <a:gridCol w="128016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29184">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Nœud</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Jalon</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Fenêtre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Dérives scriptées</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err="1">
                          <a:solidFill>
                            <a:srgbClr val="FFFFFF"/>
                          </a:solidFill>
                          <a:latin typeface="Calibri" pitchFamily="34" charset="0"/>
                          <a:ea typeface="Calibri" pitchFamily="34" charset="-122"/>
                          <a:cs typeface="Calibri" pitchFamily="34" charset="-120"/>
                        </a:rPr>
                        <a:t>Re-planification</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Passe DONE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extLst>
                  <a:ext uri="{0D108BD9-81ED-4DB2-BD59-A6C34878D82A}">
                    <a16:rowId xmlns:a16="http://schemas.microsoft.com/office/drawing/2014/main" val="10000"/>
                  </a:ext>
                </a:extLst>
              </a:tr>
              <a:tr h="329184">
                <a:tc>
                  <a:txBody>
                    <a:bodyPr/>
                    <a:lstStyle/>
                    <a:p>
                      <a:pPr marL="0" indent="0">
                        <a:buNone/>
                      </a:pPr>
                      <a:r>
                        <a:rPr lang="fr-FR" sz="750" noProof="0" dirty="0" err="1">
                          <a:solidFill>
                            <a:srgbClr val="043962"/>
                          </a:solidFill>
                          <a:latin typeface="Calibri" pitchFamily="34" charset="0"/>
                          <a:ea typeface="Calibri" pitchFamily="34" charset="-122"/>
                          <a:cs typeface="Calibri" pitchFamily="34" charset="-120"/>
                        </a:rPr>
                        <a:t>Orbitalys</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Livraison HÉLIOS-1</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S0 à S8</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T7 à 80%, T8 à 88%, T13 à 92%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T13 vers S14</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T14</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fr-FR" sz="750" noProof="0" dirty="0" err="1">
                          <a:solidFill>
                            <a:srgbClr val="043962"/>
                          </a:solidFill>
                          <a:latin typeface="Calibri" pitchFamily="34" charset="0"/>
                          <a:ea typeface="Calibri" pitchFamily="34" charset="-122"/>
                          <a:cs typeface="Calibri" pitchFamily="34" charset="-120"/>
                        </a:rPr>
                        <a:t>Orbitalys</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Livraison HÉLIOS-2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S8 à S16</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T15 à 70%, T16 à 82%, T18 à 95%</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T16 vers S19</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actif jusqu'au bout</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2"/>
                  </a:ext>
                </a:extLst>
              </a:tr>
              <a:tr h="329184">
                <a:tc>
                  <a:txBody>
                    <a:bodyPr/>
                    <a:lstStyle/>
                    <a:p>
                      <a:pPr marL="0" indent="0">
                        <a:buNone/>
                      </a:pPr>
                      <a:r>
                        <a:rPr lang="fr-FR" sz="750" noProof="0" dirty="0" err="1">
                          <a:solidFill>
                            <a:srgbClr val="043962"/>
                          </a:solidFill>
                          <a:latin typeface="Calibri" pitchFamily="34" charset="0"/>
                          <a:ea typeface="Calibri" pitchFamily="34" charset="-122"/>
                          <a:cs typeface="Calibri" pitchFamily="34" charset="-120"/>
                        </a:rPr>
                        <a:t>AvioSys</a:t>
                      </a:r>
                      <a:r>
                        <a:rPr lang="fr-FR" sz="750" noProof="0" dirty="0">
                          <a:solidFill>
                            <a:srgbClr val="043962"/>
                          </a:solidFill>
                          <a:latin typeface="Calibri" pitchFamily="34" charset="0"/>
                          <a:ea typeface="Calibri" pitchFamily="34" charset="-122"/>
                          <a:cs typeface="Calibri" pitchFamily="34" charset="-120"/>
                        </a:rPr>
                        <a:t> Intégration</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Sous-système avionique lot 1</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S0 à S6</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nominal</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aucune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T6</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fr-FR" sz="750" noProof="0" dirty="0" err="1">
                          <a:solidFill>
                            <a:srgbClr val="043962"/>
                          </a:solidFill>
                          <a:latin typeface="Calibri" pitchFamily="34" charset="0"/>
                          <a:ea typeface="Calibri" pitchFamily="34" charset="-122"/>
                          <a:cs typeface="Calibri" pitchFamily="34" charset="-120"/>
                        </a:rPr>
                        <a:t>AvioSys</a:t>
                      </a:r>
                      <a:r>
                        <a:rPr lang="fr-FR" sz="750" noProof="0" dirty="0">
                          <a:solidFill>
                            <a:srgbClr val="043962"/>
                          </a:solidFill>
                          <a:latin typeface="Calibri" pitchFamily="34" charset="0"/>
                          <a:ea typeface="Calibri" pitchFamily="34" charset="-122"/>
                          <a:cs typeface="Calibri" pitchFamily="34" charset="-120"/>
                        </a:rPr>
                        <a:t> Intégration</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Sous-système avionique lot 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S6 à S11</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T9 à 60%, T10 à 75%, T11 à 85%</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T11 vers S12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T12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4"/>
                  </a:ext>
                </a:extLst>
              </a:tr>
              <a:tr h="329184">
                <a:tc>
                  <a:txBody>
                    <a:bodyPr/>
                    <a:lstStyle/>
                    <a:p>
                      <a:pPr marL="0" indent="0">
                        <a:buNone/>
                      </a:pPr>
                      <a:r>
                        <a:rPr lang="fr-FR" sz="750" noProof="0" dirty="0" err="1">
                          <a:solidFill>
                            <a:srgbClr val="043962"/>
                          </a:solidFill>
                          <a:latin typeface="Calibri" pitchFamily="34" charset="0"/>
                          <a:ea typeface="Calibri" pitchFamily="34" charset="-122"/>
                          <a:cs typeface="Calibri" pitchFamily="34" charset="-120"/>
                        </a:rPr>
                        <a:t>AvioSys</a:t>
                      </a:r>
                      <a:r>
                        <a:rPr lang="fr-FR" sz="750" noProof="0" dirty="0">
                          <a:solidFill>
                            <a:srgbClr val="043962"/>
                          </a:solidFill>
                          <a:latin typeface="Calibri" pitchFamily="34" charset="0"/>
                          <a:ea typeface="Calibri" pitchFamily="34" charset="-122"/>
                          <a:cs typeface="Calibri" pitchFamily="34" charset="-120"/>
                        </a:rPr>
                        <a:t> Intégration</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Sous-système avionique lot 3</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S12 à S16</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T14 à 45%, T15 à 60%, T16 à 75%, T17 à 90%</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T16 vers S18</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T18</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fr-FR" sz="750" noProof="0" dirty="0" err="1">
                          <a:solidFill>
                            <a:srgbClr val="043962"/>
                          </a:solidFill>
                          <a:latin typeface="Calibri" pitchFamily="34" charset="0"/>
                          <a:ea typeface="Calibri" pitchFamily="34" charset="-122"/>
                          <a:cs typeface="Calibri" pitchFamily="34" charset="-120"/>
                        </a:rPr>
                        <a:t>AvioSys</a:t>
                      </a:r>
                      <a:r>
                        <a:rPr lang="fr-FR" sz="750" noProof="0" dirty="0">
                          <a:solidFill>
                            <a:srgbClr val="043962"/>
                          </a:solidFill>
                          <a:latin typeface="Calibri" pitchFamily="34" charset="0"/>
                          <a:ea typeface="Calibri" pitchFamily="34" charset="-122"/>
                          <a:cs typeface="Calibri" pitchFamily="34" charset="-120"/>
                        </a:rPr>
                        <a:t> Intégration</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Sous-système avionique lot 4</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S18 à S22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nominal</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aucune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actif jusqu'au bout</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6"/>
                  </a:ext>
                </a:extLst>
              </a:tr>
              <a:tr h="329184">
                <a:tc>
                  <a:txBody>
                    <a:bodyPr/>
                    <a:lstStyle/>
                    <a:p>
                      <a:pPr marL="0" indent="0">
                        <a:buNone/>
                      </a:pPr>
                      <a:r>
                        <a:rPr lang="fr-FR" sz="750" noProof="0" dirty="0" err="1">
                          <a:solidFill>
                            <a:srgbClr val="043962"/>
                          </a:solidFill>
                          <a:latin typeface="Calibri" pitchFamily="34" charset="0"/>
                          <a:ea typeface="Calibri" pitchFamily="34" charset="-122"/>
                          <a:cs typeface="Calibri" pitchFamily="34" charset="-120"/>
                        </a:rPr>
                        <a:t>Électis</a:t>
                      </a:r>
                      <a:r>
                        <a:rPr lang="fr-FR" sz="750" noProof="0" dirty="0">
                          <a:solidFill>
                            <a:srgbClr val="043962"/>
                          </a:solidFill>
                          <a:latin typeface="Calibri" pitchFamily="34" charset="0"/>
                          <a:ea typeface="Calibri" pitchFamily="34" charset="-122"/>
                          <a:cs typeface="Calibri" pitchFamily="34" charset="-120"/>
                        </a:rPr>
                        <a:t> EMS</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Cartes HÉLIOS série A</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S0 à S6</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nominal</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aucune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T6</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buNone/>
                      </a:pPr>
                      <a:r>
                        <a:rPr lang="fr-FR" sz="750" noProof="0" dirty="0" err="1">
                          <a:solidFill>
                            <a:srgbClr val="043962"/>
                          </a:solidFill>
                          <a:latin typeface="Calibri" pitchFamily="34" charset="0"/>
                          <a:ea typeface="Calibri" pitchFamily="34" charset="-122"/>
                          <a:cs typeface="Calibri" pitchFamily="34" charset="-120"/>
                        </a:rPr>
                        <a:t>Électis</a:t>
                      </a:r>
                      <a:r>
                        <a:rPr lang="fr-FR" sz="750" noProof="0" dirty="0">
                          <a:solidFill>
                            <a:srgbClr val="043962"/>
                          </a:solidFill>
                          <a:latin typeface="Calibri" pitchFamily="34" charset="0"/>
                          <a:ea typeface="Calibri" pitchFamily="34" charset="-122"/>
                          <a:cs typeface="Calibri" pitchFamily="34" charset="-120"/>
                        </a:rPr>
                        <a:t> EMS</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Cartes HÉLIOS série B</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S6 à S13</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T12 à 72%, T13 à 85%</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aucune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T14</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8"/>
                  </a:ext>
                </a:extLst>
              </a:tr>
              <a:tr h="329184">
                <a:tc>
                  <a:txBody>
                    <a:bodyPr/>
                    <a:lstStyle/>
                    <a:p>
                      <a:pPr marL="0" indent="0">
                        <a:buNone/>
                      </a:pPr>
                      <a:r>
                        <a:rPr lang="fr-FR" sz="750" noProof="0" dirty="0" err="1">
                          <a:solidFill>
                            <a:srgbClr val="043962"/>
                          </a:solidFill>
                          <a:latin typeface="Calibri" pitchFamily="34" charset="0"/>
                          <a:ea typeface="Calibri" pitchFamily="34" charset="-122"/>
                          <a:cs typeface="Calibri" pitchFamily="34" charset="-120"/>
                        </a:rPr>
                        <a:t>Électis</a:t>
                      </a:r>
                      <a:r>
                        <a:rPr lang="fr-FR" sz="750" noProof="0" dirty="0">
                          <a:solidFill>
                            <a:srgbClr val="043962"/>
                          </a:solidFill>
                          <a:latin typeface="Calibri" pitchFamily="34" charset="0"/>
                          <a:ea typeface="Calibri" pitchFamily="34" charset="-122"/>
                          <a:cs typeface="Calibri" pitchFamily="34" charset="-120"/>
                        </a:rPr>
                        <a:t> EMS</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Cartes HÉLIOS série C</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S13 à S21</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nominal</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aucune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actif jusqu'au bout</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5" name="Text 2"/>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- 24/50</a:t>
            </a:r>
            <a:endParaRPr lang="fr-FR" sz="800" noProof="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LES JALONS (2 SUR 2)</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Les 18 jalons et leur dérive scriptée</a:t>
            </a:r>
            <a:endParaRPr lang="fr-FR" sz="2500" noProof="0" dirty="0"/>
          </a:p>
        </p:txBody>
      </p:sp>
      <p:graphicFrame>
        <p:nvGraphicFramePr>
          <p:cNvPr id="26" name="Table 0"/>
          <p:cNvGraphicFramePr>
            <a:graphicFrameLocks noGrp="1"/>
          </p:cNvGraphicFramePr>
          <p:nvPr>
            <p:extLst>
              <p:ext uri="{D42A27DB-BD31-4B8C-83A1-F6EECF244321}">
                <p14:modId xmlns:p14="http://schemas.microsoft.com/office/powerpoint/2010/main" val="1495660756"/>
              </p:ext>
            </p:extLst>
          </p:nvPr>
        </p:nvGraphicFramePr>
        <p:xfrm>
          <a:off x="502920" y="1298448"/>
          <a:ext cx="8138160" cy="3291840"/>
        </p:xfrm>
        <a:graphic>
          <a:graphicData uri="http://schemas.openxmlformats.org/drawingml/2006/table">
            <a:tbl>
              <a:tblPr/>
              <a:tblGrid>
                <a:gridCol w="128016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29184">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Nœud</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Jalon</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Fenêtre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Dérives scriptées</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err="1">
                          <a:solidFill>
                            <a:srgbClr val="FFFFFF"/>
                          </a:solidFill>
                          <a:latin typeface="Calibri" pitchFamily="34" charset="0"/>
                          <a:ea typeface="Calibri" pitchFamily="34" charset="-122"/>
                          <a:cs typeface="Calibri" pitchFamily="34" charset="-120"/>
                        </a:rPr>
                        <a:t>Re-planification</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Passe DONE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extLst>
                  <a:ext uri="{0D108BD9-81ED-4DB2-BD59-A6C34878D82A}">
                    <a16:rowId xmlns:a16="http://schemas.microsoft.com/office/drawing/2014/main" val="10000"/>
                  </a:ext>
                </a:extLst>
              </a:tr>
              <a:tr h="329184">
                <a:tc>
                  <a:txBody>
                    <a:bodyPr/>
                    <a:lstStyle/>
                    <a:p>
                      <a:pPr marL="0" indent="0">
                        <a:buNone/>
                      </a:pPr>
                      <a:r>
                        <a:rPr lang="fr-FR" sz="750" noProof="0" dirty="0" err="1">
                          <a:solidFill>
                            <a:srgbClr val="043962"/>
                          </a:solidFill>
                          <a:latin typeface="Calibri" pitchFamily="34" charset="0"/>
                          <a:ea typeface="Calibri" pitchFamily="34" charset="-122"/>
                          <a:cs typeface="Calibri" pitchFamily="34" charset="-120"/>
                        </a:rPr>
                        <a:t>CompoDis</a:t>
                      </a:r>
                      <a:r>
                        <a:rPr lang="fr-FR" sz="750" noProof="0" dirty="0">
                          <a:solidFill>
                            <a:srgbClr val="043962"/>
                          </a:solidFill>
                          <a:latin typeface="Calibri" pitchFamily="34" charset="0"/>
                          <a:ea typeface="Calibri" pitchFamily="34" charset="-122"/>
                          <a:cs typeface="Calibri" pitchFamily="34" charset="-120"/>
                        </a:rPr>
                        <a:t> Europe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Couverture composants S1</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S0 à S9</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nominal</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aucune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T9</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fr-FR" sz="750" noProof="0" dirty="0" err="1">
                          <a:solidFill>
                            <a:srgbClr val="043962"/>
                          </a:solidFill>
                          <a:latin typeface="Calibri" pitchFamily="34" charset="0"/>
                          <a:ea typeface="Calibri" pitchFamily="34" charset="-122"/>
                          <a:cs typeface="Calibri" pitchFamily="34" charset="-120"/>
                        </a:rPr>
                        <a:t>CompoDis</a:t>
                      </a:r>
                      <a:r>
                        <a:rPr lang="fr-FR" sz="750" noProof="0" dirty="0">
                          <a:solidFill>
                            <a:srgbClr val="043962"/>
                          </a:solidFill>
                          <a:latin typeface="Calibri" pitchFamily="34" charset="0"/>
                          <a:ea typeface="Calibri" pitchFamily="34" charset="-122"/>
                          <a:cs typeface="Calibri" pitchFamily="34" charset="-120"/>
                        </a:rPr>
                        <a:t> Europe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Couverture composants S2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S9 à S21</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nominal</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aucune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actif jusqu'au bout</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2"/>
                  </a:ext>
                </a:extLst>
              </a:tr>
              <a:tr h="329184">
                <a:tc>
                  <a:txBody>
                    <a:bodyPr/>
                    <a:lstStyle/>
                    <a:p>
                      <a:pPr marL="0" indent="0">
                        <a:buNone/>
                      </a:pPr>
                      <a:r>
                        <a:rPr lang="fr-FR" sz="750" noProof="0" dirty="0" err="1">
                          <a:solidFill>
                            <a:srgbClr val="043962"/>
                          </a:solidFill>
                          <a:latin typeface="Calibri" pitchFamily="34" charset="0"/>
                          <a:ea typeface="Calibri" pitchFamily="34" charset="-122"/>
                          <a:cs typeface="Calibri" pitchFamily="34" charset="-120"/>
                        </a:rPr>
                        <a:t>TransGlobal</a:t>
                      </a:r>
                      <a:r>
                        <a:rPr lang="fr-FR" sz="750" noProof="0" dirty="0">
                          <a:solidFill>
                            <a:srgbClr val="043962"/>
                          </a:solidFill>
                          <a:latin typeface="Calibri" pitchFamily="34" charset="0"/>
                          <a:ea typeface="Calibri" pitchFamily="34" charset="-122"/>
                          <a:cs typeface="Calibri" pitchFamily="34" charset="-120"/>
                        </a:rPr>
                        <a:t> Fret</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Contrat de flux annuel</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S0 à S12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nominal</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aucune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T12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fr-FR" sz="750" noProof="0" dirty="0" err="1">
                          <a:solidFill>
                            <a:srgbClr val="043962"/>
                          </a:solidFill>
                          <a:latin typeface="Calibri" pitchFamily="34" charset="0"/>
                          <a:ea typeface="Calibri" pitchFamily="34" charset="-122"/>
                          <a:cs typeface="Calibri" pitchFamily="34" charset="-120"/>
                        </a:rPr>
                        <a:t>TransGlobal</a:t>
                      </a:r>
                      <a:r>
                        <a:rPr lang="fr-FR" sz="750" noProof="0" dirty="0">
                          <a:solidFill>
                            <a:srgbClr val="043962"/>
                          </a:solidFill>
                          <a:latin typeface="Calibri" pitchFamily="34" charset="0"/>
                          <a:ea typeface="Calibri" pitchFamily="34" charset="-122"/>
                          <a:cs typeface="Calibri" pitchFamily="34" charset="-120"/>
                        </a:rPr>
                        <a:t> Fret</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Renouvellement contrat de flux</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S12 à S22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nominal</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aucune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actif jusqu'au bout</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4"/>
                  </a:ext>
                </a:extLst>
              </a:tr>
              <a:tr h="329184">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NovaFab </a:t>
                      </a:r>
                      <a:r>
                        <a:rPr lang="fr-FR" sz="750" noProof="0" dirty="0" err="1">
                          <a:solidFill>
                            <a:srgbClr val="043962"/>
                          </a:solidFill>
                          <a:latin typeface="Calibri" pitchFamily="34" charset="0"/>
                          <a:ea typeface="Calibri" pitchFamily="34" charset="-122"/>
                          <a:cs typeface="Calibri" pitchFamily="34" charset="-120"/>
                        </a:rPr>
                        <a:t>Semiconductors</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Allocation wafers HÉLIOS</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S0 à S10</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T9 à 82%, T10 à 95%</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aucune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T11</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NovaFab </a:t>
                      </a:r>
                      <a:r>
                        <a:rPr lang="fr-FR" sz="750" noProof="0" dirty="0" err="1">
                          <a:solidFill>
                            <a:srgbClr val="043962"/>
                          </a:solidFill>
                          <a:latin typeface="Calibri" pitchFamily="34" charset="0"/>
                          <a:ea typeface="Calibri" pitchFamily="34" charset="-122"/>
                          <a:cs typeface="Calibri" pitchFamily="34" charset="-120"/>
                        </a:rPr>
                        <a:t>Semiconductors</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Allocation wafers HÉLIOS S2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S10 à S22</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nominal</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aucune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actif jusqu'au bout</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6"/>
                  </a:ext>
                </a:extLst>
              </a:tr>
              <a:tr h="329184">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Meridian Semi</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Créneaux de production engagés</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S0 à S20</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nominal</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aucune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actif jusqu'au bout</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buNone/>
                      </a:pPr>
                      <a:r>
                        <a:rPr lang="fr-FR" sz="750" noProof="0" dirty="0" err="1">
                          <a:solidFill>
                            <a:srgbClr val="043962"/>
                          </a:solidFill>
                          <a:latin typeface="Calibri" pitchFamily="34" charset="0"/>
                          <a:ea typeface="Calibri" pitchFamily="34" charset="-122"/>
                          <a:cs typeface="Calibri" pitchFamily="34" charset="-120"/>
                        </a:rPr>
                        <a:t>SilPure</a:t>
                      </a:r>
                      <a:r>
                        <a:rPr lang="fr-FR" sz="750" noProof="0" dirty="0">
                          <a:solidFill>
                            <a:srgbClr val="043962"/>
                          </a:solidFill>
                          <a:latin typeface="Calibri" pitchFamily="34" charset="0"/>
                          <a:ea typeface="Calibri" pitchFamily="34" charset="-122"/>
                          <a:cs typeface="Calibri" pitchFamily="34" charset="-120"/>
                        </a:rPr>
                        <a:t> Materials</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Contrat wafers annuel</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S0 à S15</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nominal</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aucune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T14</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8"/>
                  </a:ext>
                </a:extLst>
              </a:tr>
              <a:tr h="329184">
                <a:tc>
                  <a:txBody>
                    <a:bodyPr/>
                    <a:lstStyle/>
                    <a:p>
                      <a:pPr marL="0" indent="0">
                        <a:buNone/>
                      </a:pPr>
                      <a:r>
                        <a:rPr lang="fr-FR" sz="750" noProof="0" dirty="0" err="1">
                          <a:solidFill>
                            <a:srgbClr val="043962"/>
                          </a:solidFill>
                          <a:latin typeface="Calibri" pitchFamily="34" charset="0"/>
                          <a:ea typeface="Calibri" pitchFamily="34" charset="-122"/>
                          <a:cs typeface="Calibri" pitchFamily="34" charset="-120"/>
                        </a:rPr>
                        <a:t>SilPure</a:t>
                      </a:r>
                      <a:r>
                        <a:rPr lang="fr-FR" sz="750" noProof="0" dirty="0">
                          <a:solidFill>
                            <a:srgbClr val="043962"/>
                          </a:solidFill>
                          <a:latin typeface="Calibri" pitchFamily="34" charset="0"/>
                          <a:ea typeface="Calibri" pitchFamily="34" charset="-122"/>
                          <a:cs typeface="Calibri" pitchFamily="34" charset="-120"/>
                        </a:rPr>
                        <a:t> Materials</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Contrat wafers année suivante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S14 à S20</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nominal</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aucune</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noProof="0" dirty="0">
                          <a:solidFill>
                            <a:srgbClr val="043962"/>
                          </a:solidFill>
                          <a:latin typeface="Calibri" pitchFamily="34" charset="0"/>
                          <a:ea typeface="Calibri" pitchFamily="34" charset="-122"/>
                          <a:cs typeface="Calibri" pitchFamily="34" charset="-120"/>
                        </a:rPr>
                        <a:t>actif jusqu'au bout</a:t>
                      </a:r>
                      <a:endParaRPr lang="fr-FR" sz="75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5" name="Text 2"/>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- 25/50</a:t>
            </a:r>
            <a:endParaRPr lang="fr-FR" sz="800"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LES SOURCES</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Les 13 ancrages documentaires du scénario</a:t>
            </a:r>
            <a:endParaRPr lang="fr-FR" sz="2500" noProof="0" dirty="0"/>
          </a:p>
        </p:txBody>
      </p:sp>
      <p:graphicFrame>
        <p:nvGraphicFramePr>
          <p:cNvPr id="29" name="Table 0"/>
          <p:cNvGraphicFramePr>
            <a:graphicFrameLocks noGrp="1"/>
          </p:cNvGraphicFramePr>
          <p:nvPr>
            <p:extLst>
              <p:ext uri="{D42A27DB-BD31-4B8C-83A1-F6EECF244321}">
                <p14:modId xmlns:p14="http://schemas.microsoft.com/office/powerpoint/2010/main" val="4024847210"/>
              </p:ext>
            </p:extLst>
          </p:nvPr>
        </p:nvGraphicFramePr>
        <p:xfrm>
          <a:off x="502920" y="1298448"/>
          <a:ext cx="8138160" cy="3584448"/>
        </p:xfrm>
        <a:graphic>
          <a:graphicData uri="http://schemas.openxmlformats.org/drawingml/2006/table">
            <a:tbl>
              <a:tblPr/>
              <a:tblGrid>
                <a:gridCol w="155448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256032">
                <a:tc>
                  <a:txBody>
                    <a:bodyPr/>
                    <a:lstStyle/>
                    <a:p>
                      <a:pPr marL="0" indent="0">
                        <a:buNone/>
                      </a:pPr>
                      <a:r>
                        <a:rPr lang="fr-FR" sz="800" b="1" noProof="0" dirty="0">
                          <a:solidFill>
                            <a:srgbClr val="FFFFFF"/>
                          </a:solidFill>
                          <a:latin typeface="Calibri" pitchFamily="34" charset="0"/>
                          <a:ea typeface="Calibri" pitchFamily="34" charset="-122"/>
                          <a:cs typeface="Calibri" pitchFamily="34" charset="-120"/>
                        </a:rPr>
                        <a:t>Clé (scenario.py)</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800" b="1" noProof="0" dirty="0">
                          <a:solidFill>
                            <a:srgbClr val="FFFFFF"/>
                          </a:solidFill>
                          <a:latin typeface="Calibri" pitchFamily="34" charset="0"/>
                          <a:ea typeface="Calibri" pitchFamily="34" charset="-122"/>
                          <a:cs typeface="Calibri" pitchFamily="34" charset="-120"/>
                        </a:rPr>
                        <a:t>Source réelle ancrant l'épisode</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extLst>
                  <a:ext uri="{0D108BD9-81ED-4DB2-BD59-A6C34878D82A}">
                    <a16:rowId xmlns:a16="http://schemas.microsoft.com/office/drawing/2014/main" val="10000"/>
                  </a:ext>
                </a:extLst>
              </a:tr>
              <a:tr h="256032">
                <a:tc>
                  <a:txBody>
                    <a:bodyPr/>
                    <a:lstStyle/>
                    <a:p>
                      <a:pPr marL="0" indent="0">
                        <a:buNone/>
                      </a:pPr>
                      <a:r>
                        <a:rPr lang="fr-FR" sz="800" noProof="0" dirty="0">
                          <a:solidFill>
                            <a:srgbClr val="043962"/>
                          </a:solidFill>
                          <a:latin typeface="Calibri" pitchFamily="34" charset="0"/>
                          <a:ea typeface="Calibri" pitchFamily="34" charset="-122"/>
                          <a:cs typeface="Calibri" pitchFamily="34" charset="-120"/>
                        </a:rPr>
                        <a:t>chronologie</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800" noProof="0" dirty="0" err="1">
                          <a:solidFill>
                            <a:srgbClr val="043962"/>
                          </a:solidFill>
                          <a:latin typeface="Calibri" pitchFamily="34" charset="0"/>
                          <a:ea typeface="Calibri" pitchFamily="34" charset="-122"/>
                          <a:cs typeface="Calibri" pitchFamily="34" charset="-120"/>
                        </a:rPr>
                        <a:t>Wikipedia</a:t>
                      </a:r>
                      <a:r>
                        <a:rPr lang="fr-FR" sz="800" noProof="0" dirty="0">
                          <a:solidFill>
                            <a:srgbClr val="043962"/>
                          </a:solidFill>
                          <a:latin typeface="Calibri" pitchFamily="34" charset="0"/>
                          <a:ea typeface="Calibri" pitchFamily="34" charset="-122"/>
                          <a:cs typeface="Calibri" pitchFamily="34" charset="-120"/>
                        </a:rPr>
                        <a:t> - 2020-2023 global chip </a:t>
                      </a:r>
                      <a:r>
                        <a:rPr lang="fr-FR" sz="800" noProof="0" dirty="0" err="1">
                          <a:solidFill>
                            <a:srgbClr val="043962"/>
                          </a:solidFill>
                          <a:latin typeface="Calibri" pitchFamily="34" charset="0"/>
                          <a:ea typeface="Calibri" pitchFamily="34" charset="-122"/>
                          <a:cs typeface="Calibri" pitchFamily="34" charset="-120"/>
                        </a:rPr>
                        <a:t>shortage</a:t>
                      </a:r>
                      <a:r>
                        <a:rPr lang="fr-FR" sz="800" noProof="0" dirty="0">
                          <a:solidFill>
                            <a:srgbClr val="043962"/>
                          </a:solidFill>
                          <a:latin typeface="Calibri" pitchFamily="34" charset="0"/>
                          <a:ea typeface="Calibri" pitchFamily="34" charset="-122"/>
                          <a:cs typeface="Calibri" pitchFamily="34" charset="-120"/>
                        </a:rPr>
                        <a:t> (timeline) ; S&amp;P Global Automotive Insights (juil. 2023)</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fr-FR" sz="800" noProof="0" dirty="0" err="1">
                          <a:solidFill>
                            <a:srgbClr val="043962"/>
                          </a:solidFill>
                          <a:latin typeface="Calibri" pitchFamily="34" charset="0"/>
                          <a:ea typeface="Calibri" pitchFamily="34" charset="-122"/>
                          <a:cs typeface="Calibri" pitchFamily="34" charset="-120"/>
                        </a:rPr>
                        <a:t>delais_broadcom</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800" noProof="0" dirty="0">
                          <a:solidFill>
                            <a:srgbClr val="043962"/>
                          </a:solidFill>
                          <a:latin typeface="Calibri" pitchFamily="34" charset="0"/>
                          <a:ea typeface="Calibri" pitchFamily="34" charset="-122"/>
                          <a:cs typeface="Calibri" pitchFamily="34" charset="-120"/>
                        </a:rPr>
                        <a:t>Presse spécialisée : délais 12,2 sem. (févr. 2020) → 22,2 sem. (avr. 2021)</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2"/>
                  </a:ext>
                </a:extLst>
              </a:tr>
              <a:tr h="256032">
                <a:tc>
                  <a:txBody>
                    <a:bodyPr/>
                    <a:lstStyle/>
                    <a:p>
                      <a:pPr marL="0" indent="0">
                        <a:buNone/>
                      </a:pPr>
                      <a:r>
                        <a:rPr lang="fr-FR" sz="800" noProof="0" dirty="0" err="1">
                          <a:solidFill>
                            <a:srgbClr val="043962"/>
                          </a:solidFill>
                          <a:latin typeface="Calibri" pitchFamily="34" charset="0"/>
                          <a:ea typeface="Calibri" pitchFamily="34" charset="-122"/>
                          <a:cs typeface="Calibri" pitchFamily="34" charset="-120"/>
                        </a:rPr>
                        <a:t>gel_texas</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800" noProof="0" dirty="0">
                          <a:solidFill>
                            <a:srgbClr val="043962"/>
                          </a:solidFill>
                          <a:latin typeface="Calibri" pitchFamily="34" charset="0"/>
                          <a:ea typeface="Calibri" pitchFamily="34" charset="-122"/>
                          <a:cs typeface="Calibri" pitchFamily="34" charset="-120"/>
                        </a:rPr>
                        <a:t>Arrêt des </a:t>
                      </a:r>
                      <a:r>
                        <a:rPr lang="fr-FR" sz="800" noProof="0" dirty="0" err="1">
                          <a:solidFill>
                            <a:srgbClr val="043962"/>
                          </a:solidFill>
                          <a:latin typeface="Calibri" pitchFamily="34" charset="0"/>
                          <a:ea typeface="Calibri" pitchFamily="34" charset="-122"/>
                          <a:cs typeface="Calibri" pitchFamily="34" charset="-120"/>
                        </a:rPr>
                        <a:t>fabs</a:t>
                      </a:r>
                      <a:r>
                        <a:rPr lang="fr-FR" sz="800" noProof="0" dirty="0">
                          <a:solidFill>
                            <a:srgbClr val="043962"/>
                          </a:solidFill>
                          <a:latin typeface="Calibri" pitchFamily="34" charset="0"/>
                          <a:ea typeface="Calibri" pitchFamily="34" charset="-122"/>
                          <a:cs typeface="Calibri" pitchFamily="34" charset="-120"/>
                        </a:rPr>
                        <a:t> d'Austin (Samsung/NXP/</a:t>
                      </a:r>
                      <a:r>
                        <a:rPr lang="fr-FR" sz="800" noProof="0" dirty="0" err="1">
                          <a:solidFill>
                            <a:srgbClr val="043962"/>
                          </a:solidFill>
                          <a:latin typeface="Calibri" pitchFamily="34" charset="0"/>
                          <a:ea typeface="Calibri" pitchFamily="34" charset="-122"/>
                          <a:cs typeface="Calibri" pitchFamily="34" charset="-120"/>
                        </a:rPr>
                        <a:t>Infineon</a:t>
                      </a:r>
                      <a:r>
                        <a:rPr lang="fr-FR" sz="800" noProof="0" dirty="0">
                          <a:solidFill>
                            <a:srgbClr val="043962"/>
                          </a:solidFill>
                          <a:latin typeface="Calibri" pitchFamily="34" charset="0"/>
                          <a:ea typeface="Calibri" pitchFamily="34" charset="-122"/>
                          <a:cs typeface="Calibri" pitchFamily="34" charset="-120"/>
                        </a:rPr>
                        <a:t>), févr. 2021, ~1 mois de redémarrage</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buNone/>
                      </a:pPr>
                      <a:r>
                        <a:rPr lang="fr-FR" sz="800" noProof="0" dirty="0">
                          <a:solidFill>
                            <a:srgbClr val="043962"/>
                          </a:solidFill>
                          <a:latin typeface="Calibri" pitchFamily="34" charset="0"/>
                          <a:ea typeface="Calibri" pitchFamily="34" charset="-122"/>
                          <a:cs typeface="Calibri" pitchFamily="34" charset="-120"/>
                        </a:rPr>
                        <a:t>incendie</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800" noProof="0" dirty="0">
                          <a:solidFill>
                            <a:srgbClr val="043962"/>
                          </a:solidFill>
                          <a:latin typeface="Calibri" pitchFamily="34" charset="0"/>
                          <a:ea typeface="Calibri" pitchFamily="34" charset="-122"/>
                          <a:cs typeface="Calibri" pitchFamily="34" charset="-120"/>
                        </a:rPr>
                        <a:t>Incendie </a:t>
                      </a:r>
                      <a:r>
                        <a:rPr lang="fr-FR" sz="800" noProof="0" dirty="0" err="1">
                          <a:solidFill>
                            <a:srgbClr val="043962"/>
                          </a:solidFill>
                          <a:latin typeface="Calibri" pitchFamily="34" charset="0"/>
                          <a:ea typeface="Calibri" pitchFamily="34" charset="-122"/>
                          <a:cs typeface="Calibri" pitchFamily="34" charset="-120"/>
                        </a:rPr>
                        <a:t>Renesas</a:t>
                      </a:r>
                      <a:r>
                        <a:rPr lang="fr-FR" sz="800" noProof="0" dirty="0">
                          <a:solidFill>
                            <a:srgbClr val="043962"/>
                          </a:solidFill>
                          <a:latin typeface="Calibri" pitchFamily="34" charset="0"/>
                          <a:ea typeface="Calibri" pitchFamily="34" charset="-122"/>
                          <a:cs typeface="Calibri" pitchFamily="34" charset="-120"/>
                        </a:rPr>
                        <a:t> Naka, mars 2021, ~100 jours de retour au niveau pré-incendie</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4"/>
                  </a:ext>
                </a:extLst>
              </a:tr>
              <a:tr h="256032">
                <a:tc>
                  <a:txBody>
                    <a:bodyPr/>
                    <a:lstStyle/>
                    <a:p>
                      <a:pPr marL="0" indent="0">
                        <a:buNone/>
                      </a:pPr>
                      <a:r>
                        <a:rPr lang="fr-FR" sz="800" noProof="0" dirty="0" err="1">
                          <a:solidFill>
                            <a:srgbClr val="043962"/>
                          </a:solidFill>
                          <a:latin typeface="Calibri" pitchFamily="34" charset="0"/>
                          <a:ea typeface="Calibri" pitchFamily="34" charset="-122"/>
                          <a:cs typeface="Calibri" pitchFamily="34" charset="-120"/>
                        </a:rPr>
                        <a:t>secheresse</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800" noProof="0" dirty="0">
                          <a:solidFill>
                            <a:srgbClr val="043962"/>
                          </a:solidFill>
                          <a:latin typeface="Calibri" pitchFamily="34" charset="0"/>
                          <a:ea typeface="Calibri" pitchFamily="34" charset="-122"/>
                          <a:cs typeface="Calibri" pitchFamily="34" charset="-120"/>
                        </a:rPr>
                        <a:t>Sécheresse Taïwan 2021, rationnement d'eau, camions-citernes affrétés par les fondeurs</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buNone/>
                      </a:pPr>
                      <a:r>
                        <a:rPr lang="fr-FR" sz="800" noProof="0" dirty="0">
                          <a:solidFill>
                            <a:srgbClr val="043962"/>
                          </a:solidFill>
                          <a:latin typeface="Calibri" pitchFamily="34" charset="0"/>
                          <a:ea typeface="Calibri" pitchFamily="34" charset="-122"/>
                          <a:cs typeface="Calibri" pitchFamily="34" charset="-120"/>
                        </a:rPr>
                        <a:t>suez</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800" noProof="0" dirty="0">
                          <a:solidFill>
                            <a:srgbClr val="043962"/>
                          </a:solidFill>
                          <a:latin typeface="Calibri" pitchFamily="34" charset="0"/>
                          <a:ea typeface="Calibri" pitchFamily="34" charset="-122"/>
                          <a:cs typeface="Calibri" pitchFamily="34" charset="-120"/>
                        </a:rPr>
                        <a:t>Ever Given, canal de Suez, mars 2021, 6 jours de blocage</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6"/>
                  </a:ext>
                </a:extLst>
              </a:tr>
              <a:tr h="256032">
                <a:tc>
                  <a:txBody>
                    <a:bodyPr/>
                    <a:lstStyle/>
                    <a:p>
                      <a:pPr marL="0" indent="0">
                        <a:buNone/>
                      </a:pPr>
                      <a:r>
                        <a:rPr lang="fr-FR" sz="800" noProof="0" dirty="0" err="1">
                          <a:solidFill>
                            <a:srgbClr val="043962"/>
                          </a:solidFill>
                          <a:latin typeface="Calibri" pitchFamily="34" charset="0"/>
                          <a:ea typeface="Calibri" pitchFamily="34" charset="-122"/>
                          <a:cs typeface="Calibri" pitchFamily="34" charset="-120"/>
                        </a:rPr>
                        <a:t>malaisie</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800" noProof="0" dirty="0">
                          <a:solidFill>
                            <a:srgbClr val="043962"/>
                          </a:solidFill>
                          <a:latin typeface="Calibri" pitchFamily="34" charset="0"/>
                          <a:ea typeface="Calibri" pitchFamily="34" charset="-122"/>
                          <a:cs typeface="Calibri" pitchFamily="34" charset="-120"/>
                        </a:rPr>
                        <a:t>Confinements Malaisie été 2021, backend </a:t>
                      </a:r>
                      <a:r>
                        <a:rPr lang="fr-FR" sz="800" noProof="0" dirty="0" err="1">
                          <a:solidFill>
                            <a:srgbClr val="043962"/>
                          </a:solidFill>
                          <a:latin typeface="Calibri" pitchFamily="34" charset="0"/>
                          <a:ea typeface="Calibri" pitchFamily="34" charset="-122"/>
                          <a:cs typeface="Calibri" pitchFamily="34" charset="-120"/>
                        </a:rPr>
                        <a:t>assembly</a:t>
                      </a:r>
                      <a:r>
                        <a:rPr lang="fr-FR" sz="800" noProof="0" dirty="0">
                          <a:solidFill>
                            <a:srgbClr val="043962"/>
                          </a:solidFill>
                          <a:latin typeface="Calibri" pitchFamily="34" charset="0"/>
                          <a:ea typeface="Calibri" pitchFamily="34" charset="-122"/>
                          <a:cs typeface="Calibri" pitchFamily="34" charset="-120"/>
                        </a:rPr>
                        <a:t>/test</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buNone/>
                      </a:pPr>
                      <a:r>
                        <a:rPr lang="fr-FR" sz="800" noProof="0" dirty="0" err="1">
                          <a:solidFill>
                            <a:srgbClr val="043962"/>
                          </a:solidFill>
                          <a:latin typeface="Calibri" pitchFamily="34" charset="0"/>
                          <a:ea typeface="Calibri" pitchFamily="34" charset="-122"/>
                          <a:cs typeface="Calibri" pitchFamily="34" charset="-120"/>
                        </a:rPr>
                        <a:t>toyota</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800" noProof="0" dirty="0">
                          <a:solidFill>
                            <a:srgbClr val="043962"/>
                          </a:solidFill>
                          <a:latin typeface="Calibri" pitchFamily="34" charset="0"/>
                          <a:ea typeface="Calibri" pitchFamily="34" charset="-122"/>
                          <a:cs typeface="Calibri" pitchFamily="34" charset="-120"/>
                        </a:rPr>
                        <a:t>Toyota : réduction ~40 % de la production, sept. 2021 ; arrêts GM</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8"/>
                  </a:ext>
                </a:extLst>
              </a:tr>
              <a:tr h="256032">
                <a:tc>
                  <a:txBody>
                    <a:bodyPr/>
                    <a:lstStyle/>
                    <a:p>
                      <a:pPr marL="0" indent="0">
                        <a:buNone/>
                      </a:pPr>
                      <a:r>
                        <a:rPr lang="fr-FR" sz="800" noProof="0" dirty="0">
                          <a:solidFill>
                            <a:srgbClr val="043962"/>
                          </a:solidFill>
                          <a:latin typeface="Calibri" pitchFamily="34" charset="0"/>
                          <a:ea typeface="Calibri" pitchFamily="34" charset="-122"/>
                          <a:cs typeface="Calibri" pitchFamily="34" charset="-120"/>
                        </a:rPr>
                        <a:t>congestion</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800" noProof="0" dirty="0">
                          <a:solidFill>
                            <a:srgbClr val="043962"/>
                          </a:solidFill>
                          <a:latin typeface="Calibri" pitchFamily="34" charset="0"/>
                          <a:ea typeface="Calibri" pitchFamily="34" charset="-122"/>
                          <a:cs typeface="Calibri" pitchFamily="34" charset="-120"/>
                        </a:rPr>
                        <a:t>Congestion Los Angeles/Long Beach, oct.-nov. 2021, 100+ navires</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6032">
                <a:tc>
                  <a:txBody>
                    <a:bodyPr/>
                    <a:lstStyle/>
                    <a:p>
                      <a:pPr marL="0" indent="0">
                        <a:buNone/>
                      </a:pPr>
                      <a:r>
                        <a:rPr lang="fr-FR" sz="800" noProof="0" dirty="0">
                          <a:solidFill>
                            <a:srgbClr val="043962"/>
                          </a:solidFill>
                          <a:latin typeface="Calibri" pitchFamily="34" charset="0"/>
                          <a:ea typeface="Calibri" pitchFamily="34" charset="-122"/>
                          <a:cs typeface="Calibri" pitchFamily="34" charset="-120"/>
                        </a:rPr>
                        <a:t>polysilicium</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800" noProof="0" dirty="0">
                          <a:solidFill>
                            <a:srgbClr val="043962"/>
                          </a:solidFill>
                          <a:latin typeface="Calibri" pitchFamily="34" charset="0"/>
                          <a:ea typeface="Calibri" pitchFamily="34" charset="-122"/>
                          <a:cs typeface="Calibri" pitchFamily="34" charset="-120"/>
                        </a:rPr>
                        <a:t>Flambée du polysilicium 2021 (×3 sur l'année)</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10"/>
                  </a:ext>
                </a:extLst>
              </a:tr>
              <a:tr h="256032">
                <a:tc>
                  <a:txBody>
                    <a:bodyPr/>
                    <a:lstStyle/>
                    <a:p>
                      <a:pPr marL="0" indent="0">
                        <a:buNone/>
                      </a:pPr>
                      <a:r>
                        <a:rPr lang="fr-FR" sz="800" noProof="0" dirty="0" err="1">
                          <a:solidFill>
                            <a:srgbClr val="043962"/>
                          </a:solidFill>
                          <a:latin typeface="Calibri" pitchFamily="34" charset="0"/>
                          <a:ea typeface="Calibri" pitchFamily="34" charset="-122"/>
                          <a:cs typeface="Calibri" pitchFamily="34" charset="-120"/>
                        </a:rPr>
                        <a:t>meridian_plein</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800" noProof="0" dirty="0" err="1">
                          <a:solidFill>
                            <a:srgbClr val="043962"/>
                          </a:solidFill>
                          <a:latin typeface="Calibri" pitchFamily="34" charset="0"/>
                          <a:ea typeface="Calibri" pitchFamily="34" charset="-122"/>
                          <a:cs typeface="Calibri" pitchFamily="34" charset="-120"/>
                        </a:rPr>
                        <a:t>GlobalFoundries</a:t>
                      </a:r>
                      <a:r>
                        <a:rPr lang="fr-FR" sz="800" noProof="0" dirty="0">
                          <a:solidFill>
                            <a:srgbClr val="043962"/>
                          </a:solidFill>
                          <a:latin typeface="Calibri" pitchFamily="34" charset="0"/>
                          <a:ea typeface="Calibri" pitchFamily="34" charset="-122"/>
                          <a:cs typeface="Calibri" pitchFamily="34" charset="-120"/>
                        </a:rPr>
                        <a:t> : capacité vendue jusqu'à mi-2023 (annonces 2021)</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56032">
                <a:tc>
                  <a:txBody>
                    <a:bodyPr/>
                    <a:lstStyle/>
                    <a:p>
                      <a:pPr marL="0" indent="0">
                        <a:buNone/>
                      </a:pPr>
                      <a:r>
                        <a:rPr lang="fr-FR" sz="800" noProof="0" dirty="0" err="1">
                          <a:solidFill>
                            <a:srgbClr val="043962"/>
                          </a:solidFill>
                          <a:latin typeface="Calibri" pitchFamily="34" charset="0"/>
                          <a:ea typeface="Calibri" pitchFamily="34" charset="-122"/>
                          <a:cs typeface="Calibri" pitchFamily="34" charset="-120"/>
                        </a:rPr>
                        <a:t>wri</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800" noProof="0" dirty="0" err="1">
                          <a:solidFill>
                            <a:srgbClr val="043962"/>
                          </a:solidFill>
                          <a:latin typeface="Calibri" pitchFamily="34" charset="0"/>
                          <a:ea typeface="Calibri" pitchFamily="34" charset="-122"/>
                          <a:cs typeface="Calibri" pitchFamily="34" charset="-120"/>
                        </a:rPr>
                        <a:t>WorldRiskIndex</a:t>
                      </a:r>
                      <a:r>
                        <a:rPr lang="fr-FR" sz="800" noProof="0" dirty="0">
                          <a:solidFill>
                            <a:srgbClr val="043962"/>
                          </a:solidFill>
                          <a:latin typeface="Calibri" pitchFamily="34" charset="0"/>
                          <a:ea typeface="Calibri" pitchFamily="34" charset="-122"/>
                          <a:cs typeface="Calibri" pitchFamily="34" charset="-120"/>
                        </a:rPr>
                        <a:t> 2021 (</a:t>
                      </a:r>
                      <a:r>
                        <a:rPr lang="fr-FR" sz="800" noProof="0" dirty="0" err="1">
                          <a:solidFill>
                            <a:srgbClr val="043962"/>
                          </a:solidFill>
                          <a:latin typeface="Calibri" pitchFamily="34" charset="0"/>
                          <a:ea typeface="Calibri" pitchFamily="34" charset="-122"/>
                          <a:cs typeface="Calibri" pitchFamily="34" charset="-120"/>
                        </a:rPr>
                        <a:t>env_exposure</a:t>
                      </a:r>
                      <a:r>
                        <a:rPr lang="fr-FR" sz="800" noProof="0" dirty="0">
                          <a:solidFill>
                            <a:srgbClr val="043962"/>
                          </a:solidFill>
                          <a:latin typeface="Calibri" pitchFamily="34" charset="0"/>
                          <a:ea typeface="Calibri" pitchFamily="34" charset="-122"/>
                          <a:cs typeface="Calibri" pitchFamily="34" charset="-120"/>
                        </a:rPr>
                        <a:t> par pays)</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12"/>
                  </a:ext>
                </a:extLst>
              </a:tr>
              <a:tr h="256032">
                <a:tc>
                  <a:txBody>
                    <a:bodyPr/>
                    <a:lstStyle/>
                    <a:p>
                      <a:pPr marL="0" indent="0">
                        <a:buNone/>
                      </a:pPr>
                      <a:r>
                        <a:rPr lang="fr-FR" sz="800" noProof="0" dirty="0" err="1">
                          <a:solidFill>
                            <a:srgbClr val="043962"/>
                          </a:solidFill>
                          <a:latin typeface="Calibri" pitchFamily="34" charset="0"/>
                          <a:ea typeface="Calibri" pitchFamily="34" charset="-122"/>
                          <a:cs typeface="Calibri" pitchFamily="34" charset="-120"/>
                        </a:rPr>
                        <a:t>wgi</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800" noProof="0" dirty="0">
                          <a:solidFill>
                            <a:srgbClr val="043962"/>
                          </a:solidFill>
                          <a:latin typeface="Calibri" pitchFamily="34" charset="0"/>
                          <a:ea typeface="Calibri" pitchFamily="34" charset="-122"/>
                          <a:cs typeface="Calibri" pitchFamily="34" charset="-120"/>
                        </a:rPr>
                        <a:t>Worldwide </a:t>
                      </a:r>
                      <a:r>
                        <a:rPr lang="fr-FR" sz="800" noProof="0" dirty="0" err="1">
                          <a:solidFill>
                            <a:srgbClr val="043962"/>
                          </a:solidFill>
                          <a:latin typeface="Calibri" pitchFamily="34" charset="0"/>
                          <a:ea typeface="Calibri" pitchFamily="34" charset="-122"/>
                          <a:cs typeface="Calibri" pitchFamily="34" charset="-120"/>
                        </a:rPr>
                        <a:t>Governance</a:t>
                      </a:r>
                      <a:r>
                        <a:rPr lang="fr-FR" sz="800" noProof="0" dirty="0">
                          <a:solidFill>
                            <a:srgbClr val="043962"/>
                          </a:solidFill>
                          <a:latin typeface="Calibri" pitchFamily="34" charset="0"/>
                          <a:ea typeface="Calibri" pitchFamily="34" charset="-122"/>
                          <a:cs typeface="Calibri" pitchFamily="34" charset="-120"/>
                        </a:rPr>
                        <a:t> </a:t>
                      </a:r>
                      <a:r>
                        <a:rPr lang="fr-FR" sz="800" noProof="0" dirty="0" err="1">
                          <a:solidFill>
                            <a:srgbClr val="043962"/>
                          </a:solidFill>
                          <a:latin typeface="Calibri" pitchFamily="34" charset="0"/>
                          <a:ea typeface="Calibri" pitchFamily="34" charset="-122"/>
                          <a:cs typeface="Calibri" pitchFamily="34" charset="-120"/>
                        </a:rPr>
                        <a:t>Indicators</a:t>
                      </a:r>
                      <a:r>
                        <a:rPr lang="fr-FR" sz="800" noProof="0" dirty="0">
                          <a:solidFill>
                            <a:srgbClr val="043962"/>
                          </a:solidFill>
                          <a:latin typeface="Calibri" pitchFamily="34" charset="0"/>
                          <a:ea typeface="Calibri" pitchFamily="34" charset="-122"/>
                          <a:cs typeface="Calibri" pitchFamily="34" charset="-120"/>
                        </a:rPr>
                        <a:t>, Banque mondiale (</a:t>
                      </a:r>
                      <a:r>
                        <a:rPr lang="fr-FR" sz="800" noProof="0" dirty="0" err="1">
                          <a:solidFill>
                            <a:srgbClr val="043962"/>
                          </a:solidFill>
                          <a:latin typeface="Calibri" pitchFamily="34" charset="0"/>
                          <a:ea typeface="Calibri" pitchFamily="34" charset="-122"/>
                          <a:cs typeface="Calibri" pitchFamily="34" charset="-120"/>
                        </a:rPr>
                        <a:t>political_risk</a:t>
                      </a:r>
                      <a:r>
                        <a:rPr lang="fr-FR" sz="800" noProof="0" dirty="0">
                          <a:solidFill>
                            <a:srgbClr val="043962"/>
                          </a:solidFill>
                          <a:latin typeface="Calibri" pitchFamily="34" charset="0"/>
                          <a:ea typeface="Calibri" pitchFamily="34" charset="-122"/>
                          <a:cs typeface="Calibri" pitchFamily="34" charset="-120"/>
                        </a:rPr>
                        <a:t>)</a:t>
                      </a:r>
                      <a:endParaRPr lang="fr-FR" sz="800" noProof="0" dirty="0">
                        <a:latin typeface="Calibri" charset="0"/>
                        <a:ea typeface="Calibri" charset="0"/>
                        <a:cs typeface="Calibri" charset="0"/>
                      </a:endParaRPr>
                    </a:p>
                  </a:txBody>
                  <a:tcPr marL="45720" marR="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
        <p:nvSpPr>
          <p:cNvPr id="5" name="Text 2"/>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- 28/50</a:t>
            </a:r>
            <a:endParaRPr lang="fr-FR" sz="800" noProof="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LES FICHES</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Ce que reçoit un consultant</a:t>
            </a:r>
            <a:endParaRPr lang="fr-FR" sz="2500" noProof="0" dirty="0"/>
          </a:p>
        </p:txBody>
      </p:sp>
      <p:sp>
        <p:nvSpPr>
          <p:cNvPr id="4" name="Shape 2"/>
          <p:cNvSpPr/>
          <p:nvPr/>
        </p:nvSpPr>
        <p:spPr>
          <a:xfrm>
            <a:off x="502920" y="1298448"/>
            <a:ext cx="3950208" cy="585216"/>
          </a:xfrm>
          <a:prstGeom prst="roundRect">
            <a:avLst>
              <a:gd name="adj" fmla="val 10938"/>
            </a:avLst>
          </a:prstGeom>
          <a:solidFill>
            <a:srgbClr val="FFFFFF"/>
          </a:solidFill>
          <a:ln w="12700">
            <a:solidFill>
              <a:srgbClr val="FFFFFF"/>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30936" y="1344168"/>
            <a:ext cx="1234440" cy="493776"/>
          </a:xfrm>
          <a:prstGeom prst="rect">
            <a:avLst/>
          </a:prstGeom>
          <a:noFill/>
          <a:ln/>
        </p:spPr>
        <p:txBody>
          <a:bodyPr wrap="square" lIns="0" tIns="0" rIns="0" bIns="0" rtlCol="0" anchor="ctr"/>
          <a:lstStyle/>
          <a:p>
            <a:pPr marL="0" indent="0">
              <a:buNone/>
            </a:pPr>
            <a:r>
              <a:rPr lang="fr-FR" sz="900" b="1" noProof="0" dirty="0">
                <a:solidFill>
                  <a:srgbClr val="176F98"/>
                </a:solidFill>
                <a:latin typeface="Calibri" pitchFamily="34" charset="0"/>
                <a:ea typeface="Calibri" pitchFamily="34" charset="-122"/>
                <a:cs typeface="Calibri" pitchFamily="34" charset="-120"/>
              </a:rPr>
              <a:t>1 - En-tête</a:t>
            </a:r>
            <a:endParaRPr lang="fr-FR" sz="900" noProof="0" dirty="0"/>
          </a:p>
        </p:txBody>
      </p:sp>
      <p:sp>
        <p:nvSpPr>
          <p:cNvPr id="6" name="Text 4"/>
          <p:cNvSpPr/>
          <p:nvPr/>
        </p:nvSpPr>
        <p:spPr>
          <a:xfrm>
            <a:off x="1892808" y="1344168"/>
            <a:ext cx="2450592" cy="493776"/>
          </a:xfrm>
          <a:prstGeom prst="rect">
            <a:avLst/>
          </a:prstGeom>
          <a:noFill/>
          <a:ln/>
        </p:spPr>
        <p:txBody>
          <a:bodyPr wrap="square" lIns="0" tIns="0" rIns="0" bIns="0" rtlCol="0" anchor="ctr"/>
          <a:lstStyle/>
          <a:p>
            <a:pPr marL="0" indent="0">
              <a:buNone/>
            </a:pPr>
            <a:r>
              <a:rPr lang="fr-FR" sz="760" noProof="0" dirty="0">
                <a:solidFill>
                  <a:srgbClr val="043962"/>
                </a:solidFill>
                <a:latin typeface="Calibri" pitchFamily="34" charset="0"/>
                <a:ea typeface="Calibri" pitchFamily="34" charset="-122"/>
                <a:cs typeface="Calibri" pitchFamily="34" charset="-120"/>
              </a:rPr>
              <a:t>Votre entreprise, votre site, vos clients directs et vos fournisseurs directs. Rien sur le reste du réseau.</a:t>
            </a:r>
            <a:endParaRPr lang="fr-FR" sz="760" noProof="0" dirty="0"/>
          </a:p>
        </p:txBody>
      </p:sp>
      <p:sp>
        <p:nvSpPr>
          <p:cNvPr id="7" name="Shape 5"/>
          <p:cNvSpPr/>
          <p:nvPr/>
        </p:nvSpPr>
        <p:spPr>
          <a:xfrm>
            <a:off x="4690872" y="1298448"/>
            <a:ext cx="3950208" cy="585216"/>
          </a:xfrm>
          <a:prstGeom prst="roundRect">
            <a:avLst>
              <a:gd name="adj" fmla="val 10938"/>
            </a:avLst>
          </a:prstGeom>
          <a:solidFill>
            <a:srgbClr val="EBF3F9"/>
          </a:solidFill>
          <a:ln w="12700">
            <a:solidFill>
              <a:srgbClr val="EBF3F9"/>
            </a:solidFill>
            <a:prstDash val="solid"/>
          </a:ln>
        </p:spPr>
        <p:txBody>
          <a:bodyPr/>
          <a:lstStyle/>
          <a:p>
            <a:endParaRPr lang="fr-FR" noProof="0" dirty="0"/>
          </a:p>
        </p:txBody>
      </p:sp>
      <p:sp>
        <p:nvSpPr>
          <p:cNvPr id="8" name="Text 6"/>
          <p:cNvSpPr/>
          <p:nvPr/>
        </p:nvSpPr>
        <p:spPr>
          <a:xfrm>
            <a:off x="4818888" y="1344168"/>
            <a:ext cx="1234440" cy="493776"/>
          </a:xfrm>
          <a:prstGeom prst="rect">
            <a:avLst/>
          </a:prstGeom>
          <a:noFill/>
          <a:ln/>
        </p:spPr>
        <p:txBody>
          <a:bodyPr wrap="square" lIns="0" tIns="0" rIns="0" bIns="0" rtlCol="0" anchor="ctr"/>
          <a:lstStyle/>
          <a:p>
            <a:pPr marL="0" indent="0">
              <a:buNone/>
            </a:pPr>
            <a:r>
              <a:rPr lang="fr-FR" sz="900" b="1" noProof="0" dirty="0">
                <a:solidFill>
                  <a:srgbClr val="176F98"/>
                </a:solidFill>
                <a:latin typeface="Calibri" pitchFamily="34" charset="0"/>
                <a:ea typeface="Calibri" pitchFamily="34" charset="-122"/>
                <a:cs typeface="Calibri" pitchFamily="34" charset="-120"/>
              </a:rPr>
              <a:t>2 - Revue de presse</a:t>
            </a:r>
            <a:endParaRPr lang="fr-FR" sz="900" noProof="0" dirty="0"/>
          </a:p>
        </p:txBody>
      </p:sp>
      <p:sp>
        <p:nvSpPr>
          <p:cNvPr id="9" name="Text 7"/>
          <p:cNvSpPr/>
          <p:nvPr/>
        </p:nvSpPr>
        <p:spPr>
          <a:xfrm>
            <a:off x="6080760" y="1344168"/>
            <a:ext cx="2450592" cy="493776"/>
          </a:xfrm>
          <a:prstGeom prst="rect">
            <a:avLst/>
          </a:prstGeom>
          <a:noFill/>
          <a:ln/>
        </p:spPr>
        <p:txBody>
          <a:bodyPr wrap="square" lIns="0" tIns="0" rIns="0" bIns="0" rtlCol="0" anchor="ctr"/>
          <a:lstStyle/>
          <a:p>
            <a:pPr marL="0" indent="0">
              <a:buNone/>
            </a:pPr>
            <a:r>
              <a:rPr lang="fr-FR" sz="760" noProof="0" dirty="0">
                <a:solidFill>
                  <a:srgbClr val="043962"/>
                </a:solidFill>
                <a:latin typeface="Calibri" pitchFamily="34" charset="0"/>
                <a:ea typeface="Calibri" pitchFamily="34" charset="-122"/>
                <a:cs typeface="Calibri" pitchFamily="34" charset="-120"/>
              </a:rPr>
              <a:t>Le seul canal identique pour les huit rôles. C'est le bruit public du secteur.</a:t>
            </a:r>
            <a:endParaRPr lang="fr-FR" sz="760" noProof="0" dirty="0"/>
          </a:p>
        </p:txBody>
      </p:sp>
      <p:sp>
        <p:nvSpPr>
          <p:cNvPr id="10" name="Shape 8"/>
          <p:cNvSpPr/>
          <p:nvPr/>
        </p:nvSpPr>
        <p:spPr>
          <a:xfrm>
            <a:off x="502920" y="1956816"/>
            <a:ext cx="3950208" cy="585216"/>
          </a:xfrm>
          <a:prstGeom prst="roundRect">
            <a:avLst>
              <a:gd name="adj" fmla="val 10938"/>
            </a:avLst>
          </a:prstGeom>
          <a:solidFill>
            <a:srgbClr val="FFFFFF"/>
          </a:solidFill>
          <a:ln w="12700">
            <a:solidFill>
              <a:srgbClr val="FFFFFF"/>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11" name="Text 9"/>
          <p:cNvSpPr/>
          <p:nvPr/>
        </p:nvSpPr>
        <p:spPr>
          <a:xfrm>
            <a:off x="630936" y="2002536"/>
            <a:ext cx="1234440" cy="493776"/>
          </a:xfrm>
          <a:prstGeom prst="rect">
            <a:avLst/>
          </a:prstGeom>
          <a:noFill/>
          <a:ln/>
        </p:spPr>
        <p:txBody>
          <a:bodyPr wrap="square" lIns="0" tIns="0" rIns="0" bIns="0" rtlCol="0" anchor="ctr"/>
          <a:lstStyle/>
          <a:p>
            <a:pPr marL="0" indent="0">
              <a:buNone/>
            </a:pPr>
            <a:r>
              <a:rPr lang="fr-FR" sz="900" b="1" noProof="0" dirty="0">
                <a:solidFill>
                  <a:srgbClr val="176F98"/>
                </a:solidFill>
                <a:latin typeface="Calibri" pitchFamily="34" charset="0"/>
                <a:ea typeface="Calibri" pitchFamily="34" charset="-122"/>
                <a:cs typeface="Calibri" pitchFamily="34" charset="-120"/>
              </a:rPr>
              <a:t>3 - Vos échanges</a:t>
            </a:r>
            <a:endParaRPr lang="fr-FR" sz="900" noProof="0" dirty="0"/>
          </a:p>
        </p:txBody>
      </p:sp>
      <p:sp>
        <p:nvSpPr>
          <p:cNvPr id="12" name="Text 10"/>
          <p:cNvSpPr/>
          <p:nvPr/>
        </p:nvSpPr>
        <p:spPr>
          <a:xfrm>
            <a:off x="1892808" y="2002536"/>
            <a:ext cx="2450592" cy="493776"/>
          </a:xfrm>
          <a:prstGeom prst="rect">
            <a:avLst/>
          </a:prstGeom>
          <a:noFill/>
          <a:ln/>
        </p:spPr>
        <p:txBody>
          <a:bodyPr wrap="square" lIns="0" tIns="0" rIns="0" bIns="0" rtlCol="0" anchor="ctr"/>
          <a:lstStyle/>
          <a:p>
            <a:pPr marL="0" indent="0">
              <a:buNone/>
            </a:pPr>
            <a:r>
              <a:rPr lang="fr-FR" sz="760" noProof="0" dirty="0">
                <a:solidFill>
                  <a:srgbClr val="043962"/>
                </a:solidFill>
                <a:latin typeface="Calibri" pitchFamily="34" charset="0"/>
                <a:ea typeface="Calibri" pitchFamily="34" charset="-122"/>
                <a:cs typeface="Calibri" pitchFamily="34" charset="-120"/>
              </a:rPr>
              <a:t>Ce que vos clients et fournisseurs directs vous disent, ce </a:t>
            </a:r>
            <a:r>
              <a:rPr lang="fr-FR" sz="760" noProof="0" dirty="0" err="1">
                <a:solidFill>
                  <a:srgbClr val="043962"/>
                </a:solidFill>
                <a:latin typeface="Calibri" pitchFamily="34" charset="0"/>
                <a:ea typeface="Calibri" pitchFamily="34" charset="-122"/>
                <a:cs typeface="Calibri" pitchFamily="34" charset="-120"/>
              </a:rPr>
              <a:t>tour-ci</a:t>
            </a:r>
            <a:r>
              <a:rPr lang="fr-FR" sz="760" noProof="0" dirty="0">
                <a:solidFill>
                  <a:srgbClr val="043962"/>
                </a:solidFill>
                <a:latin typeface="Calibri" pitchFamily="34" charset="0"/>
                <a:ea typeface="Calibri" pitchFamily="34" charset="-122"/>
                <a:cs typeface="Calibri" pitchFamily="34" charset="-120"/>
              </a:rPr>
              <a:t>. Propre à votre rôle.</a:t>
            </a:r>
            <a:endParaRPr lang="fr-FR" sz="760" noProof="0" dirty="0"/>
          </a:p>
        </p:txBody>
      </p:sp>
      <p:sp>
        <p:nvSpPr>
          <p:cNvPr id="13" name="Shape 11"/>
          <p:cNvSpPr/>
          <p:nvPr/>
        </p:nvSpPr>
        <p:spPr>
          <a:xfrm>
            <a:off x="4690872" y="1956816"/>
            <a:ext cx="3950208" cy="585216"/>
          </a:xfrm>
          <a:prstGeom prst="roundRect">
            <a:avLst>
              <a:gd name="adj" fmla="val 10938"/>
            </a:avLst>
          </a:prstGeom>
          <a:solidFill>
            <a:srgbClr val="EBF3F9"/>
          </a:solidFill>
          <a:ln w="12700">
            <a:solidFill>
              <a:srgbClr val="EBF3F9"/>
            </a:solidFill>
            <a:prstDash val="solid"/>
          </a:ln>
        </p:spPr>
        <p:txBody>
          <a:bodyPr/>
          <a:lstStyle/>
          <a:p>
            <a:endParaRPr lang="fr-FR" noProof="0" dirty="0"/>
          </a:p>
        </p:txBody>
      </p:sp>
      <p:sp>
        <p:nvSpPr>
          <p:cNvPr id="14" name="Text 12"/>
          <p:cNvSpPr/>
          <p:nvPr/>
        </p:nvSpPr>
        <p:spPr>
          <a:xfrm>
            <a:off x="4818888" y="2002536"/>
            <a:ext cx="1234440" cy="493776"/>
          </a:xfrm>
          <a:prstGeom prst="rect">
            <a:avLst/>
          </a:prstGeom>
          <a:noFill/>
          <a:ln/>
        </p:spPr>
        <p:txBody>
          <a:bodyPr wrap="square" lIns="0" tIns="0" rIns="0" bIns="0" rtlCol="0" anchor="ctr"/>
          <a:lstStyle/>
          <a:p>
            <a:pPr marL="0" indent="0">
              <a:buNone/>
            </a:pPr>
            <a:r>
              <a:rPr lang="fr-FR" sz="900" b="1" noProof="0" dirty="0">
                <a:solidFill>
                  <a:srgbClr val="176F98"/>
                </a:solidFill>
                <a:latin typeface="Calibri" pitchFamily="34" charset="0"/>
                <a:ea typeface="Calibri" pitchFamily="34" charset="-122"/>
                <a:cs typeface="Calibri" pitchFamily="34" charset="-120"/>
              </a:rPr>
              <a:t>4 - Vos constats internes</a:t>
            </a:r>
            <a:endParaRPr lang="fr-FR" sz="900" noProof="0" dirty="0"/>
          </a:p>
        </p:txBody>
      </p:sp>
      <p:sp>
        <p:nvSpPr>
          <p:cNvPr id="15" name="Text 13"/>
          <p:cNvSpPr/>
          <p:nvPr/>
        </p:nvSpPr>
        <p:spPr>
          <a:xfrm>
            <a:off x="6080760" y="2002536"/>
            <a:ext cx="2450592" cy="493776"/>
          </a:xfrm>
          <a:prstGeom prst="rect">
            <a:avLst/>
          </a:prstGeom>
          <a:noFill/>
          <a:ln/>
        </p:spPr>
        <p:txBody>
          <a:bodyPr wrap="square" lIns="0" tIns="0" rIns="0" bIns="0" rtlCol="0" anchor="ctr"/>
          <a:lstStyle/>
          <a:p>
            <a:pPr marL="0" indent="0">
              <a:buNone/>
            </a:pPr>
            <a:r>
              <a:rPr lang="fr-FR" sz="760" noProof="0" dirty="0">
                <a:solidFill>
                  <a:srgbClr val="043962"/>
                </a:solidFill>
                <a:latin typeface="Calibri" pitchFamily="34" charset="0"/>
                <a:ea typeface="Calibri" pitchFamily="34" charset="-122"/>
                <a:cs typeface="Calibri" pitchFamily="34" charset="-120"/>
              </a:rPr>
              <a:t>Ce que vous voyez chez vous et que personne d'autre ne voit.</a:t>
            </a:r>
            <a:endParaRPr lang="fr-FR" sz="760" noProof="0" dirty="0"/>
          </a:p>
        </p:txBody>
      </p:sp>
      <p:sp>
        <p:nvSpPr>
          <p:cNvPr id="16" name="Shape 14"/>
          <p:cNvSpPr/>
          <p:nvPr/>
        </p:nvSpPr>
        <p:spPr>
          <a:xfrm>
            <a:off x="502920" y="2615184"/>
            <a:ext cx="3950208" cy="585216"/>
          </a:xfrm>
          <a:prstGeom prst="roundRect">
            <a:avLst>
              <a:gd name="adj" fmla="val 10938"/>
            </a:avLst>
          </a:prstGeom>
          <a:solidFill>
            <a:srgbClr val="FFFFFF"/>
          </a:solidFill>
          <a:ln w="12700">
            <a:solidFill>
              <a:srgbClr val="FFFFFF"/>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17" name="Text 15"/>
          <p:cNvSpPr/>
          <p:nvPr/>
        </p:nvSpPr>
        <p:spPr>
          <a:xfrm>
            <a:off x="630936" y="2660904"/>
            <a:ext cx="1234440" cy="493776"/>
          </a:xfrm>
          <a:prstGeom prst="rect">
            <a:avLst/>
          </a:prstGeom>
          <a:noFill/>
          <a:ln/>
        </p:spPr>
        <p:txBody>
          <a:bodyPr wrap="square" lIns="0" tIns="0" rIns="0" bIns="0" rtlCol="0" anchor="ctr"/>
          <a:lstStyle/>
          <a:p>
            <a:pPr marL="0" indent="0">
              <a:buNone/>
            </a:pPr>
            <a:r>
              <a:rPr lang="fr-FR" sz="900" b="1" noProof="0" dirty="0">
                <a:solidFill>
                  <a:srgbClr val="176F98"/>
                </a:solidFill>
                <a:latin typeface="Calibri" pitchFamily="34" charset="0"/>
                <a:ea typeface="Calibri" pitchFamily="34" charset="-122"/>
                <a:cs typeface="Calibri" pitchFamily="34" charset="-120"/>
              </a:rPr>
              <a:t>5 - Vos indicateurs</a:t>
            </a:r>
            <a:endParaRPr lang="fr-FR" sz="900" noProof="0" dirty="0"/>
          </a:p>
        </p:txBody>
      </p:sp>
      <p:sp>
        <p:nvSpPr>
          <p:cNvPr id="18" name="Text 16"/>
          <p:cNvSpPr/>
          <p:nvPr/>
        </p:nvSpPr>
        <p:spPr>
          <a:xfrm>
            <a:off x="1892808" y="2660904"/>
            <a:ext cx="2450592" cy="493776"/>
          </a:xfrm>
          <a:prstGeom prst="rect">
            <a:avLst/>
          </a:prstGeom>
          <a:noFill/>
          <a:ln/>
        </p:spPr>
        <p:txBody>
          <a:bodyPr wrap="square" lIns="0" tIns="0" rIns="0" bIns="0" rtlCol="0" anchor="ctr"/>
          <a:lstStyle/>
          <a:p>
            <a:pPr marL="0" indent="0">
              <a:buNone/>
            </a:pPr>
            <a:r>
              <a:rPr lang="fr-FR" sz="760" noProof="0" dirty="0">
                <a:solidFill>
                  <a:srgbClr val="043962"/>
                </a:solidFill>
                <a:latin typeface="Calibri" pitchFamily="34" charset="0"/>
                <a:ea typeface="Calibri" pitchFamily="34" charset="-122"/>
                <a:cs typeface="Calibri" pitchFamily="34" charset="-120"/>
              </a:rPr>
              <a:t>Vos KPIs des quatre derniers tours, en libellés métier, jamais les chemins techniques.</a:t>
            </a:r>
            <a:endParaRPr lang="fr-FR" sz="760" noProof="0" dirty="0"/>
          </a:p>
        </p:txBody>
      </p:sp>
      <p:sp>
        <p:nvSpPr>
          <p:cNvPr id="19" name="Shape 17"/>
          <p:cNvSpPr/>
          <p:nvPr/>
        </p:nvSpPr>
        <p:spPr>
          <a:xfrm>
            <a:off x="4690872" y="2615184"/>
            <a:ext cx="3950208" cy="585216"/>
          </a:xfrm>
          <a:prstGeom prst="roundRect">
            <a:avLst>
              <a:gd name="adj" fmla="val 10938"/>
            </a:avLst>
          </a:prstGeom>
          <a:solidFill>
            <a:srgbClr val="EBF3F9"/>
          </a:solidFill>
          <a:ln w="12700">
            <a:solidFill>
              <a:srgbClr val="EBF3F9"/>
            </a:solidFill>
            <a:prstDash val="solid"/>
          </a:ln>
        </p:spPr>
        <p:txBody>
          <a:bodyPr/>
          <a:lstStyle/>
          <a:p>
            <a:endParaRPr lang="fr-FR" noProof="0" dirty="0"/>
          </a:p>
        </p:txBody>
      </p:sp>
      <p:sp>
        <p:nvSpPr>
          <p:cNvPr id="20" name="Text 18"/>
          <p:cNvSpPr/>
          <p:nvPr/>
        </p:nvSpPr>
        <p:spPr>
          <a:xfrm>
            <a:off x="4818888" y="2660904"/>
            <a:ext cx="1234440" cy="493776"/>
          </a:xfrm>
          <a:prstGeom prst="rect">
            <a:avLst/>
          </a:prstGeom>
          <a:noFill/>
          <a:ln/>
        </p:spPr>
        <p:txBody>
          <a:bodyPr wrap="square" lIns="0" tIns="0" rIns="0" bIns="0" rtlCol="0" anchor="ctr"/>
          <a:lstStyle/>
          <a:p>
            <a:pPr marL="0" indent="0">
              <a:buNone/>
            </a:pPr>
            <a:r>
              <a:rPr lang="fr-FR" sz="900" b="1" noProof="0" dirty="0">
                <a:solidFill>
                  <a:srgbClr val="176F98"/>
                </a:solidFill>
                <a:latin typeface="Calibri" pitchFamily="34" charset="0"/>
                <a:ea typeface="Calibri" pitchFamily="34" charset="-122"/>
                <a:cs typeface="Calibri" pitchFamily="34" charset="-120"/>
              </a:rPr>
              <a:t>6 - Vos jalons</a:t>
            </a:r>
            <a:endParaRPr lang="fr-FR" sz="900" noProof="0" dirty="0"/>
          </a:p>
        </p:txBody>
      </p:sp>
      <p:sp>
        <p:nvSpPr>
          <p:cNvPr id="21" name="Text 19"/>
          <p:cNvSpPr/>
          <p:nvPr/>
        </p:nvSpPr>
        <p:spPr>
          <a:xfrm>
            <a:off x="6080760" y="2660904"/>
            <a:ext cx="2450592" cy="493776"/>
          </a:xfrm>
          <a:prstGeom prst="rect">
            <a:avLst/>
          </a:prstGeom>
          <a:noFill/>
          <a:ln/>
        </p:spPr>
        <p:txBody>
          <a:bodyPr wrap="square" lIns="0" tIns="0" rIns="0" bIns="0" rtlCol="0" anchor="ctr"/>
          <a:lstStyle/>
          <a:p>
            <a:pPr marL="0" indent="0">
              <a:buNone/>
            </a:pPr>
            <a:r>
              <a:rPr lang="fr-FR" sz="760" noProof="0" dirty="0">
                <a:solidFill>
                  <a:srgbClr val="043962"/>
                </a:solidFill>
                <a:latin typeface="Calibri" pitchFamily="34" charset="0"/>
                <a:ea typeface="Calibri" pitchFamily="34" charset="-122"/>
                <a:cs typeface="Calibri" pitchFamily="34" charset="-120"/>
              </a:rPr>
              <a:t>Avancement et statut de vos livrables, à vous seul.</a:t>
            </a:r>
            <a:endParaRPr lang="fr-FR" sz="760" noProof="0" dirty="0"/>
          </a:p>
        </p:txBody>
      </p:sp>
      <p:sp>
        <p:nvSpPr>
          <p:cNvPr id="22" name="Shape 20"/>
          <p:cNvSpPr/>
          <p:nvPr/>
        </p:nvSpPr>
        <p:spPr>
          <a:xfrm>
            <a:off x="502920" y="3273552"/>
            <a:ext cx="3950208" cy="585216"/>
          </a:xfrm>
          <a:prstGeom prst="roundRect">
            <a:avLst>
              <a:gd name="adj" fmla="val 10938"/>
            </a:avLst>
          </a:prstGeom>
          <a:solidFill>
            <a:srgbClr val="FFFFFF"/>
          </a:solidFill>
          <a:ln w="12700">
            <a:solidFill>
              <a:srgbClr val="FFFFFF"/>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23" name="Text 21"/>
          <p:cNvSpPr/>
          <p:nvPr/>
        </p:nvSpPr>
        <p:spPr>
          <a:xfrm>
            <a:off x="630936" y="3319272"/>
            <a:ext cx="1234440" cy="493776"/>
          </a:xfrm>
          <a:prstGeom prst="rect">
            <a:avLst/>
          </a:prstGeom>
          <a:noFill/>
          <a:ln/>
        </p:spPr>
        <p:txBody>
          <a:bodyPr wrap="square" lIns="0" tIns="0" rIns="0" bIns="0" rtlCol="0" anchor="ctr"/>
          <a:lstStyle/>
          <a:p>
            <a:pPr marL="0" indent="0">
              <a:buNone/>
            </a:pPr>
            <a:r>
              <a:rPr lang="fr-FR" sz="900" b="1" noProof="0" dirty="0">
                <a:solidFill>
                  <a:srgbClr val="176F98"/>
                </a:solidFill>
                <a:latin typeface="Calibri" pitchFamily="34" charset="0"/>
                <a:ea typeface="Calibri" pitchFamily="34" charset="-122"/>
                <a:cs typeface="Calibri" pitchFamily="34" charset="-120"/>
              </a:rPr>
              <a:t>7 - La consigne</a:t>
            </a:r>
            <a:endParaRPr lang="fr-FR" sz="900" noProof="0" dirty="0"/>
          </a:p>
        </p:txBody>
      </p:sp>
      <p:sp>
        <p:nvSpPr>
          <p:cNvPr id="24" name="Text 22"/>
          <p:cNvSpPr/>
          <p:nvPr/>
        </p:nvSpPr>
        <p:spPr>
          <a:xfrm>
            <a:off x="1892808" y="3319272"/>
            <a:ext cx="2450592" cy="493776"/>
          </a:xfrm>
          <a:prstGeom prst="rect">
            <a:avLst/>
          </a:prstGeom>
          <a:noFill/>
          <a:ln/>
        </p:spPr>
        <p:txBody>
          <a:bodyPr wrap="square" lIns="0" tIns="0" rIns="0" bIns="0" rtlCol="0" anchor="ctr"/>
          <a:lstStyle/>
          <a:p>
            <a:pPr marL="0" indent="0">
              <a:buNone/>
            </a:pPr>
            <a:r>
              <a:rPr lang="fr-FR" sz="760" noProof="0" dirty="0">
                <a:solidFill>
                  <a:srgbClr val="043962"/>
                </a:solidFill>
                <a:latin typeface="Calibri" pitchFamily="34" charset="0"/>
                <a:ea typeface="Calibri" pitchFamily="34" charset="-122"/>
                <a:cs typeface="Calibri" pitchFamily="34" charset="-120"/>
              </a:rPr>
              <a:t>Le questionnaire AHP, quatre critères, dix minutes, et le rappel qu'il n'y a pas de bonne réponse.</a:t>
            </a:r>
            <a:endParaRPr lang="fr-FR" sz="760" noProof="0" dirty="0"/>
          </a:p>
        </p:txBody>
      </p:sp>
      <p:sp>
        <p:nvSpPr>
          <p:cNvPr id="28" name="Text 26"/>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- 29/50</a:t>
            </a:r>
            <a:endParaRPr lang="fr-FR" sz="800" noProof="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EXEMPLE RÉEL</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La fiche de NovaFab au tour 6, le gel du Texas</a:t>
            </a:r>
            <a:endParaRPr lang="fr-FR" sz="2500" noProof="0" dirty="0"/>
          </a:p>
        </p:txBody>
      </p:sp>
      <p:sp>
        <p:nvSpPr>
          <p:cNvPr id="4" name="Shape 2"/>
          <p:cNvSpPr/>
          <p:nvPr/>
        </p:nvSpPr>
        <p:spPr>
          <a:xfrm>
            <a:off x="502920" y="1280160"/>
            <a:ext cx="8138160" cy="3520440"/>
          </a:xfrm>
          <a:prstGeom prst="roundRect">
            <a:avLst>
              <a:gd name="adj" fmla="val 1818"/>
            </a:avLst>
          </a:prstGeom>
          <a:solidFill>
            <a:srgbClr val="FFFFFF"/>
          </a:solidFill>
          <a:ln w="12700">
            <a:solidFill>
              <a:srgbClr val="FFFFFF"/>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85800" y="1371600"/>
            <a:ext cx="7772400" cy="3337560"/>
          </a:xfrm>
          <a:prstGeom prst="rect">
            <a:avLst/>
          </a:prstGeom>
          <a:noFill/>
          <a:ln/>
        </p:spPr>
        <p:txBody>
          <a:bodyPr wrap="square" lIns="0" tIns="0" rIns="0" bIns="0" rtlCol="0" anchor="t"/>
          <a:lstStyle/>
          <a:p>
            <a:pPr marL="0" indent="0">
              <a:lnSpc>
                <a:spcPct val="102000"/>
              </a:lnSpc>
              <a:buNone/>
            </a:pPr>
            <a:r>
              <a:rPr lang="fr-FR" sz="1000" b="1" noProof="0" dirty="0">
                <a:solidFill>
                  <a:srgbClr val="043962"/>
                </a:solidFill>
                <a:latin typeface="Calibri" pitchFamily="34" charset="0"/>
                <a:ea typeface="Calibri" pitchFamily="34" charset="-122"/>
                <a:cs typeface="Calibri" pitchFamily="34" charset="-120"/>
              </a:rPr>
              <a:t>Tour 6 - NovaFab </a:t>
            </a:r>
            <a:r>
              <a:rPr lang="fr-FR" sz="1000" b="1" noProof="0" dirty="0" err="1">
                <a:solidFill>
                  <a:srgbClr val="043962"/>
                </a:solidFill>
                <a:latin typeface="Calibri" pitchFamily="34" charset="0"/>
                <a:ea typeface="Calibri" pitchFamily="34" charset="-122"/>
                <a:cs typeface="Calibri" pitchFamily="34" charset="-120"/>
              </a:rPr>
              <a:t>Semiconductors</a:t>
            </a:r>
            <a:endParaRPr lang="fr-FR" sz="1000" noProof="0" dirty="0"/>
          </a:p>
          <a:p>
            <a:pPr marL="0" indent="0">
              <a:lnSpc>
                <a:spcPct val="102000"/>
              </a:lnSpc>
              <a:buNone/>
            </a:pPr>
            <a:r>
              <a:rPr lang="fr-FR" sz="300" noProof="0" dirty="0">
                <a:solidFill>
                  <a:srgbClr val="000000"/>
                </a:solidFill>
                <a:latin typeface="Calibri" pitchFamily="34" charset="0"/>
                <a:ea typeface="Calibri" pitchFamily="34" charset="-122"/>
                <a:cs typeface="Calibri" pitchFamily="34" charset="-120"/>
              </a:rPr>
              <a:t> </a:t>
            </a:r>
            <a:endParaRPr lang="fr-FR" sz="1000" noProof="0" dirty="0"/>
          </a:p>
          <a:p>
            <a:pPr marL="0" indent="0">
              <a:lnSpc>
                <a:spcPct val="102000"/>
              </a:lnSpc>
              <a:buNone/>
            </a:pPr>
            <a:r>
              <a:rPr lang="fr-FR" sz="700" noProof="0" dirty="0">
                <a:solidFill>
                  <a:srgbClr val="043962"/>
                </a:solidFill>
                <a:latin typeface="Calibri" pitchFamily="34" charset="0"/>
                <a:ea typeface="Calibri" pitchFamily="34" charset="-122"/>
                <a:cs typeface="Calibri" pitchFamily="34" charset="-120"/>
              </a:rPr>
              <a:t>Vous êtes le/la responsable supply chain de NovaFab </a:t>
            </a:r>
            <a:r>
              <a:rPr lang="fr-FR" sz="700" noProof="0" dirty="0" err="1">
                <a:solidFill>
                  <a:srgbClr val="043962"/>
                </a:solidFill>
                <a:latin typeface="Calibri" pitchFamily="34" charset="0"/>
                <a:ea typeface="Calibri" pitchFamily="34" charset="-122"/>
                <a:cs typeface="Calibri" pitchFamily="34" charset="-120"/>
              </a:rPr>
              <a:t>Semiconductors</a:t>
            </a:r>
            <a:r>
              <a:rPr lang="fr-FR" sz="700" noProof="0" dirty="0">
                <a:solidFill>
                  <a:srgbClr val="043962"/>
                </a:solidFill>
                <a:latin typeface="Calibri" pitchFamily="34" charset="0"/>
                <a:ea typeface="Calibri" pitchFamily="34" charset="-122"/>
                <a:cs typeface="Calibri" pitchFamily="34" charset="-120"/>
              </a:rPr>
              <a:t> (Taishan (île d'Asie de l'Est) + </a:t>
            </a:r>
            <a:r>
              <a:rPr lang="fr-FR" sz="700" noProof="0" dirty="0" err="1">
                <a:solidFill>
                  <a:srgbClr val="043962"/>
                </a:solidFill>
                <a:latin typeface="Calibri" pitchFamily="34" charset="0"/>
                <a:ea typeface="Calibri" pitchFamily="34" charset="-122"/>
                <a:cs typeface="Calibri" pitchFamily="34" charset="-120"/>
              </a:rPr>
              <a:t>fab</a:t>
            </a:r>
            <a:r>
              <a:rPr lang="fr-FR" sz="700" noProof="0" dirty="0">
                <a:solidFill>
                  <a:srgbClr val="043962"/>
                </a:solidFill>
                <a:latin typeface="Calibri" pitchFamily="34" charset="0"/>
                <a:ea typeface="Calibri" pitchFamily="34" charset="-122"/>
                <a:cs typeface="Calibri" pitchFamily="34" charset="-120"/>
              </a:rPr>
              <a:t> Texas).*</a:t>
            </a:r>
            <a:endParaRPr lang="fr-FR" sz="1000" noProof="0" dirty="0"/>
          </a:p>
          <a:p>
            <a:pPr marL="0" indent="0">
              <a:lnSpc>
                <a:spcPct val="102000"/>
              </a:lnSpc>
              <a:buNone/>
            </a:pPr>
            <a:r>
              <a:rPr lang="fr-FR" sz="700" noProof="0" dirty="0">
                <a:solidFill>
                  <a:srgbClr val="043962"/>
                </a:solidFill>
                <a:latin typeface="Calibri" pitchFamily="34" charset="0"/>
                <a:ea typeface="Calibri" pitchFamily="34" charset="-122"/>
                <a:cs typeface="Calibri" pitchFamily="34" charset="-120"/>
              </a:rPr>
              <a:t>Vos clients : </a:t>
            </a:r>
            <a:r>
              <a:rPr lang="fr-FR" sz="700" noProof="0" dirty="0" err="1">
                <a:solidFill>
                  <a:srgbClr val="043962"/>
                </a:solidFill>
                <a:latin typeface="Calibri" pitchFamily="34" charset="0"/>
                <a:ea typeface="Calibri" pitchFamily="34" charset="-122"/>
                <a:cs typeface="Calibri" pitchFamily="34" charset="-120"/>
              </a:rPr>
              <a:t>CompoDis</a:t>
            </a:r>
            <a:r>
              <a:rPr lang="fr-FR" sz="700" noProof="0" dirty="0">
                <a:solidFill>
                  <a:srgbClr val="043962"/>
                </a:solidFill>
                <a:latin typeface="Calibri" pitchFamily="34" charset="0"/>
                <a:ea typeface="Calibri" pitchFamily="34" charset="-122"/>
                <a:cs typeface="Calibri" pitchFamily="34" charset="-120"/>
              </a:rPr>
              <a:t> Europe - vos fournisseurs : </a:t>
            </a:r>
            <a:r>
              <a:rPr lang="fr-FR" sz="700" noProof="0" dirty="0" err="1">
                <a:solidFill>
                  <a:srgbClr val="043962"/>
                </a:solidFill>
                <a:latin typeface="Calibri" pitchFamily="34" charset="0"/>
                <a:ea typeface="Calibri" pitchFamily="34" charset="-122"/>
                <a:cs typeface="Calibri" pitchFamily="34" charset="-120"/>
              </a:rPr>
              <a:t>SilPure</a:t>
            </a:r>
            <a:r>
              <a:rPr lang="fr-FR" sz="700" noProof="0" dirty="0">
                <a:solidFill>
                  <a:srgbClr val="043962"/>
                </a:solidFill>
                <a:latin typeface="Calibri" pitchFamily="34" charset="0"/>
                <a:ea typeface="Calibri" pitchFamily="34" charset="-122"/>
                <a:cs typeface="Calibri" pitchFamily="34" charset="-120"/>
              </a:rPr>
              <a:t> Materials.*</a:t>
            </a:r>
            <a:endParaRPr lang="fr-FR" sz="1000" noProof="0" dirty="0"/>
          </a:p>
          <a:p>
            <a:pPr marL="0" indent="0">
              <a:lnSpc>
                <a:spcPct val="102000"/>
              </a:lnSpc>
              <a:buNone/>
            </a:pPr>
            <a:r>
              <a:rPr lang="fr-FR" sz="300" noProof="0" dirty="0">
                <a:solidFill>
                  <a:srgbClr val="000000"/>
                </a:solidFill>
                <a:latin typeface="Calibri" pitchFamily="34" charset="0"/>
                <a:ea typeface="Calibri" pitchFamily="34" charset="-122"/>
                <a:cs typeface="Calibri" pitchFamily="34" charset="-120"/>
              </a:rPr>
              <a:t> </a:t>
            </a:r>
            <a:endParaRPr lang="fr-FR" sz="1000" noProof="0" dirty="0"/>
          </a:p>
          <a:p>
            <a:pPr marL="0" indent="0">
              <a:lnSpc>
                <a:spcPct val="102000"/>
              </a:lnSpc>
              <a:buNone/>
            </a:pPr>
            <a:r>
              <a:rPr lang="fr-FR" sz="800" b="1" noProof="0" dirty="0">
                <a:solidFill>
                  <a:srgbClr val="176F98"/>
                </a:solidFill>
                <a:latin typeface="Calibri" pitchFamily="34" charset="0"/>
                <a:ea typeface="Calibri" pitchFamily="34" charset="-122"/>
                <a:cs typeface="Calibri" pitchFamily="34" charset="-120"/>
              </a:rPr>
              <a:t>Revue de presse du secteur</a:t>
            </a:r>
            <a:endParaRPr lang="fr-FR" sz="1000" noProof="0" dirty="0"/>
          </a:p>
          <a:p>
            <a:pPr marL="0" indent="0">
              <a:lnSpc>
                <a:spcPct val="102000"/>
              </a:lnSpc>
              <a:buNone/>
            </a:pPr>
            <a:r>
              <a:rPr lang="fr-FR" sz="300" noProof="0" dirty="0">
                <a:solidFill>
                  <a:srgbClr val="000000"/>
                </a:solidFill>
                <a:latin typeface="Calibri" pitchFamily="34" charset="0"/>
                <a:ea typeface="Calibri" pitchFamily="34" charset="-122"/>
                <a:cs typeface="Calibri" pitchFamily="34" charset="-120"/>
              </a:rPr>
              <a:t> </a:t>
            </a:r>
            <a:endParaRPr lang="fr-FR" sz="1000" noProof="0" dirty="0"/>
          </a:p>
          <a:p>
            <a:pPr marL="0" indent="0">
              <a:lnSpc>
                <a:spcPct val="102000"/>
              </a:lnSpc>
              <a:buNone/>
            </a:pPr>
            <a:r>
              <a:rPr lang="fr-FR" sz="700" noProof="0" dirty="0">
                <a:solidFill>
                  <a:srgbClr val="043962"/>
                </a:solidFill>
                <a:latin typeface="Calibri" pitchFamily="34" charset="0"/>
                <a:ea typeface="Calibri" pitchFamily="34" charset="-122"/>
                <a:cs typeface="Calibri" pitchFamily="34" charset="-120"/>
              </a:rPr>
              <a:t>Une tempête hivernale exceptionnelle paralyse le Texas : réseau électrique effondré, plusieurs usines de semi-conducteurs arrêtées à chaud.</a:t>
            </a:r>
            <a:endParaRPr lang="fr-FR" sz="1000" noProof="0" dirty="0"/>
          </a:p>
          <a:p>
            <a:pPr marL="0" indent="0">
              <a:lnSpc>
                <a:spcPct val="102000"/>
              </a:lnSpc>
              <a:buNone/>
            </a:pPr>
            <a:r>
              <a:rPr lang="fr-FR" sz="300" noProof="0" dirty="0">
                <a:solidFill>
                  <a:srgbClr val="000000"/>
                </a:solidFill>
                <a:latin typeface="Calibri" pitchFamily="34" charset="0"/>
                <a:ea typeface="Calibri" pitchFamily="34" charset="-122"/>
                <a:cs typeface="Calibri" pitchFamily="34" charset="-120"/>
              </a:rPr>
              <a:t> </a:t>
            </a:r>
            <a:endParaRPr lang="fr-FR" sz="1000" noProof="0" dirty="0"/>
          </a:p>
          <a:p>
            <a:pPr marL="0" indent="0">
              <a:lnSpc>
                <a:spcPct val="102000"/>
              </a:lnSpc>
              <a:buNone/>
            </a:pPr>
            <a:r>
              <a:rPr lang="fr-FR" sz="800" b="1" noProof="0" dirty="0">
                <a:solidFill>
                  <a:srgbClr val="176F98"/>
                </a:solidFill>
                <a:latin typeface="Calibri" pitchFamily="34" charset="0"/>
                <a:ea typeface="Calibri" pitchFamily="34" charset="-122"/>
                <a:cs typeface="Calibri" pitchFamily="34" charset="-120"/>
              </a:rPr>
              <a:t>Vos constats internes</a:t>
            </a:r>
            <a:endParaRPr lang="fr-FR" sz="1000" noProof="0" dirty="0"/>
          </a:p>
          <a:p>
            <a:pPr marL="0" indent="0">
              <a:lnSpc>
                <a:spcPct val="102000"/>
              </a:lnSpc>
              <a:buNone/>
            </a:pPr>
            <a:r>
              <a:rPr lang="fr-FR" sz="300" noProof="0" dirty="0">
                <a:solidFill>
                  <a:srgbClr val="000000"/>
                </a:solidFill>
                <a:latin typeface="Calibri" pitchFamily="34" charset="0"/>
                <a:ea typeface="Calibri" pitchFamily="34" charset="-122"/>
                <a:cs typeface="Calibri" pitchFamily="34" charset="-120"/>
              </a:rPr>
              <a:t> </a:t>
            </a:r>
            <a:endParaRPr lang="fr-FR" sz="1000" noProof="0" dirty="0"/>
          </a:p>
          <a:p>
            <a:pPr marL="0" indent="0">
              <a:lnSpc>
                <a:spcPct val="102000"/>
              </a:lnSpc>
              <a:buNone/>
            </a:pPr>
            <a:r>
              <a:rPr lang="fr-FR" sz="700" noProof="0" dirty="0" err="1">
                <a:solidFill>
                  <a:srgbClr val="043962"/>
                </a:solidFill>
                <a:latin typeface="Calibri" pitchFamily="34" charset="0"/>
                <a:ea typeface="Calibri" pitchFamily="34" charset="-122"/>
                <a:cs typeface="Calibri" pitchFamily="34" charset="-120"/>
              </a:rPr>
              <a:t>Fab</a:t>
            </a:r>
            <a:r>
              <a:rPr lang="fr-FR" sz="700" noProof="0" dirty="0">
                <a:solidFill>
                  <a:srgbClr val="043962"/>
                </a:solidFill>
                <a:latin typeface="Calibri" pitchFamily="34" charset="0"/>
                <a:ea typeface="Calibri" pitchFamily="34" charset="-122"/>
                <a:cs typeface="Calibri" pitchFamily="34" charset="-120"/>
              </a:rPr>
              <a:t> texane à l'arrêt. Plan de redémarrage : 4 semaines. Réallocation partielle sur le site principal.</a:t>
            </a:r>
            <a:endParaRPr lang="fr-FR" sz="1000" noProof="0" dirty="0"/>
          </a:p>
          <a:p>
            <a:pPr marL="0" indent="0">
              <a:lnSpc>
                <a:spcPct val="102000"/>
              </a:lnSpc>
              <a:buNone/>
            </a:pPr>
            <a:r>
              <a:rPr lang="fr-FR" sz="300" noProof="0" dirty="0">
                <a:solidFill>
                  <a:srgbClr val="000000"/>
                </a:solidFill>
                <a:latin typeface="Calibri" pitchFamily="34" charset="0"/>
                <a:ea typeface="Calibri" pitchFamily="34" charset="-122"/>
                <a:cs typeface="Calibri" pitchFamily="34" charset="-120"/>
              </a:rPr>
              <a:t> </a:t>
            </a:r>
            <a:endParaRPr lang="fr-FR" sz="1000" noProof="0" dirty="0"/>
          </a:p>
          <a:p>
            <a:pPr marL="0" indent="0">
              <a:lnSpc>
                <a:spcPct val="102000"/>
              </a:lnSpc>
              <a:buNone/>
            </a:pPr>
            <a:r>
              <a:rPr lang="fr-FR" sz="800" b="1" noProof="0" dirty="0">
                <a:solidFill>
                  <a:srgbClr val="176F98"/>
                </a:solidFill>
                <a:latin typeface="Calibri" pitchFamily="34" charset="0"/>
                <a:ea typeface="Calibri" pitchFamily="34" charset="-122"/>
                <a:cs typeface="Calibri" pitchFamily="34" charset="-120"/>
              </a:rPr>
              <a:t>Vos indicateurs (jusqu'au tour courant)</a:t>
            </a:r>
            <a:endParaRPr lang="fr-FR" sz="1000" noProof="0" dirty="0"/>
          </a:p>
          <a:p>
            <a:pPr marL="0" indent="0">
              <a:lnSpc>
                <a:spcPct val="102000"/>
              </a:lnSpc>
              <a:buNone/>
            </a:pPr>
            <a:r>
              <a:rPr lang="fr-FR" sz="300" noProof="0" dirty="0">
                <a:solidFill>
                  <a:srgbClr val="000000"/>
                </a:solidFill>
                <a:latin typeface="Calibri" pitchFamily="34" charset="0"/>
                <a:ea typeface="Calibri" pitchFamily="34" charset="-122"/>
                <a:cs typeface="Calibri" pitchFamily="34" charset="-120"/>
              </a:rPr>
              <a:t> </a:t>
            </a:r>
            <a:endParaRPr lang="fr-FR" sz="1000" noProof="0" dirty="0"/>
          </a:p>
          <a:p>
            <a:pPr marL="0" indent="0">
              <a:lnSpc>
                <a:spcPct val="102000"/>
              </a:lnSpc>
              <a:buNone/>
            </a:pPr>
            <a:r>
              <a:rPr lang="fr-FR" sz="650" noProof="0" dirty="0">
                <a:solidFill>
                  <a:srgbClr val="043962"/>
                </a:solidFill>
                <a:latin typeface="Consolas" pitchFamily="34" charset="0"/>
                <a:ea typeface="Consolas" pitchFamily="34" charset="-122"/>
                <a:cs typeface="Consolas" pitchFamily="34" charset="-120"/>
              </a:rPr>
              <a:t>| Indicateur | T2 | T4 | T5 | T6 |</a:t>
            </a:r>
            <a:endParaRPr lang="fr-FR" sz="1000" noProof="0" dirty="0"/>
          </a:p>
          <a:p>
            <a:pPr marL="0" indent="0">
              <a:lnSpc>
                <a:spcPct val="102000"/>
              </a:lnSpc>
              <a:buNone/>
            </a:pPr>
            <a:r>
              <a:rPr lang="fr-FR" sz="650" noProof="0" dirty="0">
                <a:solidFill>
                  <a:srgbClr val="043962"/>
                </a:solidFill>
                <a:latin typeface="Consolas" pitchFamily="34" charset="0"/>
                <a:ea typeface="Consolas" pitchFamily="34" charset="-122"/>
                <a:cs typeface="Consolas" pitchFamily="34" charset="-120"/>
              </a:rPr>
              <a:t>|---|---|---|---|---|</a:t>
            </a:r>
            <a:endParaRPr lang="fr-FR" sz="1000" noProof="0" dirty="0"/>
          </a:p>
          <a:p>
            <a:pPr marL="0" indent="0">
              <a:lnSpc>
                <a:spcPct val="102000"/>
              </a:lnSpc>
              <a:buNone/>
            </a:pPr>
            <a:r>
              <a:rPr lang="fr-FR" sz="650" noProof="0" dirty="0">
                <a:solidFill>
                  <a:srgbClr val="043962"/>
                </a:solidFill>
                <a:latin typeface="Consolas" pitchFamily="34" charset="0"/>
                <a:ea typeface="Consolas" pitchFamily="34" charset="-122"/>
                <a:cs typeface="Consolas" pitchFamily="34" charset="-120"/>
              </a:rPr>
              <a:t>| Indice de demande client (base 100) | 108.2 | 111.2 | 111.5 | 108.6 |</a:t>
            </a:r>
            <a:endParaRPr lang="fr-FR" sz="1000" noProof="0" dirty="0"/>
          </a:p>
          <a:p>
            <a:pPr marL="0" indent="0">
              <a:lnSpc>
                <a:spcPct val="102000"/>
              </a:lnSpc>
              <a:buNone/>
            </a:pPr>
            <a:r>
              <a:rPr lang="fr-FR" sz="300" noProof="0" dirty="0">
                <a:solidFill>
                  <a:srgbClr val="000000"/>
                </a:solidFill>
                <a:latin typeface="Calibri" pitchFamily="34" charset="0"/>
                <a:ea typeface="Calibri" pitchFamily="34" charset="-122"/>
                <a:cs typeface="Calibri" pitchFamily="34" charset="-120"/>
              </a:rPr>
              <a:t> </a:t>
            </a:r>
            <a:endParaRPr lang="fr-FR" sz="1000" noProof="0" dirty="0"/>
          </a:p>
          <a:p>
            <a:pPr marL="0" indent="0">
              <a:lnSpc>
                <a:spcPct val="102000"/>
              </a:lnSpc>
              <a:buNone/>
            </a:pPr>
            <a:r>
              <a:rPr lang="fr-FR" sz="800" b="1" noProof="0" dirty="0">
                <a:solidFill>
                  <a:srgbClr val="176F98"/>
                </a:solidFill>
                <a:latin typeface="Calibri" pitchFamily="34" charset="0"/>
                <a:ea typeface="Calibri" pitchFamily="34" charset="-122"/>
                <a:cs typeface="Calibri" pitchFamily="34" charset="-120"/>
              </a:rPr>
              <a:t>Vos jalons</a:t>
            </a:r>
            <a:endParaRPr lang="fr-FR" sz="1000" noProof="0" dirty="0"/>
          </a:p>
          <a:p>
            <a:pPr marL="0" indent="0">
              <a:lnSpc>
                <a:spcPct val="102000"/>
              </a:lnSpc>
              <a:buNone/>
            </a:pPr>
            <a:r>
              <a:rPr lang="fr-FR" sz="300" noProof="0" dirty="0">
                <a:solidFill>
                  <a:srgbClr val="000000"/>
                </a:solidFill>
                <a:latin typeface="Calibri" pitchFamily="34" charset="0"/>
                <a:ea typeface="Calibri" pitchFamily="34" charset="-122"/>
                <a:cs typeface="Calibri" pitchFamily="34" charset="-120"/>
              </a:rPr>
              <a:t> </a:t>
            </a:r>
            <a:endParaRPr lang="fr-FR" sz="1000" noProof="0" dirty="0"/>
          </a:p>
          <a:p>
            <a:pPr marL="0" indent="0">
              <a:lnSpc>
                <a:spcPct val="102000"/>
              </a:lnSpc>
              <a:buNone/>
            </a:pPr>
            <a:r>
              <a:rPr lang="fr-FR" sz="700" noProof="0" dirty="0">
                <a:solidFill>
                  <a:srgbClr val="043962"/>
                </a:solidFill>
                <a:latin typeface="Calibri" pitchFamily="34" charset="0"/>
                <a:ea typeface="Calibri" pitchFamily="34" charset="-122"/>
                <a:cs typeface="Calibri" pitchFamily="34" charset="-120"/>
              </a:rPr>
              <a:t>- Allocation wafers HÉLIOS : avancement 70% (en cours)</a:t>
            </a:r>
            <a:endParaRPr lang="fr-FR" sz="1000" noProof="0" dirty="0"/>
          </a:p>
          <a:p>
            <a:pPr marL="0" indent="0">
              <a:lnSpc>
                <a:spcPct val="102000"/>
              </a:lnSpc>
              <a:buNone/>
            </a:pPr>
            <a:r>
              <a:rPr lang="fr-FR" sz="700" noProof="0" dirty="0">
                <a:solidFill>
                  <a:srgbClr val="043962"/>
                </a:solidFill>
                <a:latin typeface="Calibri" pitchFamily="34" charset="0"/>
                <a:ea typeface="Calibri" pitchFamily="34" charset="-122"/>
                <a:cs typeface="Calibri" pitchFamily="34" charset="-120"/>
              </a:rPr>
              <a:t>- Allocation wafers HÉLIOS S2 : avancement 0% (en cours)</a:t>
            </a:r>
            <a:endParaRPr lang="fr-FR" sz="1000" noProof="0" dirty="0"/>
          </a:p>
          <a:p>
            <a:pPr marL="0" indent="0">
              <a:lnSpc>
                <a:spcPct val="102000"/>
              </a:lnSpc>
              <a:buNone/>
            </a:pPr>
            <a:r>
              <a:rPr lang="fr-FR" sz="300" noProof="0" dirty="0">
                <a:solidFill>
                  <a:srgbClr val="000000"/>
                </a:solidFill>
                <a:latin typeface="Calibri" pitchFamily="34" charset="0"/>
                <a:ea typeface="Calibri" pitchFamily="34" charset="-122"/>
                <a:cs typeface="Calibri" pitchFamily="34" charset="-120"/>
              </a:rPr>
              <a:t> </a:t>
            </a:r>
            <a:endParaRPr lang="fr-FR" sz="1000" noProof="0" dirty="0"/>
          </a:p>
          <a:p>
            <a:pPr marL="0" indent="0">
              <a:lnSpc>
                <a:spcPct val="102000"/>
              </a:lnSpc>
              <a:buNone/>
            </a:pPr>
            <a:r>
              <a:rPr lang="fr-FR" sz="800" b="1" noProof="0" dirty="0">
                <a:solidFill>
                  <a:srgbClr val="176F98"/>
                </a:solidFill>
                <a:latin typeface="Calibri" pitchFamily="34" charset="0"/>
                <a:ea typeface="Calibri" pitchFamily="34" charset="-122"/>
                <a:cs typeface="Calibri" pitchFamily="34" charset="-120"/>
              </a:rPr>
              <a:t>À faire maintenant (10 min max)</a:t>
            </a:r>
            <a:endParaRPr lang="fr-FR" sz="1000" noProof="0" dirty="0"/>
          </a:p>
          <a:p>
            <a:pPr marL="0" indent="0">
              <a:lnSpc>
                <a:spcPct val="102000"/>
              </a:lnSpc>
              <a:buNone/>
            </a:pPr>
            <a:r>
              <a:rPr lang="fr-FR" sz="300" noProof="0" dirty="0">
                <a:solidFill>
                  <a:srgbClr val="000000"/>
                </a:solidFill>
                <a:latin typeface="Calibri" pitchFamily="34" charset="0"/>
                <a:ea typeface="Calibri" pitchFamily="34" charset="-122"/>
                <a:cs typeface="Calibri" pitchFamily="34" charset="-120"/>
              </a:rPr>
              <a:t> </a:t>
            </a:r>
            <a:endParaRPr lang="fr-FR" sz="1000" noProof="0" dirty="0"/>
          </a:p>
          <a:p>
            <a:pPr marL="0" indent="0">
              <a:lnSpc>
                <a:spcPct val="102000"/>
              </a:lnSpc>
              <a:buNone/>
            </a:pPr>
            <a:r>
              <a:rPr lang="fr-FR" sz="700" noProof="0" dirty="0">
                <a:solidFill>
                  <a:srgbClr val="043962"/>
                </a:solidFill>
                <a:latin typeface="Calibri" pitchFamily="34" charset="0"/>
                <a:ea typeface="Calibri" pitchFamily="34" charset="-122"/>
                <a:cs typeface="Calibri" pitchFamily="34" charset="-120"/>
              </a:rPr>
              <a:t>Remplissez le questionnaire hebdomadaire (volet AHP) dans l'outil, en comparant les 4 critères pour VOTRE périmètre :</a:t>
            </a:r>
            <a:endParaRPr lang="fr-FR" sz="1000" noProof="0" dirty="0"/>
          </a:p>
          <a:p>
            <a:pPr marL="0" indent="0">
              <a:lnSpc>
                <a:spcPct val="102000"/>
              </a:lnSpc>
              <a:buNone/>
            </a:pPr>
            <a:r>
              <a:rPr lang="fr-FR" sz="700" noProof="0" dirty="0">
                <a:solidFill>
                  <a:srgbClr val="043962"/>
                </a:solidFill>
                <a:latin typeface="Calibri" pitchFamily="34" charset="0"/>
                <a:ea typeface="Calibri" pitchFamily="34" charset="-122"/>
                <a:cs typeface="Calibri" pitchFamily="34" charset="-120"/>
              </a:rPr>
              <a:t>1. Impact opérationnel - si ma tâche échoue, quelle conséquence en aval ?</a:t>
            </a:r>
            <a:endParaRPr lang="fr-FR" sz="1000" noProof="0" dirty="0"/>
          </a:p>
          <a:p>
            <a:pPr marL="0" indent="0">
              <a:lnSpc>
                <a:spcPct val="102000"/>
              </a:lnSpc>
              <a:buNone/>
            </a:pPr>
            <a:r>
              <a:rPr lang="fr-FR" sz="700" noProof="0" dirty="0">
                <a:solidFill>
                  <a:srgbClr val="043962"/>
                </a:solidFill>
                <a:latin typeface="Calibri" pitchFamily="34" charset="0"/>
                <a:ea typeface="Calibri" pitchFamily="34" charset="-122"/>
                <a:cs typeface="Calibri" pitchFamily="34" charset="-120"/>
              </a:rPr>
              <a:t>2. Fenêtre temporelle - combien de temps avant que ce soit irrattrapable ?</a:t>
            </a:r>
            <a:endParaRPr lang="fr-FR" sz="1000" noProof="0" dirty="0"/>
          </a:p>
          <a:p>
            <a:pPr marL="0" indent="0">
              <a:lnSpc>
                <a:spcPct val="102000"/>
              </a:lnSpc>
              <a:buNone/>
            </a:pPr>
            <a:r>
              <a:rPr lang="fr-FR" sz="700" noProof="0" dirty="0">
                <a:solidFill>
                  <a:srgbClr val="043962"/>
                </a:solidFill>
                <a:latin typeface="Calibri" pitchFamily="34" charset="0"/>
                <a:ea typeface="Calibri" pitchFamily="34" charset="-122"/>
                <a:cs typeface="Calibri" pitchFamily="34" charset="-120"/>
              </a:rPr>
              <a:t>3. Dépendances aval - combien d'acteurs attendent après moi ?</a:t>
            </a:r>
            <a:endParaRPr lang="fr-FR" sz="1000" noProof="0" dirty="0"/>
          </a:p>
          <a:p>
            <a:pPr marL="0" indent="0">
              <a:lnSpc>
                <a:spcPct val="102000"/>
              </a:lnSpc>
              <a:buNone/>
            </a:pPr>
            <a:r>
              <a:rPr lang="fr-FR" sz="700" noProof="0" dirty="0">
                <a:solidFill>
                  <a:srgbClr val="043962"/>
                </a:solidFill>
                <a:latin typeface="Calibri" pitchFamily="34" charset="0"/>
                <a:ea typeface="Calibri" pitchFamily="34" charset="-122"/>
                <a:cs typeface="Calibri" pitchFamily="34" charset="-120"/>
              </a:rPr>
              <a:t>4. Récupérabilité - peut-on rattraper un retard ?</a:t>
            </a:r>
            <a:endParaRPr lang="fr-FR" sz="1000" noProof="0" dirty="0"/>
          </a:p>
          <a:p>
            <a:pPr marL="0" indent="0">
              <a:lnSpc>
                <a:spcPct val="102000"/>
              </a:lnSpc>
              <a:buNone/>
            </a:pPr>
            <a:r>
              <a:rPr lang="fr-FR" sz="300" noProof="0" dirty="0">
                <a:solidFill>
                  <a:srgbClr val="000000"/>
                </a:solidFill>
                <a:latin typeface="Calibri" pitchFamily="34" charset="0"/>
                <a:ea typeface="Calibri" pitchFamily="34" charset="-122"/>
                <a:cs typeface="Calibri" pitchFamily="34" charset="-120"/>
              </a:rPr>
              <a:t> </a:t>
            </a:r>
            <a:endParaRPr lang="fr-FR" sz="1000" noProof="0" dirty="0"/>
          </a:p>
          <a:p>
            <a:pPr marL="0" indent="0">
              <a:lnSpc>
                <a:spcPct val="102000"/>
              </a:lnSpc>
              <a:buNone/>
            </a:pPr>
            <a:r>
              <a:rPr lang="fr-FR" sz="700" noProof="0" dirty="0">
                <a:solidFill>
                  <a:srgbClr val="043962"/>
                </a:solidFill>
                <a:latin typeface="Calibri" pitchFamily="34" charset="0"/>
                <a:ea typeface="Calibri" pitchFamily="34" charset="-122"/>
                <a:cs typeface="Calibri" pitchFamily="34" charset="-120"/>
              </a:rPr>
              <a:t>Rappels : ne consultez que cette fiche et la page questionnaire ; pas de concertation avec les autres rôles ; il n'y a pas de « bonne réponse » - déclarez ce que VOUS percevez.</a:t>
            </a:r>
            <a:endParaRPr lang="fr-FR" sz="1000" noProof="0" dirty="0"/>
          </a:p>
        </p:txBody>
      </p:sp>
      <p:sp>
        <p:nvSpPr>
          <p:cNvPr id="6" name="Text 4"/>
          <p:cNvSpPr/>
          <p:nvPr/>
        </p:nvSpPr>
        <p:spPr>
          <a:xfrm>
            <a:off x="502920" y="4828032"/>
            <a:ext cx="8138160" cy="228600"/>
          </a:xfrm>
          <a:prstGeom prst="rect">
            <a:avLst/>
          </a:prstGeom>
          <a:noFill/>
          <a:ln/>
        </p:spPr>
        <p:txBody>
          <a:bodyPr wrap="square" lIns="0" tIns="0" rIns="0" bIns="0" rtlCol="0" anchor="ctr"/>
          <a:lstStyle/>
          <a:p>
            <a:pPr marL="0" indent="0">
              <a:buNone/>
            </a:pPr>
            <a:r>
              <a:rPr lang="fr-FR" sz="800" i="1" noProof="0" dirty="0">
                <a:solidFill>
                  <a:srgbClr val="8C8C9A"/>
                </a:solidFill>
                <a:latin typeface="Calibri" pitchFamily="34" charset="0"/>
                <a:ea typeface="Calibri" pitchFamily="34" charset="-122"/>
                <a:cs typeface="Calibri" pitchFamily="34" charset="-120"/>
              </a:rPr>
              <a:t>Reproduction fidèle de briefings/tour_06/novafab.md, tel que distribué au consultant C6.</a:t>
            </a:r>
            <a:endParaRPr lang="fr-FR" sz="800" noProof="0" dirty="0"/>
          </a:p>
        </p:txBody>
      </p:sp>
      <p:sp>
        <p:nvSpPr>
          <p:cNvPr id="7" name="Text 5"/>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- 30/50</a:t>
            </a:r>
            <a:endParaRPr lang="fr-FR" sz="800" noProof="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LE RÔLE</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La carte de rôle</a:t>
            </a:r>
            <a:endParaRPr lang="fr-FR" sz="2500" noProof="0" dirty="0"/>
          </a:p>
        </p:txBody>
      </p:sp>
      <p:sp>
        <p:nvSpPr>
          <p:cNvPr id="4" name="Shape 2"/>
          <p:cNvSpPr/>
          <p:nvPr/>
        </p:nvSpPr>
        <p:spPr>
          <a:xfrm>
            <a:off x="502920" y="1280160"/>
            <a:ext cx="8138160" cy="3520440"/>
          </a:xfrm>
          <a:prstGeom prst="roundRect">
            <a:avLst>
              <a:gd name="adj" fmla="val 1818"/>
            </a:avLst>
          </a:prstGeom>
          <a:solidFill>
            <a:srgbClr val="FFFFFF"/>
          </a:solidFill>
          <a:ln w="12700">
            <a:solidFill>
              <a:srgbClr val="FFFFFF"/>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85800" y="1371600"/>
            <a:ext cx="7772400" cy="3337560"/>
          </a:xfrm>
          <a:prstGeom prst="rect">
            <a:avLst/>
          </a:prstGeom>
          <a:noFill/>
          <a:ln/>
        </p:spPr>
        <p:txBody>
          <a:bodyPr wrap="square" lIns="0" tIns="0" rIns="0" bIns="0" rtlCol="0" anchor="t"/>
          <a:lstStyle/>
          <a:p>
            <a:pPr marL="0" indent="0">
              <a:lnSpc>
                <a:spcPct val="102000"/>
              </a:lnSpc>
              <a:buNone/>
            </a:pPr>
            <a:r>
              <a:rPr lang="fr-FR" sz="1050" b="1" noProof="0" dirty="0">
                <a:solidFill>
                  <a:srgbClr val="043962"/>
                </a:solidFill>
                <a:latin typeface="Calibri" pitchFamily="34" charset="0"/>
                <a:ea typeface="Calibri" pitchFamily="34" charset="-122"/>
                <a:cs typeface="Calibri" pitchFamily="34" charset="-120"/>
              </a:rPr>
              <a:t>Carte de rôle - NovaFab </a:t>
            </a:r>
            <a:r>
              <a:rPr lang="fr-FR" sz="1050" b="1" noProof="0" dirty="0" err="1">
                <a:solidFill>
                  <a:srgbClr val="043962"/>
                </a:solidFill>
                <a:latin typeface="Calibri" pitchFamily="34" charset="0"/>
                <a:ea typeface="Calibri" pitchFamily="34" charset="-122"/>
                <a:cs typeface="Calibri" pitchFamily="34" charset="-120"/>
              </a:rPr>
              <a:t>Semiconductors</a:t>
            </a:r>
            <a:r>
              <a:rPr lang="fr-FR" sz="1050" b="1" noProof="0" dirty="0">
                <a:solidFill>
                  <a:srgbClr val="043962"/>
                </a:solidFill>
                <a:latin typeface="Calibri" pitchFamily="34" charset="0"/>
                <a:ea typeface="Calibri" pitchFamily="34" charset="-122"/>
                <a:cs typeface="Calibri" pitchFamily="34" charset="-120"/>
              </a:rPr>
              <a:t> (C6)</a:t>
            </a:r>
            <a:endParaRPr lang="fr-FR" sz="1050" noProof="0" dirty="0"/>
          </a:p>
          <a:p>
            <a:pPr marL="0" indent="0">
              <a:lnSpc>
                <a:spcPct val="102000"/>
              </a:lnSpc>
              <a:buNone/>
            </a:pPr>
            <a:r>
              <a:rPr lang="fr-FR" sz="300" noProof="0" dirty="0">
                <a:solidFill>
                  <a:srgbClr val="000000"/>
                </a:solidFill>
                <a:latin typeface="Calibri" pitchFamily="34" charset="0"/>
                <a:ea typeface="Calibri" pitchFamily="34" charset="-122"/>
                <a:cs typeface="Calibri" pitchFamily="34" charset="-120"/>
              </a:rPr>
              <a:t> </a:t>
            </a:r>
            <a:endParaRPr lang="fr-FR" sz="1050" noProof="0" dirty="0"/>
          </a:p>
          <a:p>
            <a:pPr marL="0" indent="0">
              <a:lnSpc>
                <a:spcPct val="102000"/>
              </a:lnSpc>
              <a:buNone/>
            </a:pPr>
            <a:r>
              <a:rPr lang="fr-FR" sz="750" noProof="0" dirty="0">
                <a:solidFill>
                  <a:srgbClr val="043962"/>
                </a:solidFill>
                <a:latin typeface="Calibri" pitchFamily="34" charset="0"/>
                <a:ea typeface="Calibri" pitchFamily="34" charset="-122"/>
                <a:cs typeface="Calibri" pitchFamily="34" charset="-120"/>
              </a:rPr>
              <a:t>Vous êtes le/la responsable supply chain de NovaFab </a:t>
            </a:r>
            <a:r>
              <a:rPr lang="fr-FR" sz="750" noProof="0" dirty="0" err="1">
                <a:solidFill>
                  <a:srgbClr val="043962"/>
                </a:solidFill>
                <a:latin typeface="Calibri" pitchFamily="34" charset="0"/>
                <a:ea typeface="Calibri" pitchFamily="34" charset="-122"/>
                <a:cs typeface="Calibri" pitchFamily="34" charset="-120"/>
              </a:rPr>
              <a:t>Semiconductors</a:t>
            </a:r>
            <a:r>
              <a:rPr lang="fr-FR" sz="750" noProof="0" dirty="0">
                <a:solidFill>
                  <a:srgbClr val="043962"/>
                </a:solidFill>
                <a:latin typeface="Calibri" pitchFamily="34" charset="0"/>
                <a:ea typeface="Calibri" pitchFamily="34" charset="-122"/>
                <a:cs typeface="Calibri" pitchFamily="34" charset="-120"/>
              </a:rPr>
              <a:t>, Taishan (île d'Asie de l'Est) + </a:t>
            </a:r>
            <a:r>
              <a:rPr lang="fr-FR" sz="750" noProof="0" dirty="0" err="1">
                <a:solidFill>
                  <a:srgbClr val="043962"/>
                </a:solidFill>
                <a:latin typeface="Calibri" pitchFamily="34" charset="0"/>
                <a:ea typeface="Calibri" pitchFamily="34" charset="-122"/>
                <a:cs typeface="Calibri" pitchFamily="34" charset="-120"/>
              </a:rPr>
              <a:t>fab</a:t>
            </a:r>
            <a:r>
              <a:rPr lang="fr-FR" sz="750" noProof="0" dirty="0">
                <a:solidFill>
                  <a:srgbClr val="043962"/>
                </a:solidFill>
                <a:latin typeface="Calibri" pitchFamily="34" charset="0"/>
                <a:ea typeface="Calibri" pitchFamily="34" charset="-122"/>
                <a:cs typeface="Calibri" pitchFamily="34" charset="-120"/>
              </a:rPr>
              <a:t> Texas.</a:t>
            </a:r>
            <a:endParaRPr lang="fr-FR" sz="1050" noProof="0" dirty="0"/>
          </a:p>
          <a:p>
            <a:pPr marL="0" indent="0">
              <a:lnSpc>
                <a:spcPct val="102000"/>
              </a:lnSpc>
              <a:buNone/>
            </a:pPr>
            <a:r>
              <a:rPr lang="fr-FR" sz="300" noProof="0" dirty="0">
                <a:solidFill>
                  <a:srgbClr val="000000"/>
                </a:solidFill>
                <a:latin typeface="Calibri" pitchFamily="34" charset="0"/>
                <a:ea typeface="Calibri" pitchFamily="34" charset="-122"/>
                <a:cs typeface="Calibri" pitchFamily="34" charset="-120"/>
              </a:rPr>
              <a:t> </a:t>
            </a:r>
            <a:endParaRPr lang="fr-FR" sz="1050" noProof="0" dirty="0"/>
          </a:p>
          <a:p>
            <a:pPr marL="0" indent="0">
              <a:lnSpc>
                <a:spcPct val="102000"/>
              </a:lnSpc>
              <a:buNone/>
            </a:pPr>
            <a:r>
              <a:rPr lang="fr-FR" sz="750" noProof="0" dirty="0">
                <a:solidFill>
                  <a:srgbClr val="043962"/>
                </a:solidFill>
                <a:latin typeface="Calibri" pitchFamily="34" charset="0"/>
                <a:ea typeface="Calibri" pitchFamily="34" charset="-122"/>
                <a:cs typeface="Calibri" pitchFamily="34" charset="-120"/>
              </a:rPr>
              <a:t>Livraison de 2 satellites d'observation (HÉLIOS-1, HÉLIOS-2) à un opérateur institutionnel européen. Échéances contractuelles aux tours T8 et T16, pénalités de retard lourdes.</a:t>
            </a:r>
            <a:endParaRPr lang="fr-FR" sz="1050" noProof="0" dirty="0"/>
          </a:p>
          <a:p>
            <a:pPr marL="0" indent="0">
              <a:lnSpc>
                <a:spcPct val="102000"/>
              </a:lnSpc>
              <a:buNone/>
            </a:pPr>
            <a:r>
              <a:rPr lang="fr-FR" sz="300" noProof="0" dirty="0">
                <a:solidFill>
                  <a:srgbClr val="000000"/>
                </a:solidFill>
                <a:latin typeface="Calibri" pitchFamily="34" charset="0"/>
                <a:ea typeface="Calibri" pitchFamily="34" charset="-122"/>
                <a:cs typeface="Calibri" pitchFamily="34" charset="-120"/>
              </a:rPr>
              <a:t> </a:t>
            </a:r>
            <a:endParaRPr lang="fr-FR" sz="1050" noProof="0" dirty="0"/>
          </a:p>
          <a:p>
            <a:pPr marL="0" indent="0">
              <a:lnSpc>
                <a:spcPct val="102000"/>
              </a:lnSpc>
              <a:buNone/>
            </a:pPr>
            <a:r>
              <a:rPr lang="fr-FR" sz="750" noProof="0" dirty="0">
                <a:solidFill>
                  <a:srgbClr val="043962"/>
                </a:solidFill>
                <a:latin typeface="Calibri" pitchFamily="34" charset="0"/>
                <a:ea typeface="Calibri" pitchFamily="34" charset="-122"/>
                <a:cs typeface="Calibri" pitchFamily="34" charset="-120"/>
              </a:rPr>
              <a:t>- Vos clients directs : </a:t>
            </a:r>
            <a:r>
              <a:rPr lang="fr-FR" sz="750" noProof="0" dirty="0" err="1">
                <a:solidFill>
                  <a:srgbClr val="043962"/>
                </a:solidFill>
                <a:latin typeface="Calibri" pitchFamily="34" charset="0"/>
                <a:ea typeface="Calibri" pitchFamily="34" charset="-122"/>
                <a:cs typeface="Calibri" pitchFamily="34" charset="-120"/>
              </a:rPr>
              <a:t>CompoDis</a:t>
            </a:r>
            <a:r>
              <a:rPr lang="fr-FR" sz="750" noProof="0" dirty="0">
                <a:solidFill>
                  <a:srgbClr val="043962"/>
                </a:solidFill>
                <a:latin typeface="Calibri" pitchFamily="34" charset="0"/>
                <a:ea typeface="Calibri" pitchFamily="34" charset="-122"/>
                <a:cs typeface="Calibri" pitchFamily="34" charset="-120"/>
              </a:rPr>
              <a:t> Europe</a:t>
            </a:r>
            <a:endParaRPr lang="fr-FR" sz="1050" noProof="0" dirty="0"/>
          </a:p>
          <a:p>
            <a:pPr marL="0" indent="0">
              <a:lnSpc>
                <a:spcPct val="102000"/>
              </a:lnSpc>
              <a:buNone/>
            </a:pPr>
            <a:r>
              <a:rPr lang="fr-FR" sz="750" noProof="0" dirty="0">
                <a:solidFill>
                  <a:srgbClr val="043962"/>
                </a:solidFill>
                <a:latin typeface="Calibri" pitchFamily="34" charset="0"/>
                <a:ea typeface="Calibri" pitchFamily="34" charset="-122"/>
                <a:cs typeface="Calibri" pitchFamily="34" charset="-120"/>
              </a:rPr>
              <a:t>- Vos fournisseurs directs : </a:t>
            </a:r>
            <a:r>
              <a:rPr lang="fr-FR" sz="750" noProof="0" dirty="0" err="1">
                <a:solidFill>
                  <a:srgbClr val="043962"/>
                </a:solidFill>
                <a:latin typeface="Calibri" pitchFamily="34" charset="0"/>
                <a:ea typeface="Calibri" pitchFamily="34" charset="-122"/>
                <a:cs typeface="Calibri" pitchFamily="34" charset="-120"/>
              </a:rPr>
              <a:t>SilPure</a:t>
            </a:r>
            <a:r>
              <a:rPr lang="fr-FR" sz="750" noProof="0" dirty="0">
                <a:solidFill>
                  <a:srgbClr val="043962"/>
                </a:solidFill>
                <a:latin typeface="Calibri" pitchFamily="34" charset="0"/>
                <a:ea typeface="Calibri" pitchFamily="34" charset="-122"/>
                <a:cs typeface="Calibri" pitchFamily="34" charset="-120"/>
              </a:rPr>
              <a:t> Materials</a:t>
            </a:r>
            <a:endParaRPr lang="fr-FR" sz="1050" noProof="0" dirty="0"/>
          </a:p>
          <a:p>
            <a:pPr marL="0" indent="0">
              <a:lnSpc>
                <a:spcPct val="102000"/>
              </a:lnSpc>
              <a:buNone/>
            </a:pPr>
            <a:r>
              <a:rPr lang="fr-FR" sz="300" noProof="0" dirty="0">
                <a:solidFill>
                  <a:srgbClr val="000000"/>
                </a:solidFill>
                <a:latin typeface="Calibri" pitchFamily="34" charset="0"/>
                <a:ea typeface="Calibri" pitchFamily="34" charset="-122"/>
                <a:cs typeface="Calibri" pitchFamily="34" charset="-120"/>
              </a:rPr>
              <a:t> </a:t>
            </a:r>
            <a:endParaRPr lang="fr-FR" sz="1050" noProof="0" dirty="0"/>
          </a:p>
          <a:p>
            <a:pPr marL="0" indent="0">
              <a:lnSpc>
                <a:spcPct val="102000"/>
              </a:lnSpc>
              <a:buNone/>
            </a:pPr>
            <a:r>
              <a:rPr lang="fr-FR" sz="850" b="1" noProof="0" dirty="0">
                <a:solidFill>
                  <a:srgbClr val="176F98"/>
                </a:solidFill>
                <a:latin typeface="Calibri" pitchFamily="34" charset="0"/>
                <a:ea typeface="Calibri" pitchFamily="34" charset="-122"/>
                <a:cs typeface="Calibri" pitchFamily="34" charset="-120"/>
              </a:rPr>
              <a:t>Votre entreprise, votre voix</a:t>
            </a:r>
            <a:endParaRPr lang="fr-FR" sz="1050" noProof="0" dirty="0"/>
          </a:p>
          <a:p>
            <a:pPr marL="0" indent="0">
              <a:lnSpc>
                <a:spcPct val="102000"/>
              </a:lnSpc>
              <a:buNone/>
            </a:pPr>
            <a:r>
              <a:rPr lang="fr-FR" sz="300" noProof="0" dirty="0">
                <a:solidFill>
                  <a:srgbClr val="000000"/>
                </a:solidFill>
                <a:latin typeface="Calibri" pitchFamily="34" charset="0"/>
                <a:ea typeface="Calibri" pitchFamily="34" charset="-122"/>
                <a:cs typeface="Calibri" pitchFamily="34" charset="-120"/>
              </a:rPr>
              <a:t> </a:t>
            </a:r>
            <a:endParaRPr lang="fr-FR" sz="1050" noProof="0" dirty="0"/>
          </a:p>
          <a:p>
            <a:pPr marL="0" indent="0">
              <a:lnSpc>
                <a:spcPct val="102000"/>
              </a:lnSpc>
              <a:buNone/>
            </a:pPr>
            <a:r>
              <a:rPr lang="fr-FR" sz="750" noProof="0" dirty="0">
                <a:solidFill>
                  <a:srgbClr val="043962"/>
                </a:solidFill>
                <a:latin typeface="Calibri" pitchFamily="34" charset="0"/>
                <a:ea typeface="Calibri" pitchFamily="34" charset="-122"/>
                <a:cs typeface="Calibri" pitchFamily="34" charset="-120"/>
              </a:rPr>
              <a:t>- Ton interne : </a:t>
            </a:r>
            <a:r>
              <a:rPr lang="fr-FR" sz="750" noProof="0" dirty="0" err="1">
                <a:solidFill>
                  <a:srgbClr val="043962"/>
                </a:solidFill>
                <a:latin typeface="Calibri" pitchFamily="34" charset="0"/>
                <a:ea typeface="Calibri" pitchFamily="34" charset="-122"/>
                <a:cs typeface="Calibri" pitchFamily="34" charset="-120"/>
              </a:rPr>
              <a:t>corporate</a:t>
            </a:r>
            <a:r>
              <a:rPr lang="fr-FR" sz="750" noProof="0" dirty="0">
                <a:solidFill>
                  <a:srgbClr val="043962"/>
                </a:solidFill>
                <a:latin typeface="Calibri" pitchFamily="34" charset="0"/>
                <a:ea typeface="Calibri" pitchFamily="34" charset="-122"/>
                <a:cs typeface="Calibri" pitchFamily="34" charset="-120"/>
              </a:rPr>
              <a:t>, posé, sûr de soi.</a:t>
            </a:r>
            <a:endParaRPr lang="fr-FR" sz="1050" noProof="0" dirty="0"/>
          </a:p>
          <a:p>
            <a:pPr marL="0" indent="0">
              <a:lnSpc>
                <a:spcPct val="102000"/>
              </a:lnSpc>
              <a:buNone/>
            </a:pPr>
            <a:r>
              <a:rPr lang="fr-FR" sz="750" noProof="0" dirty="0">
                <a:solidFill>
                  <a:srgbClr val="043962"/>
                </a:solidFill>
                <a:latin typeface="Calibri" pitchFamily="34" charset="0"/>
                <a:ea typeface="Calibri" pitchFamily="34" charset="-122"/>
                <a:cs typeface="Calibri" pitchFamily="34" charset="-120"/>
              </a:rPr>
              <a:t>- Vous parlez en : capacité, wafers/mois, mix produit, allocation.</a:t>
            </a:r>
            <a:endParaRPr lang="fr-FR" sz="1050" noProof="0" dirty="0"/>
          </a:p>
          <a:p>
            <a:pPr marL="0" indent="0">
              <a:lnSpc>
                <a:spcPct val="102000"/>
              </a:lnSpc>
              <a:buNone/>
            </a:pPr>
            <a:r>
              <a:rPr lang="fr-FR" sz="750" noProof="0" dirty="0">
                <a:solidFill>
                  <a:srgbClr val="043962"/>
                </a:solidFill>
                <a:latin typeface="Calibri" pitchFamily="34" charset="0"/>
                <a:ea typeface="Calibri" pitchFamily="34" charset="-122"/>
                <a:cs typeface="Calibri" pitchFamily="34" charset="-120"/>
              </a:rPr>
              <a:t>- Votre peur principale : </a:t>
            </a:r>
            <a:r>
              <a:rPr lang="fr-FR" sz="750" noProof="0" dirty="0" err="1">
                <a:solidFill>
                  <a:srgbClr val="043962"/>
                </a:solidFill>
                <a:latin typeface="Calibri" pitchFamily="34" charset="0"/>
                <a:ea typeface="Calibri" pitchFamily="34" charset="-122"/>
                <a:cs typeface="Calibri" pitchFamily="34" charset="-120"/>
              </a:rPr>
              <a:t>sur-investir</a:t>
            </a:r>
            <a:r>
              <a:rPr lang="fr-FR" sz="750" noProof="0" dirty="0">
                <a:solidFill>
                  <a:srgbClr val="043962"/>
                </a:solidFill>
                <a:latin typeface="Calibri" pitchFamily="34" charset="0"/>
                <a:ea typeface="Calibri" pitchFamily="34" charset="-122"/>
                <a:cs typeface="Calibri" pitchFamily="34" charset="-120"/>
              </a:rPr>
              <a:t> dans une capacité qui se retournera (cycle du silicium).</a:t>
            </a:r>
            <a:endParaRPr lang="fr-FR" sz="1050" noProof="0" dirty="0"/>
          </a:p>
          <a:p>
            <a:pPr marL="0" indent="0">
              <a:lnSpc>
                <a:spcPct val="102000"/>
              </a:lnSpc>
              <a:buNone/>
            </a:pPr>
            <a:r>
              <a:rPr lang="fr-FR" sz="750" noProof="0" dirty="0">
                <a:solidFill>
                  <a:srgbClr val="043962"/>
                </a:solidFill>
                <a:latin typeface="Calibri" pitchFamily="34" charset="0"/>
                <a:ea typeface="Calibri" pitchFamily="34" charset="-122"/>
                <a:cs typeface="Calibri" pitchFamily="34" charset="-120"/>
              </a:rPr>
              <a:t>- Votre réflexe de crise : prioriser les marges, lisser la communication externe.</a:t>
            </a:r>
            <a:endParaRPr lang="fr-FR" sz="1050" noProof="0" dirty="0"/>
          </a:p>
          <a:p>
            <a:pPr marL="0" indent="0">
              <a:lnSpc>
                <a:spcPct val="102000"/>
              </a:lnSpc>
              <a:buNone/>
            </a:pPr>
            <a:r>
              <a:rPr lang="fr-FR" sz="750" noProof="0" dirty="0">
                <a:solidFill>
                  <a:srgbClr val="043962"/>
                </a:solidFill>
                <a:latin typeface="Calibri" pitchFamily="34" charset="0"/>
                <a:ea typeface="Calibri" pitchFamily="34" charset="-122"/>
                <a:cs typeface="Calibri" pitchFamily="34" charset="-120"/>
              </a:rPr>
              <a:t>- Votre angle : asymétrie d'information : sait l'état réel du carnet, communique prudemment.</a:t>
            </a:r>
            <a:endParaRPr lang="fr-FR" sz="1050" noProof="0" dirty="0"/>
          </a:p>
          <a:p>
            <a:pPr marL="0" indent="0">
              <a:lnSpc>
                <a:spcPct val="102000"/>
              </a:lnSpc>
              <a:buNone/>
            </a:pPr>
            <a:r>
              <a:rPr lang="fr-FR" sz="300" noProof="0" dirty="0">
                <a:solidFill>
                  <a:srgbClr val="000000"/>
                </a:solidFill>
                <a:latin typeface="Calibri" pitchFamily="34" charset="0"/>
                <a:ea typeface="Calibri" pitchFamily="34" charset="-122"/>
                <a:cs typeface="Calibri" pitchFamily="34" charset="-120"/>
              </a:rPr>
              <a:t> </a:t>
            </a:r>
            <a:endParaRPr lang="fr-FR" sz="1050" noProof="0" dirty="0"/>
          </a:p>
          <a:p>
            <a:pPr marL="0" indent="0">
              <a:lnSpc>
                <a:spcPct val="102000"/>
              </a:lnSpc>
              <a:buNone/>
            </a:pPr>
            <a:r>
              <a:rPr lang="fr-FR" sz="750" noProof="0" dirty="0">
                <a:solidFill>
                  <a:srgbClr val="043962"/>
                </a:solidFill>
                <a:latin typeface="Calibri" pitchFamily="34" charset="0"/>
                <a:ea typeface="Calibri" pitchFamily="34" charset="-122"/>
                <a:cs typeface="Calibri" pitchFamily="34" charset="-120"/>
              </a:rPr>
              <a:t>Ce persona vous aide à incarner le rôle : il décrit comment votre entreprise parle et ce qu'elle craint - jamais combien il faut s'inquiéter à un tour donné. Ça, c'est VOTRE jugement.*</a:t>
            </a:r>
            <a:endParaRPr lang="fr-FR" sz="1050" noProof="0" dirty="0"/>
          </a:p>
          <a:p>
            <a:pPr marL="0" indent="0">
              <a:lnSpc>
                <a:spcPct val="102000"/>
              </a:lnSpc>
              <a:buNone/>
            </a:pPr>
            <a:r>
              <a:rPr lang="fr-FR" sz="300" noProof="0" dirty="0">
                <a:solidFill>
                  <a:srgbClr val="000000"/>
                </a:solidFill>
                <a:latin typeface="Calibri" pitchFamily="34" charset="0"/>
                <a:ea typeface="Calibri" pitchFamily="34" charset="-122"/>
                <a:cs typeface="Calibri" pitchFamily="34" charset="-120"/>
              </a:rPr>
              <a:t> </a:t>
            </a:r>
            <a:endParaRPr lang="fr-FR" sz="1050" noProof="0" dirty="0"/>
          </a:p>
          <a:p>
            <a:pPr marL="0" indent="0">
              <a:lnSpc>
                <a:spcPct val="102000"/>
              </a:lnSpc>
              <a:buNone/>
            </a:pPr>
            <a:r>
              <a:rPr lang="fr-FR" sz="850" b="1" noProof="0" dirty="0">
                <a:solidFill>
                  <a:srgbClr val="176F98"/>
                </a:solidFill>
                <a:latin typeface="Calibri" pitchFamily="34" charset="0"/>
                <a:ea typeface="Calibri" pitchFamily="34" charset="-122"/>
                <a:cs typeface="Calibri" pitchFamily="34" charset="-120"/>
              </a:rPr>
              <a:t>Les règles du jeu</a:t>
            </a:r>
            <a:endParaRPr lang="fr-FR" sz="1050" noProof="0" dirty="0"/>
          </a:p>
          <a:p>
            <a:pPr marL="0" indent="0">
              <a:lnSpc>
                <a:spcPct val="102000"/>
              </a:lnSpc>
              <a:buNone/>
            </a:pPr>
            <a:r>
              <a:rPr lang="fr-FR" sz="300" noProof="0" dirty="0">
                <a:solidFill>
                  <a:srgbClr val="000000"/>
                </a:solidFill>
                <a:latin typeface="Calibri" pitchFamily="34" charset="0"/>
                <a:ea typeface="Calibri" pitchFamily="34" charset="-122"/>
                <a:cs typeface="Calibri" pitchFamily="34" charset="-120"/>
              </a:rPr>
              <a:t> </a:t>
            </a:r>
            <a:endParaRPr lang="fr-FR" sz="1050" noProof="0" dirty="0"/>
          </a:p>
          <a:p>
            <a:pPr marL="0" indent="0">
              <a:lnSpc>
                <a:spcPct val="102000"/>
              </a:lnSpc>
              <a:buNone/>
            </a:pPr>
            <a:r>
              <a:rPr lang="fr-FR" sz="750" noProof="0" dirty="0">
                <a:solidFill>
                  <a:srgbClr val="043962"/>
                </a:solidFill>
                <a:latin typeface="Calibri" pitchFamily="34" charset="0"/>
                <a:ea typeface="Calibri" pitchFamily="34" charset="-122"/>
                <a:cs typeface="Calibri" pitchFamily="34" charset="-120"/>
              </a:rPr>
              <a:t>1. Deux tours par jour (matin et fin de journée), ~10 minutes chacun.</a:t>
            </a:r>
            <a:endParaRPr lang="fr-FR" sz="1050" noProof="0" dirty="0"/>
          </a:p>
          <a:p>
            <a:pPr marL="0" indent="0">
              <a:lnSpc>
                <a:spcPct val="102000"/>
              </a:lnSpc>
              <a:buNone/>
            </a:pPr>
            <a:r>
              <a:rPr lang="fr-FR" sz="750" noProof="0" dirty="0">
                <a:solidFill>
                  <a:srgbClr val="043962"/>
                </a:solidFill>
                <a:latin typeface="Calibri" pitchFamily="34" charset="0"/>
                <a:ea typeface="Calibri" pitchFamily="34" charset="-122"/>
                <a:cs typeface="Calibri" pitchFamily="34" charset="-120"/>
              </a:rPr>
              <a:t>2. À chaque tour : lisez votre fiche, remplissez le volet AHP dans l'outil.</a:t>
            </a:r>
            <a:endParaRPr lang="fr-FR" sz="1050" noProof="0" dirty="0"/>
          </a:p>
          <a:p>
            <a:pPr marL="0" indent="0">
              <a:lnSpc>
                <a:spcPct val="102000"/>
              </a:lnSpc>
              <a:buNone/>
            </a:pPr>
            <a:r>
              <a:rPr lang="fr-FR" sz="750" noProof="0" dirty="0">
                <a:solidFill>
                  <a:srgbClr val="043962"/>
                </a:solidFill>
                <a:latin typeface="Calibri" pitchFamily="34" charset="0"/>
                <a:ea typeface="Calibri" pitchFamily="34" charset="-122"/>
                <a:cs typeface="Calibri" pitchFamily="34" charset="-120"/>
              </a:rPr>
              <a:t>3. Vous ne voyez QUE votre fiche - pas celles des autres rôles.</a:t>
            </a:r>
            <a:endParaRPr lang="fr-FR" sz="1050" noProof="0" dirty="0"/>
          </a:p>
          <a:p>
            <a:pPr marL="0" indent="0">
              <a:lnSpc>
                <a:spcPct val="102000"/>
              </a:lnSpc>
              <a:buNone/>
            </a:pPr>
            <a:r>
              <a:rPr lang="fr-FR" sz="750" noProof="0" dirty="0">
                <a:solidFill>
                  <a:srgbClr val="043962"/>
                </a:solidFill>
                <a:latin typeface="Calibri" pitchFamily="34" charset="0"/>
                <a:ea typeface="Calibri" pitchFamily="34" charset="-122"/>
                <a:cs typeface="Calibri" pitchFamily="34" charset="-120"/>
              </a:rPr>
              <a:t>4. Pas de concertation entre rôles pendant la campagne.</a:t>
            </a:r>
            <a:endParaRPr lang="fr-FR" sz="1050" noProof="0" dirty="0"/>
          </a:p>
          <a:p>
            <a:pPr marL="0" indent="0">
              <a:lnSpc>
                <a:spcPct val="102000"/>
              </a:lnSpc>
              <a:buNone/>
            </a:pPr>
            <a:r>
              <a:rPr lang="fr-FR" sz="750" noProof="0" dirty="0">
                <a:solidFill>
                  <a:srgbClr val="043962"/>
                </a:solidFill>
                <a:latin typeface="Calibri" pitchFamily="34" charset="0"/>
                <a:ea typeface="Calibri" pitchFamily="34" charset="-122"/>
                <a:cs typeface="Calibri" pitchFamily="34" charset="-120"/>
              </a:rPr>
              <a:t>5. Ne consultez pas le tableau de bord ni les scores : uniquement la page questionnaire.</a:t>
            </a:r>
            <a:endParaRPr lang="fr-FR" sz="1050" noProof="0" dirty="0"/>
          </a:p>
          <a:p>
            <a:pPr marL="0" indent="0">
              <a:lnSpc>
                <a:spcPct val="102000"/>
              </a:lnSpc>
              <a:buNone/>
            </a:pPr>
            <a:r>
              <a:rPr lang="fr-FR" sz="750" noProof="0" dirty="0">
                <a:solidFill>
                  <a:srgbClr val="043962"/>
                </a:solidFill>
                <a:latin typeface="Calibri" pitchFamily="34" charset="0"/>
                <a:ea typeface="Calibri" pitchFamily="34" charset="-122"/>
                <a:cs typeface="Calibri" pitchFamily="34" charset="-120"/>
              </a:rPr>
              <a:t>6. Il n'y a pas de bonne réponse : déclarez votre perception, pas ce que vous croyez attendu.</a:t>
            </a:r>
            <a:endParaRPr lang="fr-FR" sz="1050" noProof="0" dirty="0"/>
          </a:p>
        </p:txBody>
      </p:sp>
      <p:sp>
        <p:nvSpPr>
          <p:cNvPr id="6" name="Text 4"/>
          <p:cNvSpPr/>
          <p:nvPr/>
        </p:nvSpPr>
        <p:spPr>
          <a:xfrm>
            <a:off x="502920" y="4828032"/>
            <a:ext cx="8138160" cy="228600"/>
          </a:xfrm>
          <a:prstGeom prst="rect">
            <a:avLst/>
          </a:prstGeom>
          <a:noFill/>
          <a:ln/>
        </p:spPr>
        <p:txBody>
          <a:bodyPr wrap="square" lIns="0" tIns="0" rIns="0" bIns="0" rtlCol="0" anchor="ctr"/>
          <a:lstStyle/>
          <a:p>
            <a:pPr marL="0" indent="0">
              <a:buNone/>
            </a:pPr>
            <a:r>
              <a:rPr lang="fr-FR" sz="800" i="1" noProof="0" dirty="0">
                <a:solidFill>
                  <a:srgbClr val="8C8C9A"/>
                </a:solidFill>
                <a:latin typeface="Calibri" pitchFamily="34" charset="0"/>
                <a:ea typeface="Calibri" pitchFamily="34" charset="-122"/>
                <a:cs typeface="Calibri" pitchFamily="34" charset="-120"/>
              </a:rPr>
              <a:t>Reproduction fidèle de briefings/</a:t>
            </a:r>
            <a:r>
              <a:rPr lang="fr-FR" sz="800" i="1" noProof="0" dirty="0" err="1">
                <a:solidFill>
                  <a:srgbClr val="8C8C9A"/>
                </a:solidFill>
                <a:latin typeface="Calibri" pitchFamily="34" charset="0"/>
                <a:ea typeface="Calibri" pitchFamily="34" charset="-122"/>
                <a:cs typeface="Calibri" pitchFamily="34" charset="-120"/>
              </a:rPr>
              <a:t>cartes_de_role</a:t>
            </a:r>
            <a:r>
              <a:rPr lang="fr-FR" sz="800" i="1" noProof="0" dirty="0">
                <a:solidFill>
                  <a:srgbClr val="8C8C9A"/>
                </a:solidFill>
                <a:latin typeface="Calibri" pitchFamily="34" charset="0"/>
                <a:ea typeface="Calibri" pitchFamily="34" charset="-122"/>
                <a:cs typeface="Calibri" pitchFamily="34" charset="-120"/>
              </a:rPr>
              <a:t>/novafab.md. Une carte par consultant, remise au </a:t>
            </a:r>
            <a:r>
              <a:rPr lang="fr-FR" sz="800" i="1" noProof="0" dirty="0" err="1">
                <a:solidFill>
                  <a:srgbClr val="8C8C9A"/>
                </a:solidFill>
                <a:latin typeface="Calibri" pitchFamily="34" charset="0"/>
                <a:ea typeface="Calibri" pitchFamily="34" charset="-122"/>
                <a:cs typeface="Calibri" pitchFamily="34" charset="-120"/>
              </a:rPr>
              <a:t>kickoff</a:t>
            </a:r>
            <a:r>
              <a:rPr lang="fr-FR" sz="800" i="1" noProof="0" dirty="0">
                <a:solidFill>
                  <a:srgbClr val="8C8C9A"/>
                </a:solidFill>
                <a:latin typeface="Calibri" pitchFamily="34" charset="0"/>
                <a:ea typeface="Calibri" pitchFamily="34" charset="-122"/>
                <a:cs typeface="Calibri" pitchFamily="34" charset="-120"/>
              </a:rPr>
              <a:t> avec le contrat.</a:t>
            </a:r>
            <a:endParaRPr lang="fr-FR" sz="800" noProof="0" dirty="0"/>
          </a:p>
        </p:txBody>
      </p:sp>
      <p:sp>
        <p:nvSpPr>
          <p:cNvPr id="7" name="Text 5"/>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- 31/50</a:t>
            </a:r>
            <a:endParaRPr lang="fr-FR" sz="800" noProof="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DÉROULÉ DU TOUR T1</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T1 - 2020-09 - P1 Baseline</a:t>
            </a:r>
            <a:endParaRPr lang="fr-FR" sz="2500" noProof="0" dirty="0"/>
          </a:p>
        </p:txBody>
      </p:sp>
      <p:sp>
        <p:nvSpPr>
          <p:cNvPr id="4" name="Shape 2"/>
          <p:cNvSpPr/>
          <p:nvPr/>
        </p:nvSpPr>
        <p:spPr>
          <a:xfrm>
            <a:off x="502920" y="1207008"/>
            <a:ext cx="8138160" cy="566928"/>
          </a:xfrm>
          <a:prstGeom prst="roundRect">
            <a:avLst>
              <a:gd name="adj" fmla="val 11290"/>
            </a:avLst>
          </a:prstGeom>
          <a:solidFill>
            <a:srgbClr val="FFF3D6"/>
          </a:solidFill>
          <a:ln w="12700">
            <a:solidFill>
              <a:srgbClr val="FFF3D6"/>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58368" y="1243584"/>
            <a:ext cx="7827264" cy="493776"/>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Presse (les 8 rôles) : </a:t>
            </a:r>
            <a:r>
              <a:rPr lang="fr-FR" sz="840" noProof="0" dirty="0">
                <a:solidFill>
                  <a:srgbClr val="043962"/>
                </a:solidFill>
                <a:latin typeface="Calibri" pitchFamily="34" charset="0"/>
                <a:ea typeface="Calibri" pitchFamily="34" charset="-122"/>
                <a:cs typeface="Calibri" pitchFamily="34" charset="-120"/>
              </a:rPr>
              <a:t>Sortie du premier confinement : les ventes d'ordinateurs et d'équipements de télétravail battent des records. Les usines électroniques mondiales tournent à plein.</a:t>
            </a:r>
            <a:endParaRPr lang="fr-FR" sz="840" noProof="0" dirty="0"/>
          </a:p>
        </p:txBody>
      </p:sp>
      <p:graphicFrame>
        <p:nvGraphicFramePr>
          <p:cNvPr id="34" name="Table 0"/>
          <p:cNvGraphicFramePr>
            <a:graphicFrameLocks noGrp="1"/>
          </p:cNvGraphicFramePr>
          <p:nvPr>
            <p:extLst>
              <p:ext uri="{D42A27DB-BD31-4B8C-83A1-F6EECF244321}">
                <p14:modId xmlns:p14="http://schemas.microsoft.com/office/powerpoint/2010/main" val="3860046065"/>
              </p:ext>
            </p:extLst>
          </p:nvPr>
        </p:nvGraphicFramePr>
        <p:xfrm>
          <a:off x="502920" y="1883664"/>
          <a:ext cx="8138160" cy="1229868"/>
        </p:xfrm>
        <a:graphic>
          <a:graphicData uri="http://schemas.openxmlformats.org/drawingml/2006/table">
            <a:tbl>
              <a:tblPr/>
              <a:tblGrid>
                <a:gridCol w="10972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237744">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Rôle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Ce qu'il reçoit, et lui seul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extLst>
                  <a:ext uri="{0D108BD9-81ED-4DB2-BD59-A6C34878D82A}">
                    <a16:rowId xmlns:a16="http://schemas.microsoft.com/office/drawing/2014/main" val="10000"/>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Orbitalys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a:solidFill>
                            <a:srgbClr val="043962"/>
                          </a:solidFill>
                          <a:latin typeface="Calibri" pitchFamily="34" charset="0"/>
                          <a:ea typeface="Calibri" pitchFamily="34" charset="-122"/>
                          <a:cs typeface="Calibri" pitchFamily="34" charset="-120"/>
                        </a:rPr>
                        <a:t>Courriel de Claire Vasseur (</a:t>
                      </a:r>
                      <a:r>
                        <a:rPr lang="fr-FR" sz="750" noProof="0" dirty="0" err="1">
                          <a:solidFill>
                            <a:srgbClr val="043962"/>
                          </a:solidFill>
                          <a:latin typeface="Calibri" pitchFamily="34" charset="0"/>
                          <a:ea typeface="Calibri" pitchFamily="34" charset="-122"/>
                          <a:cs typeface="Calibri" pitchFamily="34" charset="-120"/>
                        </a:rPr>
                        <a:t>dir</a:t>
                      </a:r>
                      <a:r>
                        <a:rPr lang="fr-FR" sz="750" noProof="0" dirty="0">
                          <a:solidFill>
                            <a:srgbClr val="043962"/>
                          </a:solidFill>
                          <a:latin typeface="Calibri" pitchFamily="34" charset="0"/>
                          <a:ea typeface="Calibri" pitchFamily="34" charset="-122"/>
                          <a:cs typeface="Calibri" pitchFamily="34" charset="-120"/>
                        </a:rPr>
                        <a:t>. programme) : « HÉLIOS entre en production série. Tous les feux sont au vert, tenons le cap. »</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AvioSys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err="1">
                          <a:solidFill>
                            <a:srgbClr val="043962"/>
                          </a:solidFill>
                          <a:latin typeface="Calibri" pitchFamily="34" charset="0"/>
                          <a:ea typeface="Calibri" pitchFamily="34" charset="-122"/>
                          <a:cs typeface="Calibri" pitchFamily="34" charset="-120"/>
                        </a:rPr>
                        <a:t>Orbitalys</a:t>
                      </a:r>
                      <a:r>
                        <a:rPr lang="fr-FR" sz="750" noProof="0" dirty="0">
                          <a:solidFill>
                            <a:srgbClr val="043962"/>
                          </a:solidFill>
                          <a:latin typeface="Calibri" pitchFamily="34" charset="0"/>
                          <a:ea typeface="Calibri" pitchFamily="34" charset="-122"/>
                          <a:cs typeface="Calibri" pitchFamily="34" charset="-120"/>
                        </a:rPr>
                        <a:t> confirme le calendrier des lots 1 à 3.</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2"/>
                  </a:ext>
                </a:extLst>
              </a:tr>
              <a:tr h="237744">
                <a:tc>
                  <a:txBody>
                    <a:bodyPr/>
                    <a:lstStyle/>
                    <a:p>
                      <a:pPr marL="0" indent="0">
                        <a:buNone/>
                      </a:pPr>
                      <a:r>
                        <a:rPr lang="fr-FR" sz="750" b="1" noProof="0" dirty="0">
                          <a:solidFill>
                            <a:srgbClr val="176F98"/>
                          </a:solidFill>
                          <a:latin typeface="Calibri" pitchFamily="34" charset="0"/>
                          <a:ea typeface="Calibri" pitchFamily="34" charset="-122"/>
                          <a:cs typeface="Calibri" pitchFamily="34" charset="-120"/>
                        </a:rPr>
                        <a:t>NovaFab</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a:solidFill>
                            <a:srgbClr val="043962"/>
                          </a:solidFill>
                          <a:latin typeface="Calibri" pitchFamily="34" charset="0"/>
                          <a:ea typeface="Calibri" pitchFamily="34" charset="-122"/>
                          <a:cs typeface="Calibri" pitchFamily="34" charset="-120"/>
                        </a:rPr>
                        <a:t>Les commerciaux remontent des demandes de créneaux en hausse côté grand public.</a:t>
                      </a:r>
                      <a:endParaRPr lang="fr-FR" sz="750" noProof="0" dirty="0">
                        <a:latin typeface="Calibri" charset="0"/>
                        <a:ea typeface="Calibri" charset="0"/>
                        <a:cs typeface="Calibri" charset="0"/>
                      </a:endParaRPr>
                    </a:p>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Taux de charge des </a:t>
                      </a:r>
                      <a:r>
                        <a:rPr lang="fr-FR" sz="750" noProof="0" dirty="0" err="1">
                          <a:solidFill>
                            <a:srgbClr val="043962"/>
                          </a:solidFill>
                          <a:latin typeface="Calibri" pitchFamily="34" charset="0"/>
                          <a:ea typeface="Calibri" pitchFamily="34" charset="-122"/>
                          <a:cs typeface="Calibri" pitchFamily="34" charset="-120"/>
                        </a:rPr>
                        <a:t>fabs</a:t>
                      </a:r>
                      <a:r>
                        <a:rPr lang="fr-FR" sz="750" noProof="0" dirty="0">
                          <a:solidFill>
                            <a:srgbClr val="043962"/>
                          </a:solidFill>
                          <a:latin typeface="Calibri" pitchFamily="34" charset="0"/>
                          <a:ea typeface="Calibri" pitchFamily="34" charset="-122"/>
                          <a:cs typeface="Calibri" pitchFamily="34" charset="-120"/>
                        </a:rPr>
                        <a:t> : 95 %.</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502920" y="3163824"/>
            <a:ext cx="8138160" cy="612648"/>
          </a:xfrm>
          <a:prstGeom prst="roundRect">
            <a:avLst>
              <a:gd name="adj" fmla="val 10448"/>
            </a:avLst>
          </a:prstGeom>
          <a:solidFill>
            <a:srgbClr val="EBF3F9"/>
          </a:solidFill>
          <a:ln w="12700">
            <a:solidFill>
              <a:srgbClr val="EBF3F9"/>
            </a:solidFill>
            <a:prstDash val="solid"/>
          </a:ln>
        </p:spPr>
        <p:txBody>
          <a:bodyPr/>
          <a:lstStyle/>
          <a:p>
            <a:endParaRPr lang="fr-FR" noProof="0" dirty="0"/>
          </a:p>
        </p:txBody>
      </p:sp>
      <p:sp>
        <p:nvSpPr>
          <p:cNvPr id="8" name="Text 5"/>
          <p:cNvSpPr/>
          <p:nvPr/>
        </p:nvSpPr>
        <p:spPr>
          <a:xfrm>
            <a:off x="658368" y="3200400"/>
            <a:ext cx="7827264" cy="539496"/>
          </a:xfrm>
          <a:prstGeom prst="rect">
            <a:avLst/>
          </a:prstGeom>
          <a:noFill/>
          <a:ln/>
        </p:spPr>
        <p:txBody>
          <a:bodyPr wrap="square" lIns="0" tIns="0" rIns="0" bIns="0" rtlCol="0" anchor="t"/>
          <a:lstStyle/>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Données injectées : </a:t>
            </a:r>
            <a:r>
              <a:rPr lang="fr-FR" sz="680" noProof="0" dirty="0">
                <a:solidFill>
                  <a:srgbClr val="043962"/>
                </a:solidFill>
                <a:latin typeface="Calibri" pitchFamily="34" charset="0"/>
                <a:ea typeface="Calibri" pitchFamily="34" charset="-122"/>
                <a:cs typeface="Calibri" pitchFamily="34" charset="-120"/>
              </a:rPr>
              <a:t>NovaFab : demande 116.4, coût op 100.0, volatilité coût 0  -  Meridian : demande 116.4  -  </a:t>
            </a:r>
            <a:r>
              <a:rPr lang="fr-FR" sz="680" noProof="0" dirty="0" err="1">
                <a:solidFill>
                  <a:srgbClr val="043962"/>
                </a:solidFill>
                <a:latin typeface="Calibri" pitchFamily="34" charset="0"/>
                <a:ea typeface="Calibri" pitchFamily="34" charset="-122"/>
                <a:cs typeface="Calibri" pitchFamily="34" charset="-120"/>
              </a:rPr>
              <a:t>CompoDis</a:t>
            </a:r>
            <a:r>
              <a:rPr lang="fr-FR" sz="680" noProof="0" dirty="0">
                <a:solidFill>
                  <a:srgbClr val="043962"/>
                </a:solidFill>
                <a:latin typeface="Calibri" pitchFamily="34" charset="0"/>
                <a:ea typeface="Calibri" pitchFamily="34" charset="-122"/>
                <a:cs typeface="Calibri" pitchFamily="34" charset="-120"/>
              </a:rPr>
              <a:t> : flux servi 116.4, délai 13.0 sem., coût op 99.8, volatilité coût 0, p. incident 0.019  -  </a:t>
            </a:r>
            <a:r>
              <a:rPr lang="fr-FR" sz="680" noProof="0" dirty="0" err="1">
                <a:solidFill>
                  <a:srgbClr val="043962"/>
                </a:solidFill>
                <a:latin typeface="Calibri" pitchFamily="34" charset="0"/>
                <a:ea typeface="Calibri" pitchFamily="34" charset="-122"/>
                <a:cs typeface="Calibri" pitchFamily="34" charset="-120"/>
              </a:rPr>
              <a:t>Électis</a:t>
            </a:r>
            <a:r>
              <a:rPr lang="fr-FR" sz="680" noProof="0" dirty="0">
                <a:solidFill>
                  <a:srgbClr val="043962"/>
                </a:solidFill>
                <a:latin typeface="Calibri" pitchFamily="34" charset="0"/>
                <a:ea typeface="Calibri" pitchFamily="34" charset="-122"/>
                <a:cs typeface="Calibri" pitchFamily="34" charset="-120"/>
              </a:rPr>
              <a:t> : perf 0.99, dispo 0.915, coût op 100.4, volatilité coût 0  -  </a:t>
            </a:r>
            <a:r>
              <a:rPr lang="fr-FR" sz="680" noProof="0" dirty="0" err="1">
                <a:solidFill>
                  <a:srgbClr val="043962"/>
                </a:solidFill>
                <a:latin typeface="Calibri" pitchFamily="34" charset="0"/>
                <a:ea typeface="Calibri" pitchFamily="34" charset="-122"/>
                <a:cs typeface="Calibri" pitchFamily="34" charset="-120"/>
              </a:rPr>
              <a:t>SilPure</a:t>
            </a:r>
            <a:r>
              <a:rPr lang="fr-FR" sz="680" noProof="0" dirty="0">
                <a:solidFill>
                  <a:srgbClr val="043962"/>
                </a:solidFill>
                <a:latin typeface="Calibri" pitchFamily="34" charset="0"/>
                <a:ea typeface="Calibri" pitchFamily="34" charset="-122"/>
                <a:cs typeface="Calibri" pitchFamily="34" charset="-120"/>
              </a:rPr>
              <a:t> : coût op 100.4, volatilité coût 0, p. incident 0.01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flux servi 100.0</a:t>
            </a:r>
            <a:endParaRPr lang="fr-FR" sz="680" noProof="0" dirty="0"/>
          </a:p>
        </p:txBody>
      </p:sp>
      <p:sp>
        <p:nvSpPr>
          <p:cNvPr id="9" name="Text 6"/>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- 33/50</a:t>
            </a:r>
            <a:endParaRPr lang="fr-FR" sz="800" noProof="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DÉROULÉ DU TOUR T2</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T2 - 2020-10 - P1 Baseline</a:t>
            </a:r>
            <a:endParaRPr lang="fr-FR" sz="2500" noProof="0" dirty="0"/>
          </a:p>
        </p:txBody>
      </p:sp>
      <p:sp>
        <p:nvSpPr>
          <p:cNvPr id="4" name="Shape 2"/>
          <p:cNvSpPr/>
          <p:nvPr/>
        </p:nvSpPr>
        <p:spPr>
          <a:xfrm>
            <a:off x="502920" y="1207008"/>
            <a:ext cx="8138160" cy="402336"/>
          </a:xfrm>
          <a:prstGeom prst="roundRect">
            <a:avLst>
              <a:gd name="adj" fmla="val 15909"/>
            </a:avLst>
          </a:prstGeom>
          <a:solidFill>
            <a:srgbClr val="FFF3D6"/>
          </a:solidFill>
          <a:ln w="12700">
            <a:solidFill>
              <a:srgbClr val="FFF3D6"/>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58368" y="1243584"/>
            <a:ext cx="7827264" cy="329184"/>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Presse (les 8 rôles) : </a:t>
            </a:r>
            <a:r>
              <a:rPr lang="fr-FR" sz="840" noProof="0" dirty="0">
                <a:solidFill>
                  <a:srgbClr val="043962"/>
                </a:solidFill>
                <a:latin typeface="Calibri" pitchFamily="34" charset="0"/>
                <a:ea typeface="Calibri" pitchFamily="34" charset="-122"/>
                <a:cs typeface="Calibri" pitchFamily="34" charset="-120"/>
              </a:rPr>
              <a:t>Les constructeurs automobiles, qui avaient annulé leurs commandes de composants au printemps, constatent une reprise plus forte que prévu.</a:t>
            </a:r>
            <a:endParaRPr lang="fr-FR" sz="840" noProof="0" dirty="0"/>
          </a:p>
        </p:txBody>
      </p:sp>
      <p:graphicFrame>
        <p:nvGraphicFramePr>
          <p:cNvPr id="35" name="Table 0"/>
          <p:cNvGraphicFramePr>
            <a:graphicFrameLocks noGrp="1"/>
          </p:cNvGraphicFramePr>
          <p:nvPr>
            <p:extLst>
              <p:ext uri="{D42A27DB-BD31-4B8C-83A1-F6EECF244321}">
                <p14:modId xmlns:p14="http://schemas.microsoft.com/office/powerpoint/2010/main" val="3960651350"/>
              </p:ext>
            </p:extLst>
          </p:nvPr>
        </p:nvGraphicFramePr>
        <p:xfrm>
          <a:off x="502920" y="1719072"/>
          <a:ext cx="8138160" cy="672084"/>
        </p:xfrm>
        <a:graphic>
          <a:graphicData uri="http://schemas.openxmlformats.org/drawingml/2006/table">
            <a:tbl>
              <a:tblPr/>
              <a:tblGrid>
                <a:gridCol w="10972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237744">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Rôle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Ce qu'il reçoit, et lui seul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extLst>
                  <a:ext uri="{0D108BD9-81ED-4DB2-BD59-A6C34878D82A}">
                    <a16:rowId xmlns:a16="http://schemas.microsoft.com/office/drawing/2014/main" val="10000"/>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CompoDis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a:solidFill>
                            <a:srgbClr val="043962"/>
                          </a:solidFill>
                          <a:latin typeface="Calibri" pitchFamily="34" charset="0"/>
                          <a:ea typeface="Calibri" pitchFamily="34" charset="-122"/>
                          <a:cs typeface="Calibri" pitchFamily="34" charset="-120"/>
                        </a:rPr>
                        <a:t>Deux fabricants de composants annoncent des « délais étendus » sur une poignée de références automobiles.</a:t>
                      </a:r>
                      <a:endParaRPr lang="fr-FR" sz="750" noProof="0" dirty="0">
                        <a:latin typeface="Calibri" charset="0"/>
                        <a:ea typeface="Calibri" charset="0"/>
                        <a:cs typeface="Calibri" charset="0"/>
                      </a:endParaRPr>
                    </a:p>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Références en délai étendu : 4 % du catalogue.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7" name="Shape 4"/>
          <p:cNvSpPr/>
          <p:nvPr/>
        </p:nvSpPr>
        <p:spPr>
          <a:xfrm>
            <a:off x="502920" y="2414016"/>
            <a:ext cx="8138160" cy="612648"/>
          </a:xfrm>
          <a:prstGeom prst="roundRect">
            <a:avLst>
              <a:gd name="adj" fmla="val 10448"/>
            </a:avLst>
          </a:prstGeom>
          <a:solidFill>
            <a:srgbClr val="EBF3F9"/>
          </a:solidFill>
          <a:ln w="12700">
            <a:solidFill>
              <a:srgbClr val="EBF3F9"/>
            </a:solidFill>
            <a:prstDash val="solid"/>
          </a:ln>
        </p:spPr>
        <p:txBody>
          <a:bodyPr/>
          <a:lstStyle/>
          <a:p>
            <a:endParaRPr lang="fr-FR" noProof="0" dirty="0"/>
          </a:p>
        </p:txBody>
      </p:sp>
      <p:sp>
        <p:nvSpPr>
          <p:cNvPr id="8" name="Text 5"/>
          <p:cNvSpPr/>
          <p:nvPr/>
        </p:nvSpPr>
        <p:spPr>
          <a:xfrm>
            <a:off x="658368" y="2450592"/>
            <a:ext cx="7827264" cy="539496"/>
          </a:xfrm>
          <a:prstGeom prst="rect">
            <a:avLst/>
          </a:prstGeom>
          <a:noFill/>
          <a:ln/>
        </p:spPr>
        <p:txBody>
          <a:bodyPr wrap="square" lIns="0" tIns="0" rIns="0" bIns="0" rtlCol="0" anchor="t"/>
          <a:lstStyle/>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Données injectées : </a:t>
            </a:r>
            <a:r>
              <a:rPr lang="fr-FR" sz="680" noProof="0" dirty="0">
                <a:solidFill>
                  <a:srgbClr val="043962"/>
                </a:solidFill>
                <a:latin typeface="Calibri" pitchFamily="34" charset="0"/>
                <a:ea typeface="Calibri" pitchFamily="34" charset="-122"/>
                <a:cs typeface="Calibri" pitchFamily="34" charset="-120"/>
              </a:rPr>
              <a:t>NovaFab : demande 108.2, coût op 98.3, volatilité coût 0.008  -  Meridian : demande 108.2  -  </a:t>
            </a:r>
            <a:r>
              <a:rPr lang="fr-FR" sz="680" noProof="0" dirty="0" err="1">
                <a:solidFill>
                  <a:srgbClr val="043962"/>
                </a:solidFill>
                <a:latin typeface="Calibri" pitchFamily="34" charset="0"/>
                <a:ea typeface="Calibri" pitchFamily="34" charset="-122"/>
                <a:cs typeface="Calibri" pitchFamily="34" charset="-120"/>
              </a:rPr>
              <a:t>CompoDis</a:t>
            </a:r>
            <a:r>
              <a:rPr lang="fr-FR" sz="680" noProof="0" dirty="0">
                <a:solidFill>
                  <a:srgbClr val="043962"/>
                </a:solidFill>
                <a:latin typeface="Calibri" pitchFamily="34" charset="0"/>
                <a:ea typeface="Calibri" pitchFamily="34" charset="-122"/>
                <a:cs typeface="Calibri" pitchFamily="34" charset="-120"/>
              </a:rPr>
              <a:t> : flux servi 108.2, délai 13.5 sem., coût op 99.5, volatilité coût 0.002, p. incident 0.018  -  </a:t>
            </a:r>
            <a:r>
              <a:rPr lang="fr-FR" sz="680" noProof="0" dirty="0" err="1">
                <a:solidFill>
                  <a:srgbClr val="043962"/>
                </a:solidFill>
                <a:latin typeface="Calibri" pitchFamily="34" charset="0"/>
                <a:ea typeface="Calibri" pitchFamily="34" charset="-122"/>
                <a:cs typeface="Calibri" pitchFamily="34" charset="-120"/>
              </a:rPr>
              <a:t>Électis</a:t>
            </a:r>
            <a:r>
              <a:rPr lang="fr-FR" sz="680" noProof="0" dirty="0">
                <a:solidFill>
                  <a:srgbClr val="043962"/>
                </a:solidFill>
                <a:latin typeface="Calibri" pitchFamily="34" charset="0"/>
                <a:ea typeface="Calibri" pitchFamily="34" charset="-122"/>
                <a:cs typeface="Calibri" pitchFamily="34" charset="-120"/>
              </a:rPr>
              <a:t> : perf 0.981, dispo 0.926, coût op 100.3, volatilité coût 0.001  -  </a:t>
            </a:r>
            <a:r>
              <a:rPr lang="fr-FR" sz="680" noProof="0" dirty="0" err="1">
                <a:solidFill>
                  <a:srgbClr val="043962"/>
                </a:solidFill>
                <a:latin typeface="Calibri" pitchFamily="34" charset="0"/>
                <a:ea typeface="Calibri" pitchFamily="34" charset="-122"/>
                <a:cs typeface="Calibri" pitchFamily="34" charset="-120"/>
              </a:rPr>
              <a:t>SilPure</a:t>
            </a:r>
            <a:r>
              <a:rPr lang="fr-FR" sz="680" noProof="0" dirty="0">
                <a:solidFill>
                  <a:srgbClr val="043962"/>
                </a:solidFill>
                <a:latin typeface="Calibri" pitchFamily="34" charset="0"/>
                <a:ea typeface="Calibri" pitchFamily="34" charset="-122"/>
                <a:cs typeface="Calibri" pitchFamily="34" charset="-120"/>
              </a:rPr>
              <a:t> : coût op 100.3, volatilité coût 0.001, p. incident 0.009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flux servi 100.0</a:t>
            </a:r>
            <a:endParaRPr lang="fr-FR" sz="680" noProof="0" dirty="0"/>
          </a:p>
        </p:txBody>
      </p:sp>
      <p:sp>
        <p:nvSpPr>
          <p:cNvPr id="9" name="Text 6"/>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- 34/50</a:t>
            </a:r>
            <a:endParaRPr lang="fr-FR" sz="800" noProof="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DÉROULÉ DU TOUR T3</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T3 - 2020-11 - P1 Baseline</a:t>
            </a:r>
            <a:endParaRPr lang="fr-FR" sz="2500" noProof="0" dirty="0"/>
          </a:p>
        </p:txBody>
      </p:sp>
      <p:sp>
        <p:nvSpPr>
          <p:cNvPr id="4" name="Shape 2"/>
          <p:cNvSpPr/>
          <p:nvPr/>
        </p:nvSpPr>
        <p:spPr>
          <a:xfrm>
            <a:off x="502920" y="1207008"/>
            <a:ext cx="8138160" cy="566928"/>
          </a:xfrm>
          <a:prstGeom prst="roundRect">
            <a:avLst>
              <a:gd name="adj" fmla="val 11290"/>
            </a:avLst>
          </a:prstGeom>
          <a:solidFill>
            <a:srgbClr val="FFF3D6"/>
          </a:solidFill>
          <a:ln w="12700">
            <a:solidFill>
              <a:srgbClr val="FFF3D6"/>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58368" y="1243584"/>
            <a:ext cx="7827264" cy="493776"/>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Presse (les 8 rôles) : </a:t>
            </a:r>
            <a:r>
              <a:rPr lang="fr-FR" sz="840" noProof="0" dirty="0">
                <a:solidFill>
                  <a:srgbClr val="043962"/>
                </a:solidFill>
                <a:latin typeface="Calibri" pitchFamily="34" charset="0"/>
                <a:ea typeface="Calibri" pitchFamily="34" charset="-122"/>
                <a:cs typeface="Calibri" pitchFamily="34" charset="-120"/>
              </a:rPr>
              <a:t>Les recommandes du secteur automobile affluent chez les fondeurs. Un dirigeant cité : « les créneaux de production de ce trimestre sont vendus depuis longtemps ».</a:t>
            </a:r>
            <a:endParaRPr lang="fr-FR" sz="840" noProof="0" dirty="0"/>
          </a:p>
        </p:txBody>
      </p:sp>
      <p:graphicFrame>
        <p:nvGraphicFramePr>
          <p:cNvPr id="36" name="Table 0"/>
          <p:cNvGraphicFramePr>
            <a:graphicFrameLocks noGrp="1"/>
          </p:cNvGraphicFramePr>
          <p:nvPr>
            <p:extLst>
              <p:ext uri="{D42A27DB-BD31-4B8C-83A1-F6EECF244321}">
                <p14:modId xmlns:p14="http://schemas.microsoft.com/office/powerpoint/2010/main" val="555361805"/>
              </p:ext>
            </p:extLst>
          </p:nvPr>
        </p:nvGraphicFramePr>
        <p:xfrm>
          <a:off x="502920" y="1883664"/>
          <a:ext cx="8138160" cy="1115568"/>
        </p:xfrm>
        <a:graphic>
          <a:graphicData uri="http://schemas.openxmlformats.org/drawingml/2006/table">
            <a:tbl>
              <a:tblPr/>
              <a:tblGrid>
                <a:gridCol w="10972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237744">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Rôle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Ce qu'il reçoit, et lui seul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extLst>
                  <a:ext uri="{0D108BD9-81ED-4DB2-BD59-A6C34878D82A}">
                    <a16:rowId xmlns:a16="http://schemas.microsoft.com/office/drawing/2014/main" val="10000"/>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CompoDis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a:solidFill>
                            <a:srgbClr val="043962"/>
                          </a:solidFill>
                          <a:latin typeface="Calibri" pitchFamily="34" charset="0"/>
                          <a:ea typeface="Calibri" pitchFamily="34" charset="-122"/>
                          <a:cs typeface="Calibri" pitchFamily="34" charset="-120"/>
                        </a:rPr>
                        <a:t>Réponse type de Wei-Han Lu (VP commercial NovaFab) aux nouvelles demandes : « premier créneau disponible : dans cinq mois ».</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7744">
                <a:tc>
                  <a:txBody>
                    <a:bodyPr/>
                    <a:lstStyle/>
                    <a:p>
                      <a:pPr marL="0" indent="0">
                        <a:buNone/>
                      </a:pPr>
                      <a:r>
                        <a:rPr lang="fr-FR" sz="750" b="1" noProof="0" dirty="0">
                          <a:solidFill>
                            <a:srgbClr val="176F98"/>
                          </a:solidFill>
                          <a:latin typeface="Calibri" pitchFamily="34" charset="0"/>
                          <a:ea typeface="Calibri" pitchFamily="34" charset="-122"/>
                          <a:cs typeface="Calibri" pitchFamily="34" charset="-120"/>
                        </a:rPr>
                        <a:t>NovaFab</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Le carnet dépasse 100 % de la capacité nominale. Délais moyens annoncés : 14 semaines (12 en début d'année).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2"/>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SilPure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a:solidFill>
                            <a:srgbClr val="043962"/>
                          </a:solidFill>
                          <a:latin typeface="Calibri" pitchFamily="34" charset="0"/>
                          <a:ea typeface="Calibri" pitchFamily="34" charset="-122"/>
                          <a:cs typeface="Calibri" pitchFamily="34" charset="-120"/>
                        </a:rPr>
                        <a:t>NovaFab demande une hausse de ses volumes de wafers pour les trimestres à venir.</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502920" y="3054096"/>
            <a:ext cx="8138160" cy="749808"/>
          </a:xfrm>
          <a:prstGeom prst="roundRect">
            <a:avLst>
              <a:gd name="adj" fmla="val 8537"/>
            </a:avLst>
          </a:prstGeom>
          <a:solidFill>
            <a:srgbClr val="EBF3F9"/>
          </a:solidFill>
          <a:ln w="12700">
            <a:solidFill>
              <a:srgbClr val="EBF3F9"/>
            </a:solidFill>
            <a:prstDash val="solid"/>
          </a:ln>
        </p:spPr>
        <p:txBody>
          <a:bodyPr/>
          <a:lstStyle/>
          <a:p>
            <a:endParaRPr lang="fr-FR" noProof="0" dirty="0"/>
          </a:p>
        </p:txBody>
      </p:sp>
      <p:sp>
        <p:nvSpPr>
          <p:cNvPr id="8" name="Text 5"/>
          <p:cNvSpPr/>
          <p:nvPr/>
        </p:nvSpPr>
        <p:spPr>
          <a:xfrm>
            <a:off x="658368" y="3090672"/>
            <a:ext cx="7827264" cy="676656"/>
          </a:xfrm>
          <a:prstGeom prst="rect">
            <a:avLst/>
          </a:prstGeom>
          <a:noFill/>
          <a:ln/>
        </p:spPr>
        <p:txBody>
          <a:bodyPr wrap="square" lIns="0" tIns="0" rIns="0" bIns="0" rtlCol="0" anchor="t"/>
          <a:lstStyle/>
          <a:p>
            <a:pPr marL="0" indent="0">
              <a:lnSpc>
                <a:spcPct val="104000"/>
              </a:lnSpc>
              <a:buNone/>
            </a:pPr>
            <a:r>
              <a:rPr lang="fr-FR" sz="680" b="1" noProof="0" dirty="0">
                <a:solidFill>
                  <a:srgbClr val="043962"/>
                </a:solidFill>
                <a:latin typeface="Calibri" pitchFamily="34" charset="0"/>
                <a:ea typeface="Calibri" pitchFamily="34" charset="-122"/>
                <a:cs typeface="Calibri" pitchFamily="34" charset="-120"/>
              </a:rPr>
              <a:t>Événements moteur : </a:t>
            </a:r>
            <a:r>
              <a:rPr lang="fr-FR" sz="680" noProof="0" dirty="0">
                <a:solidFill>
                  <a:srgbClr val="043962"/>
                </a:solidFill>
                <a:latin typeface="Calibri" pitchFamily="34" charset="0"/>
                <a:ea typeface="Calibri" pitchFamily="34" charset="-122"/>
                <a:cs typeface="Calibri" pitchFamily="34" charset="-120"/>
              </a:rPr>
              <a:t>NovaFab - </a:t>
            </a:r>
            <a:r>
              <a:rPr lang="fr-FR" sz="680" noProof="0" dirty="0" err="1">
                <a:solidFill>
                  <a:srgbClr val="043962"/>
                </a:solidFill>
                <a:latin typeface="Calibri" pitchFamily="34" charset="0"/>
                <a:ea typeface="Calibri" pitchFamily="34" charset="-122"/>
                <a:cs typeface="Calibri" pitchFamily="34" charset="-120"/>
              </a:rPr>
              <a:t>pic_demande</a:t>
            </a:r>
            <a:r>
              <a:rPr lang="fr-FR" sz="680" noProof="0" dirty="0">
                <a:solidFill>
                  <a:srgbClr val="043962"/>
                </a:solidFill>
                <a:latin typeface="Calibri" pitchFamily="34" charset="0"/>
                <a:ea typeface="Calibri" pitchFamily="34" charset="-122"/>
                <a:cs typeface="Calibri" pitchFamily="34" charset="-120"/>
              </a:rPr>
              <a:t> : demande 110 (base 100)</a:t>
            </a:r>
            <a:endParaRPr lang="fr-FR" sz="680" noProof="0" dirty="0"/>
          </a:p>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Données injectées : </a:t>
            </a:r>
            <a:r>
              <a:rPr lang="fr-FR" sz="680" noProof="0" dirty="0">
                <a:solidFill>
                  <a:srgbClr val="043962"/>
                </a:solidFill>
                <a:latin typeface="Calibri" pitchFamily="34" charset="0"/>
                <a:ea typeface="Calibri" pitchFamily="34" charset="-122"/>
                <a:cs typeface="Calibri" pitchFamily="34" charset="-120"/>
              </a:rPr>
              <a:t>NovaFab : coût op 98.5, volatilité coût 0.007  -  Meridian : demande 111.9  -  </a:t>
            </a:r>
            <a:r>
              <a:rPr lang="fr-FR" sz="680" noProof="0" dirty="0" err="1">
                <a:solidFill>
                  <a:srgbClr val="043962"/>
                </a:solidFill>
                <a:latin typeface="Calibri" pitchFamily="34" charset="0"/>
                <a:ea typeface="Calibri" pitchFamily="34" charset="-122"/>
                <a:cs typeface="Calibri" pitchFamily="34" charset="-120"/>
              </a:rPr>
              <a:t>CompoDis</a:t>
            </a:r>
            <a:r>
              <a:rPr lang="fr-FR" sz="680" noProof="0" dirty="0">
                <a:solidFill>
                  <a:srgbClr val="043962"/>
                </a:solidFill>
                <a:latin typeface="Calibri" pitchFamily="34" charset="0"/>
                <a:ea typeface="Calibri" pitchFamily="34" charset="-122"/>
                <a:cs typeface="Calibri" pitchFamily="34" charset="-120"/>
              </a:rPr>
              <a:t> : flux servi 111.9, délai 14.0 sem., coût op 99.3, volatilité coût 0.002, p. incident 0.017  -  </a:t>
            </a:r>
            <a:r>
              <a:rPr lang="fr-FR" sz="680" noProof="0" dirty="0" err="1">
                <a:solidFill>
                  <a:srgbClr val="043962"/>
                </a:solidFill>
                <a:latin typeface="Calibri" pitchFamily="34" charset="0"/>
                <a:ea typeface="Calibri" pitchFamily="34" charset="-122"/>
                <a:cs typeface="Calibri" pitchFamily="34" charset="-120"/>
              </a:rPr>
              <a:t>Électis</a:t>
            </a:r>
            <a:r>
              <a:rPr lang="fr-FR" sz="680" noProof="0" dirty="0">
                <a:solidFill>
                  <a:srgbClr val="043962"/>
                </a:solidFill>
                <a:latin typeface="Calibri" pitchFamily="34" charset="0"/>
                <a:ea typeface="Calibri" pitchFamily="34" charset="-122"/>
                <a:cs typeface="Calibri" pitchFamily="34" charset="-120"/>
              </a:rPr>
              <a:t> : perf 1, dispo 0.937, coût op 100.9, volatilité coût 0.002  -  </a:t>
            </a:r>
            <a:r>
              <a:rPr lang="fr-FR" sz="680" noProof="0" dirty="0" err="1">
                <a:solidFill>
                  <a:srgbClr val="043962"/>
                </a:solidFill>
                <a:latin typeface="Calibri" pitchFamily="34" charset="0"/>
                <a:ea typeface="Calibri" pitchFamily="34" charset="-122"/>
                <a:cs typeface="Calibri" pitchFamily="34" charset="-120"/>
              </a:rPr>
              <a:t>SilPure</a:t>
            </a:r>
            <a:r>
              <a:rPr lang="fr-FR" sz="680" noProof="0" dirty="0">
                <a:solidFill>
                  <a:srgbClr val="043962"/>
                </a:solidFill>
                <a:latin typeface="Calibri" pitchFamily="34" charset="0"/>
                <a:ea typeface="Calibri" pitchFamily="34" charset="-122"/>
                <a:cs typeface="Calibri" pitchFamily="34" charset="-120"/>
              </a:rPr>
              <a:t> : coût op 100.9, volatilité coût 0.002, p. incident 0.009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flux servi 100.0</a:t>
            </a:r>
            <a:endParaRPr lang="fr-FR" sz="680" noProof="0" dirty="0"/>
          </a:p>
        </p:txBody>
      </p:sp>
      <p:sp>
        <p:nvSpPr>
          <p:cNvPr id="9" name="Text 6"/>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- 35/50</a:t>
            </a:r>
            <a:endParaRPr lang="fr-FR" sz="800" noProof="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DÉROULÉ DU TOUR T4</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T4 - 2020-12 - P1 Baseline</a:t>
            </a:r>
            <a:endParaRPr lang="fr-FR" sz="2500" noProof="0" dirty="0"/>
          </a:p>
        </p:txBody>
      </p:sp>
      <p:sp>
        <p:nvSpPr>
          <p:cNvPr id="4" name="Shape 2"/>
          <p:cNvSpPr/>
          <p:nvPr/>
        </p:nvSpPr>
        <p:spPr>
          <a:xfrm>
            <a:off x="502920" y="1207008"/>
            <a:ext cx="8138160" cy="402336"/>
          </a:xfrm>
          <a:prstGeom prst="roundRect">
            <a:avLst>
              <a:gd name="adj" fmla="val 15909"/>
            </a:avLst>
          </a:prstGeom>
          <a:solidFill>
            <a:srgbClr val="FFF3D6"/>
          </a:solidFill>
          <a:ln w="12700">
            <a:solidFill>
              <a:srgbClr val="FFF3D6"/>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58368" y="1243584"/>
            <a:ext cx="7827264" cy="329184"/>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Presse (les 8 rôles) : </a:t>
            </a:r>
            <a:r>
              <a:rPr lang="fr-FR" sz="840" noProof="0" dirty="0">
                <a:solidFill>
                  <a:srgbClr val="043962"/>
                </a:solidFill>
                <a:latin typeface="Calibri" pitchFamily="34" charset="0"/>
                <a:ea typeface="Calibri" pitchFamily="34" charset="-122"/>
                <a:cs typeface="Calibri" pitchFamily="34" charset="-120"/>
              </a:rPr>
              <a:t>Premiers articles spécialisés sur une « tension sur les semi-conducteurs ». Les analystes sont partagés sur sa durée.</a:t>
            </a:r>
            <a:endParaRPr lang="fr-FR" sz="840" noProof="0" dirty="0"/>
          </a:p>
        </p:txBody>
      </p:sp>
      <p:graphicFrame>
        <p:nvGraphicFramePr>
          <p:cNvPr id="37" name="Table 0"/>
          <p:cNvGraphicFramePr>
            <a:graphicFrameLocks noGrp="1"/>
          </p:cNvGraphicFramePr>
          <p:nvPr>
            <p:extLst>
              <p:ext uri="{D42A27DB-BD31-4B8C-83A1-F6EECF244321}">
                <p14:modId xmlns:p14="http://schemas.microsoft.com/office/powerpoint/2010/main" val="3523235082"/>
              </p:ext>
            </p:extLst>
          </p:nvPr>
        </p:nvGraphicFramePr>
        <p:xfrm>
          <a:off x="502920" y="1719072"/>
          <a:ext cx="8138160" cy="950976"/>
        </p:xfrm>
        <a:graphic>
          <a:graphicData uri="http://schemas.openxmlformats.org/drawingml/2006/table">
            <a:tbl>
              <a:tblPr/>
              <a:tblGrid>
                <a:gridCol w="10972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237744">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Rôle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Ce qu'il reçoit, et lui seul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extLst>
                  <a:ext uri="{0D108BD9-81ED-4DB2-BD59-A6C34878D82A}">
                    <a16:rowId xmlns:a16="http://schemas.microsoft.com/office/drawing/2014/main" val="10000"/>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AvioSys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err="1">
                          <a:solidFill>
                            <a:srgbClr val="043962"/>
                          </a:solidFill>
                          <a:latin typeface="Calibri" pitchFamily="34" charset="0"/>
                          <a:ea typeface="Calibri" pitchFamily="34" charset="-122"/>
                          <a:cs typeface="Calibri" pitchFamily="34" charset="-120"/>
                        </a:rPr>
                        <a:t>Électis</a:t>
                      </a:r>
                      <a:r>
                        <a:rPr lang="fr-FR" sz="750" noProof="0" dirty="0">
                          <a:solidFill>
                            <a:srgbClr val="043962"/>
                          </a:solidFill>
                          <a:latin typeface="Calibri" pitchFamily="34" charset="0"/>
                          <a:ea typeface="Calibri" pitchFamily="34" charset="-122"/>
                          <a:cs typeface="Calibri" pitchFamily="34" charset="-120"/>
                        </a:rPr>
                        <a:t> mentionne des ruptures ponctuelles sur des microcontrôleurs, « résorbées sous quinzaine ».</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Électis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err="1">
                          <a:solidFill>
                            <a:srgbClr val="043962"/>
                          </a:solidFill>
                          <a:latin typeface="Calibri" pitchFamily="34" charset="0"/>
                          <a:ea typeface="Calibri" pitchFamily="34" charset="-122"/>
                          <a:cs typeface="Calibri" pitchFamily="34" charset="-120"/>
                        </a:rPr>
                        <a:t>CompoDis</a:t>
                      </a:r>
                      <a:r>
                        <a:rPr lang="fr-FR" sz="750" noProof="0" dirty="0">
                          <a:solidFill>
                            <a:srgbClr val="043962"/>
                          </a:solidFill>
                          <a:latin typeface="Calibri" pitchFamily="34" charset="0"/>
                          <a:ea typeface="Calibri" pitchFamily="34" charset="-122"/>
                          <a:cs typeface="Calibri" pitchFamily="34" charset="-120"/>
                        </a:rPr>
                        <a:t> signale des reports isolés sur deux familles de composants.</a:t>
                      </a:r>
                      <a:endParaRPr lang="fr-FR" sz="750" noProof="0" dirty="0">
                        <a:latin typeface="Calibri" charset="0"/>
                        <a:ea typeface="Calibri" charset="0"/>
                        <a:cs typeface="Calibri" charset="0"/>
                      </a:endParaRPr>
                    </a:p>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Deux ordres de fabrication décalés d'une semaine faute de microcontrôleurs.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2"/>
                  </a:ext>
                </a:extLst>
              </a:tr>
            </a:tbl>
          </a:graphicData>
        </a:graphic>
      </p:graphicFrame>
      <p:sp>
        <p:nvSpPr>
          <p:cNvPr id="7" name="Shape 4"/>
          <p:cNvSpPr/>
          <p:nvPr/>
        </p:nvSpPr>
        <p:spPr>
          <a:xfrm>
            <a:off x="502920" y="2770632"/>
            <a:ext cx="8138160" cy="441643"/>
          </a:xfrm>
          <a:prstGeom prst="roundRect">
            <a:avLst>
              <a:gd name="adj" fmla="val 10448"/>
            </a:avLst>
          </a:prstGeom>
          <a:solidFill>
            <a:srgbClr val="EBF3F9"/>
          </a:solidFill>
          <a:ln w="12700">
            <a:solidFill>
              <a:srgbClr val="EBF3F9"/>
            </a:solidFill>
            <a:prstDash val="solid"/>
          </a:ln>
        </p:spPr>
        <p:txBody>
          <a:bodyPr/>
          <a:lstStyle/>
          <a:p>
            <a:endParaRPr lang="fr-FR" noProof="0" dirty="0"/>
          </a:p>
        </p:txBody>
      </p:sp>
      <p:sp>
        <p:nvSpPr>
          <p:cNvPr id="8" name="Text 5"/>
          <p:cNvSpPr/>
          <p:nvPr/>
        </p:nvSpPr>
        <p:spPr>
          <a:xfrm>
            <a:off x="658368" y="2848297"/>
            <a:ext cx="7827264" cy="539496"/>
          </a:xfrm>
          <a:prstGeom prst="rect">
            <a:avLst/>
          </a:prstGeom>
          <a:noFill/>
          <a:ln/>
        </p:spPr>
        <p:txBody>
          <a:bodyPr wrap="square" lIns="0" tIns="0" rIns="0" bIns="0" rtlCol="0" anchor="t"/>
          <a:lstStyle/>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Données injectées : </a:t>
            </a:r>
            <a:r>
              <a:rPr lang="fr-FR" sz="680" noProof="0" dirty="0">
                <a:solidFill>
                  <a:srgbClr val="043962"/>
                </a:solidFill>
                <a:latin typeface="Calibri" pitchFamily="34" charset="0"/>
                <a:ea typeface="Calibri" pitchFamily="34" charset="-122"/>
                <a:cs typeface="Calibri" pitchFamily="34" charset="-120"/>
              </a:rPr>
              <a:t>NovaFab : demande 111.2, coût op 98.9, volatilité coût 0.002  -  Meridian : demande 111.2  -  </a:t>
            </a:r>
            <a:r>
              <a:rPr lang="fr-FR" sz="680" noProof="0" dirty="0" err="1">
                <a:solidFill>
                  <a:srgbClr val="043962"/>
                </a:solidFill>
                <a:latin typeface="Calibri" pitchFamily="34" charset="0"/>
                <a:ea typeface="Calibri" pitchFamily="34" charset="-122"/>
                <a:cs typeface="Calibri" pitchFamily="34" charset="-120"/>
              </a:rPr>
              <a:t>CompoDis</a:t>
            </a:r>
            <a:r>
              <a:rPr lang="fr-FR" sz="680" noProof="0" dirty="0">
                <a:solidFill>
                  <a:srgbClr val="043962"/>
                </a:solidFill>
                <a:latin typeface="Calibri" pitchFamily="34" charset="0"/>
                <a:ea typeface="Calibri" pitchFamily="34" charset="-122"/>
                <a:cs typeface="Calibri" pitchFamily="34" charset="-120"/>
              </a:rPr>
              <a:t> : flux servi 111.2, délai 15.6 sem., coût op 99.2, volatilité coût 0.001, p. incident 0.016  -  </a:t>
            </a:r>
            <a:r>
              <a:rPr lang="fr-FR" sz="680" noProof="0" dirty="0" err="1">
                <a:solidFill>
                  <a:srgbClr val="043962"/>
                </a:solidFill>
                <a:latin typeface="Calibri" pitchFamily="34" charset="0"/>
                <a:ea typeface="Calibri" pitchFamily="34" charset="-122"/>
                <a:cs typeface="Calibri" pitchFamily="34" charset="-120"/>
              </a:rPr>
              <a:t>Électis</a:t>
            </a:r>
            <a:r>
              <a:rPr lang="fr-FR" sz="680" noProof="0" dirty="0">
                <a:solidFill>
                  <a:srgbClr val="043962"/>
                </a:solidFill>
                <a:latin typeface="Calibri" pitchFamily="34" charset="0"/>
                <a:ea typeface="Calibri" pitchFamily="34" charset="-122"/>
                <a:cs typeface="Calibri" pitchFamily="34" charset="-120"/>
              </a:rPr>
              <a:t> : perf 0.994, dispo 0.942, coût op 102.1, volatilité coût 0.007  -  </a:t>
            </a:r>
            <a:r>
              <a:rPr lang="fr-FR" sz="680" noProof="0" dirty="0" err="1">
                <a:solidFill>
                  <a:srgbClr val="043962"/>
                </a:solidFill>
                <a:latin typeface="Calibri" pitchFamily="34" charset="0"/>
                <a:ea typeface="Calibri" pitchFamily="34" charset="-122"/>
                <a:cs typeface="Calibri" pitchFamily="34" charset="-120"/>
              </a:rPr>
              <a:t>SilPure</a:t>
            </a:r>
            <a:r>
              <a:rPr lang="fr-FR" sz="680" noProof="0" dirty="0">
                <a:solidFill>
                  <a:srgbClr val="043962"/>
                </a:solidFill>
                <a:latin typeface="Calibri" pitchFamily="34" charset="0"/>
                <a:ea typeface="Calibri" pitchFamily="34" charset="-122"/>
                <a:cs typeface="Calibri" pitchFamily="34" charset="-120"/>
              </a:rPr>
              <a:t> : coût op 102.1, volatilité coût 0.007, p. incident 0.008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flux servi 100.0</a:t>
            </a:r>
            <a:endParaRPr lang="fr-FR" sz="680" noProof="0" dirty="0"/>
          </a:p>
        </p:txBody>
      </p:sp>
      <p:sp>
        <p:nvSpPr>
          <p:cNvPr id="9" name="Text 6"/>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- 36/50</a:t>
            </a:r>
            <a:endParaRPr lang="fr-FR" sz="800" noProof="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DÉROULÉ DU TOUR T5</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T5 - 2021-01 - P2 Bascule</a:t>
            </a:r>
            <a:endParaRPr lang="fr-FR" sz="2500" noProof="0" dirty="0"/>
          </a:p>
        </p:txBody>
      </p:sp>
      <p:sp>
        <p:nvSpPr>
          <p:cNvPr id="4" name="Shape 2"/>
          <p:cNvSpPr/>
          <p:nvPr/>
        </p:nvSpPr>
        <p:spPr>
          <a:xfrm>
            <a:off x="502920" y="1207008"/>
            <a:ext cx="8138160" cy="402336"/>
          </a:xfrm>
          <a:prstGeom prst="roundRect">
            <a:avLst>
              <a:gd name="adj" fmla="val 15909"/>
            </a:avLst>
          </a:prstGeom>
          <a:solidFill>
            <a:srgbClr val="FFF3D6"/>
          </a:solidFill>
          <a:ln w="12700">
            <a:solidFill>
              <a:srgbClr val="FFF3D6"/>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58368" y="1243584"/>
            <a:ext cx="7827264" cy="329184"/>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Presse (les 8 rôles) : </a:t>
            </a:r>
            <a:r>
              <a:rPr lang="fr-FR" sz="840" noProof="0" dirty="0">
                <a:solidFill>
                  <a:srgbClr val="043962"/>
                </a:solidFill>
                <a:latin typeface="Calibri" pitchFamily="34" charset="0"/>
                <a:ea typeface="Calibri" pitchFamily="34" charset="-122"/>
                <a:cs typeface="Calibri" pitchFamily="34" charset="-120"/>
              </a:rPr>
              <a:t>Un grand constructeur automobile européen annonce des arrêts de lignes faute de puces. Le mot « pénurie » entre dans les titres.</a:t>
            </a:r>
            <a:endParaRPr lang="fr-FR" sz="840" noProof="0" dirty="0"/>
          </a:p>
        </p:txBody>
      </p:sp>
      <p:graphicFrame>
        <p:nvGraphicFramePr>
          <p:cNvPr id="38" name="Table 0"/>
          <p:cNvGraphicFramePr>
            <a:graphicFrameLocks noGrp="1"/>
          </p:cNvGraphicFramePr>
          <p:nvPr>
            <p:extLst>
              <p:ext uri="{D42A27DB-BD31-4B8C-83A1-F6EECF244321}">
                <p14:modId xmlns:p14="http://schemas.microsoft.com/office/powerpoint/2010/main" val="2432574463"/>
              </p:ext>
            </p:extLst>
          </p:nvPr>
        </p:nvGraphicFramePr>
        <p:xfrm>
          <a:off x="502920" y="1719072"/>
          <a:ext cx="8138160" cy="1115568"/>
        </p:xfrm>
        <a:graphic>
          <a:graphicData uri="http://schemas.openxmlformats.org/drawingml/2006/table">
            <a:tbl>
              <a:tblPr/>
              <a:tblGrid>
                <a:gridCol w="10972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237744">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Rôle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Ce qu'il reçoit, et lui seul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extLst>
                  <a:ext uri="{0D108BD9-81ED-4DB2-BD59-A6C34878D82A}">
                    <a16:rowId xmlns:a16="http://schemas.microsoft.com/office/drawing/2014/main" val="10000"/>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Orbitalys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err="1">
                          <a:solidFill>
                            <a:srgbClr val="043962"/>
                          </a:solidFill>
                          <a:latin typeface="Calibri" pitchFamily="34" charset="0"/>
                          <a:ea typeface="Calibri" pitchFamily="34" charset="-122"/>
                          <a:cs typeface="Calibri" pitchFamily="34" charset="-120"/>
                        </a:rPr>
                        <a:t>AvioSys</a:t>
                      </a:r>
                      <a:r>
                        <a:rPr lang="fr-FR" sz="750" noProof="0" dirty="0">
                          <a:solidFill>
                            <a:srgbClr val="043962"/>
                          </a:solidFill>
                          <a:latin typeface="Calibri" pitchFamily="34" charset="0"/>
                          <a:ea typeface="Calibri" pitchFamily="34" charset="-122"/>
                          <a:cs typeface="Calibri" pitchFamily="34" charset="-120"/>
                        </a:rPr>
                        <a:t> répond aux questions du programme : « nos stocks couvrent le plan de charge actuel ».</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Électis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err="1">
                          <a:solidFill>
                            <a:srgbClr val="043962"/>
                          </a:solidFill>
                          <a:latin typeface="Calibri" pitchFamily="34" charset="0"/>
                          <a:ea typeface="Calibri" pitchFamily="34" charset="-122"/>
                          <a:cs typeface="Calibri" pitchFamily="34" charset="-120"/>
                        </a:rPr>
                        <a:t>CompoDis</a:t>
                      </a:r>
                      <a:r>
                        <a:rPr lang="fr-FR" sz="750" noProof="0" dirty="0">
                          <a:solidFill>
                            <a:srgbClr val="043962"/>
                          </a:solidFill>
                          <a:latin typeface="Calibri" pitchFamily="34" charset="0"/>
                          <a:ea typeface="Calibri" pitchFamily="34" charset="-122"/>
                          <a:cs typeface="Calibri" pitchFamily="34" charset="-120"/>
                        </a:rPr>
                        <a:t> officialise un « mode allocation » sur une partie de son catalogue : les volumes demandés ne seront pas tous servis.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2"/>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CompoDis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30 % du catalogue passe en allocation. Les appels clients ont doublé sur le mois.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502920" y="2889504"/>
            <a:ext cx="8138160" cy="749808"/>
          </a:xfrm>
          <a:prstGeom prst="roundRect">
            <a:avLst>
              <a:gd name="adj" fmla="val 8537"/>
            </a:avLst>
          </a:prstGeom>
          <a:solidFill>
            <a:srgbClr val="EBF3F9"/>
          </a:solidFill>
          <a:ln w="12700">
            <a:solidFill>
              <a:srgbClr val="EBF3F9"/>
            </a:solidFill>
            <a:prstDash val="solid"/>
          </a:ln>
        </p:spPr>
        <p:txBody>
          <a:bodyPr/>
          <a:lstStyle/>
          <a:p>
            <a:endParaRPr lang="fr-FR" noProof="0" dirty="0"/>
          </a:p>
        </p:txBody>
      </p:sp>
      <p:sp>
        <p:nvSpPr>
          <p:cNvPr id="8" name="Text 5"/>
          <p:cNvSpPr/>
          <p:nvPr/>
        </p:nvSpPr>
        <p:spPr>
          <a:xfrm>
            <a:off x="658368" y="2926080"/>
            <a:ext cx="7827264" cy="676656"/>
          </a:xfrm>
          <a:prstGeom prst="rect">
            <a:avLst/>
          </a:prstGeom>
          <a:noFill/>
          <a:ln/>
        </p:spPr>
        <p:txBody>
          <a:bodyPr wrap="square" lIns="0" tIns="0" rIns="0" bIns="0" rtlCol="0" anchor="t"/>
          <a:lstStyle/>
          <a:p>
            <a:pPr marL="0" indent="0">
              <a:lnSpc>
                <a:spcPct val="104000"/>
              </a:lnSpc>
              <a:buNone/>
            </a:pPr>
            <a:r>
              <a:rPr lang="fr-FR" sz="680" b="1" noProof="0" dirty="0">
                <a:solidFill>
                  <a:srgbClr val="043962"/>
                </a:solidFill>
                <a:latin typeface="Calibri" pitchFamily="34" charset="0"/>
                <a:ea typeface="Calibri" pitchFamily="34" charset="-122"/>
                <a:cs typeface="Calibri" pitchFamily="34" charset="-120"/>
              </a:rPr>
              <a:t>Événements moteur : </a:t>
            </a:r>
            <a:r>
              <a:rPr lang="fr-FR" sz="680" noProof="0" dirty="0" err="1">
                <a:solidFill>
                  <a:srgbClr val="043962"/>
                </a:solidFill>
                <a:latin typeface="Calibri" pitchFamily="34" charset="0"/>
                <a:ea typeface="Calibri" pitchFamily="34" charset="-122"/>
                <a:cs typeface="Calibri" pitchFamily="34" charset="-120"/>
              </a:rPr>
              <a:t>CompoDis</a:t>
            </a:r>
            <a:r>
              <a:rPr lang="fr-FR" sz="680" noProof="0" dirty="0">
                <a:solidFill>
                  <a:srgbClr val="043962"/>
                </a:solidFill>
                <a:latin typeface="Calibri" pitchFamily="34" charset="0"/>
                <a:ea typeface="Calibri" pitchFamily="34" charset="-122"/>
                <a:cs typeface="Calibri" pitchFamily="34" charset="-120"/>
              </a:rPr>
              <a:t> - </a:t>
            </a:r>
            <a:r>
              <a:rPr lang="fr-FR" sz="680" noProof="0" dirty="0" err="1">
                <a:solidFill>
                  <a:srgbClr val="043962"/>
                </a:solidFill>
                <a:latin typeface="Calibri" pitchFamily="34" charset="0"/>
                <a:ea typeface="Calibri" pitchFamily="34" charset="-122"/>
                <a:cs typeface="Calibri" pitchFamily="34" charset="-120"/>
              </a:rPr>
              <a:t>retard_fournisseur</a:t>
            </a:r>
            <a:r>
              <a:rPr lang="fr-FR" sz="680" noProof="0" dirty="0">
                <a:solidFill>
                  <a:srgbClr val="043962"/>
                </a:solidFill>
                <a:latin typeface="Calibri" pitchFamily="34" charset="0"/>
                <a:ea typeface="Calibri" pitchFamily="34" charset="-122"/>
                <a:cs typeface="Calibri" pitchFamily="34" charset="-120"/>
              </a:rPr>
              <a:t> : 77 h moteur (2 sem. réelles)</a:t>
            </a:r>
            <a:endParaRPr lang="fr-FR" sz="680" noProof="0" dirty="0"/>
          </a:p>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Données injectées : </a:t>
            </a:r>
            <a:r>
              <a:rPr lang="fr-FR" sz="680" noProof="0" dirty="0">
                <a:solidFill>
                  <a:srgbClr val="043962"/>
                </a:solidFill>
                <a:latin typeface="Calibri" pitchFamily="34" charset="0"/>
                <a:ea typeface="Calibri" pitchFamily="34" charset="-122"/>
                <a:cs typeface="Calibri" pitchFamily="34" charset="-120"/>
              </a:rPr>
              <a:t>NovaFab : demande 111.5, coût op 99.1, volatilité coût 0.002  -  Meridian : demande 111.5  -  </a:t>
            </a:r>
            <a:r>
              <a:rPr lang="fr-FR" sz="680" noProof="0" dirty="0" err="1">
                <a:solidFill>
                  <a:srgbClr val="043962"/>
                </a:solidFill>
                <a:latin typeface="Calibri" pitchFamily="34" charset="0"/>
                <a:ea typeface="Calibri" pitchFamily="34" charset="-122"/>
                <a:cs typeface="Calibri" pitchFamily="34" charset="-120"/>
              </a:rPr>
              <a:t>CompoDis</a:t>
            </a:r>
            <a:r>
              <a:rPr lang="fr-FR" sz="680" noProof="0" dirty="0">
                <a:solidFill>
                  <a:srgbClr val="043962"/>
                </a:solidFill>
                <a:latin typeface="Calibri" pitchFamily="34" charset="0"/>
                <a:ea typeface="Calibri" pitchFamily="34" charset="-122"/>
                <a:cs typeface="Calibri" pitchFamily="34" charset="-120"/>
              </a:rPr>
              <a:t> : flux servi 111.5, coût op 100.2, volatilité coût 0.004, p. incident 0.016  -  </a:t>
            </a:r>
            <a:r>
              <a:rPr lang="fr-FR" sz="680" noProof="0" dirty="0" err="1">
                <a:solidFill>
                  <a:srgbClr val="043962"/>
                </a:solidFill>
                <a:latin typeface="Calibri" pitchFamily="34" charset="0"/>
                <a:ea typeface="Calibri" pitchFamily="34" charset="-122"/>
                <a:cs typeface="Calibri" pitchFamily="34" charset="-120"/>
              </a:rPr>
              <a:t>Électis</a:t>
            </a:r>
            <a:r>
              <a:rPr lang="fr-FR" sz="680" noProof="0" dirty="0">
                <a:solidFill>
                  <a:srgbClr val="043962"/>
                </a:solidFill>
                <a:latin typeface="Calibri" pitchFamily="34" charset="0"/>
                <a:ea typeface="Calibri" pitchFamily="34" charset="-122"/>
                <a:cs typeface="Calibri" pitchFamily="34" charset="-120"/>
              </a:rPr>
              <a:t> : perf 0.969, dispo 0.948, coût op 103.3, volatilité coût 0.01  -  </a:t>
            </a:r>
            <a:r>
              <a:rPr lang="fr-FR" sz="680" noProof="0" dirty="0" err="1">
                <a:solidFill>
                  <a:srgbClr val="043962"/>
                </a:solidFill>
                <a:latin typeface="Calibri" pitchFamily="34" charset="0"/>
                <a:ea typeface="Calibri" pitchFamily="34" charset="-122"/>
                <a:cs typeface="Calibri" pitchFamily="34" charset="-120"/>
              </a:rPr>
              <a:t>SilPure</a:t>
            </a:r>
            <a:r>
              <a:rPr lang="fr-FR" sz="680" noProof="0" dirty="0">
                <a:solidFill>
                  <a:srgbClr val="043962"/>
                </a:solidFill>
                <a:latin typeface="Calibri" pitchFamily="34" charset="0"/>
                <a:ea typeface="Calibri" pitchFamily="34" charset="-122"/>
                <a:cs typeface="Calibri" pitchFamily="34" charset="-120"/>
              </a:rPr>
              <a:t> : coût op 103.3, volatilité coût 0.01, p. incident 0.008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flux servi 100.0</a:t>
            </a:r>
            <a:endParaRPr lang="fr-FR" sz="680" noProof="0" dirty="0"/>
          </a:p>
        </p:txBody>
      </p:sp>
      <p:sp>
        <p:nvSpPr>
          <p:cNvPr id="9" name="Text 6"/>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- 37/50</a:t>
            </a:r>
            <a:endParaRPr lang="fr-FR" sz="800" noProof="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DÉROULÉ DU TOUR T6</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T6 - 2021-02 - P2 Bascule</a:t>
            </a:r>
            <a:endParaRPr lang="fr-FR" sz="2500" noProof="0" dirty="0"/>
          </a:p>
        </p:txBody>
      </p:sp>
      <p:sp>
        <p:nvSpPr>
          <p:cNvPr id="4" name="Shape 2"/>
          <p:cNvSpPr/>
          <p:nvPr/>
        </p:nvSpPr>
        <p:spPr>
          <a:xfrm>
            <a:off x="502920" y="1207008"/>
            <a:ext cx="8138160" cy="402336"/>
          </a:xfrm>
          <a:prstGeom prst="roundRect">
            <a:avLst>
              <a:gd name="adj" fmla="val 15909"/>
            </a:avLst>
          </a:prstGeom>
          <a:solidFill>
            <a:srgbClr val="FFF3D6"/>
          </a:solidFill>
          <a:ln w="12700">
            <a:solidFill>
              <a:srgbClr val="FFF3D6"/>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58368" y="1243584"/>
            <a:ext cx="7827264" cy="329184"/>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Presse (les 8 rôles) : </a:t>
            </a:r>
            <a:r>
              <a:rPr lang="fr-FR" sz="840" noProof="0" dirty="0">
                <a:solidFill>
                  <a:srgbClr val="043962"/>
                </a:solidFill>
                <a:latin typeface="Calibri" pitchFamily="34" charset="0"/>
                <a:ea typeface="Calibri" pitchFamily="34" charset="-122"/>
                <a:cs typeface="Calibri" pitchFamily="34" charset="-120"/>
              </a:rPr>
              <a:t>Une tempête hivernale exceptionnelle paralyse le Texas : réseau électrique effondré, plusieurs usines de semi-conducteurs arrêtées à chaud.</a:t>
            </a:r>
            <a:endParaRPr lang="fr-FR" sz="840" noProof="0" dirty="0"/>
          </a:p>
        </p:txBody>
      </p:sp>
      <p:graphicFrame>
        <p:nvGraphicFramePr>
          <p:cNvPr id="39" name="Table 0"/>
          <p:cNvGraphicFramePr>
            <a:graphicFrameLocks noGrp="1"/>
          </p:cNvGraphicFramePr>
          <p:nvPr>
            <p:extLst>
              <p:ext uri="{D42A27DB-BD31-4B8C-83A1-F6EECF244321}">
                <p14:modId xmlns:p14="http://schemas.microsoft.com/office/powerpoint/2010/main" val="2130546435"/>
              </p:ext>
            </p:extLst>
          </p:nvPr>
        </p:nvGraphicFramePr>
        <p:xfrm>
          <a:off x="502920" y="1719072"/>
          <a:ext cx="8138160" cy="2345436"/>
        </p:xfrm>
        <a:graphic>
          <a:graphicData uri="http://schemas.openxmlformats.org/drawingml/2006/table">
            <a:tbl>
              <a:tblPr/>
              <a:tblGrid>
                <a:gridCol w="10972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237744">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Rôle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Ce qu'il reçoit, et lui seul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extLst>
                  <a:ext uri="{0D108BD9-81ED-4DB2-BD59-A6C34878D82A}">
                    <a16:rowId xmlns:a16="http://schemas.microsoft.com/office/drawing/2014/main" val="10000"/>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AvioSys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a:solidFill>
                            <a:srgbClr val="043962"/>
                          </a:solidFill>
                          <a:latin typeface="Calibri" pitchFamily="34" charset="0"/>
                          <a:ea typeface="Calibri" pitchFamily="34" charset="-122"/>
                          <a:cs typeface="Calibri" pitchFamily="34" charset="-120"/>
                        </a:rPr>
                        <a:t>Note d'</a:t>
                      </a:r>
                      <a:r>
                        <a:rPr lang="fr-FR" sz="750" noProof="0" dirty="0" err="1">
                          <a:solidFill>
                            <a:srgbClr val="043962"/>
                          </a:solidFill>
                          <a:latin typeface="Calibri" pitchFamily="34" charset="0"/>
                          <a:ea typeface="Calibri" pitchFamily="34" charset="-122"/>
                          <a:cs typeface="Calibri" pitchFamily="34" charset="-120"/>
                        </a:rPr>
                        <a:t>Électis</a:t>
                      </a:r>
                      <a:r>
                        <a:rPr lang="fr-FR" sz="750" noProof="0" dirty="0">
                          <a:solidFill>
                            <a:srgbClr val="043962"/>
                          </a:solidFill>
                          <a:latin typeface="Calibri" pitchFamily="34" charset="0"/>
                          <a:ea typeface="Calibri" pitchFamily="34" charset="-122"/>
                          <a:cs typeface="Calibri" pitchFamily="34" charset="-120"/>
                        </a:rPr>
                        <a:t> : « point de vigilance approvisionnement sur deux familles de composants ».</a:t>
                      </a:r>
                      <a:endParaRPr lang="fr-FR" sz="750" noProof="0" dirty="0">
                        <a:latin typeface="Calibri" charset="0"/>
                        <a:ea typeface="Calibri" charset="0"/>
                        <a:cs typeface="Calibri" charset="0"/>
                      </a:endParaRPr>
                    </a:p>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Stock de composants qualifiés : 11 semaines de couverture.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Électis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err="1">
                          <a:solidFill>
                            <a:srgbClr val="043962"/>
                          </a:solidFill>
                          <a:latin typeface="Calibri" pitchFamily="34" charset="0"/>
                          <a:ea typeface="Calibri" pitchFamily="34" charset="-122"/>
                          <a:cs typeface="Calibri" pitchFamily="34" charset="-120"/>
                        </a:rPr>
                        <a:t>CompoDis</a:t>
                      </a:r>
                      <a:r>
                        <a:rPr lang="fr-FR" sz="750" noProof="0" dirty="0">
                          <a:solidFill>
                            <a:srgbClr val="043962"/>
                          </a:solidFill>
                          <a:latin typeface="Calibri" pitchFamily="34" charset="0"/>
                          <a:ea typeface="Calibri" pitchFamily="34" charset="-122"/>
                          <a:cs typeface="Calibri" pitchFamily="34" charset="-120"/>
                        </a:rPr>
                        <a:t> répercute : reports sur les références issues de la </a:t>
                      </a:r>
                      <a:r>
                        <a:rPr lang="fr-FR" sz="750" noProof="0" dirty="0" err="1">
                          <a:solidFill>
                            <a:srgbClr val="043962"/>
                          </a:solidFill>
                          <a:latin typeface="Calibri" pitchFamily="34" charset="0"/>
                          <a:ea typeface="Calibri" pitchFamily="34" charset="-122"/>
                          <a:cs typeface="Calibri" pitchFamily="34" charset="-120"/>
                        </a:rPr>
                        <a:t>fab</a:t>
                      </a:r>
                      <a:r>
                        <a:rPr lang="fr-FR" sz="750" noProof="0" dirty="0">
                          <a:solidFill>
                            <a:srgbClr val="043962"/>
                          </a:solidFill>
                          <a:latin typeface="Calibri" pitchFamily="34" charset="0"/>
                          <a:ea typeface="Calibri" pitchFamily="34" charset="-122"/>
                          <a:cs typeface="Calibri" pitchFamily="34" charset="-120"/>
                        </a:rPr>
                        <a:t> texane.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2"/>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CompoDis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a:solidFill>
                            <a:srgbClr val="043962"/>
                          </a:solidFill>
                          <a:latin typeface="Calibri" pitchFamily="34" charset="0"/>
                          <a:ea typeface="Calibri" pitchFamily="34" charset="-122"/>
                          <a:cs typeface="Calibri" pitchFamily="34" charset="-120"/>
                        </a:rPr>
                        <a:t>Notification officielle de NovaFab : force majeure sur sa </a:t>
                      </a:r>
                      <a:r>
                        <a:rPr lang="fr-FR" sz="750" noProof="0" dirty="0" err="1">
                          <a:solidFill>
                            <a:srgbClr val="043962"/>
                          </a:solidFill>
                          <a:latin typeface="Calibri" pitchFamily="34" charset="0"/>
                          <a:ea typeface="Calibri" pitchFamily="34" charset="-122"/>
                          <a:cs typeface="Calibri" pitchFamily="34" charset="-120"/>
                        </a:rPr>
                        <a:t>fab</a:t>
                      </a:r>
                      <a:r>
                        <a:rPr lang="fr-FR" sz="750" noProof="0" dirty="0">
                          <a:solidFill>
                            <a:srgbClr val="043962"/>
                          </a:solidFill>
                          <a:latin typeface="Calibri" pitchFamily="34" charset="0"/>
                          <a:ea typeface="Calibri" pitchFamily="34" charset="-122"/>
                          <a:cs typeface="Calibri" pitchFamily="34" charset="-120"/>
                        </a:rPr>
                        <a:t> texane, livraisons décalées de 4 à 6 semaines, réallocation en cours.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TransGlobal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a:solidFill>
                            <a:srgbClr val="043962"/>
                          </a:solidFill>
                          <a:latin typeface="Calibri" pitchFamily="34" charset="0"/>
                          <a:ea typeface="Calibri" pitchFamily="34" charset="-122"/>
                          <a:cs typeface="Calibri" pitchFamily="34" charset="-120"/>
                        </a:rPr>
                        <a:t>Annulations de </a:t>
                      </a:r>
                      <a:r>
                        <a:rPr lang="fr-FR" sz="750" noProof="0" dirty="0" err="1">
                          <a:solidFill>
                            <a:srgbClr val="043962"/>
                          </a:solidFill>
                          <a:latin typeface="Calibri" pitchFamily="34" charset="0"/>
                          <a:ea typeface="Calibri" pitchFamily="34" charset="-122"/>
                          <a:cs typeface="Calibri" pitchFamily="34" charset="-120"/>
                        </a:rPr>
                        <a:t>bookings</a:t>
                      </a:r>
                      <a:r>
                        <a:rPr lang="fr-FR" sz="750" noProof="0" dirty="0">
                          <a:solidFill>
                            <a:srgbClr val="043962"/>
                          </a:solidFill>
                          <a:latin typeface="Calibri" pitchFamily="34" charset="0"/>
                          <a:ea typeface="Calibri" pitchFamily="34" charset="-122"/>
                          <a:cs typeface="Calibri" pitchFamily="34" charset="-120"/>
                        </a:rPr>
                        <a:t> au départ du Texas.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4"/>
                  </a:ext>
                </a:extLst>
              </a:tr>
              <a:tr h="237744">
                <a:tc>
                  <a:txBody>
                    <a:bodyPr/>
                    <a:lstStyle/>
                    <a:p>
                      <a:pPr marL="0" indent="0">
                        <a:buNone/>
                      </a:pPr>
                      <a:r>
                        <a:rPr lang="fr-FR" sz="750" b="1" noProof="0" dirty="0">
                          <a:solidFill>
                            <a:srgbClr val="176F98"/>
                          </a:solidFill>
                          <a:latin typeface="Calibri" pitchFamily="34" charset="0"/>
                          <a:ea typeface="Calibri" pitchFamily="34" charset="-122"/>
                          <a:cs typeface="Calibri" pitchFamily="34" charset="-120"/>
                        </a:rPr>
                        <a:t>NovaFab</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err="1">
                          <a:solidFill>
                            <a:srgbClr val="043962"/>
                          </a:solidFill>
                          <a:latin typeface="Calibri" pitchFamily="34" charset="0"/>
                          <a:ea typeface="Calibri" pitchFamily="34" charset="-122"/>
                          <a:cs typeface="Calibri" pitchFamily="34" charset="-120"/>
                        </a:rPr>
                        <a:t>Fab</a:t>
                      </a:r>
                      <a:r>
                        <a:rPr lang="fr-FR" sz="750" noProof="0" dirty="0">
                          <a:solidFill>
                            <a:srgbClr val="043962"/>
                          </a:solidFill>
                          <a:latin typeface="Calibri" pitchFamily="34" charset="0"/>
                          <a:ea typeface="Calibri" pitchFamily="34" charset="-122"/>
                          <a:cs typeface="Calibri" pitchFamily="34" charset="-120"/>
                        </a:rPr>
                        <a:t> texane à l'arrêt. Plan de redémarrage : 4 semaines. Réallocation partielle sur le site principal.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37744">
                <a:tc>
                  <a:txBody>
                    <a:bodyPr/>
                    <a:lstStyle/>
                    <a:p>
                      <a:pPr marL="0" indent="0">
                        <a:buNone/>
                      </a:pPr>
                      <a:r>
                        <a:rPr lang="fr-FR" sz="750" b="1" noProof="0" dirty="0">
                          <a:solidFill>
                            <a:srgbClr val="176F98"/>
                          </a:solidFill>
                          <a:latin typeface="Calibri" pitchFamily="34" charset="0"/>
                          <a:ea typeface="Calibri" pitchFamily="34" charset="-122"/>
                          <a:cs typeface="Calibri" pitchFamily="34" charset="-120"/>
                        </a:rPr>
                        <a:t>Meridian</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a:solidFill>
                            <a:srgbClr val="043962"/>
                          </a:solidFill>
                          <a:latin typeface="Calibri" pitchFamily="34" charset="0"/>
                          <a:ea typeface="Calibri" pitchFamily="34" charset="-122"/>
                          <a:cs typeface="Calibri" pitchFamily="34" charset="-120"/>
                        </a:rPr>
                        <a:t>Trois prospects appellent « pour une capacité de secours ».</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6"/>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SilPure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a:solidFill>
                            <a:srgbClr val="043962"/>
                          </a:solidFill>
                          <a:latin typeface="Calibri" pitchFamily="34" charset="0"/>
                          <a:ea typeface="Calibri" pitchFamily="34" charset="-122"/>
                          <a:cs typeface="Calibri" pitchFamily="34" charset="-120"/>
                        </a:rPr>
                        <a:t>NovaFab demande de décaler des livraisons de wafers vers son site principal.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hape 4"/>
          <p:cNvSpPr/>
          <p:nvPr/>
        </p:nvSpPr>
        <p:spPr>
          <a:xfrm>
            <a:off x="443543" y="4155948"/>
            <a:ext cx="8138160" cy="877824"/>
          </a:xfrm>
          <a:prstGeom prst="roundRect">
            <a:avLst>
              <a:gd name="adj" fmla="val 7292"/>
            </a:avLst>
          </a:prstGeom>
          <a:solidFill>
            <a:srgbClr val="EBF3F9"/>
          </a:solidFill>
          <a:ln w="12700">
            <a:solidFill>
              <a:srgbClr val="EBF3F9"/>
            </a:solidFill>
            <a:prstDash val="solid"/>
          </a:ln>
        </p:spPr>
        <p:txBody>
          <a:bodyPr/>
          <a:lstStyle/>
          <a:p>
            <a:endParaRPr lang="fr-FR" noProof="0" dirty="0"/>
          </a:p>
        </p:txBody>
      </p:sp>
      <p:sp>
        <p:nvSpPr>
          <p:cNvPr id="8" name="Text 5"/>
          <p:cNvSpPr/>
          <p:nvPr/>
        </p:nvSpPr>
        <p:spPr>
          <a:xfrm>
            <a:off x="562297" y="4263390"/>
            <a:ext cx="7827264" cy="804672"/>
          </a:xfrm>
          <a:prstGeom prst="rect">
            <a:avLst/>
          </a:prstGeom>
          <a:noFill/>
          <a:ln/>
        </p:spPr>
        <p:txBody>
          <a:bodyPr wrap="square" lIns="0" tIns="0" rIns="0" bIns="0" rtlCol="0" anchor="t"/>
          <a:lstStyle/>
          <a:p>
            <a:pPr marL="0" indent="0">
              <a:lnSpc>
                <a:spcPct val="104000"/>
              </a:lnSpc>
              <a:buNone/>
            </a:pPr>
            <a:r>
              <a:rPr lang="fr-FR" sz="680" b="1" noProof="0" dirty="0">
                <a:solidFill>
                  <a:srgbClr val="043962"/>
                </a:solidFill>
                <a:latin typeface="Calibri" pitchFamily="34" charset="0"/>
                <a:ea typeface="Calibri" pitchFamily="34" charset="-122"/>
                <a:cs typeface="Calibri" pitchFamily="34" charset="-120"/>
              </a:rPr>
              <a:t>Événements moteur : </a:t>
            </a:r>
            <a:r>
              <a:rPr lang="fr-FR" sz="680" noProof="0" dirty="0">
                <a:solidFill>
                  <a:srgbClr val="043962"/>
                </a:solidFill>
                <a:latin typeface="Calibri" pitchFamily="34" charset="0"/>
                <a:ea typeface="Calibri" pitchFamily="34" charset="-122"/>
                <a:cs typeface="Calibri" pitchFamily="34" charset="-120"/>
              </a:rPr>
              <a:t>NovaFab - accident : 155 h moteur (4 sem. réelles) ; gravité critique</a:t>
            </a:r>
            <a:endParaRPr lang="fr-FR" sz="680" noProof="0" dirty="0"/>
          </a:p>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Jalons qui bougent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Sous-système avionique lot 1 : terminé   |   </a:t>
            </a:r>
            <a:r>
              <a:rPr lang="fr-FR" sz="680" noProof="0" dirty="0" err="1">
                <a:solidFill>
                  <a:srgbClr val="043962"/>
                </a:solidFill>
                <a:latin typeface="Calibri" pitchFamily="34" charset="0"/>
                <a:ea typeface="Calibri" pitchFamily="34" charset="-122"/>
                <a:cs typeface="Calibri" pitchFamily="34" charset="-120"/>
              </a:rPr>
              <a:t>Électis</a:t>
            </a:r>
            <a:r>
              <a:rPr lang="fr-FR" sz="680" noProof="0" dirty="0">
                <a:solidFill>
                  <a:srgbClr val="043962"/>
                </a:solidFill>
                <a:latin typeface="Calibri" pitchFamily="34" charset="0"/>
                <a:ea typeface="Calibri" pitchFamily="34" charset="-122"/>
                <a:cs typeface="Calibri" pitchFamily="34" charset="-120"/>
              </a:rPr>
              <a:t> - Cartes HÉLIOS série A : terminé</a:t>
            </a:r>
            <a:endParaRPr lang="fr-FR" sz="680" noProof="0" dirty="0"/>
          </a:p>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Données injectées : </a:t>
            </a:r>
            <a:r>
              <a:rPr lang="fr-FR" sz="680" noProof="0" dirty="0">
                <a:solidFill>
                  <a:srgbClr val="043962"/>
                </a:solidFill>
                <a:latin typeface="Calibri" pitchFamily="34" charset="0"/>
                <a:ea typeface="Calibri" pitchFamily="34" charset="-122"/>
                <a:cs typeface="Calibri" pitchFamily="34" charset="-120"/>
              </a:rPr>
              <a:t>NovaFab : demande 108.6, coût op 99.1, volatilité coût 0.001  -  Meridian : demande 108.6  -  </a:t>
            </a:r>
            <a:r>
              <a:rPr lang="fr-FR" sz="680" noProof="0" dirty="0" err="1">
                <a:solidFill>
                  <a:srgbClr val="043962"/>
                </a:solidFill>
                <a:latin typeface="Calibri" pitchFamily="34" charset="0"/>
                <a:ea typeface="Calibri" pitchFamily="34" charset="-122"/>
                <a:cs typeface="Calibri" pitchFamily="34" charset="-120"/>
              </a:rPr>
              <a:t>CompoDis</a:t>
            </a:r>
            <a:r>
              <a:rPr lang="fr-FR" sz="680" noProof="0" dirty="0">
                <a:solidFill>
                  <a:srgbClr val="043962"/>
                </a:solidFill>
                <a:latin typeface="Calibri" pitchFamily="34" charset="0"/>
                <a:ea typeface="Calibri" pitchFamily="34" charset="-122"/>
                <a:cs typeface="Calibri" pitchFamily="34" charset="-120"/>
              </a:rPr>
              <a:t> : flux servi 108.6, délai 18.9 sem., coût op 100.8, volatilité coût 0.007, p. incident 0.015  -  </a:t>
            </a:r>
            <a:r>
              <a:rPr lang="fr-FR" sz="680" noProof="0" dirty="0" err="1">
                <a:solidFill>
                  <a:srgbClr val="043962"/>
                </a:solidFill>
                <a:latin typeface="Calibri" pitchFamily="34" charset="0"/>
                <a:ea typeface="Calibri" pitchFamily="34" charset="-122"/>
                <a:cs typeface="Calibri" pitchFamily="34" charset="-120"/>
              </a:rPr>
              <a:t>Électis</a:t>
            </a:r>
            <a:r>
              <a:rPr lang="fr-FR" sz="680" noProof="0" dirty="0">
                <a:solidFill>
                  <a:srgbClr val="043962"/>
                </a:solidFill>
                <a:latin typeface="Calibri" pitchFamily="34" charset="0"/>
                <a:ea typeface="Calibri" pitchFamily="34" charset="-122"/>
                <a:cs typeface="Calibri" pitchFamily="34" charset="-120"/>
              </a:rPr>
              <a:t> : perf 0.964, dispo 0.953, coût op 104.3, volatilité coût 0.009  -  </a:t>
            </a:r>
            <a:r>
              <a:rPr lang="fr-FR" sz="680" noProof="0" dirty="0" err="1">
                <a:solidFill>
                  <a:srgbClr val="043962"/>
                </a:solidFill>
                <a:latin typeface="Calibri" pitchFamily="34" charset="0"/>
                <a:ea typeface="Calibri" pitchFamily="34" charset="-122"/>
                <a:cs typeface="Calibri" pitchFamily="34" charset="-120"/>
              </a:rPr>
              <a:t>SilPure</a:t>
            </a:r>
            <a:r>
              <a:rPr lang="fr-FR" sz="680" noProof="0" dirty="0">
                <a:solidFill>
                  <a:srgbClr val="043962"/>
                </a:solidFill>
                <a:latin typeface="Calibri" pitchFamily="34" charset="0"/>
                <a:ea typeface="Calibri" pitchFamily="34" charset="-122"/>
                <a:cs typeface="Calibri" pitchFamily="34" charset="-120"/>
              </a:rPr>
              <a:t> : coût op 104.3, volatilité coût 0.009, p. incident 0.007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flux servi 100.0</a:t>
            </a:r>
            <a:endParaRPr lang="fr-FR" sz="680" noProof="0" dirty="0"/>
          </a:p>
        </p:txBody>
      </p:sp>
      <p:sp>
        <p:nvSpPr>
          <p:cNvPr id="9" name="Text 6"/>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- 38/50</a:t>
            </a:r>
            <a:endParaRPr lang="fr-FR" sz="800" noProof="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DÉROULÉ DU TOUR T7</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T7 - 2021-03 - P2 Bascule</a:t>
            </a:r>
            <a:endParaRPr lang="fr-FR" sz="2500" noProof="0" dirty="0"/>
          </a:p>
        </p:txBody>
      </p:sp>
      <p:sp>
        <p:nvSpPr>
          <p:cNvPr id="4" name="Shape 2"/>
          <p:cNvSpPr/>
          <p:nvPr/>
        </p:nvSpPr>
        <p:spPr>
          <a:xfrm>
            <a:off x="502920" y="1207008"/>
            <a:ext cx="8138160" cy="566928"/>
          </a:xfrm>
          <a:prstGeom prst="roundRect">
            <a:avLst>
              <a:gd name="adj" fmla="val 11290"/>
            </a:avLst>
          </a:prstGeom>
          <a:solidFill>
            <a:srgbClr val="FFF3D6"/>
          </a:solidFill>
          <a:ln w="12700">
            <a:solidFill>
              <a:srgbClr val="FFF3D6"/>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58368" y="1243584"/>
            <a:ext cx="7827264" cy="493776"/>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Presse (les 8 rôles) : </a:t>
            </a:r>
            <a:r>
              <a:rPr lang="fr-FR" sz="840" noProof="0" dirty="0">
                <a:solidFill>
                  <a:srgbClr val="043962"/>
                </a:solidFill>
                <a:latin typeface="Calibri" pitchFamily="34" charset="0"/>
                <a:ea typeface="Calibri" pitchFamily="34" charset="-122"/>
                <a:cs typeface="Calibri" pitchFamily="34" charset="-120"/>
              </a:rPr>
              <a:t>Un incendie détruit une ligne majeure chez un fondeur spécialisé dans l'automobile. La même semaine, un porte-conteneurs s'échoue en travers du canal de Suez : trafic bloqué six jours.</a:t>
            </a:r>
            <a:endParaRPr lang="fr-FR" sz="840" noProof="0" dirty="0"/>
          </a:p>
        </p:txBody>
      </p:sp>
      <p:graphicFrame>
        <p:nvGraphicFramePr>
          <p:cNvPr id="40" name="Table 0"/>
          <p:cNvGraphicFramePr>
            <a:graphicFrameLocks noGrp="1"/>
          </p:cNvGraphicFramePr>
          <p:nvPr>
            <p:extLst>
              <p:ext uri="{D42A27DB-BD31-4B8C-83A1-F6EECF244321}">
                <p14:modId xmlns:p14="http://schemas.microsoft.com/office/powerpoint/2010/main" val="3826134254"/>
              </p:ext>
            </p:extLst>
          </p:nvPr>
        </p:nvGraphicFramePr>
        <p:xfrm>
          <a:off x="502920" y="1883664"/>
          <a:ext cx="8138160" cy="1394460"/>
        </p:xfrm>
        <a:graphic>
          <a:graphicData uri="http://schemas.openxmlformats.org/drawingml/2006/table">
            <a:tbl>
              <a:tblPr/>
              <a:tblGrid>
                <a:gridCol w="10972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237744">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Rôle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Ce qu'il reçoit, et lui seul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extLst>
                  <a:ext uri="{0D108BD9-81ED-4DB2-BD59-A6C34878D82A}">
                    <a16:rowId xmlns:a16="http://schemas.microsoft.com/office/drawing/2014/main" val="10000"/>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Électis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err="1">
                          <a:solidFill>
                            <a:srgbClr val="043962"/>
                          </a:solidFill>
                          <a:latin typeface="Calibri" pitchFamily="34" charset="0"/>
                          <a:ea typeface="Calibri" pitchFamily="34" charset="-122"/>
                          <a:cs typeface="Calibri" pitchFamily="34" charset="-120"/>
                        </a:rPr>
                        <a:t>TransGlobal</a:t>
                      </a:r>
                      <a:r>
                        <a:rPr lang="fr-FR" sz="750" noProof="0" dirty="0">
                          <a:solidFill>
                            <a:srgbClr val="043962"/>
                          </a:solidFill>
                          <a:latin typeface="Calibri" pitchFamily="34" charset="0"/>
                          <a:ea typeface="Calibri" pitchFamily="34" charset="-122"/>
                          <a:cs typeface="Calibri" pitchFamily="34" charset="-120"/>
                        </a:rPr>
                        <a:t> prévient : rotations désorganisées pour plusieurs semaines suite au blocage du canal.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CompoDis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a:solidFill>
                            <a:srgbClr val="043962"/>
                          </a:solidFill>
                          <a:latin typeface="Calibri" pitchFamily="34" charset="0"/>
                          <a:ea typeface="Calibri" pitchFamily="34" charset="-122"/>
                          <a:cs typeface="Calibri" pitchFamily="34" charset="-120"/>
                        </a:rPr>
                        <a:t>Les clients du fondeur sinistré se reportent en urgence : Wei-Han Lu annonce que NovaFab « étudie les demandes par ordre de priorité contractuelle ».</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2"/>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TransGlobal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Six jours de blocage = files d'attente aux deux extrémités ; replanification complète des rotations.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37744">
                <a:tc>
                  <a:txBody>
                    <a:bodyPr/>
                    <a:lstStyle/>
                    <a:p>
                      <a:pPr marL="0" indent="0">
                        <a:buNone/>
                      </a:pPr>
                      <a:r>
                        <a:rPr lang="fr-FR" sz="750" b="1" noProof="0" dirty="0">
                          <a:solidFill>
                            <a:srgbClr val="176F98"/>
                          </a:solidFill>
                          <a:latin typeface="Calibri" pitchFamily="34" charset="0"/>
                          <a:ea typeface="Calibri" pitchFamily="34" charset="-122"/>
                          <a:cs typeface="Calibri" pitchFamily="34" charset="-120"/>
                        </a:rPr>
                        <a:t>NovaFab</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Afflux de demandes de report (+25 % sur le carnet).</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4"/>
                  </a:ext>
                </a:extLst>
              </a:tr>
            </a:tbl>
          </a:graphicData>
        </a:graphic>
      </p:graphicFrame>
      <p:sp>
        <p:nvSpPr>
          <p:cNvPr id="7" name="Shape 4"/>
          <p:cNvSpPr/>
          <p:nvPr/>
        </p:nvSpPr>
        <p:spPr>
          <a:xfrm>
            <a:off x="502920" y="3393908"/>
            <a:ext cx="8138160" cy="886968"/>
          </a:xfrm>
          <a:prstGeom prst="roundRect">
            <a:avLst>
              <a:gd name="adj" fmla="val 7216"/>
            </a:avLst>
          </a:prstGeom>
          <a:solidFill>
            <a:srgbClr val="EBF3F9"/>
          </a:solidFill>
          <a:ln w="12700">
            <a:solidFill>
              <a:srgbClr val="EBF3F9"/>
            </a:solidFill>
            <a:prstDash val="solid"/>
          </a:ln>
        </p:spPr>
        <p:txBody>
          <a:bodyPr/>
          <a:lstStyle/>
          <a:p>
            <a:endParaRPr lang="fr-FR" noProof="0" dirty="0"/>
          </a:p>
        </p:txBody>
      </p:sp>
      <p:sp>
        <p:nvSpPr>
          <p:cNvPr id="8" name="Text 5"/>
          <p:cNvSpPr/>
          <p:nvPr/>
        </p:nvSpPr>
        <p:spPr>
          <a:xfrm>
            <a:off x="658368" y="3430484"/>
            <a:ext cx="7827264" cy="813816"/>
          </a:xfrm>
          <a:prstGeom prst="rect">
            <a:avLst/>
          </a:prstGeom>
          <a:noFill/>
          <a:ln/>
        </p:spPr>
        <p:txBody>
          <a:bodyPr wrap="square" lIns="0" tIns="0" rIns="0" bIns="0" rtlCol="0" anchor="t"/>
          <a:lstStyle/>
          <a:p>
            <a:pPr marL="0" indent="0">
              <a:lnSpc>
                <a:spcPct val="104000"/>
              </a:lnSpc>
              <a:buNone/>
            </a:pPr>
            <a:r>
              <a:rPr lang="fr-FR" sz="680" b="1" noProof="0" dirty="0">
                <a:solidFill>
                  <a:srgbClr val="043962"/>
                </a:solidFill>
                <a:latin typeface="Calibri" pitchFamily="34" charset="0"/>
                <a:ea typeface="Calibri" pitchFamily="34" charset="-122"/>
                <a:cs typeface="Calibri" pitchFamily="34" charset="-120"/>
              </a:rPr>
              <a:t>Événements moteur : </a:t>
            </a:r>
            <a:r>
              <a:rPr lang="fr-FR" sz="680" noProof="0" dirty="0">
                <a:solidFill>
                  <a:srgbClr val="043962"/>
                </a:solidFill>
                <a:latin typeface="Calibri" pitchFamily="34" charset="0"/>
                <a:ea typeface="Calibri" pitchFamily="34" charset="-122"/>
                <a:cs typeface="Calibri" pitchFamily="34" charset="-120"/>
              </a:rPr>
              <a:t>NovaFab - </a:t>
            </a:r>
            <a:r>
              <a:rPr lang="fr-FR" sz="680" noProof="0" dirty="0" err="1">
                <a:solidFill>
                  <a:srgbClr val="043962"/>
                </a:solidFill>
                <a:latin typeface="Calibri" pitchFamily="34" charset="0"/>
                <a:ea typeface="Calibri" pitchFamily="34" charset="-122"/>
                <a:cs typeface="Calibri" pitchFamily="34" charset="-120"/>
              </a:rPr>
              <a:t>pic_demande</a:t>
            </a:r>
            <a:r>
              <a:rPr lang="fr-FR" sz="680" noProof="0" dirty="0">
                <a:solidFill>
                  <a:srgbClr val="043962"/>
                </a:solidFill>
                <a:latin typeface="Calibri" pitchFamily="34" charset="0"/>
                <a:ea typeface="Calibri" pitchFamily="34" charset="-122"/>
                <a:cs typeface="Calibri" pitchFamily="34" charset="-120"/>
              </a:rPr>
              <a:t> : demande 125 (base 100)   |   </a:t>
            </a:r>
            <a:r>
              <a:rPr lang="fr-FR" sz="680" noProof="0" dirty="0" err="1">
                <a:solidFill>
                  <a:srgbClr val="043962"/>
                </a:solidFill>
                <a:latin typeface="Calibri" pitchFamily="34" charset="0"/>
                <a:ea typeface="Calibri" pitchFamily="34" charset="-122"/>
                <a:cs typeface="Calibri" pitchFamily="34" charset="-120"/>
              </a:rPr>
              <a:t>TransGlobal</a:t>
            </a:r>
            <a:r>
              <a:rPr lang="fr-FR" sz="680" noProof="0" dirty="0">
                <a:solidFill>
                  <a:srgbClr val="043962"/>
                </a:solidFill>
                <a:latin typeface="Calibri" pitchFamily="34" charset="0"/>
                <a:ea typeface="Calibri" pitchFamily="34" charset="-122"/>
                <a:cs typeface="Calibri" pitchFamily="34" charset="-120"/>
              </a:rPr>
              <a:t> - </a:t>
            </a:r>
            <a:r>
              <a:rPr lang="fr-FR" sz="680" noProof="0" dirty="0" err="1">
                <a:solidFill>
                  <a:srgbClr val="043962"/>
                </a:solidFill>
                <a:latin typeface="Calibri" pitchFamily="34" charset="0"/>
                <a:ea typeface="Calibri" pitchFamily="34" charset="-122"/>
                <a:cs typeface="Calibri" pitchFamily="34" charset="-120"/>
              </a:rPr>
              <a:t>perturbation_transport</a:t>
            </a:r>
            <a:r>
              <a:rPr lang="fr-FR" sz="680" noProof="0" dirty="0">
                <a:solidFill>
                  <a:srgbClr val="043962"/>
                </a:solidFill>
                <a:latin typeface="Calibri" pitchFamily="34" charset="0"/>
                <a:ea typeface="Calibri" pitchFamily="34" charset="-122"/>
                <a:cs typeface="Calibri" pitchFamily="34" charset="-120"/>
              </a:rPr>
              <a:t> : 33 h moteur (6 j réels) ; surcoût 15 000</a:t>
            </a:r>
            <a:endParaRPr lang="fr-FR" sz="680" noProof="0" dirty="0"/>
          </a:p>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Jalons qui bougent : </a:t>
            </a:r>
            <a:r>
              <a:rPr lang="fr-FR" sz="680" noProof="0" dirty="0" err="1">
                <a:solidFill>
                  <a:srgbClr val="043962"/>
                </a:solidFill>
                <a:latin typeface="Calibri" pitchFamily="34" charset="0"/>
                <a:ea typeface="Calibri" pitchFamily="34" charset="-122"/>
                <a:cs typeface="Calibri" pitchFamily="34" charset="-120"/>
              </a:rPr>
              <a:t>Orbitalys</a:t>
            </a:r>
            <a:r>
              <a:rPr lang="fr-FR" sz="680" noProof="0" dirty="0">
                <a:solidFill>
                  <a:srgbClr val="043962"/>
                </a:solidFill>
                <a:latin typeface="Calibri" pitchFamily="34" charset="0"/>
                <a:ea typeface="Calibri" pitchFamily="34" charset="-122"/>
                <a:cs typeface="Calibri" pitchFamily="34" charset="-120"/>
              </a:rPr>
              <a:t> - Livraison HÉLIOS-1 : avancement 80% (dérive)</a:t>
            </a:r>
            <a:endParaRPr lang="fr-FR" sz="680" noProof="0" dirty="0"/>
          </a:p>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Données injectées : </a:t>
            </a:r>
            <a:r>
              <a:rPr lang="fr-FR" sz="680" noProof="0" dirty="0">
                <a:solidFill>
                  <a:srgbClr val="043962"/>
                </a:solidFill>
                <a:latin typeface="Calibri" pitchFamily="34" charset="0"/>
                <a:ea typeface="Calibri" pitchFamily="34" charset="-122"/>
                <a:cs typeface="Calibri" pitchFamily="34" charset="-120"/>
              </a:rPr>
              <a:t>NovaFab : coût op 99.3, volatilité coût 0.001  -  Meridian : demande 123.5  -  </a:t>
            </a:r>
            <a:r>
              <a:rPr lang="fr-FR" sz="680" noProof="0" dirty="0" err="1">
                <a:solidFill>
                  <a:srgbClr val="043962"/>
                </a:solidFill>
                <a:latin typeface="Calibri" pitchFamily="34" charset="0"/>
                <a:ea typeface="Calibri" pitchFamily="34" charset="-122"/>
                <a:cs typeface="Calibri" pitchFamily="34" charset="-120"/>
              </a:rPr>
              <a:t>CompoDis</a:t>
            </a:r>
            <a:r>
              <a:rPr lang="fr-FR" sz="680" noProof="0" dirty="0">
                <a:solidFill>
                  <a:srgbClr val="043962"/>
                </a:solidFill>
                <a:latin typeface="Calibri" pitchFamily="34" charset="0"/>
                <a:ea typeface="Calibri" pitchFamily="34" charset="-122"/>
                <a:cs typeface="Calibri" pitchFamily="34" charset="-120"/>
              </a:rPr>
              <a:t> : flux servi 123.5, délai 20.6 sem., coût op 100.8, volatilité coût 0.003, p. incident 0.015  -  </a:t>
            </a:r>
            <a:r>
              <a:rPr lang="fr-FR" sz="680" noProof="0" dirty="0" err="1">
                <a:solidFill>
                  <a:srgbClr val="043962"/>
                </a:solidFill>
                <a:latin typeface="Calibri" pitchFamily="34" charset="0"/>
                <a:ea typeface="Calibri" pitchFamily="34" charset="-122"/>
                <a:cs typeface="Calibri" pitchFamily="34" charset="-120"/>
              </a:rPr>
              <a:t>Électis</a:t>
            </a:r>
            <a:r>
              <a:rPr lang="fr-FR" sz="680" noProof="0" dirty="0">
                <a:solidFill>
                  <a:srgbClr val="043962"/>
                </a:solidFill>
                <a:latin typeface="Calibri" pitchFamily="34" charset="0"/>
                <a:ea typeface="Calibri" pitchFamily="34" charset="-122"/>
                <a:cs typeface="Calibri" pitchFamily="34" charset="-120"/>
              </a:rPr>
              <a:t> : perf 0.974, dispo 0.958, coût op 105.4, volatilité coût 0.008  -  </a:t>
            </a:r>
            <a:r>
              <a:rPr lang="fr-FR" sz="680" noProof="0" dirty="0" err="1">
                <a:solidFill>
                  <a:srgbClr val="043962"/>
                </a:solidFill>
                <a:latin typeface="Calibri" pitchFamily="34" charset="0"/>
                <a:ea typeface="Calibri" pitchFamily="34" charset="-122"/>
                <a:cs typeface="Calibri" pitchFamily="34" charset="-120"/>
              </a:rPr>
              <a:t>SilPure</a:t>
            </a:r>
            <a:r>
              <a:rPr lang="fr-FR" sz="680" noProof="0" dirty="0">
                <a:solidFill>
                  <a:srgbClr val="043962"/>
                </a:solidFill>
                <a:latin typeface="Calibri" pitchFamily="34" charset="0"/>
                <a:ea typeface="Calibri" pitchFamily="34" charset="-122"/>
                <a:cs typeface="Calibri" pitchFamily="34" charset="-120"/>
              </a:rPr>
              <a:t> : coût op 105.4, volatilité coût 0.008, p. incident 0.007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flux servi 100.0</a:t>
            </a:r>
            <a:endParaRPr lang="fr-FR" sz="680" noProof="0" dirty="0"/>
          </a:p>
        </p:txBody>
      </p:sp>
      <p:sp>
        <p:nvSpPr>
          <p:cNvPr id="9" name="Text 6"/>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- 39/50</a:t>
            </a:r>
            <a:endParaRPr lang="fr-FR" sz="800" noProof="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DÉROULÉ DU TOUR T8</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T8 - 2021-04 - P2 Bascule</a:t>
            </a:r>
            <a:endParaRPr lang="fr-FR" sz="2500" noProof="0" dirty="0"/>
          </a:p>
        </p:txBody>
      </p:sp>
      <p:sp>
        <p:nvSpPr>
          <p:cNvPr id="4" name="Shape 2"/>
          <p:cNvSpPr/>
          <p:nvPr/>
        </p:nvSpPr>
        <p:spPr>
          <a:xfrm>
            <a:off x="502920" y="1207008"/>
            <a:ext cx="8138160" cy="402336"/>
          </a:xfrm>
          <a:prstGeom prst="roundRect">
            <a:avLst>
              <a:gd name="adj" fmla="val 15909"/>
            </a:avLst>
          </a:prstGeom>
          <a:solidFill>
            <a:srgbClr val="FFF3D6"/>
          </a:solidFill>
          <a:ln w="12700">
            <a:solidFill>
              <a:srgbClr val="FFF3D6"/>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58368" y="1243584"/>
            <a:ext cx="7827264" cy="329184"/>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Presse (les 8 rôles) : </a:t>
            </a:r>
            <a:r>
              <a:rPr lang="fr-FR" sz="840" noProof="0" dirty="0">
                <a:solidFill>
                  <a:srgbClr val="043962"/>
                </a:solidFill>
                <a:latin typeface="Calibri" pitchFamily="34" charset="0"/>
                <a:ea typeface="Calibri" pitchFamily="34" charset="-122"/>
                <a:cs typeface="Calibri" pitchFamily="34" charset="-120"/>
              </a:rPr>
              <a:t>Les délais moyens de livraison des semi-conducteurs atteignent 22 semaines, contre 12 un an plus tôt, selon les distributeurs.</a:t>
            </a:r>
            <a:endParaRPr lang="fr-FR" sz="840" noProof="0" dirty="0"/>
          </a:p>
        </p:txBody>
      </p:sp>
      <p:graphicFrame>
        <p:nvGraphicFramePr>
          <p:cNvPr id="41" name="Table 0"/>
          <p:cNvGraphicFramePr>
            <a:graphicFrameLocks noGrp="1"/>
          </p:cNvGraphicFramePr>
          <p:nvPr>
            <p:extLst>
              <p:ext uri="{D42A27DB-BD31-4B8C-83A1-F6EECF244321}">
                <p14:modId xmlns:p14="http://schemas.microsoft.com/office/powerpoint/2010/main" val="4258014699"/>
              </p:ext>
            </p:extLst>
          </p:nvPr>
        </p:nvGraphicFramePr>
        <p:xfrm>
          <a:off x="502920" y="1719072"/>
          <a:ext cx="8138160" cy="1229868"/>
        </p:xfrm>
        <a:graphic>
          <a:graphicData uri="http://schemas.openxmlformats.org/drawingml/2006/table">
            <a:tbl>
              <a:tblPr/>
              <a:tblGrid>
                <a:gridCol w="10972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237744">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Rôle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Ce qu'il reçoit, et lui seul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extLst>
                  <a:ext uri="{0D108BD9-81ED-4DB2-BD59-A6C34878D82A}">
                    <a16:rowId xmlns:a16="http://schemas.microsoft.com/office/drawing/2014/main" val="10000"/>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Orbitalys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a:solidFill>
                            <a:srgbClr val="043962"/>
                          </a:solidFill>
                          <a:latin typeface="Calibri" pitchFamily="34" charset="0"/>
                          <a:ea typeface="Calibri" pitchFamily="34" charset="-122"/>
                          <a:cs typeface="Calibri" pitchFamily="34" charset="-120"/>
                        </a:rPr>
                        <a:t>Courriel de Claire Vasseur à </a:t>
                      </a:r>
                      <a:r>
                        <a:rPr lang="fr-FR" sz="750" noProof="0" dirty="0" err="1">
                          <a:solidFill>
                            <a:srgbClr val="043962"/>
                          </a:solidFill>
                          <a:latin typeface="Calibri" pitchFamily="34" charset="0"/>
                          <a:ea typeface="Calibri" pitchFamily="34" charset="-122"/>
                          <a:cs typeface="Calibri" pitchFamily="34" charset="-120"/>
                        </a:rPr>
                        <a:t>AvioSys</a:t>
                      </a:r>
                      <a:r>
                        <a:rPr lang="fr-FR" sz="750" noProof="0" dirty="0">
                          <a:solidFill>
                            <a:srgbClr val="043962"/>
                          </a:solidFill>
                          <a:latin typeface="Calibri" pitchFamily="34" charset="0"/>
                          <a:ea typeface="Calibri" pitchFamily="34" charset="-122"/>
                          <a:cs typeface="Calibri" pitchFamily="34" charset="-120"/>
                        </a:rPr>
                        <a:t> : « l'échéance HÉLIOS-1 est ce mois-ci. Où en sommes-nous précisément ? »</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AvioSys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err="1">
                          <a:solidFill>
                            <a:srgbClr val="043962"/>
                          </a:solidFill>
                          <a:latin typeface="Calibri" pitchFamily="34" charset="0"/>
                          <a:ea typeface="Calibri" pitchFamily="34" charset="-122"/>
                          <a:cs typeface="Calibri" pitchFamily="34" charset="-120"/>
                        </a:rPr>
                        <a:t>Électis</a:t>
                      </a:r>
                      <a:r>
                        <a:rPr lang="fr-FR" sz="750" noProof="0" dirty="0">
                          <a:solidFill>
                            <a:srgbClr val="043962"/>
                          </a:solidFill>
                          <a:latin typeface="Calibri" pitchFamily="34" charset="0"/>
                          <a:ea typeface="Calibri" pitchFamily="34" charset="-122"/>
                          <a:cs typeface="Calibri" pitchFamily="34" charset="-120"/>
                        </a:rPr>
                        <a:t> annonce des livraisons partielles sur le lot en cours.</a:t>
                      </a:r>
                      <a:endParaRPr lang="fr-FR" sz="750" noProof="0" dirty="0">
                        <a:latin typeface="Calibri" charset="0"/>
                        <a:ea typeface="Calibri" charset="0"/>
                        <a:cs typeface="Calibri" charset="0"/>
                      </a:endParaRPr>
                    </a:p>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Stock de composants qualifiés : 7 semaines de couverture. Rappel interne : toute substitution = 6 mois de requalification.</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2"/>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CompoDis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Délais constatés fournisseurs : 22 semaines en moyenne.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502920" y="3058668"/>
            <a:ext cx="8138160" cy="749808"/>
          </a:xfrm>
          <a:prstGeom prst="roundRect">
            <a:avLst>
              <a:gd name="adj" fmla="val 8537"/>
            </a:avLst>
          </a:prstGeom>
          <a:solidFill>
            <a:srgbClr val="EBF3F9"/>
          </a:solidFill>
          <a:ln w="12700">
            <a:solidFill>
              <a:srgbClr val="EBF3F9"/>
            </a:solidFill>
            <a:prstDash val="solid"/>
          </a:ln>
        </p:spPr>
        <p:txBody>
          <a:bodyPr/>
          <a:lstStyle/>
          <a:p>
            <a:endParaRPr lang="fr-FR" noProof="0" dirty="0"/>
          </a:p>
        </p:txBody>
      </p:sp>
      <p:sp>
        <p:nvSpPr>
          <p:cNvPr id="8" name="Text 5"/>
          <p:cNvSpPr/>
          <p:nvPr/>
        </p:nvSpPr>
        <p:spPr>
          <a:xfrm>
            <a:off x="658368" y="3223260"/>
            <a:ext cx="7827264" cy="676656"/>
          </a:xfrm>
          <a:prstGeom prst="rect">
            <a:avLst/>
          </a:prstGeom>
          <a:noFill/>
          <a:ln/>
        </p:spPr>
        <p:txBody>
          <a:bodyPr wrap="square" lIns="0" tIns="0" rIns="0" bIns="0" rtlCol="0" anchor="t"/>
          <a:lstStyle/>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Jalons qui bougent : </a:t>
            </a:r>
            <a:r>
              <a:rPr lang="fr-FR" sz="680" noProof="0" dirty="0" err="1">
                <a:solidFill>
                  <a:srgbClr val="043962"/>
                </a:solidFill>
                <a:latin typeface="Calibri" pitchFamily="34" charset="0"/>
                <a:ea typeface="Calibri" pitchFamily="34" charset="-122"/>
                <a:cs typeface="Calibri" pitchFamily="34" charset="-120"/>
              </a:rPr>
              <a:t>Orbitalys</a:t>
            </a:r>
            <a:r>
              <a:rPr lang="fr-FR" sz="680" noProof="0" dirty="0">
                <a:solidFill>
                  <a:srgbClr val="043962"/>
                </a:solidFill>
                <a:latin typeface="Calibri" pitchFamily="34" charset="0"/>
                <a:ea typeface="Calibri" pitchFamily="34" charset="-122"/>
                <a:cs typeface="Calibri" pitchFamily="34" charset="-120"/>
              </a:rPr>
              <a:t> - Livraison HÉLIOS-1 : avancement 88% (dérive)</a:t>
            </a:r>
            <a:endParaRPr lang="fr-FR" sz="680" noProof="0" dirty="0"/>
          </a:p>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Données injectées : </a:t>
            </a:r>
            <a:r>
              <a:rPr lang="fr-FR" sz="680" noProof="0" dirty="0">
                <a:solidFill>
                  <a:srgbClr val="043962"/>
                </a:solidFill>
                <a:latin typeface="Calibri" pitchFamily="34" charset="0"/>
                <a:ea typeface="Calibri" pitchFamily="34" charset="-122"/>
                <a:cs typeface="Calibri" pitchFamily="34" charset="-120"/>
              </a:rPr>
              <a:t>NovaFab : demande 119.3, coût op 99.1, volatilité coût 0.001  -  Meridian : demande 119.3  -  </a:t>
            </a:r>
            <a:r>
              <a:rPr lang="fr-FR" sz="680" noProof="0" dirty="0" err="1">
                <a:solidFill>
                  <a:srgbClr val="043962"/>
                </a:solidFill>
                <a:latin typeface="Calibri" pitchFamily="34" charset="0"/>
                <a:ea typeface="Calibri" pitchFamily="34" charset="-122"/>
                <a:cs typeface="Calibri" pitchFamily="34" charset="-120"/>
              </a:rPr>
              <a:t>CompoDis</a:t>
            </a:r>
            <a:r>
              <a:rPr lang="fr-FR" sz="680" noProof="0" dirty="0">
                <a:solidFill>
                  <a:srgbClr val="043962"/>
                </a:solidFill>
                <a:latin typeface="Calibri" pitchFamily="34" charset="0"/>
                <a:ea typeface="Calibri" pitchFamily="34" charset="-122"/>
                <a:cs typeface="Calibri" pitchFamily="34" charset="-120"/>
              </a:rPr>
              <a:t> : flux servi 119.3, délai 22.2 sem., coût op 100.5, volatilité coût 0.001, p. incident 0.015  -  </a:t>
            </a:r>
            <a:r>
              <a:rPr lang="fr-FR" sz="680" noProof="0" dirty="0" err="1">
                <a:solidFill>
                  <a:srgbClr val="043962"/>
                </a:solidFill>
                <a:latin typeface="Calibri" pitchFamily="34" charset="0"/>
                <a:ea typeface="Calibri" pitchFamily="34" charset="-122"/>
                <a:cs typeface="Calibri" pitchFamily="34" charset="-120"/>
              </a:rPr>
              <a:t>Électis</a:t>
            </a:r>
            <a:r>
              <a:rPr lang="fr-FR" sz="680" noProof="0" dirty="0">
                <a:solidFill>
                  <a:srgbClr val="043962"/>
                </a:solidFill>
                <a:latin typeface="Calibri" pitchFamily="34" charset="0"/>
                <a:ea typeface="Calibri" pitchFamily="34" charset="-122"/>
                <a:cs typeface="Calibri" pitchFamily="34" charset="-120"/>
              </a:rPr>
              <a:t> : perf 0.979, dispo 0.963, coût op 105.6, volatilité coût 0.005  -  </a:t>
            </a:r>
            <a:r>
              <a:rPr lang="fr-FR" sz="680" noProof="0" dirty="0" err="1">
                <a:solidFill>
                  <a:srgbClr val="043962"/>
                </a:solidFill>
                <a:latin typeface="Calibri" pitchFamily="34" charset="0"/>
                <a:ea typeface="Calibri" pitchFamily="34" charset="-122"/>
                <a:cs typeface="Calibri" pitchFamily="34" charset="-120"/>
              </a:rPr>
              <a:t>SilPure</a:t>
            </a:r>
            <a:r>
              <a:rPr lang="fr-FR" sz="680" noProof="0" dirty="0">
                <a:solidFill>
                  <a:srgbClr val="043962"/>
                </a:solidFill>
                <a:latin typeface="Calibri" pitchFamily="34" charset="0"/>
                <a:ea typeface="Calibri" pitchFamily="34" charset="-122"/>
                <a:cs typeface="Calibri" pitchFamily="34" charset="-120"/>
              </a:rPr>
              <a:t> : coût op 105.6, volatilité coût 0.005, p. incident 0.008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flux servi 100.0</a:t>
            </a:r>
            <a:endParaRPr lang="fr-FR" sz="680" noProof="0" dirty="0"/>
          </a:p>
        </p:txBody>
      </p:sp>
      <p:sp>
        <p:nvSpPr>
          <p:cNvPr id="9" name="Text 6"/>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- 40/50</a:t>
            </a:r>
            <a:endParaRPr lang="fr-FR" sz="800" noProof="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DÉROULÉ DU TOUR T9</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T9 - 2021-05 - P3 Étau</a:t>
            </a:r>
            <a:endParaRPr lang="fr-FR" sz="2500" noProof="0" dirty="0"/>
          </a:p>
        </p:txBody>
      </p:sp>
      <p:sp>
        <p:nvSpPr>
          <p:cNvPr id="4" name="Shape 2"/>
          <p:cNvSpPr/>
          <p:nvPr/>
        </p:nvSpPr>
        <p:spPr>
          <a:xfrm>
            <a:off x="502920" y="1207008"/>
            <a:ext cx="8138160" cy="402336"/>
          </a:xfrm>
          <a:prstGeom prst="roundRect">
            <a:avLst>
              <a:gd name="adj" fmla="val 15909"/>
            </a:avLst>
          </a:prstGeom>
          <a:solidFill>
            <a:srgbClr val="FFF3D6"/>
          </a:solidFill>
          <a:ln w="12700">
            <a:solidFill>
              <a:srgbClr val="FFF3D6"/>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58368" y="1243584"/>
            <a:ext cx="7827264" cy="329184"/>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Presse (les 8 rôles) : </a:t>
            </a:r>
            <a:r>
              <a:rPr lang="fr-FR" sz="840" noProof="0" dirty="0">
                <a:solidFill>
                  <a:srgbClr val="043962"/>
                </a:solidFill>
                <a:latin typeface="Calibri" pitchFamily="34" charset="0"/>
                <a:ea typeface="Calibri" pitchFamily="34" charset="-122"/>
                <a:cs typeface="Calibri" pitchFamily="34" charset="-120"/>
              </a:rPr>
              <a:t>Sécheresse historique en Asie de l'Est : les réservoirs de l'île où se concentre la production mondiale de puces sont à 15 % de leur capacité.</a:t>
            </a:r>
            <a:endParaRPr lang="fr-FR" sz="840" noProof="0" dirty="0"/>
          </a:p>
        </p:txBody>
      </p:sp>
      <p:graphicFrame>
        <p:nvGraphicFramePr>
          <p:cNvPr id="42" name="Table 0"/>
          <p:cNvGraphicFramePr>
            <a:graphicFrameLocks noGrp="1"/>
          </p:cNvGraphicFramePr>
          <p:nvPr>
            <p:extLst>
              <p:ext uri="{D42A27DB-BD31-4B8C-83A1-F6EECF244321}">
                <p14:modId xmlns:p14="http://schemas.microsoft.com/office/powerpoint/2010/main" val="3938390865"/>
              </p:ext>
            </p:extLst>
          </p:nvPr>
        </p:nvGraphicFramePr>
        <p:xfrm>
          <a:off x="502920" y="1719072"/>
          <a:ext cx="8138160" cy="836676"/>
        </p:xfrm>
        <a:graphic>
          <a:graphicData uri="http://schemas.openxmlformats.org/drawingml/2006/table">
            <a:tbl>
              <a:tblPr/>
              <a:tblGrid>
                <a:gridCol w="10972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237744">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Rôle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Ce qu'il reçoit, et lui seul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extLst>
                  <a:ext uri="{0D108BD9-81ED-4DB2-BD59-A6C34878D82A}">
                    <a16:rowId xmlns:a16="http://schemas.microsoft.com/office/drawing/2014/main" val="10000"/>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CompoDis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a:solidFill>
                            <a:srgbClr val="043962"/>
                          </a:solidFill>
                          <a:latin typeface="Calibri" pitchFamily="34" charset="0"/>
                          <a:ea typeface="Calibri" pitchFamily="34" charset="-122"/>
                          <a:cs typeface="Calibri" pitchFamily="34" charset="-120"/>
                        </a:rPr>
                        <a:t>NovaFab : « aucun impact sur les engagements confirmés à ce stade ».</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7744">
                <a:tc>
                  <a:txBody>
                    <a:bodyPr/>
                    <a:lstStyle/>
                    <a:p>
                      <a:pPr marL="0" indent="0">
                        <a:buNone/>
                      </a:pPr>
                      <a:r>
                        <a:rPr lang="fr-FR" sz="750" b="1" noProof="0" dirty="0">
                          <a:solidFill>
                            <a:srgbClr val="176F98"/>
                          </a:solidFill>
                          <a:latin typeface="Calibri" pitchFamily="34" charset="0"/>
                          <a:ea typeface="Calibri" pitchFamily="34" charset="-122"/>
                          <a:cs typeface="Calibri" pitchFamily="34" charset="-120"/>
                        </a:rPr>
                        <a:t>NovaFab</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L'eau ultrapure est rationnée entre les </a:t>
                      </a:r>
                      <a:r>
                        <a:rPr lang="fr-FR" sz="750" noProof="0" dirty="0" err="1">
                          <a:solidFill>
                            <a:srgbClr val="043962"/>
                          </a:solidFill>
                          <a:latin typeface="Calibri" pitchFamily="34" charset="0"/>
                          <a:ea typeface="Calibri" pitchFamily="34" charset="-122"/>
                          <a:cs typeface="Calibri" pitchFamily="34" charset="-120"/>
                        </a:rPr>
                        <a:t>fabs</a:t>
                      </a:r>
                      <a:r>
                        <a:rPr lang="fr-FR" sz="750" noProof="0" dirty="0">
                          <a:solidFill>
                            <a:srgbClr val="043962"/>
                          </a:solidFill>
                          <a:latin typeface="Calibri" pitchFamily="34" charset="0"/>
                          <a:ea typeface="Calibri" pitchFamily="34" charset="-122"/>
                          <a:cs typeface="Calibri" pitchFamily="34" charset="-120"/>
                        </a:rPr>
                        <a:t> du site principal. Études de priorisation des lignes en cours.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2"/>
                  </a:ext>
                </a:extLst>
              </a:tr>
            </a:tbl>
          </a:graphicData>
        </a:graphic>
      </p:graphicFrame>
      <p:sp>
        <p:nvSpPr>
          <p:cNvPr id="7" name="Shape 4"/>
          <p:cNvSpPr/>
          <p:nvPr/>
        </p:nvSpPr>
        <p:spPr>
          <a:xfrm>
            <a:off x="502920" y="2912364"/>
            <a:ext cx="8138160" cy="886968"/>
          </a:xfrm>
          <a:prstGeom prst="roundRect">
            <a:avLst>
              <a:gd name="adj" fmla="val 7216"/>
            </a:avLst>
          </a:prstGeom>
          <a:solidFill>
            <a:srgbClr val="EBF3F9"/>
          </a:solidFill>
          <a:ln w="12700">
            <a:solidFill>
              <a:srgbClr val="EBF3F9"/>
            </a:solidFill>
            <a:prstDash val="solid"/>
          </a:ln>
        </p:spPr>
        <p:txBody>
          <a:bodyPr/>
          <a:lstStyle/>
          <a:p>
            <a:endParaRPr lang="fr-FR" noProof="0" dirty="0"/>
          </a:p>
        </p:txBody>
      </p:sp>
      <p:sp>
        <p:nvSpPr>
          <p:cNvPr id="8" name="Text 5"/>
          <p:cNvSpPr/>
          <p:nvPr/>
        </p:nvSpPr>
        <p:spPr>
          <a:xfrm>
            <a:off x="658368" y="3081825"/>
            <a:ext cx="7827264" cy="813816"/>
          </a:xfrm>
          <a:prstGeom prst="rect">
            <a:avLst/>
          </a:prstGeom>
          <a:noFill/>
          <a:ln/>
        </p:spPr>
        <p:txBody>
          <a:bodyPr wrap="square" lIns="0" tIns="0" rIns="0" bIns="0" rtlCol="0" anchor="t"/>
          <a:lstStyle/>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Jalons qui bougent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Sous-système avionique lot 2 : avancement 60% (dérive)   |   NovaFab - Allocation wafers HÉLIOS : avancement 82% (dérive)   |   </a:t>
            </a:r>
            <a:r>
              <a:rPr lang="fr-FR" sz="680" noProof="0" dirty="0" err="1">
                <a:solidFill>
                  <a:srgbClr val="043962"/>
                </a:solidFill>
                <a:latin typeface="Calibri" pitchFamily="34" charset="0"/>
                <a:ea typeface="Calibri" pitchFamily="34" charset="-122"/>
                <a:cs typeface="Calibri" pitchFamily="34" charset="-120"/>
              </a:rPr>
              <a:t>CompoDis</a:t>
            </a:r>
            <a:r>
              <a:rPr lang="fr-FR" sz="680" noProof="0" dirty="0">
                <a:solidFill>
                  <a:srgbClr val="043962"/>
                </a:solidFill>
                <a:latin typeface="Calibri" pitchFamily="34" charset="0"/>
                <a:ea typeface="Calibri" pitchFamily="34" charset="-122"/>
                <a:cs typeface="Calibri" pitchFamily="34" charset="-120"/>
              </a:rPr>
              <a:t> - Couverture composants S1 : terminé</a:t>
            </a:r>
            <a:endParaRPr lang="fr-FR" sz="680" noProof="0" dirty="0"/>
          </a:p>
          <a:p>
            <a:pPr marL="0" indent="0">
              <a:lnSpc>
                <a:spcPct val="104000"/>
              </a:lnSpc>
              <a:buNone/>
            </a:pPr>
            <a:r>
              <a:rPr lang="fr-FR" sz="680" b="1" noProof="0" dirty="0">
                <a:solidFill>
                  <a:srgbClr val="043962"/>
                </a:solidFill>
                <a:latin typeface="Calibri" pitchFamily="34" charset="0"/>
                <a:ea typeface="Calibri" pitchFamily="34" charset="-122"/>
                <a:cs typeface="Calibri" pitchFamily="34" charset="-120"/>
              </a:rPr>
              <a:t>Fiche placebo (HC4) : </a:t>
            </a:r>
            <a:r>
              <a:rPr lang="fr-FR" sz="680" noProof="0" dirty="0">
                <a:solidFill>
                  <a:srgbClr val="043962"/>
                </a:solidFill>
                <a:latin typeface="Calibri" pitchFamily="34" charset="0"/>
                <a:ea typeface="Calibri" pitchFamily="34" charset="-122"/>
                <a:cs typeface="Calibri" pitchFamily="34" charset="-120"/>
              </a:rPr>
              <a:t>variante à continuation alternative remise à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sans mention de sa nature.</a:t>
            </a:r>
            <a:endParaRPr lang="fr-FR" sz="680" noProof="0" dirty="0"/>
          </a:p>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Données injectées : </a:t>
            </a:r>
            <a:r>
              <a:rPr lang="fr-FR" sz="680" noProof="0" dirty="0">
                <a:solidFill>
                  <a:srgbClr val="043962"/>
                </a:solidFill>
                <a:latin typeface="Calibri" pitchFamily="34" charset="0"/>
                <a:ea typeface="Calibri" pitchFamily="34" charset="-122"/>
                <a:cs typeface="Calibri" pitchFamily="34" charset="-120"/>
              </a:rPr>
              <a:t>NovaFab : demande 124.1, coût op 99.6, volatilité coût 0.002  -  Meridian : demande 124.1  -  </a:t>
            </a:r>
            <a:r>
              <a:rPr lang="fr-FR" sz="680" noProof="0" dirty="0" err="1">
                <a:solidFill>
                  <a:srgbClr val="043962"/>
                </a:solidFill>
                <a:latin typeface="Calibri" pitchFamily="34" charset="0"/>
                <a:ea typeface="Calibri" pitchFamily="34" charset="-122"/>
                <a:cs typeface="Calibri" pitchFamily="34" charset="-120"/>
              </a:rPr>
              <a:t>CompoDis</a:t>
            </a:r>
            <a:r>
              <a:rPr lang="fr-FR" sz="680" noProof="0" dirty="0">
                <a:solidFill>
                  <a:srgbClr val="043962"/>
                </a:solidFill>
                <a:latin typeface="Calibri" pitchFamily="34" charset="0"/>
                <a:ea typeface="Calibri" pitchFamily="34" charset="-122"/>
                <a:cs typeface="Calibri" pitchFamily="34" charset="-120"/>
              </a:rPr>
              <a:t> : flux servi 124.1, délai 22.7 sem., coût op 100.2, volatilité coût 0.002, p. incident 0.015  -  </a:t>
            </a:r>
            <a:r>
              <a:rPr lang="fr-FR" sz="680" noProof="0" dirty="0" err="1">
                <a:solidFill>
                  <a:srgbClr val="043962"/>
                </a:solidFill>
                <a:latin typeface="Calibri" pitchFamily="34" charset="0"/>
                <a:ea typeface="Calibri" pitchFamily="34" charset="-122"/>
                <a:cs typeface="Calibri" pitchFamily="34" charset="-120"/>
              </a:rPr>
              <a:t>Électis</a:t>
            </a:r>
            <a:r>
              <a:rPr lang="fr-FR" sz="680" noProof="0" dirty="0">
                <a:solidFill>
                  <a:srgbClr val="043962"/>
                </a:solidFill>
                <a:latin typeface="Calibri" pitchFamily="34" charset="0"/>
                <a:ea typeface="Calibri" pitchFamily="34" charset="-122"/>
                <a:cs typeface="Calibri" pitchFamily="34" charset="-120"/>
              </a:rPr>
              <a:t> : perf 1, dispo 0.967, coût op 105.9, volatilité coût 0.002  -  </a:t>
            </a:r>
            <a:r>
              <a:rPr lang="fr-FR" sz="680" noProof="0" dirty="0" err="1">
                <a:solidFill>
                  <a:srgbClr val="043962"/>
                </a:solidFill>
                <a:latin typeface="Calibri" pitchFamily="34" charset="0"/>
                <a:ea typeface="Calibri" pitchFamily="34" charset="-122"/>
                <a:cs typeface="Calibri" pitchFamily="34" charset="-120"/>
              </a:rPr>
              <a:t>SilPure</a:t>
            </a:r>
            <a:r>
              <a:rPr lang="fr-FR" sz="680" noProof="0" dirty="0">
                <a:solidFill>
                  <a:srgbClr val="043962"/>
                </a:solidFill>
                <a:latin typeface="Calibri" pitchFamily="34" charset="0"/>
                <a:ea typeface="Calibri" pitchFamily="34" charset="-122"/>
                <a:cs typeface="Calibri" pitchFamily="34" charset="-120"/>
              </a:rPr>
              <a:t> : coût op 105.9, volatilité coût 0.002, p. incident 0.008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flux servi 100.0</a:t>
            </a:r>
            <a:endParaRPr lang="fr-FR" sz="680" noProof="0" dirty="0"/>
          </a:p>
        </p:txBody>
      </p:sp>
      <p:sp>
        <p:nvSpPr>
          <p:cNvPr id="9" name="Text 6"/>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- 41/50</a:t>
            </a:r>
            <a:endParaRPr lang="fr-FR" sz="800" noProof="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DÉROULÉ DU TOUR T10</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T10 - 2021-06 - P3 Étau</a:t>
            </a:r>
            <a:endParaRPr lang="fr-FR" sz="2500" noProof="0" dirty="0"/>
          </a:p>
        </p:txBody>
      </p:sp>
      <p:sp>
        <p:nvSpPr>
          <p:cNvPr id="4" name="Shape 2"/>
          <p:cNvSpPr/>
          <p:nvPr/>
        </p:nvSpPr>
        <p:spPr>
          <a:xfrm>
            <a:off x="502920" y="1207008"/>
            <a:ext cx="8138160" cy="566928"/>
          </a:xfrm>
          <a:prstGeom prst="roundRect">
            <a:avLst>
              <a:gd name="adj" fmla="val 11290"/>
            </a:avLst>
          </a:prstGeom>
          <a:solidFill>
            <a:srgbClr val="FFF3D6"/>
          </a:solidFill>
          <a:ln w="12700">
            <a:solidFill>
              <a:srgbClr val="FFF3D6"/>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58368" y="1243584"/>
            <a:ext cx="7827264" cy="493776"/>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Presse (les 8 rôles) : </a:t>
            </a:r>
            <a:r>
              <a:rPr lang="fr-FR" sz="840" noProof="0" dirty="0">
                <a:solidFill>
                  <a:srgbClr val="043962"/>
                </a:solidFill>
                <a:latin typeface="Calibri" pitchFamily="34" charset="0"/>
                <a:ea typeface="Calibri" pitchFamily="34" charset="-122"/>
                <a:cs typeface="Calibri" pitchFamily="34" charset="-120"/>
              </a:rPr>
              <a:t>La sécheresse s'aggrave. Des fondeurs affrètent des camions-citernes pour alimenter leurs usines. Un fournisseur majeur de wafers annonce que ses capacités sont vendues jusqu'à fin 2022.</a:t>
            </a:r>
            <a:endParaRPr lang="fr-FR" sz="840" noProof="0" dirty="0"/>
          </a:p>
        </p:txBody>
      </p:sp>
      <p:graphicFrame>
        <p:nvGraphicFramePr>
          <p:cNvPr id="43" name="Table 0"/>
          <p:cNvGraphicFramePr>
            <a:graphicFrameLocks noGrp="1"/>
          </p:cNvGraphicFramePr>
          <p:nvPr>
            <p:extLst>
              <p:ext uri="{D42A27DB-BD31-4B8C-83A1-F6EECF244321}">
                <p14:modId xmlns:p14="http://schemas.microsoft.com/office/powerpoint/2010/main" val="3177744415"/>
              </p:ext>
            </p:extLst>
          </p:nvPr>
        </p:nvGraphicFramePr>
        <p:xfrm>
          <a:off x="502920" y="1883664"/>
          <a:ext cx="8138160" cy="1229868"/>
        </p:xfrm>
        <a:graphic>
          <a:graphicData uri="http://schemas.openxmlformats.org/drawingml/2006/table">
            <a:tbl>
              <a:tblPr/>
              <a:tblGrid>
                <a:gridCol w="10972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237744">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Rôle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Ce qu'il reçoit, et lui seul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extLst>
                  <a:ext uri="{0D108BD9-81ED-4DB2-BD59-A6C34878D82A}">
                    <a16:rowId xmlns:a16="http://schemas.microsoft.com/office/drawing/2014/main" val="10000"/>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CompoDis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a:solidFill>
                            <a:srgbClr val="043962"/>
                          </a:solidFill>
                          <a:latin typeface="Calibri" pitchFamily="34" charset="0"/>
                          <a:ea typeface="Calibri" pitchFamily="34" charset="-122"/>
                          <a:cs typeface="Calibri" pitchFamily="34" charset="-120"/>
                        </a:rPr>
                        <a:t>NovaFab révise ses fenêtres de livraison « pour cause de contraintes industrielles temporaires ».</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7744">
                <a:tc>
                  <a:txBody>
                    <a:bodyPr/>
                    <a:lstStyle/>
                    <a:p>
                      <a:pPr marL="0" indent="0">
                        <a:buNone/>
                      </a:pPr>
                      <a:r>
                        <a:rPr lang="fr-FR" sz="750" b="1" noProof="0" dirty="0">
                          <a:solidFill>
                            <a:srgbClr val="176F98"/>
                          </a:solidFill>
                          <a:latin typeface="Calibri" pitchFamily="34" charset="0"/>
                          <a:ea typeface="Calibri" pitchFamily="34" charset="-122"/>
                          <a:cs typeface="Calibri" pitchFamily="34" charset="-120"/>
                        </a:rPr>
                        <a:t>NovaFab</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err="1">
                          <a:solidFill>
                            <a:srgbClr val="043962"/>
                          </a:solidFill>
                          <a:latin typeface="Calibri" pitchFamily="34" charset="0"/>
                          <a:ea typeface="Calibri" pitchFamily="34" charset="-122"/>
                          <a:cs typeface="Calibri" pitchFamily="34" charset="-120"/>
                        </a:rPr>
                        <a:t>SilPure</a:t>
                      </a:r>
                      <a:r>
                        <a:rPr lang="fr-FR" sz="750" noProof="0" dirty="0">
                          <a:solidFill>
                            <a:srgbClr val="043962"/>
                          </a:solidFill>
                          <a:latin typeface="Calibri" pitchFamily="34" charset="0"/>
                          <a:ea typeface="Calibri" pitchFamily="34" charset="-122"/>
                          <a:cs typeface="Calibri" pitchFamily="34" charset="-120"/>
                        </a:rPr>
                        <a:t> confirme : plus aucun volume additionnel de wafers disponible avant fin 2022.</a:t>
                      </a:r>
                      <a:endParaRPr lang="fr-FR" sz="750" noProof="0" dirty="0">
                        <a:latin typeface="Calibri" charset="0"/>
                        <a:ea typeface="Calibri" charset="0"/>
                        <a:cs typeface="Calibri" charset="0"/>
                      </a:endParaRPr>
                    </a:p>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Débit des lignes les plus consommatrices d'eau réduit. Camions-citernes affrétés.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2"/>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SilPure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Carnet wafers : complet jusqu'à fin 2022. Demandes spot quotidiennes.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484394" y="3297540"/>
            <a:ext cx="8138160" cy="886968"/>
          </a:xfrm>
          <a:prstGeom prst="roundRect">
            <a:avLst>
              <a:gd name="adj" fmla="val 7216"/>
            </a:avLst>
          </a:prstGeom>
          <a:solidFill>
            <a:srgbClr val="EBF3F9"/>
          </a:solidFill>
          <a:ln w="12700">
            <a:solidFill>
              <a:srgbClr val="EBF3F9"/>
            </a:solidFill>
            <a:prstDash val="solid"/>
          </a:ln>
        </p:spPr>
        <p:txBody>
          <a:bodyPr/>
          <a:lstStyle/>
          <a:p>
            <a:endParaRPr lang="fr-FR" noProof="0" dirty="0"/>
          </a:p>
        </p:txBody>
      </p:sp>
      <p:sp>
        <p:nvSpPr>
          <p:cNvPr id="8" name="Text 5"/>
          <p:cNvSpPr/>
          <p:nvPr/>
        </p:nvSpPr>
        <p:spPr>
          <a:xfrm>
            <a:off x="658368" y="3420984"/>
            <a:ext cx="7827264" cy="813816"/>
          </a:xfrm>
          <a:prstGeom prst="rect">
            <a:avLst/>
          </a:prstGeom>
          <a:noFill/>
          <a:ln/>
        </p:spPr>
        <p:txBody>
          <a:bodyPr wrap="square" lIns="0" tIns="0" rIns="0" bIns="0" rtlCol="0" anchor="t"/>
          <a:lstStyle/>
          <a:p>
            <a:pPr marL="0" indent="0">
              <a:lnSpc>
                <a:spcPct val="104000"/>
              </a:lnSpc>
              <a:buNone/>
            </a:pPr>
            <a:r>
              <a:rPr lang="fr-FR" sz="680" b="1" noProof="0" dirty="0">
                <a:solidFill>
                  <a:srgbClr val="043962"/>
                </a:solidFill>
                <a:latin typeface="Calibri" pitchFamily="34" charset="0"/>
                <a:ea typeface="Calibri" pitchFamily="34" charset="-122"/>
                <a:cs typeface="Calibri" pitchFamily="34" charset="-120"/>
              </a:rPr>
              <a:t>Événements moteur : </a:t>
            </a:r>
            <a:r>
              <a:rPr lang="fr-FR" sz="680" noProof="0" dirty="0">
                <a:solidFill>
                  <a:srgbClr val="043962"/>
                </a:solidFill>
                <a:latin typeface="Calibri" pitchFamily="34" charset="0"/>
                <a:ea typeface="Calibri" pitchFamily="34" charset="-122"/>
                <a:cs typeface="Calibri" pitchFamily="34" charset="-120"/>
              </a:rPr>
              <a:t>NovaFab - </a:t>
            </a:r>
            <a:r>
              <a:rPr lang="fr-FR" sz="680" noProof="0" dirty="0" err="1">
                <a:solidFill>
                  <a:srgbClr val="043962"/>
                </a:solidFill>
                <a:latin typeface="Calibri" pitchFamily="34" charset="0"/>
                <a:ea typeface="Calibri" pitchFamily="34" charset="-122"/>
                <a:cs typeface="Calibri" pitchFamily="34" charset="-120"/>
              </a:rPr>
              <a:t>rupture_matiere</a:t>
            </a:r>
            <a:r>
              <a:rPr lang="fr-FR" sz="680" noProof="0" dirty="0">
                <a:solidFill>
                  <a:srgbClr val="043962"/>
                </a:solidFill>
                <a:latin typeface="Calibri" pitchFamily="34" charset="0"/>
                <a:ea typeface="Calibri" pitchFamily="34" charset="-122"/>
                <a:cs typeface="Calibri" pitchFamily="34" charset="-120"/>
              </a:rPr>
              <a:t> : 309 h moteur (8 sem. réelles) ; criticité 0.7</a:t>
            </a:r>
            <a:endParaRPr lang="fr-FR" sz="680" noProof="0" dirty="0"/>
          </a:p>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Jalons qui bougent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Sous-système avionique lot 2 : avancement 75% (dérive)   |   NovaFab - Allocation wafers HÉLIOS : avancement 95% (dérive)</a:t>
            </a:r>
            <a:endParaRPr lang="fr-FR" sz="680" noProof="0" dirty="0"/>
          </a:p>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Données injectées : </a:t>
            </a:r>
            <a:r>
              <a:rPr lang="fr-FR" sz="680" noProof="0" dirty="0">
                <a:solidFill>
                  <a:srgbClr val="043962"/>
                </a:solidFill>
                <a:latin typeface="Calibri" pitchFamily="34" charset="0"/>
                <a:ea typeface="Calibri" pitchFamily="34" charset="-122"/>
                <a:cs typeface="Calibri" pitchFamily="34" charset="-120"/>
              </a:rPr>
              <a:t>NovaFab : demande 131.5, coût op 100.0, volatilité coût 0.004  -  Meridian : demande 131.5  -  </a:t>
            </a:r>
            <a:r>
              <a:rPr lang="fr-FR" sz="680" noProof="0" dirty="0" err="1">
                <a:solidFill>
                  <a:srgbClr val="043962"/>
                </a:solidFill>
                <a:latin typeface="Calibri" pitchFamily="34" charset="0"/>
                <a:ea typeface="Calibri" pitchFamily="34" charset="-122"/>
                <a:cs typeface="Calibri" pitchFamily="34" charset="-120"/>
              </a:rPr>
              <a:t>CompoDis</a:t>
            </a:r>
            <a:r>
              <a:rPr lang="fr-FR" sz="680" noProof="0" dirty="0">
                <a:solidFill>
                  <a:srgbClr val="043962"/>
                </a:solidFill>
                <a:latin typeface="Calibri" pitchFamily="34" charset="0"/>
                <a:ea typeface="Calibri" pitchFamily="34" charset="-122"/>
                <a:cs typeface="Calibri" pitchFamily="34" charset="-120"/>
              </a:rPr>
              <a:t> : flux servi 131.5, délai 23.1 sem., coût op 100.5, volatilité coût 0.001, p. incident 0.015  -  </a:t>
            </a:r>
            <a:r>
              <a:rPr lang="fr-FR" sz="680" noProof="0" dirty="0" err="1">
                <a:solidFill>
                  <a:srgbClr val="043962"/>
                </a:solidFill>
                <a:latin typeface="Calibri" pitchFamily="34" charset="0"/>
                <a:ea typeface="Calibri" pitchFamily="34" charset="-122"/>
                <a:cs typeface="Calibri" pitchFamily="34" charset="-120"/>
              </a:rPr>
              <a:t>Électis</a:t>
            </a:r>
            <a:r>
              <a:rPr lang="fr-FR" sz="680" noProof="0" dirty="0">
                <a:solidFill>
                  <a:srgbClr val="043962"/>
                </a:solidFill>
                <a:latin typeface="Calibri" pitchFamily="34" charset="0"/>
                <a:ea typeface="Calibri" pitchFamily="34" charset="-122"/>
                <a:cs typeface="Calibri" pitchFamily="34" charset="-120"/>
              </a:rPr>
              <a:t> : perf 1, dispo 0.977, coût op 107.2, volatilité coût 0.007  -  </a:t>
            </a:r>
            <a:r>
              <a:rPr lang="fr-FR" sz="680" noProof="0" dirty="0" err="1">
                <a:solidFill>
                  <a:srgbClr val="043962"/>
                </a:solidFill>
                <a:latin typeface="Calibri" pitchFamily="34" charset="0"/>
                <a:ea typeface="Calibri" pitchFamily="34" charset="-122"/>
                <a:cs typeface="Calibri" pitchFamily="34" charset="-120"/>
              </a:rPr>
              <a:t>SilPure</a:t>
            </a:r>
            <a:r>
              <a:rPr lang="fr-FR" sz="680" noProof="0" dirty="0">
                <a:solidFill>
                  <a:srgbClr val="043962"/>
                </a:solidFill>
                <a:latin typeface="Calibri" pitchFamily="34" charset="0"/>
                <a:ea typeface="Calibri" pitchFamily="34" charset="-122"/>
                <a:cs typeface="Calibri" pitchFamily="34" charset="-120"/>
              </a:rPr>
              <a:t> : coût op 107.2, volatilité coût 0.007, p. incident 0.008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flux servi 83.3</a:t>
            </a:r>
            <a:endParaRPr lang="fr-FR" sz="680" noProof="0" dirty="0"/>
          </a:p>
        </p:txBody>
      </p:sp>
      <p:sp>
        <p:nvSpPr>
          <p:cNvPr id="9" name="Text 6"/>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- 42/50</a:t>
            </a:r>
            <a:endParaRPr lang="fr-FR" sz="800" noProof="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DÉROULÉ DU TOUR T11</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T11 - 2021-07 - P3 Étau</a:t>
            </a:r>
            <a:endParaRPr lang="fr-FR" sz="2500" noProof="0" dirty="0"/>
          </a:p>
        </p:txBody>
      </p:sp>
      <p:sp>
        <p:nvSpPr>
          <p:cNvPr id="4" name="Shape 2"/>
          <p:cNvSpPr/>
          <p:nvPr/>
        </p:nvSpPr>
        <p:spPr>
          <a:xfrm>
            <a:off x="502920" y="1207008"/>
            <a:ext cx="8138160" cy="402336"/>
          </a:xfrm>
          <a:prstGeom prst="roundRect">
            <a:avLst>
              <a:gd name="adj" fmla="val 15909"/>
            </a:avLst>
          </a:prstGeom>
          <a:solidFill>
            <a:srgbClr val="FFF3D6"/>
          </a:solidFill>
          <a:ln w="12700">
            <a:solidFill>
              <a:srgbClr val="FFF3D6"/>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58368" y="1243584"/>
            <a:ext cx="7827264" cy="329184"/>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Presse (les 8 rôles) : </a:t>
            </a:r>
            <a:r>
              <a:rPr lang="fr-FR" sz="840" noProof="0" dirty="0">
                <a:solidFill>
                  <a:srgbClr val="043962"/>
                </a:solidFill>
                <a:latin typeface="Calibri" pitchFamily="34" charset="0"/>
                <a:ea typeface="Calibri" pitchFamily="34" charset="-122"/>
                <a:cs typeface="Calibri" pitchFamily="34" charset="-120"/>
              </a:rPr>
              <a:t>Le marché spot des composants s'envole : certaines références se négocient à des multiples de leur prix catalogue chez les courtiers.</a:t>
            </a:r>
            <a:endParaRPr lang="fr-FR" sz="840" noProof="0" dirty="0"/>
          </a:p>
        </p:txBody>
      </p:sp>
      <p:graphicFrame>
        <p:nvGraphicFramePr>
          <p:cNvPr id="44" name="Table 0"/>
          <p:cNvGraphicFramePr>
            <a:graphicFrameLocks noGrp="1"/>
          </p:cNvGraphicFramePr>
          <p:nvPr>
            <p:extLst>
              <p:ext uri="{D42A27DB-BD31-4B8C-83A1-F6EECF244321}">
                <p14:modId xmlns:p14="http://schemas.microsoft.com/office/powerpoint/2010/main" val="292302978"/>
              </p:ext>
            </p:extLst>
          </p:nvPr>
        </p:nvGraphicFramePr>
        <p:xfrm>
          <a:off x="502920" y="1719072"/>
          <a:ext cx="8138160" cy="672084"/>
        </p:xfrm>
        <a:graphic>
          <a:graphicData uri="http://schemas.openxmlformats.org/drawingml/2006/table">
            <a:tbl>
              <a:tblPr/>
              <a:tblGrid>
                <a:gridCol w="10972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237744">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Rôle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Ce qu'il reçoit, et lui seul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extLst>
                  <a:ext uri="{0D108BD9-81ED-4DB2-BD59-A6C34878D82A}">
                    <a16:rowId xmlns:a16="http://schemas.microsoft.com/office/drawing/2014/main" val="10000"/>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Électis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a:solidFill>
                            <a:srgbClr val="043962"/>
                          </a:solidFill>
                          <a:latin typeface="Calibri" pitchFamily="34" charset="0"/>
                          <a:ea typeface="Calibri" pitchFamily="34" charset="-122"/>
                          <a:cs typeface="Calibri" pitchFamily="34" charset="-120"/>
                        </a:rPr>
                        <a:t>Un courtier propose des microcontrôleurs « disponibles immédiatement » à 12 fois le prix catalogue.</a:t>
                      </a:r>
                      <a:endParaRPr lang="fr-FR" sz="750" noProof="0" dirty="0">
                        <a:latin typeface="Calibri" charset="0"/>
                        <a:ea typeface="Calibri" charset="0"/>
                        <a:cs typeface="Calibri" charset="0"/>
                      </a:endParaRPr>
                    </a:p>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Achat spot validé pour tenir la ligne médicale. Arbitrages quotidiens entre les lignes clients.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7" name="Shape 4"/>
          <p:cNvSpPr/>
          <p:nvPr/>
        </p:nvSpPr>
        <p:spPr>
          <a:xfrm>
            <a:off x="502920" y="2512314"/>
            <a:ext cx="8138160" cy="749808"/>
          </a:xfrm>
          <a:prstGeom prst="roundRect">
            <a:avLst>
              <a:gd name="adj" fmla="val 8537"/>
            </a:avLst>
          </a:prstGeom>
          <a:solidFill>
            <a:srgbClr val="EBF3F9"/>
          </a:solidFill>
          <a:ln w="12700">
            <a:solidFill>
              <a:srgbClr val="EBF3F9"/>
            </a:solidFill>
            <a:prstDash val="solid"/>
          </a:ln>
        </p:spPr>
        <p:txBody>
          <a:bodyPr/>
          <a:lstStyle/>
          <a:p>
            <a:endParaRPr lang="fr-FR" noProof="0" dirty="0"/>
          </a:p>
        </p:txBody>
      </p:sp>
      <p:sp>
        <p:nvSpPr>
          <p:cNvPr id="8" name="Text 5"/>
          <p:cNvSpPr/>
          <p:nvPr/>
        </p:nvSpPr>
        <p:spPr>
          <a:xfrm>
            <a:off x="658368" y="2693086"/>
            <a:ext cx="7827264" cy="676656"/>
          </a:xfrm>
          <a:prstGeom prst="rect">
            <a:avLst/>
          </a:prstGeom>
          <a:noFill/>
          <a:ln/>
        </p:spPr>
        <p:txBody>
          <a:bodyPr wrap="square" lIns="0" tIns="0" rIns="0" bIns="0" rtlCol="0" anchor="t"/>
          <a:lstStyle/>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Jalons qui bougent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Sous-système avionique lot 2 : avancement 85% (dérive)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Sous-système avionique lot 2 : </a:t>
            </a:r>
            <a:r>
              <a:rPr lang="fr-FR" sz="680" noProof="0" dirty="0" err="1">
                <a:solidFill>
                  <a:srgbClr val="043962"/>
                </a:solidFill>
                <a:latin typeface="Calibri" pitchFamily="34" charset="0"/>
                <a:ea typeface="Calibri" pitchFamily="34" charset="-122"/>
                <a:cs typeface="Calibri" pitchFamily="34" charset="-120"/>
              </a:rPr>
              <a:t>re-planifié</a:t>
            </a:r>
            <a:r>
              <a:rPr lang="fr-FR" sz="680" noProof="0" dirty="0">
                <a:solidFill>
                  <a:srgbClr val="043962"/>
                </a:solidFill>
                <a:latin typeface="Calibri" pitchFamily="34" charset="0"/>
                <a:ea typeface="Calibri" pitchFamily="34" charset="-122"/>
                <a:cs typeface="Calibri" pitchFamily="34" charset="-120"/>
              </a:rPr>
              <a:t> en semaine 12   |   NovaFab - Allocation wafers HÉLIOS : terminé</a:t>
            </a:r>
            <a:endParaRPr lang="fr-FR" sz="680" noProof="0" dirty="0"/>
          </a:p>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Données injectées : </a:t>
            </a:r>
            <a:r>
              <a:rPr lang="fr-FR" sz="680" noProof="0" dirty="0">
                <a:solidFill>
                  <a:srgbClr val="043962"/>
                </a:solidFill>
                <a:latin typeface="Calibri" pitchFamily="34" charset="0"/>
                <a:ea typeface="Calibri" pitchFamily="34" charset="-122"/>
                <a:cs typeface="Calibri" pitchFamily="34" charset="-120"/>
              </a:rPr>
              <a:t>NovaFab : demande 126.2, coût op 99.7, volatilité coût 0.002  -  Meridian : demande 126.2  -  </a:t>
            </a:r>
            <a:r>
              <a:rPr lang="fr-FR" sz="680" noProof="0" dirty="0" err="1">
                <a:solidFill>
                  <a:srgbClr val="043962"/>
                </a:solidFill>
                <a:latin typeface="Calibri" pitchFamily="34" charset="0"/>
                <a:ea typeface="Calibri" pitchFamily="34" charset="-122"/>
                <a:cs typeface="Calibri" pitchFamily="34" charset="-120"/>
              </a:rPr>
              <a:t>CompoDis</a:t>
            </a:r>
            <a:r>
              <a:rPr lang="fr-FR" sz="680" noProof="0" dirty="0">
                <a:solidFill>
                  <a:srgbClr val="043962"/>
                </a:solidFill>
                <a:latin typeface="Calibri" pitchFamily="34" charset="0"/>
                <a:ea typeface="Calibri" pitchFamily="34" charset="-122"/>
                <a:cs typeface="Calibri" pitchFamily="34" charset="-120"/>
              </a:rPr>
              <a:t> : flux servi 126.2, délai 23.6 sem., coût op 100.5, volatilité coût 0.001, p. incident 0.015  -  </a:t>
            </a:r>
            <a:r>
              <a:rPr lang="fr-FR" sz="680" noProof="0" dirty="0" err="1">
                <a:solidFill>
                  <a:srgbClr val="043962"/>
                </a:solidFill>
                <a:latin typeface="Calibri" pitchFamily="34" charset="0"/>
                <a:ea typeface="Calibri" pitchFamily="34" charset="-122"/>
                <a:cs typeface="Calibri" pitchFamily="34" charset="-120"/>
              </a:rPr>
              <a:t>Électis</a:t>
            </a:r>
            <a:r>
              <a:rPr lang="fr-FR" sz="680" noProof="0" dirty="0">
                <a:solidFill>
                  <a:srgbClr val="043962"/>
                </a:solidFill>
                <a:latin typeface="Calibri" pitchFamily="34" charset="0"/>
                <a:ea typeface="Calibri" pitchFamily="34" charset="-122"/>
                <a:cs typeface="Calibri" pitchFamily="34" charset="-120"/>
              </a:rPr>
              <a:t> : perf 0.995, dispo 0.988, coût op 109.0, volatilité coût 0.012  -  </a:t>
            </a:r>
            <a:r>
              <a:rPr lang="fr-FR" sz="680" noProof="0" dirty="0" err="1">
                <a:solidFill>
                  <a:srgbClr val="043962"/>
                </a:solidFill>
                <a:latin typeface="Calibri" pitchFamily="34" charset="0"/>
                <a:ea typeface="Calibri" pitchFamily="34" charset="-122"/>
                <a:cs typeface="Calibri" pitchFamily="34" charset="-120"/>
              </a:rPr>
              <a:t>SilPure</a:t>
            </a:r>
            <a:r>
              <a:rPr lang="fr-FR" sz="680" noProof="0" dirty="0">
                <a:solidFill>
                  <a:srgbClr val="043962"/>
                </a:solidFill>
                <a:latin typeface="Calibri" pitchFamily="34" charset="0"/>
                <a:ea typeface="Calibri" pitchFamily="34" charset="-122"/>
                <a:cs typeface="Calibri" pitchFamily="34" charset="-120"/>
              </a:rPr>
              <a:t> : coût op 109.0, volatilité coût 0.012, p. incident 0.007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flux servi 75.0</a:t>
            </a:r>
            <a:endParaRPr lang="fr-FR" sz="680" noProof="0" dirty="0"/>
          </a:p>
        </p:txBody>
      </p:sp>
      <p:sp>
        <p:nvSpPr>
          <p:cNvPr id="9" name="Text 6"/>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- 43/50</a:t>
            </a:r>
            <a:endParaRPr lang="fr-FR" sz="800" noProof="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DÉROULÉ DU TOUR T12</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T12 - 2021-08 - P3 Étau</a:t>
            </a:r>
            <a:endParaRPr lang="fr-FR" sz="2500" noProof="0" dirty="0"/>
          </a:p>
        </p:txBody>
      </p:sp>
      <p:sp>
        <p:nvSpPr>
          <p:cNvPr id="4" name="Shape 2"/>
          <p:cNvSpPr/>
          <p:nvPr/>
        </p:nvSpPr>
        <p:spPr>
          <a:xfrm>
            <a:off x="502920" y="1207008"/>
            <a:ext cx="8138160" cy="566928"/>
          </a:xfrm>
          <a:prstGeom prst="roundRect">
            <a:avLst>
              <a:gd name="adj" fmla="val 11290"/>
            </a:avLst>
          </a:prstGeom>
          <a:solidFill>
            <a:srgbClr val="FFF3D6"/>
          </a:solidFill>
          <a:ln w="12700">
            <a:solidFill>
              <a:srgbClr val="FFF3D6"/>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58368" y="1243584"/>
            <a:ext cx="7827264" cy="493776"/>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Presse (les 8 rôles) : </a:t>
            </a:r>
            <a:r>
              <a:rPr lang="fr-FR" sz="840" noProof="0" dirty="0">
                <a:solidFill>
                  <a:srgbClr val="043962"/>
                </a:solidFill>
                <a:latin typeface="Calibri" pitchFamily="34" charset="0"/>
                <a:ea typeface="Calibri" pitchFamily="34" charset="-122"/>
                <a:cs typeface="Calibri" pitchFamily="34" charset="-120"/>
              </a:rPr>
              <a:t>Vague épidémique en Asie du Sud-Est : les usines d'assemblage et de test de composants tournent par rotations réduites. Le maillon aval de la filière, peu connu du grand public, devient le sujet.</a:t>
            </a:r>
            <a:endParaRPr lang="fr-FR" sz="840" noProof="0" dirty="0"/>
          </a:p>
        </p:txBody>
      </p:sp>
      <p:graphicFrame>
        <p:nvGraphicFramePr>
          <p:cNvPr id="45" name="Table 0"/>
          <p:cNvGraphicFramePr>
            <a:graphicFrameLocks noGrp="1"/>
          </p:cNvGraphicFramePr>
          <p:nvPr>
            <p:extLst>
              <p:ext uri="{D42A27DB-BD31-4B8C-83A1-F6EECF244321}">
                <p14:modId xmlns:p14="http://schemas.microsoft.com/office/powerpoint/2010/main" val="996868120"/>
              </p:ext>
            </p:extLst>
          </p:nvPr>
        </p:nvGraphicFramePr>
        <p:xfrm>
          <a:off x="502920" y="1883664"/>
          <a:ext cx="8138160" cy="1229868"/>
        </p:xfrm>
        <a:graphic>
          <a:graphicData uri="http://schemas.openxmlformats.org/drawingml/2006/table">
            <a:tbl>
              <a:tblPr/>
              <a:tblGrid>
                <a:gridCol w="10972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237744">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Rôle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Ce qu'il reçoit, et lui seul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extLst>
                  <a:ext uri="{0D108BD9-81ED-4DB2-BD59-A6C34878D82A}">
                    <a16:rowId xmlns:a16="http://schemas.microsoft.com/office/drawing/2014/main" val="10000"/>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Électis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a:solidFill>
                            <a:srgbClr val="043962"/>
                          </a:solidFill>
                          <a:latin typeface="Calibri" pitchFamily="34" charset="0"/>
                          <a:ea typeface="Calibri" pitchFamily="34" charset="-122"/>
                          <a:cs typeface="Calibri" pitchFamily="34" charset="-120"/>
                        </a:rPr>
                        <a:t>Deux sous-traitants backend notifient des capacités réduites « jusqu'à nouvel ordre ».</a:t>
                      </a:r>
                      <a:endParaRPr lang="fr-FR" sz="750" noProof="0" dirty="0">
                        <a:latin typeface="Calibri" charset="0"/>
                        <a:ea typeface="Calibri" charset="0"/>
                        <a:cs typeface="Calibri" charset="0"/>
                      </a:endParaRPr>
                    </a:p>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Capacité aval effective estimée à 70 % du nominal.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CompoDis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err="1">
                          <a:solidFill>
                            <a:srgbClr val="043962"/>
                          </a:solidFill>
                          <a:latin typeface="Calibri" pitchFamily="34" charset="0"/>
                          <a:ea typeface="Calibri" pitchFamily="34" charset="-122"/>
                          <a:cs typeface="Calibri" pitchFamily="34" charset="-120"/>
                        </a:rPr>
                        <a:t>TransGlobal</a:t>
                      </a:r>
                      <a:r>
                        <a:rPr lang="fr-FR" sz="750" noProof="0" dirty="0">
                          <a:solidFill>
                            <a:srgbClr val="043962"/>
                          </a:solidFill>
                          <a:latin typeface="Calibri" pitchFamily="34" charset="0"/>
                          <a:ea typeface="Calibri" pitchFamily="34" charset="-122"/>
                          <a:cs typeface="Calibri" pitchFamily="34" charset="-120"/>
                        </a:rPr>
                        <a:t> signale des flux très ralentis au départ de l'Asie du Sud-Est ; bascule partielle sur le fret aérien.</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2"/>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TransGlobal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Demandes de fret aérien en forte hausse ; taux au plus haut.</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502920" y="3386605"/>
            <a:ext cx="8138160" cy="886968"/>
          </a:xfrm>
          <a:prstGeom prst="roundRect">
            <a:avLst>
              <a:gd name="adj" fmla="val 7216"/>
            </a:avLst>
          </a:prstGeom>
          <a:solidFill>
            <a:srgbClr val="EBF3F9"/>
          </a:solidFill>
          <a:ln w="12700">
            <a:solidFill>
              <a:srgbClr val="EBF3F9"/>
            </a:solidFill>
            <a:prstDash val="solid"/>
          </a:ln>
        </p:spPr>
        <p:txBody>
          <a:bodyPr/>
          <a:lstStyle/>
          <a:p>
            <a:endParaRPr lang="fr-FR" noProof="0" dirty="0"/>
          </a:p>
        </p:txBody>
      </p:sp>
      <p:sp>
        <p:nvSpPr>
          <p:cNvPr id="8" name="Text 5"/>
          <p:cNvSpPr/>
          <p:nvPr/>
        </p:nvSpPr>
        <p:spPr>
          <a:xfrm>
            <a:off x="658368" y="3423181"/>
            <a:ext cx="7827264" cy="813816"/>
          </a:xfrm>
          <a:prstGeom prst="rect">
            <a:avLst/>
          </a:prstGeom>
          <a:noFill/>
          <a:ln/>
        </p:spPr>
        <p:txBody>
          <a:bodyPr wrap="square" lIns="0" tIns="0" rIns="0" bIns="0" rtlCol="0" anchor="t"/>
          <a:lstStyle/>
          <a:p>
            <a:pPr marL="0" indent="0">
              <a:lnSpc>
                <a:spcPct val="104000"/>
              </a:lnSpc>
              <a:buNone/>
            </a:pPr>
            <a:r>
              <a:rPr lang="fr-FR" sz="680" b="1" noProof="0" dirty="0">
                <a:solidFill>
                  <a:srgbClr val="043962"/>
                </a:solidFill>
                <a:latin typeface="Calibri" pitchFamily="34" charset="0"/>
                <a:ea typeface="Calibri" pitchFamily="34" charset="-122"/>
                <a:cs typeface="Calibri" pitchFamily="34" charset="-120"/>
              </a:rPr>
              <a:t>Événements moteur : </a:t>
            </a:r>
            <a:r>
              <a:rPr lang="fr-FR" sz="680" noProof="0" dirty="0" err="1">
                <a:solidFill>
                  <a:srgbClr val="043962"/>
                </a:solidFill>
                <a:latin typeface="Calibri" pitchFamily="34" charset="0"/>
                <a:ea typeface="Calibri" pitchFamily="34" charset="-122"/>
                <a:cs typeface="Calibri" pitchFamily="34" charset="-120"/>
              </a:rPr>
              <a:t>Électis</a:t>
            </a:r>
            <a:r>
              <a:rPr lang="fr-FR" sz="680" noProof="0" dirty="0">
                <a:solidFill>
                  <a:srgbClr val="043962"/>
                </a:solidFill>
                <a:latin typeface="Calibri" pitchFamily="34" charset="0"/>
                <a:ea typeface="Calibri" pitchFamily="34" charset="-122"/>
                <a:cs typeface="Calibri" pitchFamily="34" charset="-120"/>
              </a:rPr>
              <a:t> - </a:t>
            </a:r>
            <a:r>
              <a:rPr lang="fr-FR" sz="680" noProof="0" dirty="0" err="1">
                <a:solidFill>
                  <a:srgbClr val="043962"/>
                </a:solidFill>
                <a:latin typeface="Calibri" pitchFamily="34" charset="0"/>
                <a:ea typeface="Calibri" pitchFamily="34" charset="-122"/>
                <a:cs typeface="Calibri" pitchFamily="34" charset="-120"/>
              </a:rPr>
              <a:t>perte_capacite</a:t>
            </a:r>
            <a:r>
              <a:rPr lang="fr-FR" sz="680" noProof="0" dirty="0">
                <a:solidFill>
                  <a:srgbClr val="043962"/>
                </a:solidFill>
                <a:latin typeface="Calibri" pitchFamily="34" charset="0"/>
                <a:ea typeface="Calibri" pitchFamily="34" charset="-122"/>
                <a:cs typeface="Calibri" pitchFamily="34" charset="-120"/>
              </a:rPr>
              <a:t> : 30 % du volume   |   </a:t>
            </a:r>
            <a:r>
              <a:rPr lang="fr-FR" sz="680" noProof="0" dirty="0" err="1">
                <a:solidFill>
                  <a:srgbClr val="043962"/>
                </a:solidFill>
                <a:latin typeface="Calibri" pitchFamily="34" charset="0"/>
                <a:ea typeface="Calibri" pitchFamily="34" charset="-122"/>
                <a:cs typeface="Calibri" pitchFamily="34" charset="-120"/>
              </a:rPr>
              <a:t>TransGlobal</a:t>
            </a:r>
            <a:r>
              <a:rPr lang="fr-FR" sz="680" noProof="0" dirty="0">
                <a:solidFill>
                  <a:srgbClr val="043962"/>
                </a:solidFill>
                <a:latin typeface="Calibri" pitchFamily="34" charset="0"/>
                <a:ea typeface="Calibri" pitchFamily="34" charset="-122"/>
                <a:cs typeface="Calibri" pitchFamily="34" charset="-120"/>
              </a:rPr>
              <a:t> - </a:t>
            </a:r>
            <a:r>
              <a:rPr lang="fr-FR" sz="680" noProof="0" dirty="0" err="1">
                <a:solidFill>
                  <a:srgbClr val="043962"/>
                </a:solidFill>
                <a:latin typeface="Calibri" pitchFamily="34" charset="0"/>
                <a:ea typeface="Calibri" pitchFamily="34" charset="-122"/>
                <a:cs typeface="Calibri" pitchFamily="34" charset="-120"/>
              </a:rPr>
              <a:t>perturbation_transport</a:t>
            </a:r>
            <a:r>
              <a:rPr lang="fr-FR" sz="680" noProof="0" dirty="0">
                <a:solidFill>
                  <a:srgbClr val="043962"/>
                </a:solidFill>
                <a:latin typeface="Calibri" pitchFamily="34" charset="0"/>
                <a:ea typeface="Calibri" pitchFamily="34" charset="-122"/>
                <a:cs typeface="Calibri" pitchFamily="34" charset="-120"/>
              </a:rPr>
              <a:t> : 77 h moteur (2 sem. réelles) ; surcoût 20 000</a:t>
            </a:r>
            <a:endParaRPr lang="fr-FR" sz="680" noProof="0" dirty="0"/>
          </a:p>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Jalons qui bougent : </a:t>
            </a:r>
            <a:r>
              <a:rPr lang="fr-FR" sz="680" noProof="0" dirty="0" err="1">
                <a:solidFill>
                  <a:srgbClr val="043962"/>
                </a:solidFill>
                <a:latin typeface="Calibri" pitchFamily="34" charset="0"/>
                <a:ea typeface="Calibri" pitchFamily="34" charset="-122"/>
                <a:cs typeface="Calibri" pitchFamily="34" charset="-120"/>
              </a:rPr>
              <a:t>Électis</a:t>
            </a:r>
            <a:r>
              <a:rPr lang="fr-FR" sz="680" noProof="0" dirty="0">
                <a:solidFill>
                  <a:srgbClr val="043962"/>
                </a:solidFill>
                <a:latin typeface="Calibri" pitchFamily="34" charset="0"/>
                <a:ea typeface="Calibri" pitchFamily="34" charset="-122"/>
                <a:cs typeface="Calibri" pitchFamily="34" charset="-120"/>
              </a:rPr>
              <a:t> - Cartes HÉLIOS série B : avancement 72% (dérive)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Sous-système avionique lot 2 : terminé   |   </a:t>
            </a:r>
            <a:r>
              <a:rPr lang="fr-FR" sz="680" noProof="0" dirty="0" err="1">
                <a:solidFill>
                  <a:srgbClr val="043962"/>
                </a:solidFill>
                <a:latin typeface="Calibri" pitchFamily="34" charset="0"/>
                <a:ea typeface="Calibri" pitchFamily="34" charset="-122"/>
                <a:cs typeface="Calibri" pitchFamily="34" charset="-120"/>
              </a:rPr>
              <a:t>TransGlobal</a:t>
            </a:r>
            <a:r>
              <a:rPr lang="fr-FR" sz="680" noProof="0" dirty="0">
                <a:solidFill>
                  <a:srgbClr val="043962"/>
                </a:solidFill>
                <a:latin typeface="Calibri" pitchFamily="34" charset="0"/>
                <a:ea typeface="Calibri" pitchFamily="34" charset="-122"/>
                <a:cs typeface="Calibri" pitchFamily="34" charset="-120"/>
              </a:rPr>
              <a:t> - Contrat de flux annuel : terminé</a:t>
            </a:r>
            <a:endParaRPr lang="fr-FR" sz="680" noProof="0" dirty="0"/>
          </a:p>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Données injectées : </a:t>
            </a:r>
            <a:r>
              <a:rPr lang="fr-FR" sz="680" noProof="0" dirty="0">
                <a:solidFill>
                  <a:srgbClr val="043962"/>
                </a:solidFill>
                <a:latin typeface="Calibri" pitchFamily="34" charset="0"/>
                <a:ea typeface="Calibri" pitchFamily="34" charset="-122"/>
                <a:cs typeface="Calibri" pitchFamily="34" charset="-120"/>
              </a:rPr>
              <a:t>NovaFab : demande 138.0, coût op 100.0, volatilité coût 0.001  -  Meridian : demande 138.0  -  </a:t>
            </a:r>
            <a:r>
              <a:rPr lang="fr-FR" sz="680" noProof="0" dirty="0" err="1">
                <a:solidFill>
                  <a:srgbClr val="043962"/>
                </a:solidFill>
                <a:latin typeface="Calibri" pitchFamily="34" charset="0"/>
                <a:ea typeface="Calibri" pitchFamily="34" charset="-122"/>
                <a:cs typeface="Calibri" pitchFamily="34" charset="-120"/>
              </a:rPr>
              <a:t>CompoDis</a:t>
            </a:r>
            <a:r>
              <a:rPr lang="fr-FR" sz="680" noProof="0" dirty="0">
                <a:solidFill>
                  <a:srgbClr val="043962"/>
                </a:solidFill>
                <a:latin typeface="Calibri" pitchFamily="34" charset="0"/>
                <a:ea typeface="Calibri" pitchFamily="34" charset="-122"/>
                <a:cs typeface="Calibri" pitchFamily="34" charset="-120"/>
              </a:rPr>
              <a:t> : flux servi 138.0, délai 24.0 sem., coût op 100.3, volatilité coût 0.001, p. incident 0.015  -  </a:t>
            </a:r>
            <a:r>
              <a:rPr lang="fr-FR" sz="680" noProof="0" dirty="0" err="1">
                <a:solidFill>
                  <a:srgbClr val="043962"/>
                </a:solidFill>
                <a:latin typeface="Calibri" pitchFamily="34" charset="0"/>
                <a:ea typeface="Calibri" pitchFamily="34" charset="-122"/>
                <a:cs typeface="Calibri" pitchFamily="34" charset="-120"/>
              </a:rPr>
              <a:t>Électis</a:t>
            </a:r>
            <a:r>
              <a:rPr lang="fr-FR" sz="680" noProof="0" dirty="0">
                <a:solidFill>
                  <a:srgbClr val="043962"/>
                </a:solidFill>
                <a:latin typeface="Calibri" pitchFamily="34" charset="0"/>
                <a:ea typeface="Calibri" pitchFamily="34" charset="-122"/>
                <a:cs typeface="Calibri" pitchFamily="34" charset="-120"/>
              </a:rPr>
              <a:t> : perf 1, dispo 0.998, coût op 110.1, volatilité coût 0.011  -  </a:t>
            </a:r>
            <a:r>
              <a:rPr lang="fr-FR" sz="680" noProof="0" dirty="0" err="1">
                <a:solidFill>
                  <a:srgbClr val="043962"/>
                </a:solidFill>
                <a:latin typeface="Calibri" pitchFamily="34" charset="0"/>
                <a:ea typeface="Calibri" pitchFamily="34" charset="-122"/>
                <a:cs typeface="Calibri" pitchFamily="34" charset="-120"/>
              </a:rPr>
              <a:t>SilPure</a:t>
            </a:r>
            <a:r>
              <a:rPr lang="fr-FR" sz="680" noProof="0" dirty="0">
                <a:solidFill>
                  <a:srgbClr val="043962"/>
                </a:solidFill>
                <a:latin typeface="Calibri" pitchFamily="34" charset="0"/>
                <a:ea typeface="Calibri" pitchFamily="34" charset="-122"/>
                <a:cs typeface="Calibri" pitchFamily="34" charset="-120"/>
              </a:rPr>
              <a:t> : coût op 110.1, volatilité coût 0.011, p. incident 0.007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flux servi 66.7</a:t>
            </a:r>
            <a:endParaRPr lang="fr-FR" sz="680" noProof="0" dirty="0"/>
          </a:p>
        </p:txBody>
      </p:sp>
      <p:sp>
        <p:nvSpPr>
          <p:cNvPr id="9" name="Text 6"/>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- 44/50</a:t>
            </a:r>
            <a:endParaRPr lang="fr-FR" sz="800" noProof="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DÉROULÉ DU TOUR T13</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T13 - 2021-09 - P4 Rupture</a:t>
            </a:r>
            <a:endParaRPr lang="fr-FR" sz="2500" noProof="0" dirty="0"/>
          </a:p>
        </p:txBody>
      </p:sp>
      <p:sp>
        <p:nvSpPr>
          <p:cNvPr id="4" name="Shape 2"/>
          <p:cNvSpPr/>
          <p:nvPr/>
        </p:nvSpPr>
        <p:spPr>
          <a:xfrm>
            <a:off x="502920" y="1207008"/>
            <a:ext cx="8138160" cy="402336"/>
          </a:xfrm>
          <a:prstGeom prst="roundRect">
            <a:avLst>
              <a:gd name="adj" fmla="val 15909"/>
            </a:avLst>
          </a:prstGeom>
          <a:solidFill>
            <a:srgbClr val="FFF3D6"/>
          </a:solidFill>
          <a:ln w="12700">
            <a:solidFill>
              <a:srgbClr val="FFF3D6"/>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58368" y="1243584"/>
            <a:ext cx="7827264" cy="329184"/>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Presse (les 8 rôles) : </a:t>
            </a:r>
            <a:r>
              <a:rPr lang="fr-FR" sz="840" noProof="0" dirty="0">
                <a:solidFill>
                  <a:srgbClr val="043962"/>
                </a:solidFill>
                <a:latin typeface="Calibri" pitchFamily="34" charset="0"/>
                <a:ea typeface="Calibri" pitchFamily="34" charset="-122"/>
                <a:cs typeface="Calibri" pitchFamily="34" charset="-120"/>
              </a:rPr>
              <a:t>Un constructeur automobile majeur annonce une réduction de 40 % de sa production mondiale. Arrêts d'usines en cascade chez ses concurrents.</a:t>
            </a:r>
            <a:endParaRPr lang="fr-FR" sz="840" noProof="0" dirty="0"/>
          </a:p>
        </p:txBody>
      </p:sp>
      <p:graphicFrame>
        <p:nvGraphicFramePr>
          <p:cNvPr id="46" name="Table 0"/>
          <p:cNvGraphicFramePr>
            <a:graphicFrameLocks noGrp="1"/>
          </p:cNvGraphicFramePr>
          <p:nvPr>
            <p:extLst>
              <p:ext uri="{D42A27DB-BD31-4B8C-83A1-F6EECF244321}">
                <p14:modId xmlns:p14="http://schemas.microsoft.com/office/powerpoint/2010/main" val="4212845861"/>
              </p:ext>
            </p:extLst>
          </p:nvPr>
        </p:nvGraphicFramePr>
        <p:xfrm>
          <a:off x="502920" y="1719072"/>
          <a:ext cx="8138160" cy="1458468"/>
        </p:xfrm>
        <a:graphic>
          <a:graphicData uri="http://schemas.openxmlformats.org/drawingml/2006/table">
            <a:tbl>
              <a:tblPr/>
              <a:tblGrid>
                <a:gridCol w="10972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237744">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Rôle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Ce qu'il reçoit, et lui seul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extLst>
                  <a:ext uri="{0D108BD9-81ED-4DB2-BD59-A6C34878D82A}">
                    <a16:rowId xmlns:a16="http://schemas.microsoft.com/office/drawing/2014/main" val="10000"/>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Orbitalys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err="1">
                          <a:solidFill>
                            <a:srgbClr val="043962"/>
                          </a:solidFill>
                          <a:latin typeface="Calibri" pitchFamily="34" charset="0"/>
                          <a:ea typeface="Calibri" pitchFamily="34" charset="-122"/>
                          <a:cs typeface="Calibri" pitchFamily="34" charset="-120"/>
                        </a:rPr>
                        <a:t>AvioSys</a:t>
                      </a:r>
                      <a:r>
                        <a:rPr lang="fr-FR" sz="750" noProof="0" dirty="0">
                          <a:solidFill>
                            <a:srgbClr val="043962"/>
                          </a:solidFill>
                          <a:latin typeface="Calibri" pitchFamily="34" charset="0"/>
                          <a:ea typeface="Calibri" pitchFamily="34" charset="-122"/>
                          <a:cs typeface="Calibri" pitchFamily="34" charset="-120"/>
                        </a:rPr>
                        <a:t> notifie officiellement un risque de glissement sur le lot 3, avec impact possible sur HÉLIOS-2.</a:t>
                      </a:r>
                      <a:endParaRPr lang="fr-FR" sz="750" noProof="0" dirty="0">
                        <a:latin typeface="Calibri" charset="0"/>
                        <a:ea typeface="Calibri" charset="0"/>
                        <a:cs typeface="Calibri" charset="0"/>
                      </a:endParaRPr>
                    </a:p>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Jalon HÉLIOS-1 : glissement acté en revue de programme.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AvioSys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a:solidFill>
                            <a:srgbClr val="043962"/>
                          </a:solidFill>
                          <a:latin typeface="Calibri" pitchFamily="34" charset="0"/>
                          <a:ea typeface="Calibri" pitchFamily="34" charset="-122"/>
                          <a:cs typeface="Calibri" pitchFamily="34" charset="-120"/>
                        </a:rPr>
                        <a:t>Courriel de Claire Vasseur : « HÉLIOS-1 est officiellement décalé. Je dois l'annoncer au client final cette semaine. Il me faut un plan de rattrapage daté pour HÉLIOS-2. »</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2"/>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CompoDis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a:solidFill>
                            <a:srgbClr val="043962"/>
                          </a:solidFill>
                          <a:latin typeface="Calibri" pitchFamily="34" charset="0"/>
                          <a:ea typeface="Calibri" pitchFamily="34" charset="-122"/>
                          <a:cs typeface="Calibri" pitchFamily="34" charset="-120"/>
                        </a:rPr>
                        <a:t>Les commandes clients bondissent bien au-delà des besoins déclarés : plusieurs clients admettent « commander large pour être servis ».</a:t>
                      </a:r>
                      <a:endParaRPr lang="fr-FR" sz="750" noProof="0" dirty="0">
                        <a:latin typeface="Calibri" charset="0"/>
                        <a:ea typeface="Calibri" charset="0"/>
                        <a:cs typeface="Calibri" charset="0"/>
                      </a:endParaRPr>
                    </a:p>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Commandes entrantes : +60 % vs demande servie estimée. Suspicion de </a:t>
                      </a:r>
                      <a:r>
                        <a:rPr lang="fr-FR" sz="750" noProof="0" dirty="0" err="1">
                          <a:solidFill>
                            <a:srgbClr val="043962"/>
                          </a:solidFill>
                          <a:latin typeface="Calibri" pitchFamily="34" charset="0"/>
                          <a:ea typeface="Calibri" pitchFamily="34" charset="-122"/>
                          <a:cs typeface="Calibri" pitchFamily="34" charset="-120"/>
                        </a:rPr>
                        <a:t>double-commandes</a:t>
                      </a:r>
                      <a:r>
                        <a:rPr lang="fr-FR" sz="750" noProof="0" dirty="0">
                          <a:solidFill>
                            <a:srgbClr val="043962"/>
                          </a:solidFill>
                          <a:latin typeface="Calibri" pitchFamily="34" charset="0"/>
                          <a:ea typeface="Calibri" pitchFamily="34" charset="-122"/>
                          <a:cs typeface="Calibri" pitchFamily="34" charset="-120"/>
                        </a:rPr>
                        <a:t> généralisées.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502920" y="3327407"/>
            <a:ext cx="8138160" cy="886968"/>
          </a:xfrm>
          <a:prstGeom prst="roundRect">
            <a:avLst>
              <a:gd name="adj" fmla="val 7216"/>
            </a:avLst>
          </a:prstGeom>
          <a:solidFill>
            <a:srgbClr val="EBF3F9"/>
          </a:solidFill>
          <a:ln w="12700">
            <a:solidFill>
              <a:srgbClr val="EBF3F9"/>
            </a:solidFill>
            <a:prstDash val="solid"/>
          </a:ln>
        </p:spPr>
        <p:txBody>
          <a:bodyPr/>
          <a:lstStyle/>
          <a:p>
            <a:endParaRPr lang="fr-FR" noProof="0" dirty="0"/>
          </a:p>
        </p:txBody>
      </p:sp>
      <p:sp>
        <p:nvSpPr>
          <p:cNvPr id="8" name="Text 5"/>
          <p:cNvSpPr/>
          <p:nvPr/>
        </p:nvSpPr>
        <p:spPr>
          <a:xfrm>
            <a:off x="658368" y="3363983"/>
            <a:ext cx="7827264" cy="813816"/>
          </a:xfrm>
          <a:prstGeom prst="rect">
            <a:avLst/>
          </a:prstGeom>
          <a:noFill/>
          <a:ln/>
        </p:spPr>
        <p:txBody>
          <a:bodyPr wrap="square" lIns="0" tIns="0" rIns="0" bIns="0" rtlCol="0" anchor="t"/>
          <a:lstStyle/>
          <a:p>
            <a:pPr marL="0" indent="0">
              <a:lnSpc>
                <a:spcPct val="104000"/>
              </a:lnSpc>
              <a:buNone/>
            </a:pPr>
            <a:r>
              <a:rPr lang="fr-FR" sz="680" b="1" noProof="0" dirty="0">
                <a:solidFill>
                  <a:srgbClr val="043962"/>
                </a:solidFill>
                <a:latin typeface="Calibri" pitchFamily="34" charset="0"/>
                <a:ea typeface="Calibri" pitchFamily="34" charset="-122"/>
                <a:cs typeface="Calibri" pitchFamily="34" charset="-120"/>
              </a:rPr>
              <a:t>Événements moteur : </a:t>
            </a:r>
            <a:r>
              <a:rPr lang="fr-FR" sz="680" noProof="0" dirty="0" err="1">
                <a:solidFill>
                  <a:srgbClr val="043962"/>
                </a:solidFill>
                <a:latin typeface="Calibri" pitchFamily="34" charset="0"/>
                <a:ea typeface="Calibri" pitchFamily="34" charset="-122"/>
                <a:cs typeface="Calibri" pitchFamily="34" charset="-120"/>
              </a:rPr>
              <a:t>CompoDis</a:t>
            </a:r>
            <a:r>
              <a:rPr lang="fr-FR" sz="680" noProof="0" dirty="0">
                <a:solidFill>
                  <a:srgbClr val="043962"/>
                </a:solidFill>
                <a:latin typeface="Calibri" pitchFamily="34" charset="0"/>
                <a:ea typeface="Calibri" pitchFamily="34" charset="-122"/>
                <a:cs typeface="Calibri" pitchFamily="34" charset="-120"/>
              </a:rPr>
              <a:t> - </a:t>
            </a:r>
            <a:r>
              <a:rPr lang="fr-FR" sz="680" noProof="0" dirty="0" err="1">
                <a:solidFill>
                  <a:srgbClr val="043962"/>
                </a:solidFill>
                <a:latin typeface="Calibri" pitchFamily="34" charset="0"/>
                <a:ea typeface="Calibri" pitchFamily="34" charset="-122"/>
                <a:cs typeface="Calibri" pitchFamily="34" charset="-120"/>
              </a:rPr>
              <a:t>pic_demande</a:t>
            </a:r>
            <a:r>
              <a:rPr lang="fr-FR" sz="680" noProof="0" dirty="0">
                <a:solidFill>
                  <a:srgbClr val="043962"/>
                </a:solidFill>
                <a:latin typeface="Calibri" pitchFamily="34" charset="0"/>
                <a:ea typeface="Calibri" pitchFamily="34" charset="-122"/>
                <a:cs typeface="Calibri" pitchFamily="34" charset="-120"/>
              </a:rPr>
              <a:t> : demande 160 (base 100)</a:t>
            </a:r>
            <a:endParaRPr lang="fr-FR" sz="680" noProof="0" dirty="0"/>
          </a:p>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Jalons qui bougent : </a:t>
            </a:r>
            <a:r>
              <a:rPr lang="fr-FR" sz="680" noProof="0" dirty="0" err="1">
                <a:solidFill>
                  <a:srgbClr val="043962"/>
                </a:solidFill>
                <a:latin typeface="Calibri" pitchFamily="34" charset="0"/>
                <a:ea typeface="Calibri" pitchFamily="34" charset="-122"/>
                <a:cs typeface="Calibri" pitchFamily="34" charset="-120"/>
              </a:rPr>
              <a:t>Orbitalys</a:t>
            </a:r>
            <a:r>
              <a:rPr lang="fr-FR" sz="680" noProof="0" dirty="0">
                <a:solidFill>
                  <a:srgbClr val="043962"/>
                </a:solidFill>
                <a:latin typeface="Calibri" pitchFamily="34" charset="0"/>
                <a:ea typeface="Calibri" pitchFamily="34" charset="-122"/>
                <a:cs typeface="Calibri" pitchFamily="34" charset="-120"/>
              </a:rPr>
              <a:t> - Livraison HÉLIOS-1 : avancement 92% (dérive)   |   </a:t>
            </a:r>
            <a:r>
              <a:rPr lang="fr-FR" sz="680" noProof="0" dirty="0" err="1">
                <a:solidFill>
                  <a:srgbClr val="043962"/>
                </a:solidFill>
                <a:latin typeface="Calibri" pitchFamily="34" charset="0"/>
                <a:ea typeface="Calibri" pitchFamily="34" charset="-122"/>
                <a:cs typeface="Calibri" pitchFamily="34" charset="-120"/>
              </a:rPr>
              <a:t>Électis</a:t>
            </a:r>
            <a:r>
              <a:rPr lang="fr-FR" sz="680" noProof="0" dirty="0">
                <a:solidFill>
                  <a:srgbClr val="043962"/>
                </a:solidFill>
                <a:latin typeface="Calibri" pitchFamily="34" charset="0"/>
                <a:ea typeface="Calibri" pitchFamily="34" charset="-122"/>
                <a:cs typeface="Calibri" pitchFamily="34" charset="-120"/>
              </a:rPr>
              <a:t> - Cartes HÉLIOS série B : avancement 85% (dérive)   |   </a:t>
            </a:r>
            <a:r>
              <a:rPr lang="fr-FR" sz="680" noProof="0" dirty="0" err="1">
                <a:solidFill>
                  <a:srgbClr val="043962"/>
                </a:solidFill>
                <a:latin typeface="Calibri" pitchFamily="34" charset="0"/>
                <a:ea typeface="Calibri" pitchFamily="34" charset="-122"/>
                <a:cs typeface="Calibri" pitchFamily="34" charset="-120"/>
              </a:rPr>
              <a:t>Orbitalys</a:t>
            </a:r>
            <a:r>
              <a:rPr lang="fr-FR" sz="680" noProof="0" dirty="0">
                <a:solidFill>
                  <a:srgbClr val="043962"/>
                </a:solidFill>
                <a:latin typeface="Calibri" pitchFamily="34" charset="0"/>
                <a:ea typeface="Calibri" pitchFamily="34" charset="-122"/>
                <a:cs typeface="Calibri" pitchFamily="34" charset="-120"/>
              </a:rPr>
              <a:t> - Livraison HÉLIOS-1 : </a:t>
            </a:r>
            <a:r>
              <a:rPr lang="fr-FR" sz="680" noProof="0" dirty="0" err="1">
                <a:solidFill>
                  <a:srgbClr val="043962"/>
                </a:solidFill>
                <a:latin typeface="Calibri" pitchFamily="34" charset="0"/>
                <a:ea typeface="Calibri" pitchFamily="34" charset="-122"/>
                <a:cs typeface="Calibri" pitchFamily="34" charset="-120"/>
              </a:rPr>
              <a:t>re-planifié</a:t>
            </a:r>
            <a:r>
              <a:rPr lang="fr-FR" sz="680" noProof="0" dirty="0">
                <a:solidFill>
                  <a:srgbClr val="043962"/>
                </a:solidFill>
                <a:latin typeface="Calibri" pitchFamily="34" charset="0"/>
                <a:ea typeface="Calibri" pitchFamily="34" charset="-122"/>
                <a:cs typeface="Calibri" pitchFamily="34" charset="-120"/>
              </a:rPr>
              <a:t> en semaine 14</a:t>
            </a:r>
            <a:endParaRPr lang="fr-FR" sz="680" noProof="0" dirty="0"/>
          </a:p>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Données injectées : </a:t>
            </a:r>
            <a:r>
              <a:rPr lang="fr-FR" sz="680" noProof="0" dirty="0">
                <a:solidFill>
                  <a:srgbClr val="043962"/>
                </a:solidFill>
                <a:latin typeface="Calibri" pitchFamily="34" charset="0"/>
                <a:ea typeface="Calibri" pitchFamily="34" charset="-122"/>
                <a:cs typeface="Calibri" pitchFamily="34" charset="-120"/>
              </a:rPr>
              <a:t>NovaFab : demande 141.1, coût op 100.2, volatilité coût 0.002  -  Meridian : demande 141.1  -  </a:t>
            </a:r>
            <a:r>
              <a:rPr lang="fr-FR" sz="680" noProof="0" dirty="0" err="1">
                <a:solidFill>
                  <a:srgbClr val="043962"/>
                </a:solidFill>
                <a:latin typeface="Calibri" pitchFamily="34" charset="0"/>
                <a:ea typeface="Calibri" pitchFamily="34" charset="-122"/>
                <a:cs typeface="Calibri" pitchFamily="34" charset="-120"/>
              </a:rPr>
              <a:t>CompoDis</a:t>
            </a:r>
            <a:r>
              <a:rPr lang="fr-FR" sz="680" noProof="0" dirty="0">
                <a:solidFill>
                  <a:srgbClr val="043962"/>
                </a:solidFill>
                <a:latin typeface="Calibri" pitchFamily="34" charset="0"/>
                <a:ea typeface="Calibri" pitchFamily="34" charset="-122"/>
                <a:cs typeface="Calibri" pitchFamily="34" charset="-120"/>
              </a:rPr>
              <a:t> : flux servi 141.1, délai 24.5 sem., coût op 100.5, volatilité coût 0.001, p. incident 0.014  -  </a:t>
            </a:r>
            <a:r>
              <a:rPr lang="fr-FR" sz="680" noProof="0" dirty="0" err="1">
                <a:solidFill>
                  <a:srgbClr val="043962"/>
                </a:solidFill>
                <a:latin typeface="Calibri" pitchFamily="34" charset="0"/>
                <a:ea typeface="Calibri" pitchFamily="34" charset="-122"/>
                <a:cs typeface="Calibri" pitchFamily="34" charset="-120"/>
              </a:rPr>
              <a:t>Électis</a:t>
            </a:r>
            <a:r>
              <a:rPr lang="fr-FR" sz="680" noProof="0" dirty="0">
                <a:solidFill>
                  <a:srgbClr val="043962"/>
                </a:solidFill>
                <a:latin typeface="Calibri" pitchFamily="34" charset="0"/>
                <a:ea typeface="Calibri" pitchFamily="34" charset="-122"/>
                <a:cs typeface="Calibri" pitchFamily="34" charset="-120"/>
              </a:rPr>
              <a:t> : perf 1, dispo 0.996, coût op 111.8, volatilité coût 0.011  -  </a:t>
            </a:r>
            <a:r>
              <a:rPr lang="fr-FR" sz="680" noProof="0" dirty="0" err="1">
                <a:solidFill>
                  <a:srgbClr val="043962"/>
                </a:solidFill>
                <a:latin typeface="Calibri" pitchFamily="34" charset="0"/>
                <a:ea typeface="Calibri" pitchFamily="34" charset="-122"/>
                <a:cs typeface="Calibri" pitchFamily="34" charset="-120"/>
              </a:rPr>
              <a:t>SilPure</a:t>
            </a:r>
            <a:r>
              <a:rPr lang="fr-FR" sz="680" noProof="0" dirty="0">
                <a:solidFill>
                  <a:srgbClr val="043962"/>
                </a:solidFill>
                <a:latin typeface="Calibri" pitchFamily="34" charset="0"/>
                <a:ea typeface="Calibri" pitchFamily="34" charset="-122"/>
                <a:cs typeface="Calibri" pitchFamily="34" charset="-120"/>
              </a:rPr>
              <a:t> : coût op 111.8, volatilité coût 0.011, p. incident 0.007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flux servi 50.0</a:t>
            </a:r>
            <a:endParaRPr lang="fr-FR" sz="680" noProof="0" dirty="0"/>
          </a:p>
        </p:txBody>
      </p:sp>
      <p:sp>
        <p:nvSpPr>
          <p:cNvPr id="9" name="Text 6"/>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- 45/50</a:t>
            </a:r>
            <a:endParaRPr lang="fr-FR" sz="800" noProof="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DÉROULÉ DU TOUR T14</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T14 - 2021-10 - P4 Rupture</a:t>
            </a:r>
            <a:endParaRPr lang="fr-FR" sz="2500" noProof="0" dirty="0"/>
          </a:p>
        </p:txBody>
      </p:sp>
      <p:sp>
        <p:nvSpPr>
          <p:cNvPr id="4" name="Shape 2"/>
          <p:cNvSpPr/>
          <p:nvPr/>
        </p:nvSpPr>
        <p:spPr>
          <a:xfrm>
            <a:off x="502920" y="1207008"/>
            <a:ext cx="8138160" cy="402336"/>
          </a:xfrm>
          <a:prstGeom prst="roundRect">
            <a:avLst>
              <a:gd name="adj" fmla="val 15909"/>
            </a:avLst>
          </a:prstGeom>
          <a:solidFill>
            <a:srgbClr val="FFF3D6"/>
          </a:solidFill>
          <a:ln w="12700">
            <a:solidFill>
              <a:srgbClr val="FFF3D6"/>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58368" y="1243584"/>
            <a:ext cx="7827264" cy="329184"/>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Presse (les 8 rôles) : </a:t>
            </a:r>
            <a:r>
              <a:rPr lang="fr-FR" sz="840" noProof="0" dirty="0">
                <a:solidFill>
                  <a:srgbClr val="043962"/>
                </a:solidFill>
                <a:latin typeface="Calibri" pitchFamily="34" charset="0"/>
                <a:ea typeface="Calibri" pitchFamily="34" charset="-122"/>
                <a:cs typeface="Calibri" pitchFamily="34" charset="-120"/>
              </a:rPr>
              <a:t>Congestion portuaire record sur la côte ouest américaine : plus de cent navires attendent au mouillage.</a:t>
            </a:r>
            <a:endParaRPr lang="fr-FR" sz="840" noProof="0" dirty="0"/>
          </a:p>
        </p:txBody>
      </p:sp>
      <p:graphicFrame>
        <p:nvGraphicFramePr>
          <p:cNvPr id="47" name="Table 0"/>
          <p:cNvGraphicFramePr>
            <a:graphicFrameLocks noGrp="1"/>
          </p:cNvGraphicFramePr>
          <p:nvPr>
            <p:extLst>
              <p:ext uri="{D42A27DB-BD31-4B8C-83A1-F6EECF244321}">
                <p14:modId xmlns:p14="http://schemas.microsoft.com/office/powerpoint/2010/main" val="2686663650"/>
              </p:ext>
            </p:extLst>
          </p:nvPr>
        </p:nvGraphicFramePr>
        <p:xfrm>
          <a:off x="502920" y="1719072"/>
          <a:ext cx="8138160" cy="1115568"/>
        </p:xfrm>
        <a:graphic>
          <a:graphicData uri="http://schemas.openxmlformats.org/drawingml/2006/table">
            <a:tbl>
              <a:tblPr/>
              <a:tblGrid>
                <a:gridCol w="10972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237744">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Rôle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Ce qu'il reçoit, et lui seul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extLst>
                  <a:ext uri="{0D108BD9-81ED-4DB2-BD59-A6C34878D82A}">
                    <a16:rowId xmlns:a16="http://schemas.microsoft.com/office/drawing/2014/main" val="10000"/>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Électis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err="1">
                          <a:solidFill>
                            <a:srgbClr val="043962"/>
                          </a:solidFill>
                          <a:latin typeface="Calibri" pitchFamily="34" charset="0"/>
                          <a:ea typeface="Calibri" pitchFamily="34" charset="-122"/>
                          <a:cs typeface="Calibri" pitchFamily="34" charset="-120"/>
                        </a:rPr>
                        <a:t>CompoDis</a:t>
                      </a:r>
                      <a:r>
                        <a:rPr lang="fr-FR" sz="750" noProof="0" dirty="0">
                          <a:solidFill>
                            <a:srgbClr val="043962"/>
                          </a:solidFill>
                          <a:latin typeface="Calibri" pitchFamily="34" charset="0"/>
                          <a:ea typeface="Calibri" pitchFamily="34" charset="-122"/>
                          <a:cs typeface="Calibri" pitchFamily="34" charset="-120"/>
                        </a:rPr>
                        <a:t> introduit des majorations tarifaires sur les références sous allocation.</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CompoDis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Majoration moyenne appliquée : +25 % sur les références sous allocation.</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2"/>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TransGlobal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ETA </a:t>
                      </a:r>
                      <a:r>
                        <a:rPr lang="fr-FR" sz="750" noProof="0" dirty="0" err="1">
                          <a:solidFill>
                            <a:srgbClr val="043962"/>
                          </a:solidFill>
                          <a:latin typeface="Calibri" pitchFamily="34" charset="0"/>
                          <a:ea typeface="Calibri" pitchFamily="34" charset="-122"/>
                          <a:cs typeface="Calibri" pitchFamily="34" charset="-120"/>
                        </a:rPr>
                        <a:t>infiables</a:t>
                      </a:r>
                      <a:r>
                        <a:rPr lang="fr-FR" sz="750" noProof="0" dirty="0">
                          <a:solidFill>
                            <a:srgbClr val="043962"/>
                          </a:solidFill>
                          <a:latin typeface="Calibri" pitchFamily="34" charset="0"/>
                          <a:ea typeface="Calibri" pitchFamily="34" charset="-122"/>
                          <a:cs typeface="Calibri" pitchFamily="34" charset="-120"/>
                        </a:rPr>
                        <a:t> sur le transpacifique ; réservations aériennes complètes trois semaines à l'avance.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502920" y="3023221"/>
            <a:ext cx="8138160" cy="886968"/>
          </a:xfrm>
          <a:prstGeom prst="roundRect">
            <a:avLst>
              <a:gd name="adj" fmla="val 7216"/>
            </a:avLst>
          </a:prstGeom>
          <a:solidFill>
            <a:srgbClr val="EBF3F9"/>
          </a:solidFill>
          <a:ln w="12700">
            <a:solidFill>
              <a:srgbClr val="EBF3F9"/>
            </a:solidFill>
            <a:prstDash val="solid"/>
          </a:ln>
        </p:spPr>
        <p:txBody>
          <a:bodyPr/>
          <a:lstStyle/>
          <a:p>
            <a:endParaRPr lang="fr-FR" noProof="0" dirty="0"/>
          </a:p>
        </p:txBody>
      </p:sp>
      <p:sp>
        <p:nvSpPr>
          <p:cNvPr id="8" name="Text 5"/>
          <p:cNvSpPr/>
          <p:nvPr/>
        </p:nvSpPr>
        <p:spPr>
          <a:xfrm>
            <a:off x="658368" y="3059797"/>
            <a:ext cx="7827264" cy="813816"/>
          </a:xfrm>
          <a:prstGeom prst="rect">
            <a:avLst/>
          </a:prstGeom>
          <a:noFill/>
          <a:ln/>
        </p:spPr>
        <p:txBody>
          <a:bodyPr wrap="square" lIns="0" tIns="0" rIns="0" bIns="0" rtlCol="0" anchor="t"/>
          <a:lstStyle/>
          <a:p>
            <a:pPr marL="0" indent="0">
              <a:lnSpc>
                <a:spcPct val="104000"/>
              </a:lnSpc>
              <a:buNone/>
            </a:pPr>
            <a:r>
              <a:rPr lang="fr-FR" sz="680" b="1" noProof="0" dirty="0">
                <a:solidFill>
                  <a:srgbClr val="043962"/>
                </a:solidFill>
                <a:latin typeface="Calibri" pitchFamily="34" charset="0"/>
                <a:ea typeface="Calibri" pitchFamily="34" charset="-122"/>
                <a:cs typeface="Calibri" pitchFamily="34" charset="-120"/>
              </a:rPr>
              <a:t>Événements moteur : </a:t>
            </a:r>
            <a:r>
              <a:rPr lang="fr-FR" sz="680" noProof="0" dirty="0" err="1">
                <a:solidFill>
                  <a:srgbClr val="043962"/>
                </a:solidFill>
                <a:latin typeface="Calibri" pitchFamily="34" charset="0"/>
                <a:ea typeface="Calibri" pitchFamily="34" charset="-122"/>
                <a:cs typeface="Calibri" pitchFamily="34" charset="-120"/>
              </a:rPr>
              <a:t>TransGlobal</a:t>
            </a:r>
            <a:r>
              <a:rPr lang="fr-FR" sz="680" noProof="0" dirty="0">
                <a:solidFill>
                  <a:srgbClr val="043962"/>
                </a:solidFill>
                <a:latin typeface="Calibri" pitchFamily="34" charset="0"/>
                <a:ea typeface="Calibri" pitchFamily="34" charset="-122"/>
                <a:cs typeface="Calibri" pitchFamily="34" charset="-120"/>
              </a:rPr>
              <a:t> - </a:t>
            </a:r>
            <a:r>
              <a:rPr lang="fr-FR" sz="680" noProof="0" dirty="0" err="1">
                <a:solidFill>
                  <a:srgbClr val="043962"/>
                </a:solidFill>
                <a:latin typeface="Calibri" pitchFamily="34" charset="0"/>
                <a:ea typeface="Calibri" pitchFamily="34" charset="-122"/>
                <a:cs typeface="Calibri" pitchFamily="34" charset="-120"/>
              </a:rPr>
              <a:t>perturbation_transport</a:t>
            </a:r>
            <a:r>
              <a:rPr lang="fr-FR" sz="680" noProof="0" dirty="0">
                <a:solidFill>
                  <a:srgbClr val="043962"/>
                </a:solidFill>
                <a:latin typeface="Calibri" pitchFamily="34" charset="0"/>
                <a:ea typeface="Calibri" pitchFamily="34" charset="-122"/>
                <a:cs typeface="Calibri" pitchFamily="34" charset="-120"/>
              </a:rPr>
              <a:t> : 116 h moteur (3 sem. réelles) ; surcoût 30 000   |   </a:t>
            </a:r>
            <a:r>
              <a:rPr lang="fr-FR" sz="680" noProof="0" dirty="0" err="1">
                <a:solidFill>
                  <a:srgbClr val="043962"/>
                </a:solidFill>
                <a:latin typeface="Calibri" pitchFamily="34" charset="0"/>
                <a:ea typeface="Calibri" pitchFamily="34" charset="-122"/>
                <a:cs typeface="Calibri" pitchFamily="34" charset="-120"/>
              </a:rPr>
              <a:t>CompoDis</a:t>
            </a:r>
            <a:r>
              <a:rPr lang="fr-FR" sz="680" noProof="0" dirty="0">
                <a:solidFill>
                  <a:srgbClr val="043962"/>
                </a:solidFill>
                <a:latin typeface="Calibri" pitchFamily="34" charset="0"/>
                <a:ea typeface="Calibri" pitchFamily="34" charset="-122"/>
                <a:cs typeface="Calibri" pitchFamily="34" charset="-120"/>
              </a:rPr>
              <a:t> - </a:t>
            </a:r>
            <a:r>
              <a:rPr lang="fr-FR" sz="680" noProof="0" dirty="0" err="1">
                <a:solidFill>
                  <a:srgbClr val="043962"/>
                </a:solidFill>
                <a:latin typeface="Calibri" pitchFamily="34" charset="0"/>
                <a:ea typeface="Calibri" pitchFamily="34" charset="-122"/>
                <a:cs typeface="Calibri" pitchFamily="34" charset="-120"/>
              </a:rPr>
              <a:t>hausse_tarif</a:t>
            </a:r>
            <a:r>
              <a:rPr lang="fr-FR" sz="680" noProof="0" dirty="0">
                <a:solidFill>
                  <a:srgbClr val="043962"/>
                </a:solidFill>
                <a:latin typeface="Calibri" pitchFamily="34" charset="0"/>
                <a:ea typeface="Calibri" pitchFamily="34" charset="-122"/>
                <a:cs typeface="Calibri" pitchFamily="34" charset="-120"/>
              </a:rPr>
              <a:t> : +25 %</a:t>
            </a:r>
            <a:endParaRPr lang="fr-FR" sz="680" noProof="0" dirty="0"/>
          </a:p>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Jalons qui bougent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Sous-système avionique lot 3 : avancement 45% (dérive)   |   </a:t>
            </a:r>
            <a:r>
              <a:rPr lang="fr-FR" sz="680" noProof="0" dirty="0" err="1">
                <a:solidFill>
                  <a:srgbClr val="043962"/>
                </a:solidFill>
                <a:latin typeface="Calibri" pitchFamily="34" charset="0"/>
                <a:ea typeface="Calibri" pitchFamily="34" charset="-122"/>
                <a:cs typeface="Calibri" pitchFamily="34" charset="-120"/>
              </a:rPr>
              <a:t>Orbitalys</a:t>
            </a:r>
            <a:r>
              <a:rPr lang="fr-FR" sz="680" noProof="0" dirty="0">
                <a:solidFill>
                  <a:srgbClr val="043962"/>
                </a:solidFill>
                <a:latin typeface="Calibri" pitchFamily="34" charset="0"/>
                <a:ea typeface="Calibri" pitchFamily="34" charset="-122"/>
                <a:cs typeface="Calibri" pitchFamily="34" charset="-120"/>
              </a:rPr>
              <a:t> - Livraison HÉLIOS-1 : terminé   |   </a:t>
            </a:r>
            <a:r>
              <a:rPr lang="fr-FR" sz="680" noProof="0" dirty="0" err="1">
                <a:solidFill>
                  <a:srgbClr val="043962"/>
                </a:solidFill>
                <a:latin typeface="Calibri" pitchFamily="34" charset="0"/>
                <a:ea typeface="Calibri" pitchFamily="34" charset="-122"/>
                <a:cs typeface="Calibri" pitchFamily="34" charset="-120"/>
              </a:rPr>
              <a:t>Électis</a:t>
            </a:r>
            <a:r>
              <a:rPr lang="fr-FR" sz="680" noProof="0" dirty="0">
                <a:solidFill>
                  <a:srgbClr val="043962"/>
                </a:solidFill>
                <a:latin typeface="Calibri" pitchFamily="34" charset="0"/>
                <a:ea typeface="Calibri" pitchFamily="34" charset="-122"/>
                <a:cs typeface="Calibri" pitchFamily="34" charset="-120"/>
              </a:rPr>
              <a:t> - Cartes HÉLIOS série B : terminé   |   </a:t>
            </a:r>
            <a:r>
              <a:rPr lang="fr-FR" sz="680" noProof="0" dirty="0" err="1">
                <a:solidFill>
                  <a:srgbClr val="043962"/>
                </a:solidFill>
                <a:latin typeface="Calibri" pitchFamily="34" charset="0"/>
                <a:ea typeface="Calibri" pitchFamily="34" charset="-122"/>
                <a:cs typeface="Calibri" pitchFamily="34" charset="-120"/>
              </a:rPr>
              <a:t>SilPure</a:t>
            </a:r>
            <a:r>
              <a:rPr lang="fr-FR" sz="680" noProof="0" dirty="0">
                <a:solidFill>
                  <a:srgbClr val="043962"/>
                </a:solidFill>
                <a:latin typeface="Calibri" pitchFamily="34" charset="0"/>
                <a:ea typeface="Calibri" pitchFamily="34" charset="-122"/>
                <a:cs typeface="Calibri" pitchFamily="34" charset="-120"/>
              </a:rPr>
              <a:t> - Contrat wafers annuel : terminé</a:t>
            </a:r>
            <a:endParaRPr lang="fr-FR" sz="680" noProof="0" dirty="0"/>
          </a:p>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Données injectées : </a:t>
            </a:r>
            <a:r>
              <a:rPr lang="fr-FR" sz="680" noProof="0" dirty="0">
                <a:solidFill>
                  <a:srgbClr val="043962"/>
                </a:solidFill>
                <a:latin typeface="Calibri" pitchFamily="34" charset="0"/>
                <a:ea typeface="Calibri" pitchFamily="34" charset="-122"/>
                <a:cs typeface="Calibri" pitchFamily="34" charset="-120"/>
              </a:rPr>
              <a:t>NovaFab : demande 131.7, coût op 100.7, volatilité coût 0.003  -  Meridian : demande 131.7  -  </a:t>
            </a:r>
            <a:r>
              <a:rPr lang="fr-FR" sz="680" noProof="0" dirty="0" err="1">
                <a:solidFill>
                  <a:srgbClr val="043962"/>
                </a:solidFill>
                <a:latin typeface="Calibri" pitchFamily="34" charset="0"/>
                <a:ea typeface="Calibri" pitchFamily="34" charset="-122"/>
                <a:cs typeface="Calibri" pitchFamily="34" charset="-120"/>
              </a:rPr>
              <a:t>CompoDis</a:t>
            </a:r>
            <a:r>
              <a:rPr lang="fr-FR" sz="680" noProof="0" dirty="0">
                <a:solidFill>
                  <a:srgbClr val="043962"/>
                </a:solidFill>
                <a:latin typeface="Calibri" pitchFamily="34" charset="0"/>
                <a:ea typeface="Calibri" pitchFamily="34" charset="-122"/>
                <a:cs typeface="Calibri" pitchFamily="34" charset="-120"/>
              </a:rPr>
              <a:t> : flux servi 131.7, délai 25.0 sem., coût op 100.7, volatilité coût 0.001, p. incident 0.014  -  </a:t>
            </a:r>
            <a:r>
              <a:rPr lang="fr-FR" sz="680" noProof="0" dirty="0" err="1">
                <a:solidFill>
                  <a:srgbClr val="043962"/>
                </a:solidFill>
                <a:latin typeface="Calibri" pitchFamily="34" charset="0"/>
                <a:ea typeface="Calibri" pitchFamily="34" charset="-122"/>
                <a:cs typeface="Calibri" pitchFamily="34" charset="-120"/>
              </a:rPr>
              <a:t>Électis</a:t>
            </a:r>
            <a:r>
              <a:rPr lang="fr-FR" sz="680" noProof="0" dirty="0">
                <a:solidFill>
                  <a:srgbClr val="043962"/>
                </a:solidFill>
                <a:latin typeface="Calibri" pitchFamily="34" charset="0"/>
                <a:ea typeface="Calibri" pitchFamily="34" charset="-122"/>
                <a:cs typeface="Calibri" pitchFamily="34" charset="-120"/>
              </a:rPr>
              <a:t> : perf 1, dispo 0.994, coût op 114.9, volatilité coût 0.018  -  </a:t>
            </a:r>
            <a:r>
              <a:rPr lang="fr-FR" sz="680" noProof="0" dirty="0" err="1">
                <a:solidFill>
                  <a:srgbClr val="043962"/>
                </a:solidFill>
                <a:latin typeface="Calibri" pitchFamily="34" charset="0"/>
                <a:ea typeface="Calibri" pitchFamily="34" charset="-122"/>
                <a:cs typeface="Calibri" pitchFamily="34" charset="-120"/>
              </a:rPr>
              <a:t>SilPure</a:t>
            </a:r>
            <a:r>
              <a:rPr lang="fr-FR" sz="680" noProof="0" dirty="0">
                <a:solidFill>
                  <a:srgbClr val="043962"/>
                </a:solidFill>
                <a:latin typeface="Calibri" pitchFamily="34" charset="0"/>
                <a:ea typeface="Calibri" pitchFamily="34" charset="-122"/>
                <a:cs typeface="Calibri" pitchFamily="34" charset="-120"/>
              </a:rPr>
              <a:t> : coût op 114.9, volatilité coût 0.018, p. incident 0.007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flux servi 58.3</a:t>
            </a:r>
            <a:endParaRPr lang="fr-FR" sz="680" noProof="0" dirty="0"/>
          </a:p>
        </p:txBody>
      </p:sp>
      <p:sp>
        <p:nvSpPr>
          <p:cNvPr id="9" name="Text 6"/>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- 46/50</a:t>
            </a:r>
            <a:endParaRPr lang="fr-FR" sz="800" noProof="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DÉROULÉ DU TOUR T15</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T15 - 2021-11 - P4 Rupture</a:t>
            </a:r>
            <a:endParaRPr lang="fr-FR" sz="2500" noProof="0" dirty="0"/>
          </a:p>
        </p:txBody>
      </p:sp>
      <p:sp>
        <p:nvSpPr>
          <p:cNvPr id="4" name="Shape 2"/>
          <p:cNvSpPr/>
          <p:nvPr/>
        </p:nvSpPr>
        <p:spPr>
          <a:xfrm>
            <a:off x="502920" y="1207008"/>
            <a:ext cx="8138160" cy="402336"/>
          </a:xfrm>
          <a:prstGeom prst="roundRect">
            <a:avLst>
              <a:gd name="adj" fmla="val 15909"/>
            </a:avLst>
          </a:prstGeom>
          <a:solidFill>
            <a:srgbClr val="FFF3D6"/>
          </a:solidFill>
          <a:ln w="12700">
            <a:solidFill>
              <a:srgbClr val="FFF3D6"/>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58368" y="1243584"/>
            <a:ext cx="7827264" cy="329184"/>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Presse (les 8 rôles) : </a:t>
            </a:r>
            <a:r>
              <a:rPr lang="fr-FR" sz="840" noProof="0" dirty="0">
                <a:solidFill>
                  <a:srgbClr val="043962"/>
                </a:solidFill>
                <a:latin typeface="Calibri" pitchFamily="34" charset="0"/>
                <a:ea typeface="Calibri" pitchFamily="34" charset="-122"/>
                <a:cs typeface="Calibri" pitchFamily="34" charset="-120"/>
              </a:rPr>
              <a:t>Les délais de livraison des composants plafonnent à des niveaux records. Les fondeurs alternatifs affichent complet.</a:t>
            </a:r>
            <a:endParaRPr lang="fr-FR" sz="840" noProof="0" dirty="0"/>
          </a:p>
        </p:txBody>
      </p:sp>
      <p:graphicFrame>
        <p:nvGraphicFramePr>
          <p:cNvPr id="48" name="Table 0"/>
          <p:cNvGraphicFramePr>
            <a:graphicFrameLocks noGrp="1"/>
          </p:cNvGraphicFramePr>
          <p:nvPr>
            <p:extLst>
              <p:ext uri="{D42A27DB-BD31-4B8C-83A1-F6EECF244321}">
                <p14:modId xmlns:p14="http://schemas.microsoft.com/office/powerpoint/2010/main" val="645087412"/>
              </p:ext>
            </p:extLst>
          </p:nvPr>
        </p:nvGraphicFramePr>
        <p:xfrm>
          <a:off x="502920" y="1719072"/>
          <a:ext cx="8138160" cy="836676"/>
        </p:xfrm>
        <a:graphic>
          <a:graphicData uri="http://schemas.openxmlformats.org/drawingml/2006/table">
            <a:tbl>
              <a:tblPr/>
              <a:tblGrid>
                <a:gridCol w="10972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237744">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Rôle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Ce qu'il reçoit, et lui seul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extLst>
                  <a:ext uri="{0D108BD9-81ED-4DB2-BD59-A6C34878D82A}">
                    <a16:rowId xmlns:a16="http://schemas.microsoft.com/office/drawing/2014/main" val="10000"/>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CompoDis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a:solidFill>
                            <a:srgbClr val="043962"/>
                          </a:solidFill>
                          <a:latin typeface="Calibri" pitchFamily="34" charset="0"/>
                          <a:ea typeface="Calibri" pitchFamily="34" charset="-122"/>
                          <a:cs typeface="Calibri" pitchFamily="34" charset="-120"/>
                        </a:rPr>
                        <a:t>Meridian Semi répond aux sollicitations : « notre carnet est complet jusqu'à mi-2023 ».</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7744">
                <a:tc>
                  <a:txBody>
                    <a:bodyPr/>
                    <a:lstStyle/>
                    <a:p>
                      <a:pPr marL="0" indent="0">
                        <a:buNone/>
                      </a:pPr>
                      <a:r>
                        <a:rPr lang="fr-FR" sz="750" b="1" noProof="0" dirty="0">
                          <a:solidFill>
                            <a:srgbClr val="176F98"/>
                          </a:solidFill>
                          <a:latin typeface="Calibri" pitchFamily="34" charset="0"/>
                          <a:ea typeface="Calibri" pitchFamily="34" charset="-122"/>
                          <a:cs typeface="Calibri" pitchFamily="34" charset="-120"/>
                        </a:rPr>
                        <a:t>Meridian</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File de prospects sans précédent ; aucun créneau à offrir avant mi-2023.</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2"/>
                  </a:ext>
                </a:extLst>
              </a:tr>
            </a:tbl>
          </a:graphicData>
        </a:graphic>
      </p:graphicFrame>
      <p:sp>
        <p:nvSpPr>
          <p:cNvPr id="7" name="Shape 4"/>
          <p:cNvSpPr/>
          <p:nvPr/>
        </p:nvSpPr>
        <p:spPr>
          <a:xfrm>
            <a:off x="502920" y="2815165"/>
            <a:ext cx="8138160" cy="886968"/>
          </a:xfrm>
          <a:prstGeom prst="roundRect">
            <a:avLst>
              <a:gd name="adj" fmla="val 7216"/>
            </a:avLst>
          </a:prstGeom>
          <a:solidFill>
            <a:srgbClr val="EBF3F9"/>
          </a:solidFill>
          <a:ln w="12700">
            <a:solidFill>
              <a:srgbClr val="EBF3F9"/>
            </a:solidFill>
            <a:prstDash val="solid"/>
          </a:ln>
        </p:spPr>
        <p:txBody>
          <a:bodyPr/>
          <a:lstStyle/>
          <a:p>
            <a:endParaRPr lang="fr-FR" noProof="0" dirty="0"/>
          </a:p>
        </p:txBody>
      </p:sp>
      <p:sp>
        <p:nvSpPr>
          <p:cNvPr id="8" name="Text 5"/>
          <p:cNvSpPr/>
          <p:nvPr/>
        </p:nvSpPr>
        <p:spPr>
          <a:xfrm>
            <a:off x="658368" y="2851741"/>
            <a:ext cx="7827264" cy="813816"/>
          </a:xfrm>
          <a:prstGeom prst="rect">
            <a:avLst/>
          </a:prstGeom>
          <a:noFill/>
          <a:ln/>
        </p:spPr>
        <p:txBody>
          <a:bodyPr wrap="square" lIns="0" tIns="0" rIns="0" bIns="0" rtlCol="0" anchor="t"/>
          <a:lstStyle/>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Jalons qui bougent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Sous-système avionique lot 3 : avancement 60% (dérive)   |   </a:t>
            </a:r>
            <a:r>
              <a:rPr lang="fr-FR" sz="680" noProof="0" dirty="0" err="1">
                <a:solidFill>
                  <a:srgbClr val="043962"/>
                </a:solidFill>
                <a:latin typeface="Calibri" pitchFamily="34" charset="0"/>
                <a:ea typeface="Calibri" pitchFamily="34" charset="-122"/>
                <a:cs typeface="Calibri" pitchFamily="34" charset="-120"/>
              </a:rPr>
              <a:t>Orbitalys</a:t>
            </a:r>
            <a:r>
              <a:rPr lang="fr-FR" sz="680" noProof="0" dirty="0">
                <a:solidFill>
                  <a:srgbClr val="043962"/>
                </a:solidFill>
                <a:latin typeface="Calibri" pitchFamily="34" charset="0"/>
                <a:ea typeface="Calibri" pitchFamily="34" charset="-122"/>
                <a:cs typeface="Calibri" pitchFamily="34" charset="-120"/>
              </a:rPr>
              <a:t> - Livraison HÉLIOS-2 : avancement 70% (dérive)</a:t>
            </a:r>
            <a:endParaRPr lang="fr-FR" sz="680" noProof="0" dirty="0"/>
          </a:p>
          <a:p>
            <a:pPr marL="0" indent="0">
              <a:lnSpc>
                <a:spcPct val="104000"/>
              </a:lnSpc>
              <a:buNone/>
            </a:pPr>
            <a:r>
              <a:rPr lang="fr-FR" sz="680" b="1" noProof="0" dirty="0">
                <a:solidFill>
                  <a:srgbClr val="043962"/>
                </a:solidFill>
                <a:latin typeface="Calibri" pitchFamily="34" charset="0"/>
                <a:ea typeface="Calibri" pitchFamily="34" charset="-122"/>
                <a:cs typeface="Calibri" pitchFamily="34" charset="-120"/>
              </a:rPr>
              <a:t>Fiche placebo (HC4) : </a:t>
            </a:r>
            <a:r>
              <a:rPr lang="fr-FR" sz="680" noProof="0" dirty="0">
                <a:solidFill>
                  <a:srgbClr val="043962"/>
                </a:solidFill>
                <a:latin typeface="Calibri" pitchFamily="34" charset="0"/>
                <a:ea typeface="Calibri" pitchFamily="34" charset="-122"/>
                <a:cs typeface="Calibri" pitchFamily="34" charset="-120"/>
              </a:rPr>
              <a:t>variante à continuation alternative remise à </a:t>
            </a:r>
            <a:r>
              <a:rPr lang="fr-FR" sz="680" noProof="0" dirty="0" err="1">
                <a:solidFill>
                  <a:srgbClr val="043962"/>
                </a:solidFill>
                <a:latin typeface="Calibri" pitchFamily="34" charset="0"/>
                <a:ea typeface="Calibri" pitchFamily="34" charset="-122"/>
                <a:cs typeface="Calibri" pitchFamily="34" charset="-120"/>
              </a:rPr>
              <a:t>SilPure</a:t>
            </a:r>
            <a:r>
              <a:rPr lang="fr-FR" sz="680" noProof="0" dirty="0">
                <a:solidFill>
                  <a:srgbClr val="043962"/>
                </a:solidFill>
                <a:latin typeface="Calibri" pitchFamily="34" charset="0"/>
                <a:ea typeface="Calibri" pitchFamily="34" charset="-122"/>
                <a:cs typeface="Calibri" pitchFamily="34" charset="-120"/>
              </a:rPr>
              <a:t>, sans mention de sa nature.</a:t>
            </a:r>
            <a:endParaRPr lang="fr-FR" sz="680" noProof="0" dirty="0"/>
          </a:p>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Données injectées : </a:t>
            </a:r>
            <a:r>
              <a:rPr lang="fr-FR" sz="680" noProof="0" dirty="0">
                <a:solidFill>
                  <a:srgbClr val="043962"/>
                </a:solidFill>
                <a:latin typeface="Calibri" pitchFamily="34" charset="0"/>
                <a:ea typeface="Calibri" pitchFamily="34" charset="-122"/>
                <a:cs typeface="Calibri" pitchFamily="34" charset="-120"/>
              </a:rPr>
              <a:t>NovaFab : demande 146.0, coût op 101.1, volatilité coût 0.004  -  Meridian : demande 146.0  -  </a:t>
            </a:r>
            <a:r>
              <a:rPr lang="fr-FR" sz="680" noProof="0" dirty="0" err="1">
                <a:solidFill>
                  <a:srgbClr val="043962"/>
                </a:solidFill>
                <a:latin typeface="Calibri" pitchFamily="34" charset="0"/>
                <a:ea typeface="Calibri" pitchFamily="34" charset="-122"/>
                <a:cs typeface="Calibri" pitchFamily="34" charset="-120"/>
              </a:rPr>
              <a:t>CompoDis</a:t>
            </a:r>
            <a:r>
              <a:rPr lang="fr-FR" sz="680" noProof="0" dirty="0">
                <a:solidFill>
                  <a:srgbClr val="043962"/>
                </a:solidFill>
                <a:latin typeface="Calibri" pitchFamily="34" charset="0"/>
                <a:ea typeface="Calibri" pitchFamily="34" charset="-122"/>
                <a:cs typeface="Calibri" pitchFamily="34" charset="-120"/>
              </a:rPr>
              <a:t> : flux servi 146.0, délai 25.0 sem., coût op 100.8, volatilité coût 0.001, p. incident 0.014  -  </a:t>
            </a:r>
            <a:r>
              <a:rPr lang="fr-FR" sz="680" noProof="0" dirty="0" err="1">
                <a:solidFill>
                  <a:srgbClr val="043962"/>
                </a:solidFill>
                <a:latin typeface="Calibri" pitchFamily="34" charset="0"/>
                <a:ea typeface="Calibri" pitchFamily="34" charset="-122"/>
                <a:cs typeface="Calibri" pitchFamily="34" charset="-120"/>
              </a:rPr>
              <a:t>Électis</a:t>
            </a:r>
            <a:r>
              <a:rPr lang="fr-FR" sz="680" noProof="0" dirty="0">
                <a:solidFill>
                  <a:srgbClr val="043962"/>
                </a:solidFill>
                <a:latin typeface="Calibri" pitchFamily="34" charset="0"/>
                <a:ea typeface="Calibri" pitchFamily="34" charset="-122"/>
                <a:cs typeface="Calibri" pitchFamily="34" charset="-120"/>
              </a:rPr>
              <a:t> : perf 1, dispo 0.993, coût op 117.6, volatilité coût 0.021  -  </a:t>
            </a:r>
            <a:r>
              <a:rPr lang="fr-FR" sz="680" noProof="0" dirty="0" err="1">
                <a:solidFill>
                  <a:srgbClr val="043962"/>
                </a:solidFill>
                <a:latin typeface="Calibri" pitchFamily="34" charset="0"/>
                <a:ea typeface="Calibri" pitchFamily="34" charset="-122"/>
                <a:cs typeface="Calibri" pitchFamily="34" charset="-120"/>
              </a:rPr>
              <a:t>SilPure</a:t>
            </a:r>
            <a:r>
              <a:rPr lang="fr-FR" sz="680" noProof="0" dirty="0">
                <a:solidFill>
                  <a:srgbClr val="043962"/>
                </a:solidFill>
                <a:latin typeface="Calibri" pitchFamily="34" charset="0"/>
                <a:ea typeface="Calibri" pitchFamily="34" charset="-122"/>
                <a:cs typeface="Calibri" pitchFamily="34" charset="-120"/>
              </a:rPr>
              <a:t> : coût op 117.6, volatilité coût 0.021, p. incident 0.007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flux servi 66.7</a:t>
            </a:r>
            <a:endParaRPr lang="fr-FR" sz="680" noProof="0" dirty="0"/>
          </a:p>
        </p:txBody>
      </p:sp>
      <p:sp>
        <p:nvSpPr>
          <p:cNvPr id="9" name="Text 6"/>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- 47/50</a:t>
            </a:r>
            <a:endParaRPr lang="fr-FR" sz="800" noProof="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DÉROULÉ DU TOUR T16</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T16 - 2021-12 - P4 Rupture</a:t>
            </a:r>
            <a:endParaRPr lang="fr-FR" sz="2500" noProof="0" dirty="0"/>
          </a:p>
        </p:txBody>
      </p:sp>
      <p:sp>
        <p:nvSpPr>
          <p:cNvPr id="4" name="Shape 2"/>
          <p:cNvSpPr/>
          <p:nvPr/>
        </p:nvSpPr>
        <p:spPr>
          <a:xfrm>
            <a:off x="502920" y="1207008"/>
            <a:ext cx="8138160" cy="402336"/>
          </a:xfrm>
          <a:prstGeom prst="roundRect">
            <a:avLst>
              <a:gd name="adj" fmla="val 15909"/>
            </a:avLst>
          </a:prstGeom>
          <a:solidFill>
            <a:srgbClr val="FFF3D6"/>
          </a:solidFill>
          <a:ln w="12700">
            <a:solidFill>
              <a:srgbClr val="FFF3D6"/>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58368" y="1243584"/>
            <a:ext cx="7827264" cy="329184"/>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Presse (les 8 rôles) : </a:t>
            </a:r>
            <a:r>
              <a:rPr lang="fr-FR" sz="840" noProof="0" dirty="0">
                <a:solidFill>
                  <a:srgbClr val="043962"/>
                </a:solidFill>
                <a:latin typeface="Calibri" pitchFamily="34" charset="0"/>
                <a:ea typeface="Calibri" pitchFamily="34" charset="-122"/>
                <a:cs typeface="Calibri" pitchFamily="34" charset="-120"/>
              </a:rPr>
              <a:t>Le prix du polysilicium a triplé sur un an. Les fabricants de wafers répercutent la hausse sur leurs contrats.</a:t>
            </a:r>
            <a:endParaRPr lang="fr-FR" sz="840" noProof="0" dirty="0"/>
          </a:p>
        </p:txBody>
      </p:sp>
      <p:graphicFrame>
        <p:nvGraphicFramePr>
          <p:cNvPr id="49" name="Table 0"/>
          <p:cNvGraphicFramePr>
            <a:graphicFrameLocks noGrp="1"/>
          </p:cNvGraphicFramePr>
          <p:nvPr>
            <p:extLst>
              <p:ext uri="{D42A27DB-BD31-4B8C-83A1-F6EECF244321}">
                <p14:modId xmlns:p14="http://schemas.microsoft.com/office/powerpoint/2010/main" val="809506502"/>
              </p:ext>
            </p:extLst>
          </p:nvPr>
        </p:nvGraphicFramePr>
        <p:xfrm>
          <a:off x="502920" y="1719072"/>
          <a:ext cx="8138160" cy="1394460"/>
        </p:xfrm>
        <a:graphic>
          <a:graphicData uri="http://schemas.openxmlformats.org/drawingml/2006/table">
            <a:tbl>
              <a:tblPr/>
              <a:tblGrid>
                <a:gridCol w="10972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237744">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Rôle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Ce qu'il reçoit, et lui seul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extLst>
                  <a:ext uri="{0D108BD9-81ED-4DB2-BD59-A6C34878D82A}">
                    <a16:rowId xmlns:a16="http://schemas.microsoft.com/office/drawing/2014/main" val="10000"/>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Orbitalys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err="1">
                          <a:solidFill>
                            <a:srgbClr val="043962"/>
                          </a:solidFill>
                          <a:latin typeface="Calibri" pitchFamily="34" charset="0"/>
                          <a:ea typeface="Calibri" pitchFamily="34" charset="-122"/>
                          <a:cs typeface="Calibri" pitchFamily="34" charset="-120"/>
                        </a:rPr>
                        <a:t>Électis</a:t>
                      </a:r>
                      <a:r>
                        <a:rPr lang="fr-FR" sz="750" noProof="0" dirty="0">
                          <a:solidFill>
                            <a:srgbClr val="043962"/>
                          </a:solidFill>
                          <a:latin typeface="Calibri" pitchFamily="34" charset="0"/>
                          <a:ea typeface="Calibri" pitchFamily="34" charset="-122"/>
                          <a:cs typeface="Calibri" pitchFamily="34" charset="-120"/>
                        </a:rPr>
                        <a:t> confirme le passage du programme HÉLIOS en priorité 1 interne.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Électis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Arbitrage acté : HÉLIOS prioritaire, ligne automobile ralentie. Échéance contractuelle HÉLIOS-2 ce mois-ci.</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2"/>
                  </a:ext>
                </a:extLst>
              </a:tr>
              <a:tr h="237744">
                <a:tc>
                  <a:txBody>
                    <a:bodyPr/>
                    <a:lstStyle/>
                    <a:p>
                      <a:pPr marL="0" indent="0">
                        <a:buNone/>
                      </a:pPr>
                      <a:r>
                        <a:rPr lang="fr-FR" sz="750" b="1" noProof="0" dirty="0">
                          <a:solidFill>
                            <a:srgbClr val="176F98"/>
                          </a:solidFill>
                          <a:latin typeface="Calibri" pitchFamily="34" charset="0"/>
                          <a:ea typeface="Calibri" pitchFamily="34" charset="-122"/>
                          <a:cs typeface="Calibri" pitchFamily="34" charset="-120"/>
                        </a:rPr>
                        <a:t>NovaFab</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err="1">
                          <a:solidFill>
                            <a:srgbClr val="043962"/>
                          </a:solidFill>
                          <a:latin typeface="Calibri" pitchFamily="34" charset="0"/>
                          <a:ea typeface="Calibri" pitchFamily="34" charset="-122"/>
                          <a:cs typeface="Calibri" pitchFamily="34" charset="-120"/>
                        </a:rPr>
                        <a:t>SilPure</a:t>
                      </a:r>
                      <a:r>
                        <a:rPr lang="fr-FR" sz="750" noProof="0" dirty="0">
                          <a:solidFill>
                            <a:srgbClr val="043962"/>
                          </a:solidFill>
                          <a:latin typeface="Calibri" pitchFamily="34" charset="0"/>
                          <a:ea typeface="Calibri" pitchFamily="34" charset="-122"/>
                          <a:cs typeface="Calibri" pitchFamily="34" charset="-120"/>
                        </a:rPr>
                        <a:t> notifie une révision tarifaire de +18 % sur les livraisons du prochain trimestre.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SilPure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Répercussion polysilicium appliquée : +18 %.</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4"/>
                  </a:ext>
                </a:extLst>
              </a:tr>
            </a:tbl>
          </a:graphicData>
        </a:graphic>
      </p:graphicFrame>
      <p:sp>
        <p:nvSpPr>
          <p:cNvPr id="7" name="Shape 4"/>
          <p:cNvSpPr/>
          <p:nvPr/>
        </p:nvSpPr>
        <p:spPr>
          <a:xfrm>
            <a:off x="502920" y="3272841"/>
            <a:ext cx="8138160" cy="886968"/>
          </a:xfrm>
          <a:prstGeom prst="roundRect">
            <a:avLst>
              <a:gd name="adj" fmla="val 7216"/>
            </a:avLst>
          </a:prstGeom>
          <a:solidFill>
            <a:srgbClr val="EBF3F9"/>
          </a:solidFill>
          <a:ln w="12700">
            <a:solidFill>
              <a:srgbClr val="EBF3F9"/>
            </a:solidFill>
            <a:prstDash val="solid"/>
          </a:ln>
        </p:spPr>
        <p:txBody>
          <a:bodyPr/>
          <a:lstStyle/>
          <a:p>
            <a:endParaRPr lang="fr-FR" noProof="0" dirty="0"/>
          </a:p>
        </p:txBody>
      </p:sp>
      <p:sp>
        <p:nvSpPr>
          <p:cNvPr id="8" name="Text 5"/>
          <p:cNvSpPr/>
          <p:nvPr/>
        </p:nvSpPr>
        <p:spPr>
          <a:xfrm>
            <a:off x="658368" y="3309417"/>
            <a:ext cx="7827264" cy="813816"/>
          </a:xfrm>
          <a:prstGeom prst="rect">
            <a:avLst/>
          </a:prstGeom>
          <a:noFill/>
          <a:ln/>
        </p:spPr>
        <p:txBody>
          <a:bodyPr wrap="square" lIns="0" tIns="0" rIns="0" bIns="0" rtlCol="0" anchor="t"/>
          <a:lstStyle/>
          <a:p>
            <a:pPr marL="0" indent="0">
              <a:lnSpc>
                <a:spcPct val="104000"/>
              </a:lnSpc>
              <a:buNone/>
            </a:pPr>
            <a:r>
              <a:rPr lang="fr-FR" sz="680" b="1" noProof="0" dirty="0">
                <a:solidFill>
                  <a:srgbClr val="043962"/>
                </a:solidFill>
                <a:latin typeface="Calibri" pitchFamily="34" charset="0"/>
                <a:ea typeface="Calibri" pitchFamily="34" charset="-122"/>
                <a:cs typeface="Calibri" pitchFamily="34" charset="-120"/>
              </a:rPr>
              <a:t>Événements moteur : </a:t>
            </a:r>
            <a:r>
              <a:rPr lang="fr-FR" sz="680" noProof="0" dirty="0" err="1">
                <a:solidFill>
                  <a:srgbClr val="043962"/>
                </a:solidFill>
                <a:latin typeface="Calibri" pitchFamily="34" charset="0"/>
                <a:ea typeface="Calibri" pitchFamily="34" charset="-122"/>
                <a:cs typeface="Calibri" pitchFamily="34" charset="-120"/>
              </a:rPr>
              <a:t>SilPure</a:t>
            </a:r>
            <a:r>
              <a:rPr lang="fr-FR" sz="680" noProof="0" dirty="0">
                <a:solidFill>
                  <a:srgbClr val="043962"/>
                </a:solidFill>
                <a:latin typeface="Calibri" pitchFamily="34" charset="0"/>
                <a:ea typeface="Calibri" pitchFamily="34" charset="-122"/>
                <a:cs typeface="Calibri" pitchFamily="34" charset="-120"/>
              </a:rPr>
              <a:t> - </a:t>
            </a:r>
            <a:r>
              <a:rPr lang="fr-FR" sz="680" noProof="0" dirty="0" err="1">
                <a:solidFill>
                  <a:srgbClr val="043962"/>
                </a:solidFill>
                <a:latin typeface="Calibri" pitchFamily="34" charset="0"/>
                <a:ea typeface="Calibri" pitchFamily="34" charset="-122"/>
                <a:cs typeface="Calibri" pitchFamily="34" charset="-120"/>
              </a:rPr>
              <a:t>hausse_tarif</a:t>
            </a:r>
            <a:r>
              <a:rPr lang="fr-FR" sz="680" noProof="0" dirty="0">
                <a:solidFill>
                  <a:srgbClr val="043962"/>
                </a:solidFill>
                <a:latin typeface="Calibri" pitchFamily="34" charset="0"/>
                <a:ea typeface="Calibri" pitchFamily="34" charset="-122"/>
                <a:cs typeface="Calibri" pitchFamily="34" charset="-120"/>
              </a:rPr>
              <a:t> : +18 %</a:t>
            </a:r>
            <a:endParaRPr lang="fr-FR" sz="680" noProof="0" dirty="0"/>
          </a:p>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Jalons qui bougent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Sous-système avionique lot 3 : avancement 75% (dérive)   |   </a:t>
            </a:r>
            <a:r>
              <a:rPr lang="fr-FR" sz="680" noProof="0" dirty="0" err="1">
                <a:solidFill>
                  <a:srgbClr val="043962"/>
                </a:solidFill>
                <a:latin typeface="Calibri" pitchFamily="34" charset="0"/>
                <a:ea typeface="Calibri" pitchFamily="34" charset="-122"/>
                <a:cs typeface="Calibri" pitchFamily="34" charset="-120"/>
              </a:rPr>
              <a:t>Orbitalys</a:t>
            </a:r>
            <a:r>
              <a:rPr lang="fr-FR" sz="680" noProof="0" dirty="0">
                <a:solidFill>
                  <a:srgbClr val="043962"/>
                </a:solidFill>
                <a:latin typeface="Calibri" pitchFamily="34" charset="0"/>
                <a:ea typeface="Calibri" pitchFamily="34" charset="-122"/>
                <a:cs typeface="Calibri" pitchFamily="34" charset="-120"/>
              </a:rPr>
              <a:t> - Livraison HÉLIOS-2 : avancement 82% (dérive)   |   </a:t>
            </a:r>
            <a:r>
              <a:rPr lang="fr-FR" sz="680" noProof="0" dirty="0" err="1">
                <a:solidFill>
                  <a:srgbClr val="043962"/>
                </a:solidFill>
                <a:latin typeface="Calibri" pitchFamily="34" charset="0"/>
                <a:ea typeface="Calibri" pitchFamily="34" charset="-122"/>
                <a:cs typeface="Calibri" pitchFamily="34" charset="-120"/>
              </a:rPr>
              <a:t>Orbitalys</a:t>
            </a:r>
            <a:r>
              <a:rPr lang="fr-FR" sz="680" noProof="0" dirty="0">
                <a:solidFill>
                  <a:srgbClr val="043962"/>
                </a:solidFill>
                <a:latin typeface="Calibri" pitchFamily="34" charset="0"/>
                <a:ea typeface="Calibri" pitchFamily="34" charset="-122"/>
                <a:cs typeface="Calibri" pitchFamily="34" charset="-120"/>
              </a:rPr>
              <a:t> - Livraison HÉLIOS-2 : </a:t>
            </a:r>
            <a:r>
              <a:rPr lang="fr-FR" sz="680" noProof="0" dirty="0" err="1">
                <a:solidFill>
                  <a:srgbClr val="043962"/>
                </a:solidFill>
                <a:latin typeface="Calibri" pitchFamily="34" charset="0"/>
                <a:ea typeface="Calibri" pitchFamily="34" charset="-122"/>
                <a:cs typeface="Calibri" pitchFamily="34" charset="-120"/>
              </a:rPr>
              <a:t>re-planifié</a:t>
            </a:r>
            <a:r>
              <a:rPr lang="fr-FR" sz="680" noProof="0" dirty="0">
                <a:solidFill>
                  <a:srgbClr val="043962"/>
                </a:solidFill>
                <a:latin typeface="Calibri" pitchFamily="34" charset="0"/>
                <a:ea typeface="Calibri" pitchFamily="34" charset="-122"/>
                <a:cs typeface="Calibri" pitchFamily="34" charset="-120"/>
              </a:rPr>
              <a:t> en semaine 19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Sous-système avionique lot 3 : </a:t>
            </a:r>
            <a:r>
              <a:rPr lang="fr-FR" sz="680" noProof="0" dirty="0" err="1">
                <a:solidFill>
                  <a:srgbClr val="043962"/>
                </a:solidFill>
                <a:latin typeface="Calibri" pitchFamily="34" charset="0"/>
                <a:ea typeface="Calibri" pitchFamily="34" charset="-122"/>
                <a:cs typeface="Calibri" pitchFamily="34" charset="-120"/>
              </a:rPr>
              <a:t>re-planifié</a:t>
            </a:r>
            <a:r>
              <a:rPr lang="fr-FR" sz="680" noProof="0" dirty="0">
                <a:solidFill>
                  <a:srgbClr val="043962"/>
                </a:solidFill>
                <a:latin typeface="Calibri" pitchFamily="34" charset="0"/>
                <a:ea typeface="Calibri" pitchFamily="34" charset="-122"/>
                <a:cs typeface="Calibri" pitchFamily="34" charset="-120"/>
              </a:rPr>
              <a:t> en semaine 18</a:t>
            </a:r>
            <a:endParaRPr lang="fr-FR" sz="680" noProof="0" dirty="0"/>
          </a:p>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Données injectées : </a:t>
            </a:r>
            <a:r>
              <a:rPr lang="fr-FR" sz="680" noProof="0" dirty="0">
                <a:solidFill>
                  <a:srgbClr val="043962"/>
                </a:solidFill>
                <a:latin typeface="Calibri" pitchFamily="34" charset="0"/>
                <a:ea typeface="Calibri" pitchFamily="34" charset="-122"/>
                <a:cs typeface="Calibri" pitchFamily="34" charset="-120"/>
              </a:rPr>
              <a:t>NovaFab : demande 147.5  -  Meridian : demande 147.5  -  </a:t>
            </a:r>
            <a:r>
              <a:rPr lang="fr-FR" sz="680" noProof="0" dirty="0" err="1">
                <a:solidFill>
                  <a:srgbClr val="043962"/>
                </a:solidFill>
                <a:latin typeface="Calibri" pitchFamily="34" charset="0"/>
                <a:ea typeface="Calibri" pitchFamily="34" charset="-122"/>
                <a:cs typeface="Calibri" pitchFamily="34" charset="-120"/>
              </a:rPr>
              <a:t>CompoDis</a:t>
            </a:r>
            <a:r>
              <a:rPr lang="fr-FR" sz="680" noProof="0" dirty="0">
                <a:solidFill>
                  <a:srgbClr val="043962"/>
                </a:solidFill>
                <a:latin typeface="Calibri" pitchFamily="34" charset="0"/>
                <a:ea typeface="Calibri" pitchFamily="34" charset="-122"/>
                <a:cs typeface="Calibri" pitchFamily="34" charset="-120"/>
              </a:rPr>
              <a:t> : flux servi 147.5, délai 25.0 sem., coût op 101.0, volatilité coût 0.001, p. incident 0.014  -  </a:t>
            </a:r>
            <a:r>
              <a:rPr lang="fr-FR" sz="680" noProof="0" dirty="0" err="1">
                <a:solidFill>
                  <a:srgbClr val="043962"/>
                </a:solidFill>
                <a:latin typeface="Calibri" pitchFamily="34" charset="0"/>
                <a:ea typeface="Calibri" pitchFamily="34" charset="-122"/>
                <a:cs typeface="Calibri" pitchFamily="34" charset="-120"/>
              </a:rPr>
              <a:t>Électis</a:t>
            </a:r>
            <a:r>
              <a:rPr lang="fr-FR" sz="680" noProof="0" dirty="0">
                <a:solidFill>
                  <a:srgbClr val="043962"/>
                </a:solidFill>
                <a:latin typeface="Calibri" pitchFamily="34" charset="0"/>
                <a:ea typeface="Calibri" pitchFamily="34" charset="-122"/>
                <a:cs typeface="Calibri" pitchFamily="34" charset="-120"/>
              </a:rPr>
              <a:t> : perf 1, dispo 0.995, coût op 119.4, volatilité coût 0.016  -  </a:t>
            </a:r>
            <a:r>
              <a:rPr lang="fr-FR" sz="680" noProof="0" dirty="0" err="1">
                <a:solidFill>
                  <a:srgbClr val="043962"/>
                </a:solidFill>
                <a:latin typeface="Calibri" pitchFamily="34" charset="0"/>
                <a:ea typeface="Calibri" pitchFamily="34" charset="-122"/>
                <a:cs typeface="Calibri" pitchFamily="34" charset="-120"/>
              </a:rPr>
              <a:t>SilPure</a:t>
            </a:r>
            <a:r>
              <a:rPr lang="fr-FR" sz="680" noProof="0" dirty="0">
                <a:solidFill>
                  <a:srgbClr val="043962"/>
                </a:solidFill>
                <a:latin typeface="Calibri" pitchFamily="34" charset="0"/>
                <a:ea typeface="Calibri" pitchFamily="34" charset="-122"/>
                <a:cs typeface="Calibri" pitchFamily="34" charset="-120"/>
              </a:rPr>
              <a:t> : coût op 119.4, volatilité coût 0.016, p. incident 0.007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flux servi 83.3</a:t>
            </a:r>
            <a:endParaRPr lang="fr-FR" sz="680" noProof="0" dirty="0"/>
          </a:p>
        </p:txBody>
      </p:sp>
      <p:sp>
        <p:nvSpPr>
          <p:cNvPr id="9" name="Text 6"/>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- 48/50</a:t>
            </a:r>
            <a:endParaRPr lang="fr-FR" sz="800" noProof="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DÉROULÉ DU TOUR T17</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T17 - 2022-01 - P5 Décrue</a:t>
            </a:r>
            <a:endParaRPr lang="fr-FR" sz="2500" noProof="0" dirty="0"/>
          </a:p>
        </p:txBody>
      </p:sp>
      <p:sp>
        <p:nvSpPr>
          <p:cNvPr id="4" name="Shape 2"/>
          <p:cNvSpPr/>
          <p:nvPr/>
        </p:nvSpPr>
        <p:spPr>
          <a:xfrm>
            <a:off x="502920" y="1207008"/>
            <a:ext cx="8138160" cy="402336"/>
          </a:xfrm>
          <a:prstGeom prst="roundRect">
            <a:avLst>
              <a:gd name="adj" fmla="val 15909"/>
            </a:avLst>
          </a:prstGeom>
          <a:solidFill>
            <a:srgbClr val="FFF3D6"/>
          </a:solidFill>
          <a:ln w="12700">
            <a:solidFill>
              <a:srgbClr val="FFF3D6"/>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58368" y="1243584"/>
            <a:ext cx="7827264" cy="329184"/>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Presse (les 8 rôles) : </a:t>
            </a:r>
            <a:r>
              <a:rPr lang="fr-FR" sz="840" noProof="0" dirty="0">
                <a:solidFill>
                  <a:srgbClr val="043962"/>
                </a:solidFill>
                <a:latin typeface="Calibri" pitchFamily="34" charset="0"/>
                <a:ea typeface="Calibri" pitchFamily="34" charset="-122"/>
                <a:cs typeface="Calibri" pitchFamily="34" charset="-120"/>
              </a:rPr>
              <a:t>Premiers signes de détente sur les composants grand public (smartphones). L'automobile et l'industriel restent tendus, selon les distributeurs.</a:t>
            </a:r>
            <a:endParaRPr lang="fr-FR" sz="840" noProof="0" dirty="0"/>
          </a:p>
        </p:txBody>
      </p:sp>
      <p:graphicFrame>
        <p:nvGraphicFramePr>
          <p:cNvPr id="50" name="Table 0"/>
          <p:cNvGraphicFramePr>
            <a:graphicFrameLocks noGrp="1"/>
          </p:cNvGraphicFramePr>
          <p:nvPr>
            <p:extLst>
              <p:ext uri="{D42A27DB-BD31-4B8C-83A1-F6EECF244321}">
                <p14:modId xmlns:p14="http://schemas.microsoft.com/office/powerpoint/2010/main" val="1365857361"/>
              </p:ext>
            </p:extLst>
          </p:nvPr>
        </p:nvGraphicFramePr>
        <p:xfrm>
          <a:off x="502920" y="1719072"/>
          <a:ext cx="8138160" cy="836676"/>
        </p:xfrm>
        <a:graphic>
          <a:graphicData uri="http://schemas.openxmlformats.org/drawingml/2006/table">
            <a:tbl>
              <a:tblPr/>
              <a:tblGrid>
                <a:gridCol w="10972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237744">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Rôle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Ce qu'il reçoit, et lui seul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extLst>
                  <a:ext uri="{0D108BD9-81ED-4DB2-BD59-A6C34878D82A}">
                    <a16:rowId xmlns:a16="http://schemas.microsoft.com/office/drawing/2014/main" val="10000"/>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CompoDis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a:solidFill>
                            <a:srgbClr val="043962"/>
                          </a:solidFill>
                          <a:latin typeface="Calibri" pitchFamily="34" charset="0"/>
                          <a:ea typeface="Calibri" pitchFamily="34" charset="-122"/>
                          <a:cs typeface="Calibri" pitchFamily="34" charset="-120"/>
                        </a:rPr>
                        <a:t>Quelques clients annulent des commandes passées « par précaution » au trimestre précédent.</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7744">
                <a:tc>
                  <a:txBody>
                    <a:bodyPr/>
                    <a:lstStyle/>
                    <a:p>
                      <a:pPr marL="0" indent="0">
                        <a:buNone/>
                      </a:pPr>
                      <a:r>
                        <a:rPr lang="fr-FR" sz="750" b="1" noProof="0" dirty="0">
                          <a:solidFill>
                            <a:srgbClr val="176F98"/>
                          </a:solidFill>
                          <a:latin typeface="Calibri" pitchFamily="34" charset="0"/>
                          <a:ea typeface="Calibri" pitchFamily="34" charset="-122"/>
                          <a:cs typeface="Calibri" pitchFamily="34" charset="-120"/>
                        </a:rPr>
                        <a:t>NovaFab</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Mix produit : la demande smartphone ralentit ; créneaux libérés partiellement réalloués.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2"/>
                  </a:ext>
                </a:extLst>
              </a:tr>
            </a:tbl>
          </a:graphicData>
        </a:graphic>
      </p:graphicFrame>
      <p:sp>
        <p:nvSpPr>
          <p:cNvPr id="7" name="Shape 4"/>
          <p:cNvSpPr/>
          <p:nvPr/>
        </p:nvSpPr>
        <p:spPr>
          <a:xfrm>
            <a:off x="502920" y="2850791"/>
            <a:ext cx="8138160" cy="749808"/>
          </a:xfrm>
          <a:prstGeom prst="roundRect">
            <a:avLst>
              <a:gd name="adj" fmla="val 8537"/>
            </a:avLst>
          </a:prstGeom>
          <a:solidFill>
            <a:srgbClr val="EBF3F9"/>
          </a:solidFill>
          <a:ln w="12700">
            <a:solidFill>
              <a:srgbClr val="EBF3F9"/>
            </a:solidFill>
            <a:prstDash val="solid"/>
          </a:ln>
        </p:spPr>
        <p:txBody>
          <a:bodyPr/>
          <a:lstStyle/>
          <a:p>
            <a:endParaRPr lang="fr-FR" noProof="0" dirty="0"/>
          </a:p>
        </p:txBody>
      </p:sp>
      <p:sp>
        <p:nvSpPr>
          <p:cNvPr id="8" name="Text 5"/>
          <p:cNvSpPr/>
          <p:nvPr/>
        </p:nvSpPr>
        <p:spPr>
          <a:xfrm>
            <a:off x="658368" y="2887367"/>
            <a:ext cx="7827264" cy="676656"/>
          </a:xfrm>
          <a:prstGeom prst="rect">
            <a:avLst/>
          </a:prstGeom>
          <a:noFill/>
          <a:ln/>
        </p:spPr>
        <p:txBody>
          <a:bodyPr wrap="square" lIns="0" tIns="0" rIns="0" bIns="0" rtlCol="0" anchor="t"/>
          <a:lstStyle/>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Jalons qui bougent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Sous-système avionique lot 3 : avancement 90% (dérive)</a:t>
            </a:r>
            <a:endParaRPr lang="fr-FR" sz="680" noProof="0" dirty="0"/>
          </a:p>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Données injectées : </a:t>
            </a:r>
            <a:r>
              <a:rPr lang="fr-FR" sz="680" noProof="0" dirty="0">
                <a:solidFill>
                  <a:srgbClr val="043962"/>
                </a:solidFill>
                <a:latin typeface="Calibri" pitchFamily="34" charset="0"/>
                <a:ea typeface="Calibri" pitchFamily="34" charset="-122"/>
                <a:cs typeface="Calibri" pitchFamily="34" charset="-120"/>
              </a:rPr>
              <a:t>NovaFab : demande 130.7  -  Meridian : demande 130.7  -  </a:t>
            </a:r>
            <a:r>
              <a:rPr lang="fr-FR" sz="680" noProof="0" dirty="0" err="1">
                <a:solidFill>
                  <a:srgbClr val="043962"/>
                </a:solidFill>
                <a:latin typeface="Calibri" pitchFamily="34" charset="0"/>
                <a:ea typeface="Calibri" pitchFamily="34" charset="-122"/>
                <a:cs typeface="Calibri" pitchFamily="34" charset="-120"/>
              </a:rPr>
              <a:t>CompoDis</a:t>
            </a:r>
            <a:r>
              <a:rPr lang="fr-FR" sz="680" noProof="0" dirty="0">
                <a:solidFill>
                  <a:srgbClr val="043962"/>
                </a:solidFill>
                <a:latin typeface="Calibri" pitchFamily="34" charset="0"/>
                <a:ea typeface="Calibri" pitchFamily="34" charset="-122"/>
                <a:cs typeface="Calibri" pitchFamily="34" charset="-120"/>
              </a:rPr>
              <a:t> : flux servi 130.7, délai 24.5 sem., coût op 101.7, volatilité coût 0.004, p. incident 0.015  -  </a:t>
            </a:r>
            <a:r>
              <a:rPr lang="fr-FR" sz="680" noProof="0" dirty="0" err="1">
                <a:solidFill>
                  <a:srgbClr val="043962"/>
                </a:solidFill>
                <a:latin typeface="Calibri" pitchFamily="34" charset="0"/>
                <a:ea typeface="Calibri" pitchFamily="34" charset="-122"/>
                <a:cs typeface="Calibri" pitchFamily="34" charset="-120"/>
              </a:rPr>
              <a:t>Électis</a:t>
            </a:r>
            <a:r>
              <a:rPr lang="fr-FR" sz="680" noProof="0" dirty="0">
                <a:solidFill>
                  <a:srgbClr val="043962"/>
                </a:solidFill>
                <a:latin typeface="Calibri" pitchFamily="34" charset="0"/>
                <a:ea typeface="Calibri" pitchFamily="34" charset="-122"/>
                <a:cs typeface="Calibri" pitchFamily="34" charset="-120"/>
              </a:rPr>
              <a:t> : perf 1, dispo 0.998, coût op 125.2, volatilité coût 0.027  -  </a:t>
            </a:r>
            <a:r>
              <a:rPr lang="fr-FR" sz="680" noProof="0" dirty="0" err="1">
                <a:solidFill>
                  <a:srgbClr val="043962"/>
                </a:solidFill>
                <a:latin typeface="Calibri" pitchFamily="34" charset="0"/>
                <a:ea typeface="Calibri" pitchFamily="34" charset="-122"/>
                <a:cs typeface="Calibri" pitchFamily="34" charset="-120"/>
              </a:rPr>
              <a:t>SilPure</a:t>
            </a:r>
            <a:r>
              <a:rPr lang="fr-FR" sz="680" noProof="0" dirty="0">
                <a:solidFill>
                  <a:srgbClr val="043962"/>
                </a:solidFill>
                <a:latin typeface="Calibri" pitchFamily="34" charset="0"/>
                <a:ea typeface="Calibri" pitchFamily="34" charset="-122"/>
                <a:cs typeface="Calibri" pitchFamily="34" charset="-120"/>
              </a:rPr>
              <a:t> : coût op 125.2, volatilité coût 0.027, p. incident 0.007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flux servi 100.0</a:t>
            </a:r>
            <a:endParaRPr lang="fr-FR" sz="680" noProof="0" dirty="0"/>
          </a:p>
        </p:txBody>
      </p:sp>
      <p:sp>
        <p:nvSpPr>
          <p:cNvPr id="9" name="Text 6"/>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- 49/50</a:t>
            </a:r>
            <a:endParaRPr lang="fr-FR" sz="800" noProof="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fr-FR" sz="1050" b="1" kern="0" spc="300" noProof="0" dirty="0">
                <a:solidFill>
                  <a:srgbClr val="176F98"/>
                </a:solidFill>
                <a:latin typeface="Calibri" pitchFamily="34" charset="0"/>
                <a:ea typeface="Calibri" pitchFamily="34" charset="-122"/>
                <a:cs typeface="Calibri" pitchFamily="34" charset="-120"/>
              </a:rPr>
              <a:t>ANNEXE - DÉROULÉ DU TOUR T18</a:t>
            </a:r>
            <a:endParaRPr lang="fr-FR" sz="1050" noProof="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lgn="l">
              <a:buNone/>
            </a:pPr>
            <a:r>
              <a:rPr lang="fr-FR" sz="2500" b="1" noProof="0" dirty="0">
                <a:solidFill>
                  <a:srgbClr val="043962"/>
                </a:solidFill>
                <a:latin typeface="Calibri" pitchFamily="34" charset="0"/>
                <a:ea typeface="Calibri" pitchFamily="34" charset="-122"/>
                <a:cs typeface="Calibri" pitchFamily="34" charset="-120"/>
              </a:rPr>
              <a:t>T18 - 2022-02 - P5 Décrue</a:t>
            </a:r>
            <a:endParaRPr lang="fr-FR" sz="2500" noProof="0" dirty="0"/>
          </a:p>
        </p:txBody>
      </p:sp>
      <p:sp>
        <p:nvSpPr>
          <p:cNvPr id="4" name="Shape 2"/>
          <p:cNvSpPr/>
          <p:nvPr/>
        </p:nvSpPr>
        <p:spPr>
          <a:xfrm>
            <a:off x="502920" y="1207008"/>
            <a:ext cx="8138160" cy="402336"/>
          </a:xfrm>
          <a:prstGeom prst="roundRect">
            <a:avLst>
              <a:gd name="adj" fmla="val 15909"/>
            </a:avLst>
          </a:prstGeom>
          <a:solidFill>
            <a:srgbClr val="FFF3D6"/>
          </a:solidFill>
          <a:ln w="12700">
            <a:solidFill>
              <a:srgbClr val="FFF3D6"/>
            </a:solidFill>
            <a:prstDash val="solid"/>
          </a:ln>
          <a:effectLst>
            <a:outerShdw blurRad="88900" dist="25400" dir="2700000" algn="bl" rotWithShape="0">
              <a:srgbClr val="1F3050">
                <a:alpha val="18000"/>
              </a:srgbClr>
            </a:outerShdw>
          </a:effectLst>
        </p:spPr>
        <p:txBody>
          <a:bodyPr/>
          <a:lstStyle/>
          <a:p>
            <a:endParaRPr lang="fr-FR" noProof="0" dirty="0"/>
          </a:p>
        </p:txBody>
      </p:sp>
      <p:sp>
        <p:nvSpPr>
          <p:cNvPr id="5" name="Text 3"/>
          <p:cNvSpPr/>
          <p:nvPr/>
        </p:nvSpPr>
        <p:spPr>
          <a:xfrm>
            <a:off x="658368" y="1243584"/>
            <a:ext cx="7827264" cy="329184"/>
          </a:xfrm>
          <a:prstGeom prst="rect">
            <a:avLst/>
          </a:prstGeom>
          <a:noFill/>
          <a:ln/>
        </p:spPr>
        <p:txBody>
          <a:bodyPr wrap="square" lIns="0" tIns="0" rIns="0" bIns="0" rtlCol="0" anchor="ctr"/>
          <a:lstStyle/>
          <a:p>
            <a:pPr marL="0" indent="0">
              <a:buNone/>
            </a:pPr>
            <a:r>
              <a:rPr lang="fr-FR" sz="840" b="1" noProof="0" dirty="0">
                <a:solidFill>
                  <a:srgbClr val="043962"/>
                </a:solidFill>
                <a:latin typeface="Calibri" pitchFamily="34" charset="0"/>
                <a:ea typeface="Calibri" pitchFamily="34" charset="-122"/>
                <a:cs typeface="Calibri" pitchFamily="34" charset="-120"/>
              </a:rPr>
              <a:t>Presse (les 8 rôles) : </a:t>
            </a:r>
            <a:r>
              <a:rPr lang="fr-FR" sz="840" noProof="0" dirty="0">
                <a:solidFill>
                  <a:srgbClr val="043962"/>
                </a:solidFill>
                <a:latin typeface="Calibri" pitchFamily="34" charset="0"/>
                <a:ea typeface="Calibri" pitchFamily="34" charset="-122"/>
                <a:cs typeface="Calibri" pitchFamily="34" charset="-120"/>
              </a:rPr>
              <a:t>La détente se confirme lentement. Les délais restent longs mais cessent de s'allonger, pour la première fois depuis un an et demi.</a:t>
            </a:r>
            <a:endParaRPr lang="fr-FR" sz="840" noProof="0" dirty="0"/>
          </a:p>
        </p:txBody>
      </p:sp>
      <p:graphicFrame>
        <p:nvGraphicFramePr>
          <p:cNvPr id="51" name="Table 0"/>
          <p:cNvGraphicFramePr>
            <a:graphicFrameLocks noGrp="1"/>
          </p:cNvGraphicFramePr>
          <p:nvPr>
            <p:extLst>
              <p:ext uri="{D42A27DB-BD31-4B8C-83A1-F6EECF244321}">
                <p14:modId xmlns:p14="http://schemas.microsoft.com/office/powerpoint/2010/main" val="3542891498"/>
              </p:ext>
            </p:extLst>
          </p:nvPr>
        </p:nvGraphicFramePr>
        <p:xfrm>
          <a:off x="502920" y="1719072"/>
          <a:ext cx="8138160" cy="836676"/>
        </p:xfrm>
        <a:graphic>
          <a:graphicData uri="http://schemas.openxmlformats.org/drawingml/2006/table">
            <a:tbl>
              <a:tblPr/>
              <a:tblGrid>
                <a:gridCol w="10972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237744">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Rôle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tc>
                  <a:txBody>
                    <a:bodyPr/>
                    <a:lstStyle/>
                    <a:p>
                      <a:pPr marL="0" indent="0">
                        <a:buNone/>
                      </a:pPr>
                      <a:r>
                        <a:rPr lang="fr-FR" sz="750" b="1" noProof="0" dirty="0">
                          <a:solidFill>
                            <a:srgbClr val="FFFFFF"/>
                          </a:solidFill>
                          <a:latin typeface="Calibri" pitchFamily="34" charset="0"/>
                          <a:ea typeface="Calibri" pitchFamily="34" charset="-122"/>
                          <a:cs typeface="Calibri" pitchFamily="34" charset="-120"/>
                        </a:rPr>
                        <a:t>Ce qu'il reçoit, et lui seul</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08BD2"/>
                    </a:solidFill>
                  </a:tcPr>
                </a:tc>
                <a:extLst>
                  <a:ext uri="{0D108BD9-81ED-4DB2-BD59-A6C34878D82A}">
                    <a16:rowId xmlns:a16="http://schemas.microsoft.com/office/drawing/2014/main" val="10000"/>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Orbitalys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Échanges : </a:t>
                      </a:r>
                      <a:r>
                        <a:rPr lang="fr-FR" sz="750" noProof="0" dirty="0">
                          <a:solidFill>
                            <a:srgbClr val="043962"/>
                          </a:solidFill>
                          <a:latin typeface="Calibri" pitchFamily="34" charset="0"/>
                          <a:ea typeface="Calibri" pitchFamily="34" charset="-122"/>
                          <a:cs typeface="Calibri" pitchFamily="34" charset="-120"/>
                        </a:rPr>
                        <a:t>Courriel de Claire Vasseur : « le plan de rattrapage HÉLIOS-2 tient. Revue finale le mois prochain. »</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7744">
                <a:tc>
                  <a:txBody>
                    <a:bodyPr/>
                    <a:lstStyle/>
                    <a:p>
                      <a:pPr marL="0" indent="0">
                        <a:buNone/>
                      </a:pPr>
                      <a:r>
                        <a:rPr lang="fr-FR" sz="750" b="1" noProof="0" dirty="0" err="1">
                          <a:solidFill>
                            <a:srgbClr val="176F98"/>
                          </a:solidFill>
                          <a:latin typeface="Calibri" pitchFamily="34" charset="0"/>
                          <a:ea typeface="Calibri" pitchFamily="34" charset="-122"/>
                          <a:cs typeface="Calibri" pitchFamily="34" charset="-120"/>
                        </a:rPr>
                        <a:t>CompoDis</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tc>
                  <a:txBody>
                    <a:bodyPr/>
                    <a:lstStyle/>
                    <a:p>
                      <a:pPr marL="0" indent="0">
                        <a:buNone/>
                      </a:pPr>
                      <a:r>
                        <a:rPr lang="fr-FR" sz="750" b="1" noProof="0" dirty="0">
                          <a:solidFill>
                            <a:srgbClr val="043962"/>
                          </a:solidFill>
                          <a:latin typeface="Calibri" pitchFamily="34" charset="0"/>
                          <a:ea typeface="Calibri" pitchFamily="34" charset="-122"/>
                          <a:cs typeface="Calibri" pitchFamily="34" charset="-120"/>
                        </a:rPr>
                        <a:t>Interne : </a:t>
                      </a:r>
                      <a:r>
                        <a:rPr lang="fr-FR" sz="750" noProof="0" dirty="0">
                          <a:solidFill>
                            <a:srgbClr val="043962"/>
                          </a:solidFill>
                          <a:latin typeface="Calibri" pitchFamily="34" charset="0"/>
                          <a:ea typeface="Calibri" pitchFamily="34" charset="-122"/>
                          <a:cs typeface="Calibri" pitchFamily="34" charset="-120"/>
                        </a:rPr>
                        <a:t>Les annulations de sur-commandes s'accélèrent - le carnet « réel » se dévoile.</a:t>
                      </a:r>
                      <a:endParaRPr lang="fr-FR" sz="750" noProof="0" dirty="0">
                        <a:latin typeface="Calibri" charset="0"/>
                        <a:ea typeface="Calibri" charset="0"/>
                        <a:cs typeface="Calibri" charset="0"/>
                      </a:endParaRPr>
                    </a:p>
                  </a:txBody>
                  <a:tcPr marL="82296" marR="82296" marT="82296" marB="8229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BF3F9"/>
                    </a:solidFill>
                  </a:tcPr>
                </a:tc>
                <a:extLst>
                  <a:ext uri="{0D108BD9-81ED-4DB2-BD59-A6C34878D82A}">
                    <a16:rowId xmlns:a16="http://schemas.microsoft.com/office/drawing/2014/main" val="10002"/>
                  </a:ext>
                </a:extLst>
              </a:tr>
            </a:tbl>
          </a:graphicData>
        </a:graphic>
      </p:graphicFrame>
      <p:sp>
        <p:nvSpPr>
          <p:cNvPr id="7" name="Shape 4"/>
          <p:cNvSpPr/>
          <p:nvPr/>
        </p:nvSpPr>
        <p:spPr>
          <a:xfrm>
            <a:off x="502920" y="2785477"/>
            <a:ext cx="8138160" cy="749808"/>
          </a:xfrm>
          <a:prstGeom prst="roundRect">
            <a:avLst>
              <a:gd name="adj" fmla="val 8537"/>
            </a:avLst>
          </a:prstGeom>
          <a:solidFill>
            <a:srgbClr val="EBF3F9"/>
          </a:solidFill>
          <a:ln w="12700">
            <a:solidFill>
              <a:srgbClr val="EBF3F9"/>
            </a:solidFill>
            <a:prstDash val="solid"/>
          </a:ln>
        </p:spPr>
        <p:txBody>
          <a:bodyPr/>
          <a:lstStyle/>
          <a:p>
            <a:endParaRPr lang="fr-FR" noProof="0" dirty="0"/>
          </a:p>
        </p:txBody>
      </p:sp>
      <p:sp>
        <p:nvSpPr>
          <p:cNvPr id="8" name="Text 5"/>
          <p:cNvSpPr/>
          <p:nvPr/>
        </p:nvSpPr>
        <p:spPr>
          <a:xfrm>
            <a:off x="658368" y="2822053"/>
            <a:ext cx="7827264" cy="676656"/>
          </a:xfrm>
          <a:prstGeom prst="rect">
            <a:avLst/>
          </a:prstGeom>
          <a:noFill/>
          <a:ln/>
        </p:spPr>
        <p:txBody>
          <a:bodyPr wrap="square" lIns="0" tIns="0" rIns="0" bIns="0" rtlCol="0" anchor="t"/>
          <a:lstStyle/>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Jalons qui bougent : </a:t>
            </a:r>
            <a:r>
              <a:rPr lang="fr-FR" sz="680" noProof="0" dirty="0" err="1">
                <a:solidFill>
                  <a:srgbClr val="043962"/>
                </a:solidFill>
                <a:latin typeface="Calibri" pitchFamily="34" charset="0"/>
                <a:ea typeface="Calibri" pitchFamily="34" charset="-122"/>
                <a:cs typeface="Calibri" pitchFamily="34" charset="-120"/>
              </a:rPr>
              <a:t>Orbitalys</a:t>
            </a:r>
            <a:r>
              <a:rPr lang="fr-FR" sz="680" noProof="0" dirty="0">
                <a:solidFill>
                  <a:srgbClr val="043962"/>
                </a:solidFill>
                <a:latin typeface="Calibri" pitchFamily="34" charset="0"/>
                <a:ea typeface="Calibri" pitchFamily="34" charset="-122"/>
                <a:cs typeface="Calibri" pitchFamily="34" charset="-120"/>
              </a:rPr>
              <a:t> - Livraison HÉLIOS-2 : avancement 95% (dérive)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Sous-système avionique lot 3 : terminé</a:t>
            </a:r>
            <a:endParaRPr lang="fr-FR" sz="680" noProof="0" dirty="0"/>
          </a:p>
          <a:p>
            <a:pPr marL="0" indent="0">
              <a:lnSpc>
                <a:spcPct val="104000"/>
              </a:lnSpc>
              <a:buNone/>
            </a:pPr>
            <a:r>
              <a:rPr lang="fr-FR" sz="680" b="1" noProof="0" dirty="0">
                <a:solidFill>
                  <a:srgbClr val="176F98"/>
                </a:solidFill>
                <a:latin typeface="Calibri" pitchFamily="34" charset="0"/>
                <a:ea typeface="Calibri" pitchFamily="34" charset="-122"/>
                <a:cs typeface="Calibri" pitchFamily="34" charset="-120"/>
              </a:rPr>
              <a:t>Données injectées : </a:t>
            </a:r>
            <a:r>
              <a:rPr lang="fr-FR" sz="680" noProof="0" dirty="0">
                <a:solidFill>
                  <a:srgbClr val="043962"/>
                </a:solidFill>
                <a:latin typeface="Calibri" pitchFamily="34" charset="0"/>
                <a:ea typeface="Calibri" pitchFamily="34" charset="-122"/>
                <a:cs typeface="Calibri" pitchFamily="34" charset="-120"/>
              </a:rPr>
              <a:t>NovaFab : demande 140.2  -  Meridian : demande 140.2  -  </a:t>
            </a:r>
            <a:r>
              <a:rPr lang="fr-FR" sz="680" noProof="0" dirty="0" err="1">
                <a:solidFill>
                  <a:srgbClr val="043962"/>
                </a:solidFill>
                <a:latin typeface="Calibri" pitchFamily="34" charset="0"/>
                <a:ea typeface="Calibri" pitchFamily="34" charset="-122"/>
                <a:cs typeface="Calibri" pitchFamily="34" charset="-120"/>
              </a:rPr>
              <a:t>CompoDis</a:t>
            </a:r>
            <a:r>
              <a:rPr lang="fr-FR" sz="680" noProof="0" dirty="0">
                <a:solidFill>
                  <a:srgbClr val="043962"/>
                </a:solidFill>
                <a:latin typeface="Calibri" pitchFamily="34" charset="0"/>
                <a:ea typeface="Calibri" pitchFamily="34" charset="-122"/>
                <a:cs typeface="Calibri" pitchFamily="34" charset="-120"/>
              </a:rPr>
              <a:t> : flux servi 140.2, délai 24.0 sem., coût op 102.1, volatilité coût 0.004, p. incident 0.015  -  </a:t>
            </a:r>
            <a:r>
              <a:rPr lang="fr-FR" sz="680" noProof="0" dirty="0" err="1">
                <a:solidFill>
                  <a:srgbClr val="043962"/>
                </a:solidFill>
                <a:latin typeface="Calibri" pitchFamily="34" charset="0"/>
                <a:ea typeface="Calibri" pitchFamily="34" charset="-122"/>
                <a:cs typeface="Calibri" pitchFamily="34" charset="-120"/>
              </a:rPr>
              <a:t>Électis</a:t>
            </a:r>
            <a:r>
              <a:rPr lang="fr-FR" sz="680" noProof="0" dirty="0">
                <a:solidFill>
                  <a:srgbClr val="043962"/>
                </a:solidFill>
                <a:latin typeface="Calibri" pitchFamily="34" charset="0"/>
                <a:ea typeface="Calibri" pitchFamily="34" charset="-122"/>
                <a:cs typeface="Calibri" pitchFamily="34" charset="-120"/>
              </a:rPr>
              <a:t> : perf 1, dispo 1, coût op 125.2, volatilité coût 0.022  -  </a:t>
            </a:r>
            <a:r>
              <a:rPr lang="fr-FR" sz="680" noProof="0" dirty="0" err="1">
                <a:solidFill>
                  <a:srgbClr val="043962"/>
                </a:solidFill>
                <a:latin typeface="Calibri" pitchFamily="34" charset="0"/>
                <a:ea typeface="Calibri" pitchFamily="34" charset="-122"/>
                <a:cs typeface="Calibri" pitchFamily="34" charset="-120"/>
              </a:rPr>
              <a:t>SilPure</a:t>
            </a:r>
            <a:r>
              <a:rPr lang="fr-FR" sz="680" noProof="0" dirty="0">
                <a:solidFill>
                  <a:srgbClr val="043962"/>
                </a:solidFill>
                <a:latin typeface="Calibri" pitchFamily="34" charset="0"/>
                <a:ea typeface="Calibri" pitchFamily="34" charset="-122"/>
                <a:cs typeface="Calibri" pitchFamily="34" charset="-120"/>
              </a:rPr>
              <a:t> : coût op 125.2, volatilité coût 0.022, p. incident 0.008  -  </a:t>
            </a:r>
            <a:r>
              <a:rPr lang="fr-FR" sz="680" noProof="0" dirty="0" err="1">
                <a:solidFill>
                  <a:srgbClr val="043962"/>
                </a:solidFill>
                <a:latin typeface="Calibri" pitchFamily="34" charset="0"/>
                <a:ea typeface="Calibri" pitchFamily="34" charset="-122"/>
                <a:cs typeface="Calibri" pitchFamily="34" charset="-120"/>
              </a:rPr>
              <a:t>AvioSys</a:t>
            </a:r>
            <a:r>
              <a:rPr lang="fr-FR" sz="680" noProof="0" dirty="0">
                <a:solidFill>
                  <a:srgbClr val="043962"/>
                </a:solidFill>
                <a:latin typeface="Calibri" pitchFamily="34" charset="0"/>
                <a:ea typeface="Calibri" pitchFamily="34" charset="-122"/>
                <a:cs typeface="Calibri" pitchFamily="34" charset="-120"/>
              </a:rPr>
              <a:t> : flux servi 100.0</a:t>
            </a:r>
            <a:endParaRPr lang="fr-FR" sz="680" noProof="0" dirty="0"/>
          </a:p>
        </p:txBody>
      </p:sp>
      <p:sp>
        <p:nvSpPr>
          <p:cNvPr id="9" name="Text 6"/>
          <p:cNvSpPr/>
          <p:nvPr/>
        </p:nvSpPr>
        <p:spPr>
          <a:xfrm>
            <a:off x="6949440" y="4882896"/>
            <a:ext cx="1691640" cy="219456"/>
          </a:xfrm>
          <a:prstGeom prst="rect">
            <a:avLst/>
          </a:prstGeom>
          <a:noFill/>
          <a:ln/>
        </p:spPr>
        <p:txBody>
          <a:bodyPr wrap="square" lIns="0" tIns="0" rIns="0" bIns="0" rtlCol="0" anchor="ctr"/>
          <a:lstStyle/>
          <a:p>
            <a:pPr marL="0" indent="0" algn="r">
              <a:buNone/>
            </a:pPr>
            <a:r>
              <a:rPr lang="fr-FR" sz="800" noProof="0" dirty="0">
                <a:solidFill>
                  <a:srgbClr val="8C8C9A"/>
                </a:solidFill>
                <a:latin typeface="Calibri" pitchFamily="34" charset="0"/>
                <a:ea typeface="Calibri" pitchFamily="34" charset="-122"/>
                <a:cs typeface="Calibri" pitchFamily="34" charset="-120"/>
              </a:rPr>
              <a:t>Campagne HÉLIOS - interne - 50/50</a:t>
            </a:r>
            <a:endParaRPr lang="fr-FR" sz="800"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f9646e7-a2b7-4055-b37c-fae88eceb046}" enabled="1" method="Privileged" siteId="{9bc3d1cd-55ca-4e13-b5a2-a9e9deaeba3f}" contentBits="2" removed="0"/>
</clbl:labelList>
</file>

<file path=docProps/app.xml><?xml version="1.0" encoding="utf-8"?>
<Properties xmlns="http://schemas.openxmlformats.org/officeDocument/2006/extended-properties" xmlns:vt="http://schemas.openxmlformats.org/officeDocument/2006/docPropsVTypes">
  <TotalTime>3737</TotalTime>
  <Words>11533</Words>
  <Application>Microsoft Office PowerPoint</Application>
  <PresentationFormat>Affichage à l'écran (16:9)</PresentationFormat>
  <Paragraphs>912</Paragraphs>
  <Slides>38</Slides>
  <Notes>37</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38</vt:i4>
      </vt:variant>
    </vt:vector>
  </HeadingPairs>
  <TitlesOfParts>
    <vt:vector size="43" baseType="lpstr">
      <vt:lpstr>Aptos</vt:lpstr>
      <vt:lpstr>Arial</vt:lpstr>
      <vt:lpstr>Calibri</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Campagne HÉLIOS : la phase d'expérimentation</dc:title>
  <dc:subject>PptxGenJS Presentation</dc:subject>
  <dc:creator>John Hoarau</dc:creator>
  <cp:lastModifiedBy>John HOARAU</cp:lastModifiedBy>
  <cp:revision>7</cp:revision>
  <dcterms:created xsi:type="dcterms:W3CDTF">2026-07-15T12:51:35Z</dcterms:created>
  <dcterms:modified xsi:type="dcterms:W3CDTF">2026-07-24T15:07:03Z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Sensitivity: C1-Internal</vt:lpwstr>
  </property>
</Properties>
</file>