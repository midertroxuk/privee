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handoutMasterIdLst>
    <p:handoutMasterId r:id="rId26"/>
  </p:handoutMasterIdLst>
  <p:sldIdLst>
    <p:sldId id="256" r:id="rId2"/>
    <p:sldId id="276" r:id="rId3"/>
    <p:sldId id="258" r:id="rId4"/>
    <p:sldId id="259" r:id="rId5"/>
    <p:sldId id="257" r:id="rId6"/>
    <p:sldId id="262" r:id="rId7"/>
    <p:sldId id="263" r:id="rId8"/>
    <p:sldId id="278" r:id="rId9"/>
    <p:sldId id="260" r:id="rId10"/>
    <p:sldId id="261" r:id="rId11"/>
    <p:sldId id="264" r:id="rId12"/>
    <p:sldId id="265" r:id="rId13"/>
    <p:sldId id="266" r:id="rId14"/>
    <p:sldId id="267" r:id="rId15"/>
    <p:sldId id="268" r:id="rId16"/>
    <p:sldId id="277" r:id="rId17"/>
    <p:sldId id="269" r:id="rId18"/>
    <p:sldId id="270" r:id="rId19"/>
    <p:sldId id="271" r:id="rId20"/>
    <p:sldId id="279" r:id="rId21"/>
    <p:sldId id="273" r:id="rId22"/>
    <p:sldId id="274" r:id="rId23"/>
    <p:sldId id="275"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6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6449" autoAdjust="0"/>
  </p:normalViewPr>
  <p:slideViewPr>
    <p:cSldViewPr snapToGrid="0" snapToObjects="1">
      <p:cViewPr varScale="1">
        <p:scale>
          <a:sx n="113" d="100"/>
          <a:sy n="113" d="100"/>
        </p:scale>
        <p:origin x="474" y="108"/>
      </p:cViewPr>
      <p:guideLst>
        <p:guide orient="horz" pos="2160"/>
        <p:guide pos="6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645E2E08-6097-60F5-19B4-BF9DCFFB7763}"/>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FBCCB1A4-C85B-DE7B-5163-BA3F72307712}"/>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E31A5BB8-E426-4656-9173-776C5DA55679}" type="datetimeFigureOut">
              <a:rPr lang="fr-FR" smtClean="0"/>
              <a:t>26/08/2026</a:t>
            </a:fld>
            <a:endParaRPr lang="fr-FR"/>
          </a:p>
        </p:txBody>
      </p:sp>
      <p:sp>
        <p:nvSpPr>
          <p:cNvPr id="4" name="Espace réservé du pied de page 3">
            <a:extLst>
              <a:ext uri="{FF2B5EF4-FFF2-40B4-BE49-F238E27FC236}">
                <a16:creationId xmlns:a16="http://schemas.microsoft.com/office/drawing/2014/main" id="{53833F8E-4375-6769-DF7C-48EE4BF69898}"/>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2C3C9AB5-0CA6-A96C-560A-94DCCE96E935}"/>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90945F58-A9FB-42E5-9A72-A1A889672332}" type="slidenum">
              <a:rPr lang="fr-FR" smtClean="0"/>
              <a:t>‹N°›</a:t>
            </a:fld>
            <a:endParaRPr lang="fr-FR"/>
          </a:p>
        </p:txBody>
      </p:sp>
    </p:spTree>
    <p:extLst>
      <p:ext uri="{BB962C8B-B14F-4D97-AF65-F5344CB8AC3E}">
        <p14:creationId xmlns:p14="http://schemas.microsoft.com/office/powerpoint/2010/main" val="72528692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347993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a:t>
            </a:r>
            <a:r>
              <a:rPr lang="en-US" dirty="0" err="1"/>
              <a:t>Intership</a:t>
            </a:r>
            <a:r>
              <a:rPr lang="en-US" dirty="0"/>
              <a:t>, ALTEN SO, DIN , TLSE)</a:t>
            </a:r>
          </a:p>
          <a:p>
            <a:r>
              <a:rPr lang="en-US" dirty="0"/>
              <a:t>1 number to open</a:t>
            </a:r>
          </a:p>
          <a:p>
            <a:r>
              <a:rPr lang="fr-FR" dirty="0"/>
              <a:t>8 </a:t>
            </a:r>
            <a:r>
              <a:rPr lang="fr-FR" dirty="0" err="1"/>
              <a:t>turns</a:t>
            </a:r>
            <a:r>
              <a:rPr lang="fr-FR" dirty="0"/>
              <a:t> </a:t>
            </a:r>
            <a:r>
              <a:rPr lang="fr-FR" dirty="0" err="1"/>
              <a:t>before</a:t>
            </a:r>
            <a:r>
              <a:rPr lang="fr-FR" dirty="0"/>
              <a:t> a satellite manufacturer </a:t>
            </a:r>
            <a:r>
              <a:rPr lang="fr-FR" dirty="0" err="1"/>
              <a:t>missed</a:t>
            </a:r>
            <a:r>
              <a:rPr lang="fr-FR" dirty="0"/>
              <a:t> </a:t>
            </a:r>
            <a:r>
              <a:rPr lang="fr-FR" dirty="0" err="1"/>
              <a:t>its</a:t>
            </a:r>
            <a:r>
              <a:rPr lang="fr-FR" dirty="0"/>
              <a:t> </a:t>
            </a:r>
            <a:r>
              <a:rPr lang="fr-FR" dirty="0" err="1"/>
              <a:t>delivery</a:t>
            </a:r>
            <a:r>
              <a:rPr lang="fr-FR" dirty="0"/>
              <a:t> </a:t>
            </a:r>
            <a:r>
              <a:rPr lang="fr-FR" dirty="0" err="1"/>
              <a:t>commitment</a:t>
            </a:r>
            <a:r>
              <a:rPr lang="fr-FR" dirty="0"/>
              <a:t>, the </a:t>
            </a:r>
            <a:r>
              <a:rPr lang="fr-FR" dirty="0" err="1"/>
              <a:t>tool</a:t>
            </a:r>
            <a:r>
              <a:rPr lang="fr-FR" dirty="0"/>
              <a:t> I </a:t>
            </a:r>
            <a:r>
              <a:rPr lang="fr-FR" dirty="0" err="1"/>
              <a:t>built</a:t>
            </a:r>
            <a:r>
              <a:rPr lang="fr-FR" dirty="0"/>
              <a:t> </a:t>
            </a:r>
            <a:r>
              <a:rPr lang="fr-FR" dirty="0" err="1"/>
              <a:t>had</a:t>
            </a:r>
            <a:r>
              <a:rPr lang="fr-FR" dirty="0"/>
              <a:t> </a:t>
            </a:r>
            <a:r>
              <a:rPr lang="fr-FR" dirty="0" err="1"/>
              <a:t>already</a:t>
            </a:r>
            <a:r>
              <a:rPr lang="fr-FR" dirty="0"/>
              <a:t> </a:t>
            </a:r>
            <a:r>
              <a:rPr lang="fr-FR" dirty="0" err="1"/>
              <a:t>flagged</a:t>
            </a:r>
            <a:r>
              <a:rPr lang="fr-FR" dirty="0"/>
              <a:t> </a:t>
            </a:r>
            <a:r>
              <a:rPr lang="fr-FR" dirty="0" err="1"/>
              <a:t>it</a:t>
            </a:r>
            <a:r>
              <a:rPr lang="fr-FR" dirty="0"/>
              <a:t>.</a:t>
            </a:r>
          </a:p>
          <a:p>
            <a:r>
              <a:rPr lang="fr-FR" dirty="0"/>
              <a:t>At </a:t>
            </a:r>
            <a:r>
              <a:rPr lang="fr-FR" dirty="0" err="1"/>
              <a:t>that</a:t>
            </a:r>
            <a:r>
              <a:rPr lang="fr-FR" dirty="0"/>
              <a:t> moment, </a:t>
            </a:r>
            <a:r>
              <a:rPr lang="fr-FR" dirty="0" err="1"/>
              <a:t>its</a:t>
            </a:r>
            <a:r>
              <a:rPr lang="fr-FR" dirty="0"/>
              <a:t> </a:t>
            </a:r>
            <a:r>
              <a:rPr lang="fr-FR" dirty="0" err="1"/>
              <a:t>own</a:t>
            </a:r>
            <a:r>
              <a:rPr lang="fr-FR" dirty="0"/>
              <a:t> manager </a:t>
            </a:r>
            <a:r>
              <a:rPr lang="fr-FR" dirty="0" err="1"/>
              <a:t>was</a:t>
            </a:r>
            <a:r>
              <a:rPr lang="fr-FR" dirty="0"/>
              <a:t> </a:t>
            </a:r>
            <a:r>
              <a:rPr lang="fr-FR" dirty="0" err="1"/>
              <a:t>declaring</a:t>
            </a:r>
            <a:r>
              <a:rPr lang="fr-FR" dirty="0"/>
              <a:t> an </a:t>
            </a:r>
            <a:r>
              <a:rPr lang="fr-FR" dirty="0" err="1"/>
              <a:t>urgency</a:t>
            </a:r>
            <a:r>
              <a:rPr lang="fr-FR" dirty="0"/>
              <a:t> </a:t>
            </a:r>
            <a:r>
              <a:rPr lang="fr-FR" dirty="0" err="1"/>
              <a:t>near</a:t>
            </a:r>
            <a:r>
              <a:rPr lang="fr-FR" dirty="0"/>
              <a:t> inexistent</a:t>
            </a:r>
          </a:p>
          <a:p>
            <a:r>
              <a:rPr lang="fr-FR" dirty="0" err="1"/>
              <a:t>Flagging</a:t>
            </a:r>
            <a:r>
              <a:rPr lang="fr-FR" dirty="0"/>
              <a:t>, </a:t>
            </a:r>
            <a:r>
              <a:rPr lang="fr-FR" dirty="0" err="1"/>
              <a:t>mesuring</a:t>
            </a:r>
            <a:r>
              <a:rPr lang="fr-FR" dirty="0"/>
              <a:t>, </a:t>
            </a:r>
            <a:r>
              <a:rPr lang="fr-FR" dirty="0" err="1"/>
              <a:t>forecasting</a:t>
            </a:r>
            <a:r>
              <a:rPr lang="fr-FR" dirty="0"/>
              <a:t> </a:t>
            </a:r>
            <a:r>
              <a:rPr lang="fr-FR" dirty="0" err="1"/>
              <a:t>that</a:t>
            </a:r>
            <a:r>
              <a:rPr lang="fr-FR" dirty="0"/>
              <a:t> gap </a:t>
            </a:r>
            <a:r>
              <a:rPr lang="fr-FR" dirty="0" err="1"/>
              <a:t>is</a:t>
            </a:r>
            <a:r>
              <a:rPr lang="fr-FR" dirty="0"/>
              <a:t> </a:t>
            </a:r>
            <a:r>
              <a:rPr lang="fr-FR" dirty="0" err="1"/>
              <a:t>what</a:t>
            </a:r>
            <a:r>
              <a:rPr lang="fr-FR" dirty="0"/>
              <a:t> </a:t>
            </a:r>
            <a:r>
              <a:rPr lang="fr-FR" dirty="0" err="1"/>
              <a:t>this</a:t>
            </a:r>
            <a:r>
              <a:rPr lang="fr-FR" dirty="0"/>
              <a:t> mission </a:t>
            </a:r>
            <a:r>
              <a:rPr lang="fr-FR" dirty="0" err="1"/>
              <a:t>is</a:t>
            </a:r>
            <a:r>
              <a:rPr lang="fr-FR" dirty="0"/>
              <a:t> </a:t>
            </a:r>
            <a:r>
              <a:rPr lang="fr-FR" dirty="0" err="1"/>
              <a:t>realy</a:t>
            </a:r>
            <a:r>
              <a:rPr lang="fr-FR" dirty="0"/>
              <a:t> about</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54446-C892-6494-B2A4-C9F697382E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0CE1B-5B2F-7817-B4E0-77374B520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78180-C77E-1C8E-56F5-8826B1B1FB04}"/>
              </a:ext>
            </a:extLst>
          </p:cNvPr>
          <p:cNvSpPr>
            <a:spLocks noGrp="1"/>
          </p:cNvSpPr>
          <p:nvPr>
            <p:ph type="body" idx="1"/>
          </p:nvPr>
        </p:nvSpPr>
        <p:spPr/>
        <p:txBody>
          <a:bodyPr/>
          <a:lstStyle/>
          <a:p>
            <a:r>
              <a:rPr lang="en-US" dirty="0"/>
              <a:t>This </a:t>
            </a:r>
            <a:r>
              <a:rPr lang="en-US" dirty="0" err="1"/>
              <a:t>prez</a:t>
            </a:r>
            <a:r>
              <a:rPr lang="en-US" dirty="0"/>
              <a:t> will be in 5 parts ! </a:t>
            </a:r>
          </a:p>
          <a:p>
            <a:r>
              <a:rPr lang="fr-FR" dirty="0"/>
              <a:t>The first </a:t>
            </a:r>
            <a:r>
              <a:rPr lang="fr-FR" dirty="0" err="1"/>
              <a:t>three</a:t>
            </a:r>
            <a:r>
              <a:rPr lang="fr-FR" dirty="0"/>
              <a:t> </a:t>
            </a:r>
            <a:r>
              <a:rPr lang="fr-FR" dirty="0" err="1"/>
              <a:t>build</a:t>
            </a:r>
            <a:r>
              <a:rPr lang="fr-FR" dirty="0"/>
              <a:t> the instrument.</a:t>
            </a:r>
          </a:p>
          <a:p>
            <a:r>
              <a:rPr lang="fr-FR" dirty="0"/>
              <a:t>The 4 </a:t>
            </a:r>
            <a:r>
              <a:rPr lang="fr-FR" dirty="0" err="1"/>
              <a:t>is</a:t>
            </a:r>
            <a:r>
              <a:rPr lang="fr-FR" dirty="0"/>
              <a:t> </a:t>
            </a:r>
            <a:r>
              <a:rPr lang="fr-FR" dirty="0" err="1"/>
              <a:t>where</a:t>
            </a:r>
            <a:r>
              <a:rPr lang="fr-FR" dirty="0"/>
              <a:t> the </a:t>
            </a:r>
            <a:r>
              <a:rPr lang="fr-FR" dirty="0" err="1"/>
              <a:t>number</a:t>
            </a:r>
            <a:r>
              <a:rPr lang="fr-FR" dirty="0"/>
              <a:t> I </a:t>
            </a:r>
            <a:r>
              <a:rPr lang="fr-FR" dirty="0" err="1"/>
              <a:t>just</a:t>
            </a:r>
            <a:r>
              <a:rPr lang="fr-FR" dirty="0"/>
              <a:t> gave </a:t>
            </a:r>
            <a:r>
              <a:rPr lang="fr-FR" dirty="0" err="1"/>
              <a:t>you</a:t>
            </a:r>
            <a:r>
              <a:rPr lang="fr-FR" dirty="0"/>
              <a:t> </a:t>
            </a:r>
            <a:r>
              <a:rPr lang="fr-FR" dirty="0" err="1"/>
              <a:t>comes</a:t>
            </a:r>
            <a:r>
              <a:rPr lang="fr-FR" dirty="0"/>
              <a:t> </a:t>
            </a:r>
            <a:r>
              <a:rPr lang="fr-FR" dirty="0" err="1"/>
              <a:t>from</a:t>
            </a:r>
            <a:r>
              <a:rPr lang="fr-FR" dirty="0"/>
              <a:t>.</a:t>
            </a:r>
          </a:p>
          <a:p>
            <a:r>
              <a:rPr lang="fr-FR" dirty="0"/>
              <a:t>The 5 </a:t>
            </a:r>
            <a:r>
              <a:rPr lang="fr-FR" dirty="0" err="1"/>
              <a:t>is</a:t>
            </a:r>
            <a:r>
              <a:rPr lang="fr-FR" dirty="0"/>
              <a:t> </a:t>
            </a:r>
            <a:r>
              <a:rPr lang="fr-FR" dirty="0" err="1"/>
              <a:t>what</a:t>
            </a:r>
            <a:r>
              <a:rPr lang="fr-FR" dirty="0"/>
              <a:t> I </a:t>
            </a:r>
            <a:r>
              <a:rPr lang="fr-FR" dirty="0" err="1"/>
              <a:t>would</a:t>
            </a:r>
            <a:r>
              <a:rPr lang="fr-FR" dirty="0"/>
              <a:t> do </a:t>
            </a:r>
            <a:r>
              <a:rPr lang="fr-FR" dirty="0" err="1"/>
              <a:t>next</a:t>
            </a:r>
            <a:r>
              <a:rPr lang="fr-FR" dirty="0"/>
              <a:t>.</a:t>
            </a:r>
            <a:endParaRPr lang="en-US" dirty="0"/>
          </a:p>
        </p:txBody>
      </p:sp>
    </p:spTree>
    <p:extLst>
      <p:ext uri="{BB962C8B-B14F-4D97-AF65-F5344CB8AC3E}">
        <p14:creationId xmlns:p14="http://schemas.microsoft.com/office/powerpoint/2010/main" val="168555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ALTEN Eng/Tech Consulting group. </a:t>
            </a:r>
            <a:br>
              <a:rPr lang="en-US" dirty="0"/>
            </a:br>
            <a:r>
              <a:rPr lang="en-US" dirty="0"/>
              <a:t>Sell Eng expertise rather than product</a:t>
            </a:r>
          </a:p>
          <a:p>
            <a:r>
              <a:rPr lang="en-US" dirty="0"/>
              <a:t>Consulting grp work for many clients, they see the </a:t>
            </a:r>
            <a:r>
              <a:rPr lang="en-US" dirty="0" err="1"/>
              <a:t>redudency</a:t>
            </a:r>
            <a:r>
              <a:rPr lang="en-US" dirty="0"/>
              <a:t> in the </a:t>
            </a:r>
            <a:r>
              <a:rPr lang="en-US" dirty="0" err="1"/>
              <a:t>diffuculty</a:t>
            </a:r>
            <a:r>
              <a:rPr lang="en-US" dirty="0"/>
              <a:t> </a:t>
            </a:r>
            <a:r>
              <a:rPr lang="en-US" dirty="0" err="1"/>
              <a:t>companys</a:t>
            </a:r>
            <a:r>
              <a:rPr lang="en-US" dirty="0"/>
              <a:t> are facing</a:t>
            </a:r>
          </a:p>
          <a:p>
            <a:r>
              <a:rPr lang="fr-FR" dirty="0"/>
              <a:t>That how  </a:t>
            </a:r>
            <a:r>
              <a:rPr lang="fr-FR" dirty="0" err="1"/>
              <a:t>problem</a:t>
            </a:r>
            <a:r>
              <a:rPr lang="fr-FR" dirty="0"/>
              <a:t> </a:t>
            </a:r>
            <a:r>
              <a:rPr lang="fr-FR" dirty="0" err="1"/>
              <a:t>gets</a:t>
            </a:r>
            <a:r>
              <a:rPr lang="fr-FR" dirty="0"/>
              <a:t> </a:t>
            </a:r>
            <a:r>
              <a:rPr lang="fr-FR" dirty="0" err="1"/>
              <a:t>recognised</a:t>
            </a:r>
            <a:r>
              <a:rPr lang="fr-FR" dirty="0"/>
              <a:t> as </a:t>
            </a:r>
            <a:r>
              <a:rPr lang="fr-FR" dirty="0" err="1"/>
              <a:t>belonging</a:t>
            </a:r>
            <a:r>
              <a:rPr lang="fr-FR" dirty="0"/>
              <a:t> to the </a:t>
            </a:r>
            <a:r>
              <a:rPr lang="fr-FR" dirty="0" err="1"/>
              <a:t>industry</a:t>
            </a:r>
            <a:r>
              <a:rPr lang="fr-FR" dirty="0"/>
              <a:t> </a:t>
            </a:r>
            <a:r>
              <a:rPr lang="fr-FR" dirty="0" err="1"/>
              <a:t>rather</a:t>
            </a:r>
            <a:r>
              <a:rPr lang="fr-FR" dirty="0"/>
              <a:t> </a:t>
            </a:r>
            <a:r>
              <a:rPr lang="fr-FR" dirty="0" err="1"/>
              <a:t>than</a:t>
            </a:r>
            <a:r>
              <a:rPr lang="fr-FR" dirty="0"/>
              <a:t> to a </a:t>
            </a:r>
            <a:r>
              <a:rPr lang="fr-FR" dirty="0" err="1"/>
              <a:t>customer</a:t>
            </a:r>
            <a:r>
              <a:rPr lang="fr-FR" dirty="0"/>
              <a:t>.</a:t>
            </a:r>
          </a:p>
          <a:p>
            <a:endParaRPr lang="fr-FR" dirty="0"/>
          </a:p>
          <a:p>
            <a:r>
              <a:rPr lang="fr-FR" dirty="0"/>
              <a:t>The program SGSC </a:t>
            </a:r>
            <a:r>
              <a:rPr lang="fr-FR" dirty="0" err="1"/>
              <a:t>aim</a:t>
            </a:r>
            <a:r>
              <a:rPr lang="fr-FR" dirty="0"/>
              <a:t> to </a:t>
            </a:r>
            <a:r>
              <a:rPr lang="fr-FR" dirty="0" err="1"/>
              <a:t>unite</a:t>
            </a:r>
            <a:r>
              <a:rPr lang="fr-FR" dirty="0"/>
              <a:t> </a:t>
            </a:r>
            <a:r>
              <a:rPr lang="fr-FR" dirty="0" err="1"/>
              <a:t>Lean,Green,Predictive</a:t>
            </a:r>
            <a:r>
              <a:rPr lang="fr-FR" dirty="0"/>
              <a:t> in a DT. </a:t>
            </a:r>
            <a:r>
              <a:rPr lang="fr-FR" dirty="0" err="1"/>
              <a:t>My</a:t>
            </a:r>
            <a:r>
              <a:rPr lang="fr-FR" dirty="0"/>
              <a:t> </a:t>
            </a:r>
            <a:r>
              <a:rPr lang="fr-FR" dirty="0" err="1"/>
              <a:t>work</a:t>
            </a:r>
            <a:r>
              <a:rPr lang="fr-FR" dirty="0"/>
              <a:t> </a:t>
            </a:r>
            <a:r>
              <a:rPr lang="fr-FR" dirty="0" err="1"/>
              <a:t>sit</a:t>
            </a:r>
            <a:r>
              <a:rPr lang="fr-FR" dirty="0"/>
              <a:t> in the 3rd one</a:t>
            </a:r>
          </a:p>
          <a:p>
            <a:endParaRPr lang="fr-FR" dirty="0"/>
          </a:p>
          <a:p>
            <a:r>
              <a:rPr lang="fr-FR" dirty="0" err="1"/>
              <a:t>Its</a:t>
            </a:r>
            <a:r>
              <a:rPr lang="fr-FR" dirty="0"/>
              <a:t> central artefact </a:t>
            </a:r>
            <a:r>
              <a:rPr lang="fr-FR" dirty="0" err="1"/>
              <a:t>is</a:t>
            </a:r>
            <a:r>
              <a:rPr lang="fr-FR" dirty="0"/>
              <a:t> DISCO, a </a:t>
            </a:r>
            <a:r>
              <a:rPr lang="fr-FR" dirty="0" err="1"/>
              <a:t>serious</a:t>
            </a:r>
            <a:r>
              <a:rPr lang="fr-FR" dirty="0"/>
              <a:t> </a:t>
            </a:r>
            <a:r>
              <a:rPr lang="fr-FR" dirty="0" err="1"/>
              <a:t>game</a:t>
            </a:r>
            <a:r>
              <a:rPr lang="fr-FR" dirty="0"/>
              <a:t> and digital </a:t>
            </a:r>
            <a:r>
              <a:rPr lang="fr-FR" dirty="0" err="1"/>
              <a:t>twin</a:t>
            </a:r>
            <a:r>
              <a:rPr lang="fr-FR" dirty="0"/>
              <a:t> </a:t>
            </a:r>
            <a:r>
              <a:rPr lang="fr-FR" dirty="0" err="1"/>
              <a:t>covering</a:t>
            </a:r>
            <a:r>
              <a:rPr lang="fr-FR" dirty="0"/>
              <a:t> </a:t>
            </a:r>
            <a:r>
              <a:rPr lang="fr-FR" dirty="0" err="1"/>
              <a:t>twenty-two</a:t>
            </a:r>
            <a:r>
              <a:rPr lang="fr-FR" dirty="0"/>
              <a:t> </a:t>
            </a:r>
            <a:r>
              <a:rPr lang="fr-FR" dirty="0" err="1"/>
              <a:t>suppliers</a:t>
            </a:r>
            <a:r>
              <a:rPr lang="fr-FR" dirty="0"/>
              <a:t>.</a:t>
            </a:r>
          </a:p>
          <a:p>
            <a:r>
              <a:rPr lang="fr-FR" dirty="0" err="1"/>
              <a:t>Earlier</a:t>
            </a:r>
            <a:r>
              <a:rPr lang="fr-FR" dirty="0"/>
              <a:t> </a:t>
            </a:r>
            <a:r>
              <a:rPr lang="fr-FR" dirty="0" err="1"/>
              <a:t>internships</a:t>
            </a:r>
            <a:r>
              <a:rPr lang="fr-FR" dirty="0"/>
              <a:t> </a:t>
            </a:r>
            <a:r>
              <a:rPr lang="fr-FR" dirty="0" err="1"/>
              <a:t>built</a:t>
            </a:r>
            <a:r>
              <a:rPr lang="fr-FR" dirty="0"/>
              <a:t> the </a:t>
            </a:r>
            <a:r>
              <a:rPr lang="fr-FR" dirty="0" err="1"/>
              <a:t>routing</a:t>
            </a:r>
            <a:r>
              <a:rPr lang="fr-FR" dirty="0"/>
              <a:t>, the </a:t>
            </a:r>
            <a:r>
              <a:rPr lang="fr-FR" dirty="0" err="1"/>
              <a:t>risk</a:t>
            </a:r>
            <a:r>
              <a:rPr lang="fr-FR" dirty="0"/>
              <a:t> scoring, the </a:t>
            </a:r>
            <a:r>
              <a:rPr lang="fr-FR" dirty="0" err="1"/>
              <a:t>carbon</a:t>
            </a:r>
            <a:r>
              <a:rPr lang="fr-FR" dirty="0"/>
              <a:t> and the transport</a:t>
            </a:r>
          </a:p>
          <a:p>
            <a:endParaRPr lang="fr-FR" dirty="0"/>
          </a:p>
          <a:p>
            <a:r>
              <a:rPr lang="fr-FR" dirty="0"/>
              <a:t>Not one of </a:t>
            </a:r>
            <a:r>
              <a:rPr lang="fr-FR" dirty="0" err="1"/>
              <a:t>them</a:t>
            </a:r>
            <a:r>
              <a:rPr lang="fr-FR" dirty="0"/>
              <a:t> </a:t>
            </a:r>
            <a:r>
              <a:rPr lang="fr-FR" dirty="0" err="1"/>
              <a:t>computes</a:t>
            </a:r>
            <a:r>
              <a:rPr lang="fr-FR" dirty="0"/>
              <a:t> </a:t>
            </a:r>
            <a:r>
              <a:rPr lang="fr-FR" dirty="0" err="1"/>
              <a:t>urgency</a:t>
            </a:r>
            <a:r>
              <a:rPr lang="fr-FR" dirty="0"/>
              <a:t>.</a:t>
            </a: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 </a:t>
            </a:r>
            <a:r>
              <a:rPr lang="fr-FR" dirty="0" err="1"/>
              <a:t>coordinator</a:t>
            </a:r>
            <a:r>
              <a:rPr lang="fr-FR" dirty="0"/>
              <a:t> opens the </a:t>
            </a:r>
            <a:r>
              <a:rPr lang="fr-FR" dirty="0" err="1"/>
              <a:t>week</a:t>
            </a:r>
            <a:r>
              <a:rPr lang="fr-FR" dirty="0"/>
              <a:t> </a:t>
            </a:r>
            <a:r>
              <a:rPr lang="fr-FR" dirty="0" err="1"/>
              <a:t>with</a:t>
            </a:r>
            <a:r>
              <a:rPr lang="fr-FR" dirty="0"/>
              <a:t> a </a:t>
            </a:r>
            <a:r>
              <a:rPr lang="fr-FR" dirty="0" err="1"/>
              <a:t>list</a:t>
            </a:r>
            <a:r>
              <a:rPr lang="fr-FR" dirty="0"/>
              <a:t> of </a:t>
            </a:r>
            <a:r>
              <a:rPr lang="fr-FR" dirty="0" err="1"/>
              <a:t>nodes</a:t>
            </a:r>
            <a:r>
              <a:rPr lang="fr-FR" dirty="0"/>
              <a:t> and a </a:t>
            </a:r>
            <a:r>
              <a:rPr lang="fr-FR" dirty="0" err="1"/>
              <a:t>finite</a:t>
            </a:r>
            <a:r>
              <a:rPr lang="fr-FR" dirty="0"/>
              <a:t> </a:t>
            </a:r>
            <a:r>
              <a:rPr lang="fr-FR" dirty="0" err="1"/>
              <a:t>amount</a:t>
            </a:r>
            <a:r>
              <a:rPr lang="fr-FR" dirty="0"/>
              <a:t> of attention</a:t>
            </a:r>
          </a:p>
          <a:p>
            <a:r>
              <a:rPr lang="fr-FR" dirty="0" err="1"/>
              <a:t>Somewhere</a:t>
            </a:r>
            <a:r>
              <a:rPr lang="fr-FR" dirty="0"/>
              <a:t> on </a:t>
            </a:r>
            <a:r>
              <a:rPr lang="fr-FR" dirty="0" err="1"/>
              <a:t>that</a:t>
            </a:r>
            <a:r>
              <a:rPr lang="fr-FR" dirty="0"/>
              <a:t> </a:t>
            </a:r>
            <a:r>
              <a:rPr lang="fr-FR" dirty="0" err="1"/>
              <a:t>list</a:t>
            </a:r>
            <a:r>
              <a:rPr lang="fr-FR" dirty="0"/>
              <a:t> </a:t>
            </a:r>
            <a:r>
              <a:rPr lang="fr-FR" dirty="0" err="1"/>
              <a:t>is</a:t>
            </a:r>
            <a:r>
              <a:rPr lang="fr-FR" dirty="0"/>
              <a:t> the supplier </a:t>
            </a:r>
            <a:r>
              <a:rPr lang="fr-FR" dirty="0" err="1"/>
              <a:t>that</a:t>
            </a:r>
            <a:r>
              <a:rPr lang="fr-FR" dirty="0"/>
              <a:t> </a:t>
            </a:r>
            <a:r>
              <a:rPr lang="fr-FR" dirty="0" err="1"/>
              <a:t>will</a:t>
            </a:r>
            <a:r>
              <a:rPr lang="fr-FR" dirty="0"/>
              <a:t> cause </a:t>
            </a:r>
            <a:r>
              <a:rPr lang="fr-FR" dirty="0" err="1"/>
              <a:t>next</a:t>
            </a:r>
            <a:r>
              <a:rPr lang="fr-FR" dirty="0"/>
              <a:t> </a:t>
            </a:r>
            <a:r>
              <a:rPr lang="fr-FR" dirty="0" err="1"/>
              <a:t>month's</a:t>
            </a:r>
            <a:r>
              <a:rPr lang="fr-FR" dirty="0"/>
              <a:t> line stoppage. Nothing on the screen </a:t>
            </a:r>
            <a:r>
              <a:rPr lang="fr-FR" dirty="0" err="1"/>
              <a:t>says</a:t>
            </a:r>
            <a:r>
              <a:rPr lang="fr-FR" dirty="0"/>
              <a:t> </a:t>
            </a:r>
            <a:r>
              <a:rPr lang="fr-FR" dirty="0" err="1"/>
              <a:t>which</a:t>
            </a:r>
            <a:r>
              <a:rPr lang="fr-FR" dirty="0"/>
              <a:t> one </a:t>
            </a:r>
            <a:r>
              <a:rPr lang="fr-FR" dirty="0" err="1"/>
              <a:t>it</a:t>
            </a:r>
            <a:r>
              <a:rPr lang="fr-FR" dirty="0"/>
              <a:t> </a:t>
            </a:r>
            <a:r>
              <a:rPr lang="fr-FR" dirty="0" err="1"/>
              <a:t>is</a:t>
            </a:r>
            <a:r>
              <a:rPr lang="fr-FR" dirty="0"/>
              <a:t>.</a:t>
            </a:r>
          </a:p>
          <a:p>
            <a:endParaRPr lang="fr-FR" dirty="0"/>
          </a:p>
          <a:p>
            <a:r>
              <a:rPr lang="fr-FR" dirty="0"/>
              <a:t>The </a:t>
            </a:r>
            <a:r>
              <a:rPr lang="fr-FR" dirty="0" err="1"/>
              <a:t>twin</a:t>
            </a:r>
            <a:r>
              <a:rPr lang="fr-FR" dirty="0"/>
              <a:t> </a:t>
            </a:r>
            <a:r>
              <a:rPr lang="fr-FR" dirty="0" err="1"/>
              <a:t>computes</a:t>
            </a:r>
            <a:r>
              <a:rPr lang="fr-FR" dirty="0"/>
              <a:t> the </a:t>
            </a:r>
            <a:r>
              <a:rPr lang="fr-FR" dirty="0" err="1"/>
              <a:t>physical</a:t>
            </a:r>
            <a:r>
              <a:rPr lang="fr-FR" dirty="0"/>
              <a:t> state of </a:t>
            </a:r>
            <a:r>
              <a:rPr lang="fr-FR" dirty="0" err="1"/>
              <a:t>every</a:t>
            </a:r>
            <a:r>
              <a:rPr lang="fr-FR" dirty="0"/>
              <a:t> </a:t>
            </a:r>
            <a:r>
              <a:rPr lang="fr-FR" dirty="0" err="1"/>
              <a:t>node</a:t>
            </a:r>
            <a:r>
              <a:rPr lang="fr-FR" dirty="0"/>
              <a:t>. </a:t>
            </a:r>
            <a:r>
              <a:rPr lang="fr-FR" dirty="0" err="1"/>
              <a:t>What</a:t>
            </a:r>
            <a:r>
              <a:rPr lang="fr-FR" dirty="0"/>
              <a:t> </a:t>
            </a:r>
            <a:r>
              <a:rPr lang="fr-FR" dirty="0" err="1"/>
              <a:t>it</a:t>
            </a:r>
            <a:r>
              <a:rPr lang="fr-FR" dirty="0"/>
              <a:t> </a:t>
            </a:r>
            <a:r>
              <a:rPr lang="fr-FR" dirty="0" err="1"/>
              <a:t>never</a:t>
            </a:r>
            <a:r>
              <a:rPr lang="fr-FR" dirty="0"/>
              <a:t> </a:t>
            </a:r>
            <a:r>
              <a:rPr lang="fr-FR" dirty="0" err="1"/>
              <a:t>sees</a:t>
            </a:r>
            <a:r>
              <a:rPr lang="fr-FR" dirty="0"/>
              <a:t> </a:t>
            </a:r>
            <a:r>
              <a:rPr lang="fr-FR" dirty="0" err="1"/>
              <a:t>is</a:t>
            </a:r>
            <a:r>
              <a:rPr lang="fr-FR" dirty="0"/>
              <a:t> the </a:t>
            </a:r>
            <a:r>
              <a:rPr lang="fr-FR" dirty="0" err="1"/>
              <a:t>human</a:t>
            </a:r>
            <a:r>
              <a:rPr lang="fr-FR" dirty="0"/>
              <a:t> </a:t>
            </a:r>
            <a:r>
              <a:rPr lang="fr-FR" dirty="0" err="1"/>
              <a:t>who</a:t>
            </a:r>
            <a:r>
              <a:rPr lang="fr-FR" dirty="0"/>
              <a:t> </a:t>
            </a:r>
            <a:r>
              <a:rPr lang="fr-FR" dirty="0" err="1"/>
              <a:t>decides</a:t>
            </a:r>
            <a:r>
              <a:rPr lang="fr-FR" dirty="0"/>
              <a:t>.</a:t>
            </a:r>
          </a:p>
          <a:p>
            <a:r>
              <a:rPr lang="fr-FR" dirty="0"/>
              <a:t>A </a:t>
            </a:r>
            <a:r>
              <a:rPr lang="fr-FR" dirty="0" err="1"/>
              <a:t>buyer</a:t>
            </a:r>
            <a:r>
              <a:rPr lang="fr-FR" dirty="0"/>
              <a:t> </a:t>
            </a:r>
            <a:r>
              <a:rPr lang="fr-FR" dirty="0" err="1"/>
              <a:t>says</a:t>
            </a:r>
            <a:r>
              <a:rPr lang="fr-FR" dirty="0"/>
              <a:t> a supplier </a:t>
            </a:r>
            <a:r>
              <a:rPr lang="fr-FR" dirty="0" err="1"/>
              <a:t>is</a:t>
            </a:r>
            <a:r>
              <a:rPr lang="fr-FR" dirty="0"/>
              <a:t> </a:t>
            </a:r>
            <a:r>
              <a:rPr lang="fr-FR" dirty="0" err="1"/>
              <a:t>critical</a:t>
            </a:r>
            <a:r>
              <a:rPr lang="fr-FR" dirty="0"/>
              <a:t>, a plant </a:t>
            </a:r>
            <a:r>
              <a:rPr lang="fr-FR" dirty="0" err="1"/>
              <a:t>says</a:t>
            </a:r>
            <a:r>
              <a:rPr lang="fr-FR" dirty="0"/>
              <a:t> a line </a:t>
            </a:r>
            <a:r>
              <a:rPr lang="fr-FR" dirty="0" err="1"/>
              <a:t>is</a:t>
            </a:r>
            <a:r>
              <a:rPr lang="fr-FR" dirty="0"/>
              <a:t> at </a:t>
            </a:r>
            <a:r>
              <a:rPr lang="fr-FR" dirty="0" err="1"/>
              <a:t>risk</a:t>
            </a:r>
            <a:r>
              <a:rPr lang="fr-FR" dirty="0"/>
              <a:t>, and the </a:t>
            </a:r>
            <a:r>
              <a:rPr lang="fr-FR" dirty="0" err="1"/>
              <a:t>twin</a:t>
            </a:r>
            <a:r>
              <a:rPr lang="fr-FR" dirty="0"/>
              <a:t> records the </a:t>
            </a:r>
            <a:r>
              <a:rPr lang="fr-FR" dirty="0" err="1"/>
              <a:t>consequence</a:t>
            </a:r>
            <a:r>
              <a:rPr lang="fr-FR" dirty="0"/>
              <a:t> of </a:t>
            </a:r>
            <a:r>
              <a:rPr lang="fr-FR" dirty="0" err="1"/>
              <a:t>those</a:t>
            </a:r>
            <a:r>
              <a:rPr lang="fr-FR" dirty="0"/>
              <a:t> </a:t>
            </a:r>
            <a:r>
              <a:rPr lang="fr-FR" dirty="0" err="1"/>
              <a:t>judgments</a:t>
            </a:r>
            <a:r>
              <a:rPr lang="fr-FR" dirty="0"/>
              <a:t> </a:t>
            </a:r>
            <a:r>
              <a:rPr lang="fr-FR" dirty="0" err="1"/>
              <a:t>without</a:t>
            </a:r>
            <a:r>
              <a:rPr lang="fr-FR" dirty="0"/>
              <a:t> </a:t>
            </a:r>
            <a:r>
              <a:rPr lang="fr-FR" dirty="0" err="1"/>
              <a:t>ever</a:t>
            </a:r>
            <a:r>
              <a:rPr lang="fr-FR" dirty="0"/>
              <a:t> </a:t>
            </a:r>
            <a:r>
              <a:rPr lang="fr-FR" dirty="0" err="1"/>
              <a:t>evaluating</a:t>
            </a:r>
            <a:r>
              <a:rPr lang="fr-FR" dirty="0"/>
              <a:t> </a:t>
            </a:r>
            <a:r>
              <a:rPr lang="fr-FR" dirty="0" err="1"/>
              <a:t>them</a:t>
            </a:r>
            <a:r>
              <a:rPr lang="fr-FR" dirty="0"/>
              <a:t>.</a:t>
            </a:r>
          </a:p>
          <a:p>
            <a:endParaRPr lang="fr-FR" dirty="0"/>
          </a:p>
          <a:p>
            <a:r>
              <a:rPr lang="fr-FR" dirty="0"/>
              <a:t>Littérature </a:t>
            </a:r>
            <a:r>
              <a:rPr lang="fr-FR" dirty="0" err="1"/>
              <a:t>showed</a:t>
            </a:r>
            <a:r>
              <a:rPr lang="fr-FR" dirty="0"/>
              <a:t> </a:t>
            </a:r>
            <a:r>
              <a:rPr lang="fr-FR" dirty="0" err="1"/>
              <a:t>across</a:t>
            </a:r>
            <a:r>
              <a:rPr lang="fr-FR" dirty="0"/>
              <a:t> five </a:t>
            </a:r>
            <a:r>
              <a:rPr lang="fr-FR" dirty="0" err="1"/>
              <a:t>controlled</a:t>
            </a:r>
            <a:r>
              <a:rPr lang="fr-FR" dirty="0"/>
              <a:t> </a:t>
            </a:r>
            <a:r>
              <a:rPr lang="fr-FR" dirty="0" err="1"/>
              <a:t>experiments</a:t>
            </a:r>
            <a:r>
              <a:rPr lang="fr-FR" dirty="0"/>
              <a:t> </a:t>
            </a:r>
            <a:r>
              <a:rPr lang="fr-FR" dirty="0" err="1"/>
              <a:t>that</a:t>
            </a:r>
            <a:r>
              <a:rPr lang="fr-FR" dirty="0"/>
              <a:t> people </a:t>
            </a:r>
            <a:r>
              <a:rPr lang="fr-FR" dirty="0" err="1"/>
              <a:t>favour</a:t>
            </a:r>
            <a:r>
              <a:rPr lang="fr-FR" dirty="0"/>
              <a:t> imminent </a:t>
            </a:r>
            <a:r>
              <a:rPr lang="fr-FR" dirty="0" err="1"/>
              <a:t>low</a:t>
            </a:r>
            <a:r>
              <a:rPr lang="fr-FR" dirty="0"/>
              <a:t>-value </a:t>
            </a:r>
            <a:r>
              <a:rPr lang="fr-FR" dirty="0" err="1"/>
              <a:t>tasks</a:t>
            </a:r>
            <a:r>
              <a:rPr lang="fr-FR" dirty="0"/>
              <a:t> over distant high-value </a:t>
            </a:r>
            <a:r>
              <a:rPr lang="fr-FR" dirty="0" err="1"/>
              <a:t>ones</a:t>
            </a:r>
            <a:r>
              <a:rPr lang="fr-FR" dirty="0"/>
              <a:t>, and </a:t>
            </a:r>
            <a:r>
              <a:rPr lang="fr-FR" dirty="0" err="1"/>
              <a:t>that</a:t>
            </a:r>
            <a:r>
              <a:rPr lang="fr-FR" dirty="0"/>
              <a:t> the </a:t>
            </a:r>
            <a:r>
              <a:rPr lang="fr-FR" dirty="0" err="1"/>
              <a:t>bias</a:t>
            </a:r>
            <a:r>
              <a:rPr lang="fr-FR" dirty="0"/>
              <a:t> survives </a:t>
            </a:r>
            <a:r>
              <a:rPr lang="fr-FR" dirty="0" err="1"/>
              <a:t>being</a:t>
            </a:r>
            <a:r>
              <a:rPr lang="fr-FR" dirty="0"/>
              <a:t> </a:t>
            </a:r>
            <a:r>
              <a:rPr lang="fr-FR" dirty="0" err="1"/>
              <a:t>told</a:t>
            </a:r>
            <a:r>
              <a:rPr lang="fr-FR" dirty="0"/>
              <a:t> about </a:t>
            </a:r>
            <a:r>
              <a:rPr lang="fr-FR" dirty="0" err="1"/>
              <a:t>it</a:t>
            </a:r>
            <a:r>
              <a:rPr lang="fr-FR" dirty="0"/>
              <a:t>.</a:t>
            </a:r>
          </a:p>
          <a:p>
            <a:r>
              <a:rPr lang="fr-FR" dirty="0"/>
              <a:t>A </a:t>
            </a:r>
            <a:r>
              <a:rPr lang="fr-FR" dirty="0" err="1"/>
              <a:t>twin</a:t>
            </a:r>
            <a:r>
              <a:rPr lang="fr-FR" dirty="0"/>
              <a:t> </a:t>
            </a:r>
            <a:r>
              <a:rPr lang="fr-FR" dirty="0" err="1"/>
              <a:t>that</a:t>
            </a:r>
            <a:r>
              <a:rPr lang="fr-FR" dirty="0"/>
              <a:t> </a:t>
            </a:r>
            <a:r>
              <a:rPr lang="fr-FR" dirty="0" err="1"/>
              <a:t>swallows</a:t>
            </a:r>
            <a:r>
              <a:rPr lang="fr-FR" dirty="0"/>
              <a:t> </a:t>
            </a:r>
            <a:r>
              <a:rPr lang="fr-FR" dirty="0" err="1"/>
              <a:t>that</a:t>
            </a:r>
            <a:r>
              <a:rPr lang="fr-FR" dirty="0"/>
              <a:t> </a:t>
            </a:r>
            <a:r>
              <a:rPr lang="fr-FR" dirty="0" err="1"/>
              <a:t>declaration</a:t>
            </a:r>
            <a:r>
              <a:rPr lang="fr-FR" dirty="0"/>
              <a:t> as </a:t>
            </a:r>
            <a:r>
              <a:rPr lang="fr-FR" dirty="0" err="1"/>
              <a:t>ground</a:t>
            </a:r>
            <a:r>
              <a:rPr lang="fr-FR" dirty="0"/>
              <a:t> </a:t>
            </a:r>
            <a:r>
              <a:rPr lang="fr-FR" dirty="0" err="1"/>
              <a:t>truth</a:t>
            </a:r>
            <a:r>
              <a:rPr lang="fr-FR" dirty="0"/>
              <a:t> </a:t>
            </a:r>
            <a:r>
              <a:rPr lang="fr-FR" dirty="0" err="1"/>
              <a:t>inherits</a:t>
            </a:r>
            <a:r>
              <a:rPr lang="fr-FR" dirty="0"/>
              <a:t> the </a:t>
            </a:r>
            <a:r>
              <a:rPr lang="fr-FR" dirty="0" err="1"/>
              <a:t>bias</a:t>
            </a:r>
            <a:r>
              <a:rPr lang="fr-FR" dirty="0"/>
              <a:t>.</a:t>
            </a: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t>
            </a:r>
            <a:r>
              <a:rPr lang="en-US" dirty="0" err="1"/>
              <a:t>prez</a:t>
            </a:r>
            <a:r>
              <a:rPr lang="en-US" dirty="0"/>
              <a:t> will be in 5 parts ! </a:t>
            </a:r>
          </a:p>
          <a:p>
            <a:r>
              <a:rPr lang="fr-FR" dirty="0"/>
              <a:t>The first </a:t>
            </a:r>
            <a:r>
              <a:rPr lang="fr-FR" dirty="0" err="1"/>
              <a:t>three</a:t>
            </a:r>
            <a:r>
              <a:rPr lang="fr-FR" dirty="0"/>
              <a:t> </a:t>
            </a:r>
            <a:r>
              <a:rPr lang="fr-FR" dirty="0" err="1"/>
              <a:t>build</a:t>
            </a:r>
            <a:r>
              <a:rPr lang="fr-FR" dirty="0"/>
              <a:t> the instrument.</a:t>
            </a:r>
          </a:p>
          <a:p>
            <a:r>
              <a:rPr lang="fr-FR" dirty="0"/>
              <a:t>The 4 </a:t>
            </a:r>
            <a:r>
              <a:rPr lang="fr-FR" dirty="0" err="1"/>
              <a:t>is</a:t>
            </a:r>
            <a:r>
              <a:rPr lang="fr-FR" dirty="0"/>
              <a:t> </a:t>
            </a:r>
            <a:r>
              <a:rPr lang="fr-FR" dirty="0" err="1"/>
              <a:t>where</a:t>
            </a:r>
            <a:r>
              <a:rPr lang="fr-FR" dirty="0"/>
              <a:t> the </a:t>
            </a:r>
            <a:r>
              <a:rPr lang="fr-FR" dirty="0" err="1"/>
              <a:t>number</a:t>
            </a:r>
            <a:r>
              <a:rPr lang="fr-FR" dirty="0"/>
              <a:t> I </a:t>
            </a:r>
            <a:r>
              <a:rPr lang="fr-FR" dirty="0" err="1"/>
              <a:t>just</a:t>
            </a:r>
            <a:r>
              <a:rPr lang="fr-FR" dirty="0"/>
              <a:t> gave </a:t>
            </a:r>
            <a:r>
              <a:rPr lang="fr-FR" dirty="0" err="1"/>
              <a:t>you</a:t>
            </a:r>
            <a:r>
              <a:rPr lang="fr-FR" dirty="0"/>
              <a:t> </a:t>
            </a:r>
            <a:r>
              <a:rPr lang="fr-FR" dirty="0" err="1"/>
              <a:t>comes</a:t>
            </a:r>
            <a:r>
              <a:rPr lang="fr-FR" dirty="0"/>
              <a:t> </a:t>
            </a:r>
            <a:r>
              <a:rPr lang="fr-FR" dirty="0" err="1"/>
              <a:t>from</a:t>
            </a:r>
            <a:r>
              <a:rPr lang="fr-FR" dirty="0"/>
              <a:t>.</a:t>
            </a:r>
          </a:p>
          <a:p>
            <a:r>
              <a:rPr lang="fr-FR" dirty="0"/>
              <a:t>The 5 </a:t>
            </a:r>
            <a:r>
              <a:rPr lang="fr-FR" dirty="0" err="1"/>
              <a:t>is</a:t>
            </a:r>
            <a:r>
              <a:rPr lang="fr-FR" dirty="0"/>
              <a:t> </a:t>
            </a:r>
            <a:r>
              <a:rPr lang="fr-FR" dirty="0" err="1"/>
              <a:t>what</a:t>
            </a:r>
            <a:r>
              <a:rPr lang="fr-FR" dirty="0"/>
              <a:t> I </a:t>
            </a:r>
            <a:r>
              <a:rPr lang="fr-FR" dirty="0" err="1"/>
              <a:t>would</a:t>
            </a:r>
            <a:r>
              <a:rPr lang="fr-FR" dirty="0"/>
              <a:t> do </a:t>
            </a:r>
            <a:r>
              <a:rPr lang="fr-FR" dirty="0" err="1"/>
              <a:t>next</a:t>
            </a:r>
            <a:r>
              <a:rPr lang="fr-FR" dirty="0"/>
              <a:t>.</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The </a:t>
            </a:r>
            <a:r>
              <a:rPr lang="fr-FR" dirty="0" err="1"/>
              <a:t>internship</a:t>
            </a:r>
            <a:r>
              <a:rPr lang="fr-FR" dirty="0"/>
              <a:t> agreement </a:t>
            </a:r>
            <a:r>
              <a:rPr lang="fr-FR" dirty="0" err="1"/>
              <a:t>prescribes</a:t>
            </a:r>
            <a:r>
              <a:rPr lang="fr-FR" dirty="0"/>
              <a:t> Agile and Test and Learn, and I </a:t>
            </a:r>
            <a:r>
              <a:rPr lang="fr-FR" dirty="0" err="1"/>
              <a:t>applied</a:t>
            </a:r>
            <a:r>
              <a:rPr lang="fr-FR" dirty="0"/>
              <a:t> </a:t>
            </a:r>
            <a:r>
              <a:rPr lang="fr-FR" dirty="0" err="1"/>
              <a:t>it</a:t>
            </a:r>
            <a:r>
              <a:rPr lang="fr-FR" dirty="0"/>
              <a:t> </a:t>
            </a:r>
            <a:r>
              <a:rPr lang="fr-FR" dirty="0" err="1"/>
              <a:t>literally</a:t>
            </a:r>
            <a:r>
              <a:rPr lang="fr-FR" dirty="0"/>
              <a:t>.</a:t>
            </a:r>
          </a:p>
          <a:p>
            <a:r>
              <a:rPr lang="fr-FR" dirty="0"/>
              <a:t>The V-cycle runs on the model. Agile and Test and Learn run the </a:t>
            </a:r>
            <a:r>
              <a:rPr lang="fr-FR" dirty="0" err="1"/>
              <a:t>week</a:t>
            </a:r>
            <a:r>
              <a:rPr lang="fr-FR" dirty="0"/>
              <a:t>.</a:t>
            </a:r>
          </a:p>
          <a:p>
            <a:endParaRPr lang="fr-FR" dirty="0"/>
          </a:p>
          <a:p>
            <a:r>
              <a:rPr lang="fr-FR" dirty="0"/>
              <a:t>Five standing meetings a </a:t>
            </a:r>
            <a:r>
              <a:rPr lang="fr-FR" dirty="0" err="1"/>
              <a:t>week</a:t>
            </a:r>
            <a:r>
              <a:rPr lang="fr-FR" dirty="0"/>
              <a:t> </a:t>
            </a:r>
            <a:r>
              <a:rPr lang="fr-FR" dirty="0" err="1"/>
              <a:t>is</a:t>
            </a:r>
            <a:r>
              <a:rPr lang="fr-FR" dirty="0"/>
              <a:t> </a:t>
            </a:r>
            <a:r>
              <a:rPr lang="fr-FR" dirty="0" err="1"/>
              <a:t>heavy</a:t>
            </a:r>
            <a:r>
              <a:rPr lang="fr-FR" dirty="0"/>
              <a:t> for </a:t>
            </a:r>
            <a:r>
              <a:rPr lang="fr-FR" dirty="0" err="1"/>
              <a:t>research</a:t>
            </a:r>
            <a:r>
              <a:rPr lang="fr-FR" dirty="0"/>
              <a:t> and </a:t>
            </a:r>
            <a:r>
              <a:rPr lang="fr-FR" dirty="0" err="1"/>
              <a:t>development</a:t>
            </a:r>
            <a:r>
              <a:rPr lang="fr-FR" dirty="0"/>
              <a:t>, and </a:t>
            </a:r>
            <a:r>
              <a:rPr lang="fr-FR" dirty="0" err="1"/>
              <a:t>it</a:t>
            </a:r>
            <a:r>
              <a:rPr lang="fr-FR" dirty="0"/>
              <a:t> </a:t>
            </a:r>
            <a:r>
              <a:rPr lang="fr-FR" dirty="0" err="1"/>
              <a:t>was</a:t>
            </a:r>
            <a:r>
              <a:rPr lang="fr-FR" dirty="0"/>
              <a:t> the </a:t>
            </a:r>
            <a:r>
              <a:rPr lang="fr-FR" dirty="0" err="1"/>
              <a:t>most</a:t>
            </a:r>
            <a:r>
              <a:rPr lang="fr-FR" dirty="0"/>
              <a:t> </a:t>
            </a:r>
            <a:r>
              <a:rPr lang="fr-FR" dirty="0" err="1"/>
              <a:t>useful</a:t>
            </a:r>
            <a:r>
              <a:rPr lang="fr-FR" dirty="0"/>
              <a:t> </a:t>
            </a:r>
            <a:r>
              <a:rPr lang="fr-FR" dirty="0" err="1"/>
              <a:t>organisational</a:t>
            </a:r>
            <a:r>
              <a:rPr lang="fr-FR" dirty="0"/>
              <a:t> </a:t>
            </a:r>
            <a:r>
              <a:rPr lang="fr-FR" dirty="0" err="1"/>
              <a:t>feature</a:t>
            </a:r>
            <a:r>
              <a:rPr lang="fr-FR" dirty="0"/>
              <a:t> of the </a:t>
            </a:r>
            <a:r>
              <a:rPr lang="fr-FR" dirty="0" err="1"/>
              <a:t>internship</a:t>
            </a:r>
            <a:r>
              <a:rPr lang="fr-FR" dirty="0"/>
              <a:t>.</a:t>
            </a:r>
          </a:p>
          <a:p>
            <a:r>
              <a:rPr lang="fr-FR" dirty="0"/>
              <a:t>The Friday </a:t>
            </a:r>
            <a:r>
              <a:rPr lang="fr-FR" dirty="0" err="1"/>
              <a:t>demonstration</a:t>
            </a:r>
            <a:r>
              <a:rPr lang="fr-FR" dirty="0"/>
              <a:t> </a:t>
            </a:r>
            <a:r>
              <a:rPr lang="fr-FR" dirty="0" err="1"/>
              <a:t>required</a:t>
            </a:r>
            <a:r>
              <a:rPr lang="fr-FR" dirty="0"/>
              <a:t> </a:t>
            </a:r>
            <a:r>
              <a:rPr lang="fr-FR" dirty="0" err="1"/>
              <a:t>something</a:t>
            </a:r>
            <a:r>
              <a:rPr lang="fr-FR" dirty="0"/>
              <a:t> to </a:t>
            </a:r>
            <a:r>
              <a:rPr lang="fr-FR" dirty="0" err="1"/>
              <a:t>be</a:t>
            </a:r>
            <a:r>
              <a:rPr lang="fr-FR" dirty="0"/>
              <a:t> </a:t>
            </a:r>
            <a:r>
              <a:rPr lang="fr-FR" dirty="0" err="1"/>
              <a:t>shown</a:t>
            </a:r>
            <a:r>
              <a:rPr lang="fr-FR" dirty="0"/>
              <a:t>, </a:t>
            </a:r>
            <a:r>
              <a:rPr lang="fr-FR" dirty="0" err="1"/>
              <a:t>making</a:t>
            </a:r>
            <a:r>
              <a:rPr lang="fr-FR" dirty="0"/>
              <a:t> sure </a:t>
            </a:r>
            <a:r>
              <a:rPr lang="fr-FR" dirty="0" err="1"/>
              <a:t>that</a:t>
            </a:r>
            <a:r>
              <a:rPr lang="fr-FR" dirty="0"/>
              <a:t> </a:t>
            </a:r>
            <a:r>
              <a:rPr lang="fr-FR" dirty="0" err="1"/>
              <a:t>project</a:t>
            </a:r>
            <a:r>
              <a:rPr lang="fr-FR" dirty="0"/>
              <a:t> </a:t>
            </a:r>
            <a:r>
              <a:rPr lang="fr-FR" dirty="0" err="1"/>
              <a:t>is</a:t>
            </a:r>
            <a:r>
              <a:rPr lang="fr-FR" dirty="0"/>
              <a:t> </a:t>
            </a:r>
            <a:r>
              <a:rPr lang="fr-FR" dirty="0" err="1"/>
              <a:t>evolving</a:t>
            </a:r>
            <a:r>
              <a:rPr lang="fr-FR" dirty="0"/>
              <a:t>.</a:t>
            </a:r>
          </a:p>
          <a:p>
            <a:endParaRPr lang="fr-FR" dirty="0"/>
          </a:p>
          <a:p>
            <a:r>
              <a:rPr lang="fr-FR" dirty="0"/>
              <a:t>Test and Learn </a:t>
            </a:r>
            <a:r>
              <a:rPr lang="fr-FR" dirty="0" err="1"/>
              <a:t>means</a:t>
            </a:r>
            <a:r>
              <a:rPr lang="fr-FR" dirty="0"/>
              <a:t> </a:t>
            </a:r>
            <a:r>
              <a:rPr lang="fr-FR" dirty="0" err="1"/>
              <a:t>something</a:t>
            </a:r>
            <a:r>
              <a:rPr lang="fr-FR" dirty="0"/>
              <a:t> </a:t>
            </a:r>
            <a:r>
              <a:rPr lang="fr-FR" dirty="0" err="1"/>
              <a:t>only</a:t>
            </a:r>
            <a:r>
              <a:rPr lang="fr-FR" dirty="0"/>
              <a:t> if </a:t>
            </a:r>
            <a:r>
              <a:rPr lang="fr-FR" dirty="0" err="1"/>
              <a:t>things</a:t>
            </a:r>
            <a:r>
              <a:rPr lang="fr-FR" dirty="0"/>
              <a:t> </a:t>
            </a:r>
            <a:r>
              <a:rPr lang="fr-FR" dirty="0" err="1"/>
              <a:t>were</a:t>
            </a:r>
            <a:r>
              <a:rPr lang="fr-FR" dirty="0"/>
              <a:t> </a:t>
            </a:r>
            <a:r>
              <a:rPr lang="fr-FR" dirty="0" err="1"/>
              <a:t>dropped</a:t>
            </a:r>
            <a:r>
              <a:rPr lang="fr-FR" dirty="0"/>
              <a:t> and </a:t>
            </a:r>
            <a:r>
              <a:rPr lang="fr-FR" dirty="0" err="1"/>
              <a:t>that</a:t>
            </a:r>
            <a:r>
              <a:rPr lang="fr-FR" dirty="0"/>
              <a:t> i </a:t>
            </a:r>
            <a:r>
              <a:rPr lang="fr-FR" dirty="0" err="1"/>
              <a:t>devlopped</a:t>
            </a:r>
            <a:r>
              <a:rPr lang="fr-FR" dirty="0"/>
              <a:t> </a:t>
            </a:r>
            <a:r>
              <a:rPr lang="fr-FR" dirty="0" err="1"/>
              <a:t>knowledge</a:t>
            </a:r>
            <a:endParaRPr lang="fr-FR" dirty="0"/>
          </a:p>
          <a:p>
            <a:r>
              <a:rPr lang="fr-FR" dirty="0"/>
              <a:t>The first </a:t>
            </a:r>
            <a:r>
              <a:rPr lang="fr-FR" dirty="0" err="1"/>
              <a:t>urgency</a:t>
            </a:r>
            <a:r>
              <a:rPr lang="fr-FR" dirty="0"/>
              <a:t> model </a:t>
            </a:r>
            <a:r>
              <a:rPr lang="fr-FR" dirty="0" err="1"/>
              <a:t>was</a:t>
            </a:r>
            <a:r>
              <a:rPr lang="fr-FR" dirty="0"/>
              <a:t> a single time-</a:t>
            </a:r>
            <a:r>
              <a:rPr lang="fr-FR" dirty="0" err="1"/>
              <a:t>driven</a:t>
            </a:r>
            <a:r>
              <a:rPr lang="fr-FR" dirty="0"/>
              <a:t> </a:t>
            </a:r>
            <a:r>
              <a:rPr lang="fr-FR" dirty="0" err="1"/>
              <a:t>curve</a:t>
            </a:r>
            <a:r>
              <a:rPr lang="fr-FR" dirty="0"/>
              <a:t> </a:t>
            </a:r>
            <a:r>
              <a:rPr lang="fr-FR" dirty="0" err="1"/>
              <a:t>that</a:t>
            </a:r>
            <a:r>
              <a:rPr lang="fr-FR" dirty="0"/>
              <a:t> rose as a deadline </a:t>
            </a:r>
            <a:r>
              <a:rPr lang="fr-FR" dirty="0" err="1"/>
              <a:t>approached</a:t>
            </a:r>
            <a:r>
              <a:rPr lang="fr-FR" dirty="0"/>
              <a:t>. It </a:t>
            </a:r>
            <a:r>
              <a:rPr lang="fr-FR" dirty="0" err="1"/>
              <a:t>could</a:t>
            </a:r>
            <a:r>
              <a:rPr lang="fr-FR" dirty="0"/>
              <a:t> not </a:t>
            </a:r>
            <a:r>
              <a:rPr lang="fr-FR" dirty="0" err="1"/>
              <a:t>represent</a:t>
            </a:r>
            <a:r>
              <a:rPr lang="fr-FR" dirty="0"/>
              <a:t> a </a:t>
            </a:r>
            <a:r>
              <a:rPr lang="fr-FR" dirty="0" err="1"/>
              <a:t>node</a:t>
            </a:r>
            <a:r>
              <a:rPr lang="fr-FR" dirty="0"/>
              <a:t> on </a:t>
            </a:r>
            <a:r>
              <a:rPr lang="fr-FR" dirty="0" err="1"/>
              <a:t>schedule</a:t>
            </a:r>
            <a:r>
              <a:rPr lang="fr-FR" dirty="0"/>
              <a:t> but out of </a:t>
            </a:r>
            <a:r>
              <a:rPr lang="fr-FR" dirty="0" err="1"/>
              <a:t>capacity</a:t>
            </a:r>
            <a:endParaRPr lang="fr-FR" dirty="0"/>
          </a:p>
          <a:p>
            <a:r>
              <a:rPr lang="fr-FR" dirty="0"/>
              <a:t>I </a:t>
            </a:r>
            <a:r>
              <a:rPr lang="fr-FR" dirty="0" err="1"/>
              <a:t>dropped</a:t>
            </a:r>
            <a:r>
              <a:rPr lang="fr-FR" dirty="0"/>
              <a:t> </a:t>
            </a:r>
            <a:r>
              <a:rPr lang="fr-FR" dirty="0" err="1"/>
              <a:t>it</a:t>
            </a:r>
            <a:r>
              <a:rPr lang="fr-FR" dirty="0"/>
              <a:t> in April, at a </a:t>
            </a:r>
            <a:r>
              <a:rPr lang="fr-FR" dirty="0" err="1"/>
              <a:t>cost</a:t>
            </a:r>
            <a:r>
              <a:rPr lang="fr-FR" dirty="0"/>
              <a:t> of </a:t>
            </a:r>
            <a:r>
              <a:rPr lang="fr-FR" dirty="0" err="1"/>
              <a:t>three</a:t>
            </a:r>
            <a:r>
              <a:rPr lang="fr-FR" dirty="0"/>
              <a:t> </a:t>
            </a:r>
            <a:r>
              <a:rPr lang="fr-FR" dirty="0" err="1"/>
              <a:t>weeks</a:t>
            </a:r>
            <a:r>
              <a:rPr lang="fr-FR" dirty="0"/>
              <a:t>.</a:t>
            </a:r>
          </a:p>
          <a:p>
            <a:r>
              <a:rPr lang="fr-FR" dirty="0"/>
              <a:t>I gain </a:t>
            </a:r>
            <a:r>
              <a:rPr lang="fr-FR" dirty="0" err="1"/>
              <a:t>knowledge</a:t>
            </a:r>
            <a:r>
              <a:rPr lang="fr-FR" dirty="0"/>
              <a:t> and </a:t>
            </a:r>
            <a:r>
              <a:rPr lang="fr-FR" dirty="0" err="1"/>
              <a:t>expericen</a:t>
            </a:r>
            <a:r>
              <a:rPr lang="fr-FR" dirty="0"/>
              <a:t> in </a:t>
            </a:r>
            <a:r>
              <a:rPr lang="fr-FR" dirty="0" err="1"/>
              <a:t>suplly</a:t>
            </a:r>
            <a:r>
              <a:rPr lang="fr-FR" dirty="0"/>
              <a:t> chain </a:t>
            </a:r>
            <a:r>
              <a:rPr lang="fr-FR" dirty="0" err="1"/>
              <a:t>organization</a:t>
            </a:r>
            <a:r>
              <a:rPr lang="fr-FR" dirty="0"/>
              <a:t>, digital </a:t>
            </a:r>
            <a:r>
              <a:rPr lang="fr-FR" dirty="0" err="1"/>
              <a:t>twin</a:t>
            </a:r>
            <a:r>
              <a:rPr lang="fr-FR" dirty="0"/>
              <a:t> modeling and AI as i </a:t>
            </a:r>
            <a:r>
              <a:rPr lang="fr-FR" dirty="0" err="1"/>
              <a:t>experienced</a:t>
            </a:r>
            <a:r>
              <a:rPr lang="fr-FR" dirty="0"/>
              <a:t> all of </a:t>
            </a:r>
            <a:r>
              <a:rPr lang="fr-FR" dirty="0" err="1"/>
              <a:t>them</a:t>
            </a:r>
            <a:r>
              <a:rPr lang="fr-FR" dirty="0"/>
              <a:t>.</a:t>
            </a:r>
          </a:p>
          <a:p>
            <a:endParaRPr lang="fr-FR" dirty="0"/>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Ten phases, </a:t>
            </a:r>
            <a:r>
              <a:rPr lang="fr-FR" dirty="0" err="1"/>
              <a:t>nine</a:t>
            </a:r>
            <a:r>
              <a:rPr lang="fr-FR" dirty="0"/>
              <a:t> </a:t>
            </a:r>
            <a:r>
              <a:rPr lang="fr-FR" dirty="0" err="1"/>
              <a:t>milestones</a:t>
            </a:r>
            <a:r>
              <a:rPr lang="fr-FR" dirty="0"/>
              <a:t>, </a:t>
            </a:r>
            <a:r>
              <a:rPr lang="fr-FR" dirty="0" err="1"/>
              <a:t>seven</a:t>
            </a:r>
            <a:r>
              <a:rPr lang="fr-FR" dirty="0"/>
              <a:t> </a:t>
            </a:r>
            <a:r>
              <a:rPr lang="fr-FR" dirty="0" err="1"/>
              <a:t>closed</a:t>
            </a:r>
            <a:r>
              <a:rPr lang="fr-FR" dirty="0"/>
              <a:t> at the time of </a:t>
            </a:r>
            <a:r>
              <a:rPr lang="fr-FR" dirty="0" err="1"/>
              <a:t>writing</a:t>
            </a:r>
            <a:endParaRPr lang="fr-FR" dirty="0"/>
          </a:p>
          <a:p>
            <a:endParaRPr lang="fr-FR" dirty="0"/>
          </a:p>
          <a:p>
            <a:r>
              <a:rPr lang="fr-FR" dirty="0"/>
              <a:t>One </a:t>
            </a:r>
            <a:r>
              <a:rPr lang="fr-FR" dirty="0" err="1"/>
              <a:t>decision</a:t>
            </a:r>
            <a:r>
              <a:rPr lang="fr-FR" dirty="0"/>
              <a:t> </a:t>
            </a:r>
            <a:r>
              <a:rPr lang="fr-FR" dirty="0" err="1"/>
              <a:t>matters</a:t>
            </a:r>
            <a:r>
              <a:rPr lang="fr-FR" dirty="0"/>
              <a:t> more </a:t>
            </a:r>
            <a:r>
              <a:rPr lang="fr-FR" dirty="0" err="1"/>
              <a:t>than</a:t>
            </a:r>
            <a:r>
              <a:rPr lang="fr-FR" dirty="0"/>
              <a:t> the </a:t>
            </a:r>
            <a:r>
              <a:rPr lang="fr-FR" dirty="0" err="1"/>
              <a:t>rest</a:t>
            </a:r>
            <a:r>
              <a:rPr lang="fr-FR" dirty="0"/>
              <a:t>. The original plan gave the second </a:t>
            </a:r>
            <a:r>
              <a:rPr lang="fr-FR" dirty="0" err="1"/>
              <a:t>half</a:t>
            </a:r>
            <a:r>
              <a:rPr lang="fr-FR" dirty="0"/>
              <a:t> of the mission to </a:t>
            </a:r>
            <a:r>
              <a:rPr lang="fr-FR" dirty="0" err="1"/>
              <a:t>extending</a:t>
            </a:r>
            <a:r>
              <a:rPr lang="fr-FR" dirty="0"/>
              <a:t> the </a:t>
            </a:r>
            <a:r>
              <a:rPr lang="fr-FR" dirty="0" err="1"/>
              <a:t>model's</a:t>
            </a:r>
            <a:r>
              <a:rPr lang="fr-FR" dirty="0"/>
              <a:t> scope. I </a:t>
            </a:r>
            <a:r>
              <a:rPr lang="fr-FR" dirty="0" err="1"/>
              <a:t>reallocated</a:t>
            </a:r>
            <a:r>
              <a:rPr lang="fr-FR" dirty="0"/>
              <a:t> </a:t>
            </a:r>
            <a:r>
              <a:rPr lang="fr-FR" dirty="0" err="1"/>
              <a:t>it</a:t>
            </a:r>
            <a:r>
              <a:rPr lang="fr-FR" dirty="0"/>
              <a:t> to </a:t>
            </a:r>
            <a:r>
              <a:rPr lang="fr-FR" dirty="0" err="1"/>
              <a:t>validating</a:t>
            </a:r>
            <a:r>
              <a:rPr lang="fr-FR" dirty="0"/>
              <a:t> </a:t>
            </a:r>
            <a:r>
              <a:rPr lang="fr-FR" dirty="0" err="1"/>
              <a:t>what</a:t>
            </a:r>
            <a:r>
              <a:rPr lang="fr-FR" dirty="0"/>
              <a:t> </a:t>
            </a:r>
            <a:r>
              <a:rPr lang="fr-FR" dirty="0" err="1"/>
              <a:t>already</a:t>
            </a:r>
            <a:r>
              <a:rPr lang="fr-FR" dirty="0"/>
              <a:t> </a:t>
            </a:r>
            <a:r>
              <a:rPr lang="fr-FR" dirty="0" err="1"/>
              <a:t>existed</a:t>
            </a:r>
            <a:r>
              <a:rPr lang="fr-FR" dirty="0"/>
              <a:t>.</a:t>
            </a:r>
          </a:p>
          <a:p>
            <a:r>
              <a:rPr lang="fr-FR" dirty="0"/>
              <a:t>An </a:t>
            </a:r>
            <a:r>
              <a:rPr lang="fr-FR" dirty="0" err="1"/>
              <a:t>unvalidated</a:t>
            </a:r>
            <a:r>
              <a:rPr lang="fr-FR" dirty="0"/>
              <a:t> extension of an </a:t>
            </a:r>
            <a:r>
              <a:rPr lang="fr-FR" dirty="0" err="1"/>
              <a:t>unvalidated</a:t>
            </a:r>
            <a:r>
              <a:rPr lang="fr-FR" dirty="0"/>
              <a:t> model compounds the </a:t>
            </a:r>
            <a:r>
              <a:rPr lang="fr-FR" dirty="0" err="1"/>
              <a:t>problem</a:t>
            </a:r>
            <a:r>
              <a:rPr lang="fr-FR" dirty="0"/>
              <a:t> </a:t>
            </a:r>
            <a:r>
              <a:rPr lang="fr-FR" dirty="0" err="1"/>
              <a:t>rather</a:t>
            </a:r>
            <a:r>
              <a:rPr lang="fr-FR" dirty="0"/>
              <a:t> </a:t>
            </a:r>
            <a:r>
              <a:rPr lang="fr-FR" dirty="0" err="1"/>
              <a:t>than</a:t>
            </a:r>
            <a:r>
              <a:rPr lang="fr-FR" dirty="0"/>
              <a:t> </a:t>
            </a:r>
            <a:r>
              <a:rPr lang="fr-FR" dirty="0" err="1"/>
              <a:t>advancing</a:t>
            </a:r>
            <a:r>
              <a:rPr lang="fr-FR" dirty="0"/>
              <a:t> </a:t>
            </a:r>
            <a:r>
              <a:rPr lang="fr-FR" dirty="0" err="1"/>
              <a:t>it</a:t>
            </a:r>
            <a:r>
              <a:rPr lang="fr-FR" dirty="0"/>
              <a:t>. That </a:t>
            </a:r>
            <a:r>
              <a:rPr lang="fr-FR" dirty="0" err="1"/>
              <a:t>is</a:t>
            </a:r>
            <a:r>
              <a:rPr lang="fr-FR" dirty="0"/>
              <a:t> </a:t>
            </a:r>
            <a:r>
              <a:rPr lang="fr-FR" dirty="0" err="1"/>
              <a:t>why</a:t>
            </a:r>
            <a:r>
              <a:rPr lang="fr-FR" dirty="0"/>
              <a:t> I can state a </a:t>
            </a:r>
            <a:r>
              <a:rPr lang="fr-FR" dirty="0" err="1"/>
              <a:t>measured</a:t>
            </a:r>
            <a:r>
              <a:rPr lang="fr-FR" dirty="0"/>
              <a:t> </a:t>
            </a:r>
            <a:r>
              <a:rPr lang="fr-FR" dirty="0" err="1"/>
              <a:t>result</a:t>
            </a:r>
            <a:r>
              <a:rPr lang="fr-FR" dirty="0"/>
              <a:t> </a:t>
            </a:r>
            <a:r>
              <a:rPr lang="fr-FR" dirty="0" err="1"/>
              <a:t>today</a:t>
            </a:r>
            <a:endParaRPr lang="fr-FR" dirty="0"/>
          </a:p>
          <a:p>
            <a:endParaRPr lang="fr-FR" dirty="0"/>
          </a:p>
          <a:p>
            <a:r>
              <a:rPr lang="fr-FR" dirty="0" err="1"/>
              <a:t>Everything</a:t>
            </a:r>
            <a:r>
              <a:rPr lang="fr-FR" dirty="0"/>
              <a:t> to the right of </a:t>
            </a:r>
            <a:r>
              <a:rPr lang="fr-FR" dirty="0" err="1"/>
              <a:t>that</a:t>
            </a:r>
            <a:r>
              <a:rPr lang="fr-FR" dirty="0"/>
              <a:t> line </a:t>
            </a:r>
            <a:r>
              <a:rPr lang="fr-FR" dirty="0" err="1"/>
              <a:t>is</a:t>
            </a:r>
            <a:r>
              <a:rPr lang="fr-FR" dirty="0"/>
              <a:t> </a:t>
            </a:r>
            <a:r>
              <a:rPr lang="fr-FR" dirty="0" err="1"/>
              <a:t>planned</a:t>
            </a:r>
            <a:r>
              <a:rPr lang="fr-FR" dirty="0"/>
              <a:t>, not </a:t>
            </a:r>
            <a:r>
              <a:rPr lang="fr-FR" dirty="0" err="1"/>
              <a:t>done</a:t>
            </a:r>
            <a:r>
              <a:rPr lang="fr-FR" dirty="0"/>
              <a:t>.</a:t>
            </a:r>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58A7D-25E9-CB54-6B5A-B5798F076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ABA94D-64F6-F5F7-18D9-3D45859687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47E301-F1A4-CA2E-3905-0AC0BB328130}"/>
              </a:ext>
            </a:extLst>
          </p:cNvPr>
          <p:cNvSpPr>
            <a:spLocks noGrp="1"/>
          </p:cNvSpPr>
          <p:nvPr>
            <p:ph type="body" idx="1"/>
          </p:nvPr>
        </p:nvSpPr>
        <p:spPr/>
        <p:txBody>
          <a:bodyPr/>
          <a:lstStyle/>
          <a:p>
            <a:r>
              <a:rPr lang="en-US" dirty="0"/>
              <a:t>This </a:t>
            </a:r>
            <a:r>
              <a:rPr lang="en-US" dirty="0" err="1"/>
              <a:t>prez</a:t>
            </a:r>
            <a:r>
              <a:rPr lang="en-US" dirty="0"/>
              <a:t> will be in 5 parts ! </a:t>
            </a:r>
          </a:p>
          <a:p>
            <a:r>
              <a:rPr lang="fr-FR" dirty="0"/>
              <a:t>The first </a:t>
            </a:r>
            <a:r>
              <a:rPr lang="fr-FR" dirty="0" err="1"/>
              <a:t>three</a:t>
            </a:r>
            <a:r>
              <a:rPr lang="fr-FR" dirty="0"/>
              <a:t> </a:t>
            </a:r>
            <a:r>
              <a:rPr lang="fr-FR" dirty="0" err="1"/>
              <a:t>build</a:t>
            </a:r>
            <a:r>
              <a:rPr lang="fr-FR" dirty="0"/>
              <a:t> the instrument.</a:t>
            </a:r>
          </a:p>
          <a:p>
            <a:r>
              <a:rPr lang="fr-FR" dirty="0"/>
              <a:t>The 4 </a:t>
            </a:r>
            <a:r>
              <a:rPr lang="fr-FR" dirty="0" err="1"/>
              <a:t>is</a:t>
            </a:r>
            <a:r>
              <a:rPr lang="fr-FR" dirty="0"/>
              <a:t> </a:t>
            </a:r>
            <a:r>
              <a:rPr lang="fr-FR" dirty="0" err="1"/>
              <a:t>where</a:t>
            </a:r>
            <a:r>
              <a:rPr lang="fr-FR" dirty="0"/>
              <a:t> the </a:t>
            </a:r>
            <a:r>
              <a:rPr lang="fr-FR" dirty="0" err="1"/>
              <a:t>number</a:t>
            </a:r>
            <a:r>
              <a:rPr lang="fr-FR" dirty="0"/>
              <a:t> I </a:t>
            </a:r>
            <a:r>
              <a:rPr lang="fr-FR" dirty="0" err="1"/>
              <a:t>just</a:t>
            </a:r>
            <a:r>
              <a:rPr lang="fr-FR" dirty="0"/>
              <a:t> gave </a:t>
            </a:r>
            <a:r>
              <a:rPr lang="fr-FR" dirty="0" err="1"/>
              <a:t>you</a:t>
            </a:r>
            <a:r>
              <a:rPr lang="fr-FR" dirty="0"/>
              <a:t> </a:t>
            </a:r>
            <a:r>
              <a:rPr lang="fr-FR" dirty="0" err="1"/>
              <a:t>comes</a:t>
            </a:r>
            <a:r>
              <a:rPr lang="fr-FR" dirty="0"/>
              <a:t> </a:t>
            </a:r>
            <a:r>
              <a:rPr lang="fr-FR" dirty="0" err="1"/>
              <a:t>from</a:t>
            </a:r>
            <a:r>
              <a:rPr lang="fr-FR" dirty="0"/>
              <a:t>.</a:t>
            </a:r>
          </a:p>
          <a:p>
            <a:r>
              <a:rPr lang="fr-FR" dirty="0"/>
              <a:t>The 5 </a:t>
            </a:r>
            <a:r>
              <a:rPr lang="fr-FR" dirty="0" err="1"/>
              <a:t>is</a:t>
            </a:r>
            <a:r>
              <a:rPr lang="fr-FR" dirty="0"/>
              <a:t> </a:t>
            </a:r>
            <a:r>
              <a:rPr lang="fr-FR" dirty="0" err="1"/>
              <a:t>what</a:t>
            </a:r>
            <a:r>
              <a:rPr lang="fr-FR" dirty="0"/>
              <a:t> I </a:t>
            </a:r>
            <a:r>
              <a:rPr lang="fr-FR" dirty="0" err="1"/>
              <a:t>would</a:t>
            </a:r>
            <a:r>
              <a:rPr lang="fr-FR" dirty="0"/>
              <a:t> do </a:t>
            </a:r>
            <a:r>
              <a:rPr lang="fr-FR" dirty="0" err="1"/>
              <a:t>next</a:t>
            </a:r>
            <a:r>
              <a:rPr lang="fr-FR" dirty="0"/>
              <a:t>.</a:t>
            </a:r>
            <a:endParaRPr lang="en-US" dirty="0"/>
          </a:p>
        </p:txBody>
      </p:sp>
    </p:spTree>
    <p:extLst>
      <p:ext uri="{BB962C8B-B14F-4D97-AF65-F5344CB8AC3E}">
        <p14:creationId xmlns:p14="http://schemas.microsoft.com/office/powerpoint/2010/main" val="34501455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I </a:t>
            </a:r>
            <a:r>
              <a:rPr lang="fr-FR" dirty="0" err="1"/>
              <a:t>looked</a:t>
            </a:r>
            <a:r>
              <a:rPr lang="fr-FR" dirty="0"/>
              <a:t> in </a:t>
            </a:r>
            <a:r>
              <a:rPr lang="fr-FR" dirty="0" err="1"/>
              <a:t>two</a:t>
            </a:r>
            <a:r>
              <a:rPr lang="fr-FR" dirty="0"/>
              <a:t> places.</a:t>
            </a:r>
          </a:p>
          <a:p>
            <a:endParaRPr lang="fr-FR" dirty="0"/>
          </a:p>
          <a:p>
            <a:r>
              <a:rPr lang="fr-FR" dirty="0"/>
              <a:t>Six </a:t>
            </a:r>
            <a:r>
              <a:rPr lang="fr-FR" dirty="0" err="1"/>
              <a:t>streams</a:t>
            </a:r>
            <a:r>
              <a:rPr lang="fr-FR" dirty="0"/>
              <a:t>, and </a:t>
            </a:r>
            <a:r>
              <a:rPr lang="fr-FR" dirty="0" err="1"/>
              <a:t>each</a:t>
            </a:r>
            <a:r>
              <a:rPr lang="fr-FR" dirty="0"/>
              <a:t> one </a:t>
            </a:r>
            <a:r>
              <a:rPr lang="fr-FR" dirty="0" err="1"/>
              <a:t>settles</a:t>
            </a:r>
            <a:r>
              <a:rPr lang="fr-FR" dirty="0"/>
              <a:t> </a:t>
            </a:r>
            <a:r>
              <a:rPr lang="fr-FR" dirty="0" err="1"/>
              <a:t>something</a:t>
            </a:r>
            <a:r>
              <a:rPr lang="fr-FR" dirty="0"/>
              <a:t> and </a:t>
            </a:r>
            <a:r>
              <a:rPr lang="fr-FR" dirty="0" err="1"/>
              <a:t>leaves</a:t>
            </a:r>
            <a:r>
              <a:rPr lang="fr-FR" dirty="0"/>
              <a:t> </a:t>
            </a:r>
            <a:r>
              <a:rPr lang="fr-FR" dirty="0" err="1"/>
              <a:t>something</a:t>
            </a:r>
            <a:r>
              <a:rPr lang="fr-FR" dirty="0"/>
              <a:t> open.</a:t>
            </a:r>
          </a:p>
          <a:p>
            <a:r>
              <a:rPr lang="fr-FR" dirty="0"/>
              <a:t>Read the second </a:t>
            </a:r>
            <a:r>
              <a:rPr lang="fr-FR" dirty="0" err="1"/>
              <a:t>half</a:t>
            </a:r>
            <a:r>
              <a:rPr lang="fr-FR" dirty="0"/>
              <a:t> of </a:t>
            </a:r>
            <a:r>
              <a:rPr lang="fr-FR" dirty="0" err="1"/>
              <a:t>each</a:t>
            </a:r>
            <a:r>
              <a:rPr lang="fr-FR" dirty="0"/>
              <a:t> line and </a:t>
            </a:r>
            <a:r>
              <a:rPr lang="fr-FR" dirty="0" err="1"/>
              <a:t>you</a:t>
            </a:r>
            <a:r>
              <a:rPr lang="fr-FR" dirty="0"/>
              <a:t> have </a:t>
            </a:r>
            <a:r>
              <a:rPr lang="fr-FR" dirty="0" err="1"/>
              <a:t>my</a:t>
            </a:r>
            <a:r>
              <a:rPr lang="fr-FR" dirty="0"/>
              <a:t> </a:t>
            </a:r>
            <a:r>
              <a:rPr lang="fr-FR" dirty="0" err="1"/>
              <a:t>specification</a:t>
            </a:r>
            <a:r>
              <a:rPr lang="fr-FR" dirty="0"/>
              <a:t>.</a:t>
            </a:r>
          </a:p>
          <a:p>
            <a:endParaRPr lang="en-US" dirty="0"/>
          </a:p>
          <a:p>
            <a:r>
              <a:rPr lang="fr-FR" dirty="0"/>
              <a:t>The patent record </a:t>
            </a:r>
            <a:r>
              <a:rPr lang="fr-FR" dirty="0" err="1"/>
              <a:t>was</a:t>
            </a:r>
            <a:r>
              <a:rPr lang="fr-FR" dirty="0"/>
              <a:t> more </a:t>
            </a:r>
            <a:r>
              <a:rPr lang="fr-FR" dirty="0" err="1"/>
              <a:t>interesting</a:t>
            </a:r>
            <a:r>
              <a:rPr lang="fr-FR" dirty="0"/>
              <a:t>.</a:t>
            </a:r>
          </a:p>
          <a:p>
            <a:r>
              <a:rPr lang="fr-FR" dirty="0"/>
              <a:t>IBM, 2007: </a:t>
            </a:r>
            <a:r>
              <a:rPr lang="fr-FR" dirty="0" err="1"/>
              <a:t>computed</a:t>
            </a:r>
            <a:r>
              <a:rPr lang="fr-FR" dirty="0"/>
              <a:t> </a:t>
            </a:r>
            <a:r>
              <a:rPr lang="fr-FR" dirty="0" err="1"/>
              <a:t>entirely</a:t>
            </a:r>
            <a:r>
              <a:rPr lang="fr-FR" dirty="0"/>
              <a:t> </a:t>
            </a:r>
            <a:r>
              <a:rPr lang="fr-FR" dirty="0" err="1"/>
              <a:t>from</a:t>
            </a:r>
            <a:r>
              <a:rPr lang="fr-FR" dirty="0"/>
              <a:t> </a:t>
            </a:r>
            <a:r>
              <a:rPr lang="fr-FR" dirty="0" err="1"/>
              <a:t>measured</a:t>
            </a:r>
            <a:r>
              <a:rPr lang="fr-FR" dirty="0"/>
              <a:t> inputs.</a:t>
            </a:r>
          </a:p>
          <a:p>
            <a:r>
              <a:rPr lang="fr-FR" dirty="0"/>
              <a:t>Wipro, 2019: </a:t>
            </a:r>
            <a:r>
              <a:rPr lang="fr-FR" dirty="0" err="1"/>
              <a:t>those</a:t>
            </a:r>
            <a:r>
              <a:rPr lang="fr-FR" dirty="0"/>
              <a:t> inputs are </a:t>
            </a:r>
            <a:r>
              <a:rPr lang="fr-FR" dirty="0" err="1"/>
              <a:t>replaced</a:t>
            </a:r>
            <a:r>
              <a:rPr lang="fr-FR" dirty="0"/>
              <a:t> by </a:t>
            </a:r>
            <a:r>
              <a:rPr lang="fr-FR" dirty="0" err="1"/>
              <a:t>language</a:t>
            </a:r>
            <a:r>
              <a:rPr lang="fr-FR" dirty="0"/>
              <a:t>, </a:t>
            </a:r>
            <a:r>
              <a:rPr lang="fr-FR" dirty="0" err="1"/>
              <a:t>so</a:t>
            </a:r>
            <a:r>
              <a:rPr lang="fr-FR" dirty="0"/>
              <a:t> the </a:t>
            </a:r>
            <a:r>
              <a:rPr lang="fr-FR" dirty="0" err="1"/>
              <a:t>human</a:t>
            </a:r>
            <a:r>
              <a:rPr lang="fr-FR" dirty="0"/>
              <a:t> </a:t>
            </a:r>
            <a:r>
              <a:rPr lang="fr-FR" dirty="0" err="1"/>
              <a:t>narrates</a:t>
            </a:r>
            <a:r>
              <a:rPr lang="fr-FR" dirty="0"/>
              <a:t> but </a:t>
            </a:r>
            <a:r>
              <a:rPr lang="fr-FR" dirty="0" err="1"/>
              <a:t>is</a:t>
            </a:r>
            <a:r>
              <a:rPr lang="fr-FR" dirty="0"/>
              <a:t> </a:t>
            </a:r>
            <a:r>
              <a:rPr lang="fr-FR" dirty="0" err="1"/>
              <a:t>never</a:t>
            </a:r>
            <a:r>
              <a:rPr lang="fr-FR" dirty="0"/>
              <a:t> </a:t>
            </a:r>
            <a:r>
              <a:rPr lang="fr-FR" dirty="0" err="1"/>
              <a:t>assessed</a:t>
            </a:r>
            <a:r>
              <a:rPr lang="fr-FR" dirty="0"/>
              <a:t>.</a:t>
            </a:r>
          </a:p>
          <a:p>
            <a:r>
              <a:rPr lang="fr-FR" dirty="0"/>
              <a:t>The </a:t>
            </a:r>
            <a:r>
              <a:rPr lang="fr-FR" dirty="0" err="1"/>
              <a:t>most</a:t>
            </a:r>
            <a:r>
              <a:rPr lang="fr-FR" dirty="0"/>
              <a:t> </a:t>
            </a:r>
            <a:r>
              <a:rPr lang="fr-FR" dirty="0" err="1"/>
              <a:t>recent</a:t>
            </a:r>
            <a:r>
              <a:rPr lang="fr-FR" dirty="0"/>
              <a:t> </a:t>
            </a:r>
            <a:r>
              <a:rPr lang="fr-FR" dirty="0" err="1"/>
              <a:t>is</a:t>
            </a:r>
            <a:r>
              <a:rPr lang="fr-FR" dirty="0"/>
              <a:t> a control </a:t>
            </a:r>
            <a:r>
              <a:rPr lang="fr-FR" dirty="0" err="1"/>
              <a:t>tower</a:t>
            </a:r>
            <a:r>
              <a:rPr lang="fr-FR" dirty="0"/>
              <a:t> </a:t>
            </a:r>
            <a:r>
              <a:rPr lang="fr-FR" dirty="0" err="1"/>
              <a:t>where</a:t>
            </a:r>
            <a:r>
              <a:rPr lang="fr-FR" dirty="0"/>
              <a:t> the </a:t>
            </a:r>
            <a:r>
              <a:rPr lang="fr-FR" dirty="0" err="1"/>
              <a:t>operator</a:t>
            </a:r>
            <a:r>
              <a:rPr lang="fr-FR" dirty="0"/>
              <a:t> </a:t>
            </a:r>
            <a:r>
              <a:rPr lang="fr-FR" dirty="0" err="1"/>
              <a:t>receives</a:t>
            </a:r>
            <a:r>
              <a:rPr lang="fr-FR" dirty="0"/>
              <a:t> </a:t>
            </a:r>
            <a:r>
              <a:rPr lang="fr-FR" dirty="0" err="1"/>
              <a:t>decisions</a:t>
            </a:r>
            <a:r>
              <a:rPr lang="fr-FR" dirty="0"/>
              <a:t>.</a:t>
            </a:r>
          </a:p>
          <a:p>
            <a:endParaRPr lang="fr-FR" dirty="0"/>
          </a:p>
          <a:p>
            <a:r>
              <a:rPr lang="fr-FR" dirty="0" err="1"/>
              <a:t>Fifteen</a:t>
            </a:r>
            <a:r>
              <a:rPr lang="fr-FR" dirty="0"/>
              <a:t> </a:t>
            </a:r>
            <a:r>
              <a:rPr lang="fr-FR" dirty="0" err="1"/>
              <a:t>years</a:t>
            </a:r>
            <a:r>
              <a:rPr lang="fr-FR" dirty="0"/>
              <a:t> running </a:t>
            </a:r>
            <a:r>
              <a:rPr lang="fr-FR" dirty="0" err="1"/>
              <a:t>away</a:t>
            </a:r>
            <a:r>
              <a:rPr lang="fr-FR" dirty="0"/>
              <a:t> </a:t>
            </a:r>
            <a:r>
              <a:rPr lang="fr-FR" dirty="0" err="1"/>
              <a:t>from</a:t>
            </a:r>
            <a:r>
              <a:rPr lang="fr-FR" dirty="0"/>
              <a:t> the </a:t>
            </a:r>
            <a:r>
              <a:rPr lang="fr-FR" dirty="0" err="1"/>
              <a:t>human</a:t>
            </a:r>
            <a:r>
              <a:rPr lang="fr-FR" dirty="0"/>
              <a:t> </a:t>
            </a:r>
            <a:r>
              <a:rPr lang="fr-FR" dirty="0" err="1"/>
              <a:t>declarant</a:t>
            </a:r>
            <a:r>
              <a:rPr lang="fr-FR" dirty="0"/>
              <a:t>.</a:t>
            </a:r>
          </a:p>
          <a:p>
            <a:endParaRPr lang="fr-FR" dirty="0"/>
          </a:p>
          <a:p>
            <a:r>
              <a:rPr lang="fr-FR" dirty="0"/>
              <a:t>So the gap </a:t>
            </a:r>
            <a:r>
              <a:rPr lang="fr-FR" dirty="0" err="1"/>
              <a:t>is</a:t>
            </a:r>
            <a:r>
              <a:rPr lang="fr-FR" dirty="0"/>
              <a:t> </a:t>
            </a:r>
            <a:r>
              <a:rPr lang="fr-FR" dirty="0" err="1"/>
              <a:t>specific</a:t>
            </a:r>
            <a:r>
              <a:rPr lang="fr-FR" dirty="0"/>
              <a:t>. No system, </a:t>
            </a:r>
            <a:r>
              <a:rPr lang="fr-FR" dirty="0" err="1"/>
              <a:t>published</a:t>
            </a:r>
            <a:r>
              <a:rPr lang="fr-FR" dirty="0"/>
              <a:t> or </a:t>
            </a:r>
            <a:r>
              <a:rPr lang="fr-FR" dirty="0" err="1"/>
              <a:t>patented</a:t>
            </a:r>
            <a:r>
              <a:rPr lang="fr-FR" dirty="0"/>
              <a:t>, </a:t>
            </a:r>
            <a:r>
              <a:rPr lang="fr-FR" dirty="0" err="1"/>
              <a:t>elicits</a:t>
            </a:r>
            <a:r>
              <a:rPr lang="fr-FR" dirty="0"/>
              <a:t> a </a:t>
            </a:r>
            <a:r>
              <a:rPr lang="fr-FR" dirty="0" err="1"/>
              <a:t>declared</a:t>
            </a:r>
            <a:r>
              <a:rPr lang="fr-FR" dirty="0"/>
              <a:t> </a:t>
            </a:r>
            <a:r>
              <a:rPr lang="fr-FR" dirty="0" err="1"/>
              <a:t>urgency</a:t>
            </a:r>
            <a:r>
              <a:rPr lang="fr-FR" dirty="0"/>
              <a:t>, </a:t>
            </a:r>
            <a:r>
              <a:rPr lang="fr-FR" dirty="0" err="1"/>
              <a:t>computes</a:t>
            </a:r>
            <a:r>
              <a:rPr lang="fr-FR" dirty="0"/>
              <a:t> </a:t>
            </a:r>
            <a:r>
              <a:rPr lang="fr-FR" dirty="0" err="1"/>
              <a:t>its</a:t>
            </a:r>
            <a:r>
              <a:rPr lang="fr-FR" dirty="0"/>
              <a:t> </a:t>
            </a:r>
            <a:r>
              <a:rPr lang="fr-FR" dirty="0" err="1"/>
              <a:t>counterpart</a:t>
            </a:r>
            <a:r>
              <a:rPr lang="fr-FR" dirty="0"/>
              <a:t> on the </a:t>
            </a:r>
            <a:r>
              <a:rPr lang="fr-FR" dirty="0" err="1"/>
              <a:t>same</a:t>
            </a:r>
            <a:r>
              <a:rPr lang="fr-FR" dirty="0"/>
              <a:t> </a:t>
            </a:r>
            <a:r>
              <a:rPr lang="fr-FR" dirty="0" err="1"/>
              <a:t>node</a:t>
            </a:r>
            <a:r>
              <a:rPr lang="fr-FR" dirty="0"/>
              <a:t>, and scores the </a:t>
            </a:r>
            <a:r>
              <a:rPr lang="fr-FR" dirty="0" err="1"/>
              <a:t>difference</a:t>
            </a:r>
            <a:r>
              <a:rPr lang="fr-FR" dirty="0"/>
              <a:t> </a:t>
            </a:r>
            <a:r>
              <a:rPr lang="fr-FR" dirty="0" err="1"/>
              <a:t>against</a:t>
            </a:r>
            <a:r>
              <a:rPr lang="fr-FR" dirty="0"/>
              <a:t> </a:t>
            </a:r>
            <a:r>
              <a:rPr lang="fr-FR" dirty="0" err="1"/>
              <a:t>recorded</a:t>
            </a:r>
            <a:r>
              <a:rPr lang="fr-FR" dirty="0"/>
              <a:t> </a:t>
            </a:r>
            <a:r>
              <a:rPr lang="fr-FR" dirty="0" err="1"/>
              <a:t>outcomes</a:t>
            </a:r>
            <a:endParaRPr lang="fr-FR" dirty="0"/>
          </a:p>
          <a:p>
            <a:endParaRPr lang="fr-FR" dirty="0"/>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objectives</a:t>
            </a:r>
          </a:p>
          <a:p>
            <a:r>
              <a:rPr lang="fr-FR" dirty="0"/>
              <a:t>I flag the </a:t>
            </a:r>
            <a:r>
              <a:rPr lang="fr-FR" dirty="0" err="1"/>
              <a:t>fourth</a:t>
            </a:r>
            <a:r>
              <a:rPr lang="fr-FR" dirty="0"/>
              <a:t> </a:t>
            </a:r>
            <a:r>
              <a:rPr lang="fr-FR" dirty="0" err="1"/>
              <a:t>now</a:t>
            </a:r>
            <a:r>
              <a:rPr lang="fr-FR" dirty="0"/>
              <a:t>, </a:t>
            </a:r>
            <a:r>
              <a:rPr lang="fr-FR" dirty="0" err="1"/>
              <a:t>because</a:t>
            </a:r>
            <a:r>
              <a:rPr lang="fr-FR" dirty="0"/>
              <a:t> </a:t>
            </a:r>
            <a:r>
              <a:rPr lang="fr-FR" dirty="0" err="1"/>
              <a:t>it</a:t>
            </a:r>
            <a:r>
              <a:rPr lang="fr-FR" dirty="0"/>
              <a:t> </a:t>
            </a:r>
            <a:r>
              <a:rPr lang="fr-FR" dirty="0" err="1"/>
              <a:t>changed</a:t>
            </a:r>
            <a:r>
              <a:rPr lang="fr-FR" dirty="0"/>
              <a:t> the </a:t>
            </a:r>
            <a:r>
              <a:rPr lang="fr-FR" dirty="0" err="1"/>
              <a:t>shape</a:t>
            </a:r>
            <a:r>
              <a:rPr lang="fr-FR" dirty="0"/>
              <a:t> of the mission.</a:t>
            </a:r>
          </a:p>
          <a:p>
            <a:r>
              <a:rPr lang="fr-FR" dirty="0" err="1"/>
              <a:t>Its</a:t>
            </a:r>
            <a:r>
              <a:rPr lang="fr-FR" dirty="0"/>
              <a:t> test runs </a:t>
            </a:r>
            <a:r>
              <a:rPr lang="fr-FR" dirty="0" err="1"/>
              <a:t>inside</a:t>
            </a:r>
            <a:r>
              <a:rPr lang="fr-FR" dirty="0"/>
              <a:t> the </a:t>
            </a:r>
            <a:r>
              <a:rPr lang="fr-FR" dirty="0" err="1"/>
              <a:t>serious</a:t>
            </a:r>
            <a:r>
              <a:rPr lang="fr-FR" dirty="0"/>
              <a:t> </a:t>
            </a:r>
            <a:r>
              <a:rPr lang="fr-FR" dirty="0" err="1"/>
              <a:t>game</a:t>
            </a:r>
            <a:r>
              <a:rPr lang="fr-FR" dirty="0"/>
              <a:t>, </a:t>
            </a:r>
            <a:r>
              <a:rPr lang="fr-FR" dirty="0" err="1"/>
              <a:t>against</a:t>
            </a:r>
            <a:r>
              <a:rPr lang="fr-FR" dirty="0"/>
              <a:t> a </a:t>
            </a:r>
            <a:r>
              <a:rPr lang="fr-FR" dirty="0" err="1"/>
              <a:t>baseline</a:t>
            </a:r>
            <a:endParaRPr lang="fr-FR" dirty="0"/>
          </a:p>
          <a:p>
            <a:r>
              <a:rPr lang="fr-FR" dirty="0"/>
              <a:t>Holding to </a:t>
            </a:r>
            <a:r>
              <a:rPr lang="fr-FR" dirty="0" err="1"/>
              <a:t>that</a:t>
            </a:r>
            <a:r>
              <a:rPr lang="fr-FR" dirty="0"/>
              <a:t> clause </a:t>
            </a:r>
            <a:r>
              <a:rPr lang="fr-FR" dirty="0" err="1"/>
              <a:t>turned</a:t>
            </a:r>
            <a:r>
              <a:rPr lang="fr-FR" dirty="0"/>
              <a:t> a validation </a:t>
            </a:r>
            <a:r>
              <a:rPr lang="fr-FR" dirty="0" err="1"/>
              <a:t>step</a:t>
            </a:r>
            <a:r>
              <a:rPr lang="fr-FR" dirty="0"/>
              <a:t> </a:t>
            </a:r>
            <a:r>
              <a:rPr lang="fr-FR" dirty="0" err="1"/>
              <a:t>into</a:t>
            </a:r>
            <a:r>
              <a:rPr lang="fr-FR" dirty="0"/>
              <a:t> the main contribution.</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Two</a:t>
            </a:r>
            <a:r>
              <a:rPr lang="fr-FR" dirty="0"/>
              <a:t> </a:t>
            </a:r>
            <a:r>
              <a:rPr lang="fr-FR" dirty="0" err="1"/>
              <a:t>signals</a:t>
            </a:r>
            <a:r>
              <a:rPr lang="fr-FR" dirty="0"/>
              <a:t>, </a:t>
            </a:r>
            <a:r>
              <a:rPr lang="fr-FR" dirty="0" err="1"/>
              <a:t>elicited</a:t>
            </a:r>
            <a:r>
              <a:rPr lang="fr-FR" dirty="0"/>
              <a:t> </a:t>
            </a:r>
            <a:r>
              <a:rPr lang="fr-FR" dirty="0" err="1"/>
              <a:t>independently</a:t>
            </a:r>
            <a:r>
              <a:rPr lang="fr-FR" dirty="0"/>
              <a:t>, and a score </a:t>
            </a:r>
            <a:r>
              <a:rPr lang="fr-FR" dirty="0" err="1"/>
              <a:t>that</a:t>
            </a:r>
            <a:r>
              <a:rPr lang="fr-FR" dirty="0"/>
              <a:t> compares </a:t>
            </a:r>
            <a:r>
              <a:rPr lang="fr-FR" dirty="0" err="1"/>
              <a:t>them</a:t>
            </a:r>
            <a:r>
              <a:rPr lang="fr-FR" dirty="0"/>
              <a:t>.</a:t>
            </a:r>
          </a:p>
          <a:p>
            <a:endParaRPr lang="fr-FR" dirty="0"/>
          </a:p>
          <a:p>
            <a:r>
              <a:rPr lang="fr-FR" dirty="0"/>
              <a:t>On the </a:t>
            </a:r>
            <a:r>
              <a:rPr lang="fr-FR" dirty="0" err="1"/>
              <a:t>left</a:t>
            </a:r>
            <a:r>
              <a:rPr lang="fr-FR" dirty="0"/>
              <a:t>, </a:t>
            </a:r>
            <a:r>
              <a:rPr lang="fr-FR" dirty="0" err="1"/>
              <a:t>declared</a:t>
            </a:r>
            <a:r>
              <a:rPr lang="fr-FR" dirty="0"/>
              <a:t> </a:t>
            </a:r>
            <a:r>
              <a:rPr lang="fr-FR" dirty="0" err="1"/>
              <a:t>urgency</a:t>
            </a:r>
            <a:r>
              <a:rPr lang="fr-FR" dirty="0"/>
              <a:t>: at </a:t>
            </a:r>
            <a:r>
              <a:rPr lang="fr-FR" dirty="0" err="1"/>
              <a:t>each</a:t>
            </a:r>
            <a:r>
              <a:rPr lang="fr-FR" dirty="0"/>
              <a:t> </a:t>
            </a:r>
            <a:r>
              <a:rPr lang="fr-FR" dirty="0" err="1"/>
              <a:t>node</a:t>
            </a:r>
            <a:r>
              <a:rPr lang="fr-FR" dirty="0"/>
              <a:t> the </a:t>
            </a:r>
            <a:r>
              <a:rPr lang="fr-FR" dirty="0" err="1"/>
              <a:t>operator</a:t>
            </a:r>
            <a:r>
              <a:rPr lang="fr-FR" dirty="0"/>
              <a:t> compares four </a:t>
            </a:r>
            <a:r>
              <a:rPr lang="fr-FR" dirty="0" err="1"/>
              <a:t>criteria</a:t>
            </a:r>
            <a:r>
              <a:rPr lang="fr-FR" dirty="0"/>
              <a:t> </a:t>
            </a:r>
            <a:r>
              <a:rPr lang="fr-FR" dirty="0" err="1"/>
              <a:t>pairwise</a:t>
            </a:r>
            <a:r>
              <a:rPr lang="fr-FR" dirty="0"/>
              <a:t>, </a:t>
            </a:r>
            <a:r>
              <a:rPr lang="fr-FR" dirty="0" err="1"/>
              <a:t>which</a:t>
            </a:r>
            <a:r>
              <a:rPr lang="fr-FR" dirty="0"/>
              <a:t> </a:t>
            </a:r>
            <a:r>
              <a:rPr lang="fr-FR" dirty="0" err="1"/>
              <a:t>yields</a:t>
            </a:r>
            <a:r>
              <a:rPr lang="fr-FR" dirty="0"/>
              <a:t> a </a:t>
            </a:r>
            <a:r>
              <a:rPr lang="fr-FR" dirty="0" err="1"/>
              <a:t>consistency-checked</a:t>
            </a:r>
            <a:r>
              <a:rPr lang="fr-FR" dirty="0"/>
              <a:t> </a:t>
            </a:r>
            <a:r>
              <a:rPr lang="fr-FR" dirty="0" err="1"/>
              <a:t>weight</a:t>
            </a:r>
            <a:r>
              <a:rPr lang="fr-FR" dirty="0"/>
              <a:t> per </a:t>
            </a:r>
            <a:r>
              <a:rPr lang="fr-FR" dirty="0" err="1"/>
              <a:t>criterion</a:t>
            </a:r>
            <a:r>
              <a:rPr lang="fr-FR" dirty="0"/>
              <a:t>.</a:t>
            </a:r>
          </a:p>
          <a:p>
            <a:r>
              <a:rPr lang="fr-FR" dirty="0"/>
              <a:t>On the right, </a:t>
            </a:r>
            <a:r>
              <a:rPr lang="fr-FR" dirty="0" err="1"/>
              <a:t>computed</a:t>
            </a:r>
            <a:r>
              <a:rPr lang="fr-FR" dirty="0"/>
              <a:t> </a:t>
            </a:r>
            <a:r>
              <a:rPr lang="fr-FR" dirty="0" err="1"/>
              <a:t>urgency</a:t>
            </a:r>
            <a:r>
              <a:rPr lang="fr-FR" dirty="0"/>
              <a:t>, </a:t>
            </a:r>
            <a:r>
              <a:rPr lang="fr-FR" dirty="0" err="1"/>
              <a:t>aggregated</a:t>
            </a:r>
            <a:r>
              <a:rPr lang="fr-FR" dirty="0"/>
              <a:t> </a:t>
            </a:r>
            <a:r>
              <a:rPr lang="fr-FR" dirty="0" err="1"/>
              <a:t>from</a:t>
            </a:r>
            <a:r>
              <a:rPr lang="fr-FR" dirty="0"/>
              <a:t> six </a:t>
            </a:r>
            <a:r>
              <a:rPr lang="fr-FR" dirty="0" err="1"/>
              <a:t>indicator</a:t>
            </a:r>
            <a:r>
              <a:rPr lang="fr-FR" dirty="0"/>
              <a:t> blocks.</a:t>
            </a:r>
          </a:p>
          <a:p>
            <a:r>
              <a:rPr lang="fr-FR" dirty="0"/>
              <a:t>The four </a:t>
            </a:r>
            <a:r>
              <a:rPr lang="fr-FR" dirty="0" err="1"/>
              <a:t>declared</a:t>
            </a:r>
            <a:r>
              <a:rPr lang="fr-FR" dirty="0"/>
              <a:t> </a:t>
            </a:r>
            <a:r>
              <a:rPr lang="fr-FR" dirty="0" err="1"/>
              <a:t>criteria</a:t>
            </a:r>
            <a:r>
              <a:rPr lang="fr-FR" dirty="0"/>
              <a:t> </a:t>
            </a:r>
            <a:r>
              <a:rPr lang="fr-FR" dirty="0" err="1"/>
              <a:t>were</a:t>
            </a:r>
            <a:r>
              <a:rPr lang="fr-FR" dirty="0"/>
              <a:t> </a:t>
            </a:r>
            <a:r>
              <a:rPr lang="fr-FR" dirty="0" err="1"/>
              <a:t>chosen</a:t>
            </a:r>
            <a:r>
              <a:rPr lang="fr-FR" dirty="0"/>
              <a:t> </a:t>
            </a:r>
            <a:r>
              <a:rPr lang="fr-FR" dirty="0" err="1"/>
              <a:t>so</a:t>
            </a:r>
            <a:r>
              <a:rPr lang="fr-FR" dirty="0"/>
              <a:t> </a:t>
            </a:r>
            <a:r>
              <a:rPr lang="fr-FR" dirty="0" err="1"/>
              <a:t>that</a:t>
            </a:r>
            <a:r>
              <a:rPr lang="fr-FR" dirty="0"/>
              <a:t> </a:t>
            </a:r>
            <a:r>
              <a:rPr lang="fr-FR" dirty="0" err="1"/>
              <a:t>each</a:t>
            </a:r>
            <a:r>
              <a:rPr lang="fr-FR" dirty="0"/>
              <a:t> one has a </a:t>
            </a:r>
            <a:r>
              <a:rPr lang="fr-FR" dirty="0" err="1"/>
              <a:t>computed</a:t>
            </a:r>
            <a:r>
              <a:rPr lang="fr-FR" dirty="0"/>
              <a:t> </a:t>
            </a:r>
            <a:r>
              <a:rPr lang="fr-FR" dirty="0" err="1"/>
              <a:t>counterpart</a:t>
            </a:r>
            <a:r>
              <a:rPr lang="fr-FR" dirty="0"/>
              <a:t>.</a:t>
            </a:r>
          </a:p>
          <a:p>
            <a:r>
              <a:rPr lang="fr-FR" dirty="0" err="1"/>
              <a:t>Without</a:t>
            </a:r>
            <a:r>
              <a:rPr lang="fr-FR" dirty="0"/>
              <a:t> </a:t>
            </a:r>
            <a:r>
              <a:rPr lang="fr-FR" dirty="0" err="1"/>
              <a:t>that</a:t>
            </a:r>
            <a:r>
              <a:rPr lang="fr-FR" dirty="0"/>
              <a:t> </a:t>
            </a:r>
            <a:r>
              <a:rPr lang="fr-FR" dirty="0" err="1"/>
              <a:t>correspondence</a:t>
            </a:r>
            <a:r>
              <a:rPr lang="fr-FR" dirty="0"/>
              <a:t>, the </a:t>
            </a:r>
            <a:r>
              <a:rPr lang="fr-FR" dirty="0" err="1"/>
              <a:t>comparison</a:t>
            </a:r>
            <a:r>
              <a:rPr lang="fr-FR" dirty="0"/>
              <a:t> </a:t>
            </a:r>
            <a:r>
              <a:rPr lang="fr-FR" dirty="0" err="1"/>
              <a:t>would</a:t>
            </a:r>
            <a:r>
              <a:rPr lang="fr-FR" dirty="0"/>
              <a:t> </a:t>
            </a:r>
            <a:r>
              <a:rPr lang="fr-FR" dirty="0" err="1"/>
              <a:t>be</a:t>
            </a:r>
            <a:r>
              <a:rPr lang="fr-FR" dirty="0"/>
              <a:t> </a:t>
            </a:r>
            <a:r>
              <a:rPr lang="fr-FR" dirty="0" err="1"/>
              <a:t>between</a:t>
            </a:r>
            <a:r>
              <a:rPr lang="fr-FR" dirty="0"/>
              <a:t> </a:t>
            </a:r>
            <a:r>
              <a:rPr lang="fr-FR" dirty="0" err="1"/>
              <a:t>unrelated</a:t>
            </a:r>
            <a:r>
              <a:rPr lang="fr-FR" dirty="0"/>
              <a:t> </a:t>
            </a:r>
            <a:r>
              <a:rPr lang="fr-FR" dirty="0" err="1"/>
              <a:t>quantities</a:t>
            </a:r>
            <a:r>
              <a:rPr lang="fr-FR" dirty="0"/>
              <a:t>.</a:t>
            </a:r>
          </a:p>
          <a:p>
            <a:endParaRPr lang="fr-FR" dirty="0"/>
          </a:p>
          <a:p>
            <a:r>
              <a:rPr lang="fr-FR" dirty="0"/>
              <a:t>Cost and </a:t>
            </a:r>
            <a:r>
              <a:rPr lang="fr-FR" dirty="0" err="1"/>
              <a:t>carbon</a:t>
            </a:r>
            <a:r>
              <a:rPr lang="fr-FR" dirty="0"/>
              <a:t> have no </a:t>
            </a:r>
            <a:r>
              <a:rPr lang="fr-FR" dirty="0" err="1"/>
              <a:t>declared</a:t>
            </a:r>
            <a:r>
              <a:rPr lang="fr-FR" dirty="0"/>
              <a:t> </a:t>
            </a:r>
            <a:r>
              <a:rPr lang="fr-FR" dirty="0" err="1"/>
              <a:t>counterpart</a:t>
            </a:r>
            <a:r>
              <a:rPr lang="fr-FR" dirty="0"/>
              <a:t>. They </a:t>
            </a:r>
            <a:r>
              <a:rPr lang="fr-FR" dirty="0" err="1"/>
              <a:t>arbitrate</a:t>
            </a:r>
            <a:r>
              <a:rPr lang="fr-FR" dirty="0"/>
              <a:t>, </a:t>
            </a:r>
            <a:r>
              <a:rPr lang="fr-FR" dirty="0" err="1"/>
              <a:t>they</a:t>
            </a:r>
            <a:r>
              <a:rPr lang="fr-FR" dirty="0"/>
              <a:t> do not enter the </a:t>
            </a:r>
            <a:r>
              <a:rPr lang="fr-FR" dirty="0" err="1"/>
              <a:t>comparison</a:t>
            </a:r>
            <a:r>
              <a:rPr lang="fr-FR" dirty="0"/>
              <a:t>.</a:t>
            </a:r>
          </a:p>
          <a:p>
            <a:endParaRPr lang="fr-FR" dirty="0"/>
          </a:p>
          <a:p>
            <a:r>
              <a:rPr lang="fr-FR" dirty="0"/>
              <a:t>The score </a:t>
            </a:r>
            <a:r>
              <a:rPr lang="fr-FR" dirty="0" err="1"/>
              <a:t>is</a:t>
            </a:r>
            <a:r>
              <a:rPr lang="fr-FR" dirty="0"/>
              <a:t> the distance </a:t>
            </a:r>
            <a:r>
              <a:rPr lang="fr-FR" dirty="0" err="1"/>
              <a:t>between</a:t>
            </a:r>
            <a:r>
              <a:rPr lang="fr-FR" dirty="0"/>
              <a:t> the </a:t>
            </a:r>
            <a:r>
              <a:rPr lang="fr-FR" dirty="0" err="1"/>
              <a:t>two</a:t>
            </a:r>
            <a:r>
              <a:rPr lang="fr-FR" dirty="0"/>
              <a:t>, on a </a:t>
            </a:r>
            <a:r>
              <a:rPr lang="fr-FR" dirty="0" err="1"/>
              <a:t>zero</a:t>
            </a:r>
            <a:r>
              <a:rPr lang="fr-FR" dirty="0"/>
              <a:t> to one </a:t>
            </a:r>
            <a:r>
              <a:rPr lang="fr-FR" dirty="0" err="1"/>
              <a:t>hundred</a:t>
            </a:r>
            <a:r>
              <a:rPr lang="fr-FR" dirty="0"/>
              <a:t> </a:t>
            </a:r>
            <a:r>
              <a:rPr lang="fr-FR" dirty="0" err="1"/>
              <a:t>scale</a:t>
            </a:r>
            <a:r>
              <a:rPr lang="fr-FR" dirty="0"/>
              <a:t>, and </a:t>
            </a:r>
            <a:r>
              <a:rPr lang="fr-FR" dirty="0" err="1"/>
              <a:t>it</a:t>
            </a:r>
            <a:r>
              <a:rPr lang="fr-FR" dirty="0"/>
              <a:t> </a:t>
            </a:r>
            <a:r>
              <a:rPr lang="fr-FR" dirty="0" err="1"/>
              <a:t>is</a:t>
            </a:r>
            <a:r>
              <a:rPr lang="fr-FR" dirty="0"/>
              <a:t> </a:t>
            </a:r>
            <a:r>
              <a:rPr lang="fr-FR" dirty="0" err="1"/>
              <a:t>asymmetric</a:t>
            </a:r>
            <a:r>
              <a:rPr lang="fr-FR" dirty="0"/>
              <a:t>.</a:t>
            </a:r>
          </a:p>
          <a:p>
            <a:r>
              <a:rPr lang="fr-FR" dirty="0"/>
              <a:t>False </a:t>
            </a:r>
            <a:r>
              <a:rPr lang="fr-FR" dirty="0" err="1"/>
              <a:t>urgency</a:t>
            </a:r>
            <a:r>
              <a:rPr lang="fr-FR" dirty="0"/>
              <a:t> </a:t>
            </a:r>
            <a:r>
              <a:rPr lang="fr-FR" dirty="0" err="1"/>
              <a:t>costs</a:t>
            </a:r>
            <a:r>
              <a:rPr lang="fr-FR" dirty="0"/>
              <a:t> one. Hidden </a:t>
            </a:r>
            <a:r>
              <a:rPr lang="fr-FR" dirty="0" err="1"/>
              <a:t>risk</a:t>
            </a:r>
            <a:r>
              <a:rPr lang="fr-FR" dirty="0"/>
              <a:t> </a:t>
            </a:r>
            <a:r>
              <a:rPr lang="fr-FR" dirty="0" err="1"/>
              <a:t>costs</a:t>
            </a:r>
            <a:r>
              <a:rPr lang="fr-FR" dirty="0"/>
              <a:t> </a:t>
            </a:r>
            <a:r>
              <a:rPr lang="fr-FR" dirty="0" err="1"/>
              <a:t>twice</a:t>
            </a:r>
            <a:r>
              <a:rPr lang="fr-FR" dirty="0"/>
              <a:t> as </a:t>
            </a:r>
            <a:r>
              <a:rPr lang="fr-FR" dirty="0" err="1"/>
              <a:t>much</a:t>
            </a:r>
            <a:r>
              <a:rPr lang="fr-FR" dirty="0"/>
              <a:t>.</a:t>
            </a:r>
          </a:p>
          <a:p>
            <a:r>
              <a:rPr lang="fr-FR" dirty="0"/>
              <a:t>That </a:t>
            </a:r>
            <a:r>
              <a:rPr lang="fr-FR" dirty="0" err="1"/>
              <a:t>is</a:t>
            </a:r>
            <a:r>
              <a:rPr lang="fr-FR" dirty="0"/>
              <a:t> the </a:t>
            </a:r>
            <a:r>
              <a:rPr lang="fr-FR" dirty="0" err="1"/>
              <a:t>rule</a:t>
            </a:r>
            <a:r>
              <a:rPr lang="fr-FR" dirty="0"/>
              <a:t> </a:t>
            </a:r>
            <a:r>
              <a:rPr lang="fr-FR" dirty="0" err="1"/>
              <a:t>clinical</a:t>
            </a:r>
            <a:r>
              <a:rPr lang="fr-FR" dirty="0"/>
              <a:t> triage has </a:t>
            </a:r>
            <a:r>
              <a:rPr lang="fr-FR" dirty="0" err="1"/>
              <a:t>applied</a:t>
            </a:r>
            <a:r>
              <a:rPr lang="fr-FR" dirty="0"/>
              <a:t> for </a:t>
            </a:r>
            <a:r>
              <a:rPr lang="fr-FR" dirty="0" err="1"/>
              <a:t>decades</a:t>
            </a:r>
            <a:r>
              <a:rPr lang="fr-FR" dirty="0"/>
              <a:t>: </a:t>
            </a:r>
            <a:r>
              <a:rPr lang="fr-FR" dirty="0" err="1"/>
              <a:t>under</a:t>
            </a:r>
            <a:r>
              <a:rPr lang="fr-FR" dirty="0"/>
              <a:t>-triage </a:t>
            </a:r>
            <a:r>
              <a:rPr lang="fr-FR" dirty="0" err="1"/>
              <a:t>costs</a:t>
            </a:r>
            <a:r>
              <a:rPr lang="fr-FR" dirty="0"/>
              <a:t> a life </a:t>
            </a:r>
            <a:r>
              <a:rPr lang="fr-FR" dirty="0" err="1"/>
              <a:t>where</a:t>
            </a:r>
            <a:r>
              <a:rPr lang="fr-FR" dirty="0"/>
              <a:t> over-triage </a:t>
            </a:r>
            <a:r>
              <a:rPr lang="fr-FR" dirty="0" err="1"/>
              <a:t>costs</a:t>
            </a:r>
            <a:r>
              <a:rPr lang="fr-FR" dirty="0"/>
              <a:t> a queue.</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 moment on the </a:t>
            </a:r>
            <a:r>
              <a:rPr lang="fr-FR" dirty="0" err="1"/>
              <a:t>aggregation</a:t>
            </a:r>
            <a:r>
              <a:rPr lang="fr-FR" dirty="0"/>
              <a:t>, </a:t>
            </a:r>
            <a:r>
              <a:rPr lang="fr-FR" dirty="0" err="1"/>
              <a:t>because</a:t>
            </a:r>
            <a:r>
              <a:rPr lang="fr-FR" dirty="0"/>
              <a:t> </a:t>
            </a:r>
            <a:r>
              <a:rPr lang="fr-FR" dirty="0" err="1"/>
              <a:t>it</a:t>
            </a:r>
            <a:r>
              <a:rPr lang="fr-FR" dirty="0"/>
              <a:t> </a:t>
            </a:r>
            <a:r>
              <a:rPr lang="fr-FR" dirty="0" err="1"/>
              <a:t>is</a:t>
            </a:r>
            <a:r>
              <a:rPr lang="fr-FR" dirty="0"/>
              <a:t> the central </a:t>
            </a:r>
            <a:r>
              <a:rPr lang="fr-FR" dirty="0" err="1"/>
              <a:t>modelling</a:t>
            </a:r>
            <a:r>
              <a:rPr lang="fr-FR" dirty="0"/>
              <a:t> </a:t>
            </a:r>
            <a:r>
              <a:rPr lang="fr-FR" dirty="0" err="1"/>
              <a:t>decision</a:t>
            </a:r>
            <a:endParaRPr lang="fr-FR" dirty="0"/>
          </a:p>
          <a:p>
            <a:r>
              <a:rPr lang="fr-FR" dirty="0"/>
              <a:t>Read </a:t>
            </a:r>
            <a:r>
              <a:rPr lang="fr-FR" dirty="0" err="1"/>
              <a:t>each</a:t>
            </a:r>
            <a:r>
              <a:rPr lang="fr-FR" dirty="0"/>
              <a:t> block as an </a:t>
            </a:r>
            <a:r>
              <a:rPr lang="fr-FR" dirty="0" err="1"/>
              <a:t>independent</a:t>
            </a:r>
            <a:r>
              <a:rPr lang="fr-FR" dirty="0"/>
              <a:t> cause </a:t>
            </a:r>
            <a:r>
              <a:rPr lang="fr-FR" dirty="0" err="1"/>
              <a:t>that</a:t>
            </a:r>
            <a:r>
              <a:rPr lang="fr-FR" dirty="0"/>
              <a:t> </a:t>
            </a:r>
            <a:r>
              <a:rPr lang="fr-FR" dirty="0" err="1"/>
              <a:t>could</a:t>
            </a:r>
            <a:r>
              <a:rPr lang="fr-FR" dirty="0"/>
              <a:t> on </a:t>
            </a:r>
            <a:r>
              <a:rPr lang="fr-FR" dirty="0" err="1"/>
              <a:t>its</a:t>
            </a:r>
            <a:r>
              <a:rPr lang="fr-FR" dirty="0"/>
              <a:t> </a:t>
            </a:r>
            <a:r>
              <a:rPr lang="fr-FR" dirty="0" err="1"/>
              <a:t>own</a:t>
            </a:r>
            <a:r>
              <a:rPr lang="fr-FR" dirty="0"/>
              <a:t> put the </a:t>
            </a:r>
            <a:r>
              <a:rPr lang="fr-FR" dirty="0" err="1"/>
              <a:t>node</a:t>
            </a:r>
            <a:r>
              <a:rPr lang="fr-FR" dirty="0"/>
              <a:t> in trouble.</a:t>
            </a:r>
          </a:p>
          <a:p>
            <a:r>
              <a:rPr lang="fr-FR" dirty="0"/>
              <a:t>The </a:t>
            </a:r>
            <a:r>
              <a:rPr lang="fr-FR" dirty="0" err="1"/>
              <a:t>node</a:t>
            </a:r>
            <a:r>
              <a:rPr lang="fr-FR" dirty="0"/>
              <a:t> </a:t>
            </a:r>
            <a:r>
              <a:rPr lang="fr-FR" dirty="0" err="1"/>
              <a:t>is</a:t>
            </a:r>
            <a:r>
              <a:rPr lang="fr-FR" dirty="0"/>
              <a:t> in trouble if one </a:t>
            </a:r>
            <a:r>
              <a:rPr lang="fr-FR" dirty="0" err="1"/>
              <a:t>fires</a:t>
            </a:r>
            <a:r>
              <a:rPr lang="fr-FR" dirty="0"/>
              <a:t>, or </a:t>
            </a:r>
            <a:r>
              <a:rPr lang="fr-FR" dirty="0" err="1"/>
              <a:t>another</a:t>
            </a:r>
            <a:r>
              <a:rPr lang="fr-FR" dirty="0"/>
              <a:t> </a:t>
            </a:r>
            <a:r>
              <a:rPr lang="fr-FR" dirty="0" err="1"/>
              <a:t>does</a:t>
            </a:r>
            <a:r>
              <a:rPr lang="fr-FR" dirty="0"/>
              <a:t>. The </a:t>
            </a:r>
            <a:r>
              <a:rPr lang="fr-FR" dirty="0" err="1"/>
              <a:t>probability</a:t>
            </a:r>
            <a:r>
              <a:rPr lang="fr-FR" dirty="0"/>
              <a:t> of </a:t>
            </a:r>
            <a:r>
              <a:rPr lang="fr-FR" dirty="0" err="1"/>
              <a:t>that</a:t>
            </a:r>
            <a:r>
              <a:rPr lang="fr-FR" dirty="0"/>
              <a:t> </a:t>
            </a:r>
            <a:r>
              <a:rPr lang="fr-FR" dirty="0" err="1"/>
              <a:t>disjunction</a:t>
            </a:r>
            <a:r>
              <a:rPr lang="fr-FR" dirty="0"/>
              <a:t> </a:t>
            </a:r>
            <a:r>
              <a:rPr lang="fr-FR" dirty="0" err="1"/>
              <a:t>is</a:t>
            </a:r>
            <a:r>
              <a:rPr lang="fr-FR" dirty="0"/>
              <a:t> one minus the </a:t>
            </a:r>
            <a:r>
              <a:rPr lang="fr-FR" dirty="0" err="1"/>
              <a:t>probability</a:t>
            </a:r>
            <a:r>
              <a:rPr lang="fr-FR" dirty="0"/>
              <a:t> </a:t>
            </a:r>
            <a:r>
              <a:rPr lang="fr-FR" dirty="0" err="1"/>
              <a:t>that</a:t>
            </a:r>
            <a:r>
              <a:rPr lang="fr-FR" dirty="0"/>
              <a:t> none of </a:t>
            </a:r>
            <a:r>
              <a:rPr lang="fr-FR" dirty="0" err="1"/>
              <a:t>them</a:t>
            </a:r>
            <a:r>
              <a:rPr lang="fr-FR" dirty="0"/>
              <a:t> </a:t>
            </a:r>
            <a:r>
              <a:rPr lang="fr-FR" dirty="0" err="1"/>
              <a:t>fires</a:t>
            </a:r>
            <a:endParaRPr lang="fr-FR" dirty="0"/>
          </a:p>
          <a:p>
            <a:endParaRPr lang="fr-FR" dirty="0"/>
          </a:p>
          <a:p>
            <a:r>
              <a:rPr lang="fr-FR" dirty="0"/>
              <a:t>The OR in the </a:t>
            </a:r>
            <a:r>
              <a:rPr lang="fr-FR" dirty="0" err="1"/>
              <a:t>name</a:t>
            </a:r>
            <a:r>
              <a:rPr lang="fr-FR" dirty="0"/>
              <a:t> </a:t>
            </a:r>
            <a:r>
              <a:rPr lang="fr-FR" dirty="0" err="1"/>
              <a:t>is</a:t>
            </a:r>
            <a:r>
              <a:rPr lang="fr-FR" dirty="0"/>
              <a:t> the </a:t>
            </a:r>
            <a:r>
              <a:rPr lang="fr-FR" dirty="0" err="1"/>
              <a:t>logical</a:t>
            </a:r>
            <a:r>
              <a:rPr lang="fr-FR" dirty="0"/>
              <a:t> connective, not an </a:t>
            </a:r>
            <a:r>
              <a:rPr lang="fr-FR" dirty="0" err="1"/>
              <a:t>arithmetic</a:t>
            </a:r>
            <a:r>
              <a:rPr lang="fr-FR" dirty="0"/>
              <a:t> </a:t>
            </a:r>
            <a:r>
              <a:rPr lang="fr-FR" dirty="0" err="1"/>
              <a:t>operation</a:t>
            </a:r>
            <a:endParaRPr lang="fr-FR" dirty="0"/>
          </a:p>
          <a:p>
            <a:endParaRPr lang="fr-FR" dirty="0"/>
          </a:p>
          <a:p>
            <a:r>
              <a:rPr lang="fr-FR" dirty="0"/>
              <a:t>Node A has </a:t>
            </a:r>
            <a:r>
              <a:rPr lang="fr-FR" dirty="0" err="1"/>
              <a:t>capacity</a:t>
            </a:r>
            <a:r>
              <a:rPr lang="fr-FR" dirty="0"/>
              <a:t> </a:t>
            </a:r>
            <a:r>
              <a:rPr lang="fr-FR" dirty="0" err="1"/>
              <a:t>failed</a:t>
            </a:r>
            <a:r>
              <a:rPr lang="fr-FR" dirty="0"/>
              <a:t> at 19 and </a:t>
            </a:r>
            <a:r>
              <a:rPr lang="fr-FR" dirty="0" err="1"/>
              <a:t>everything</a:t>
            </a:r>
            <a:r>
              <a:rPr lang="fr-FR" dirty="0"/>
              <a:t> </a:t>
            </a:r>
            <a:r>
              <a:rPr lang="fr-FR" dirty="0" err="1"/>
              <a:t>else</a:t>
            </a:r>
            <a:r>
              <a:rPr lang="fr-FR" dirty="0"/>
              <a:t> </a:t>
            </a:r>
            <a:r>
              <a:rPr lang="fr-FR" dirty="0" err="1"/>
              <a:t>healthy</a:t>
            </a:r>
            <a:r>
              <a:rPr lang="fr-FR" dirty="0"/>
              <a:t>. Node B has all six blocks at </a:t>
            </a:r>
            <a:r>
              <a:rPr lang="fr-FR" dirty="0" err="1"/>
              <a:t>zero</a:t>
            </a:r>
            <a:r>
              <a:rPr lang="fr-FR" dirty="0"/>
              <a:t> point </a:t>
            </a:r>
            <a:r>
              <a:rPr lang="fr-FR" dirty="0" err="1"/>
              <a:t>two</a:t>
            </a:r>
            <a:r>
              <a:rPr lang="fr-FR" dirty="0"/>
              <a:t> and </a:t>
            </a:r>
            <a:r>
              <a:rPr lang="fr-FR" dirty="0" err="1"/>
              <a:t>nothing</a:t>
            </a:r>
            <a:r>
              <a:rPr lang="fr-FR" dirty="0"/>
              <a:t> </a:t>
            </a:r>
            <a:r>
              <a:rPr lang="fr-FR" dirty="0" err="1"/>
              <a:t>actually</a:t>
            </a:r>
            <a:r>
              <a:rPr lang="fr-FR" dirty="0"/>
              <a:t> </a:t>
            </a:r>
            <a:r>
              <a:rPr lang="fr-FR" dirty="0" err="1"/>
              <a:t>broken</a:t>
            </a:r>
            <a:r>
              <a:rPr lang="fr-FR" dirty="0"/>
              <a:t>.</a:t>
            </a:r>
          </a:p>
          <a:p>
            <a:r>
              <a:rPr lang="fr-FR" dirty="0"/>
              <a:t>A </a:t>
            </a:r>
            <a:r>
              <a:rPr lang="fr-FR" dirty="0" err="1"/>
              <a:t>weighted</a:t>
            </a:r>
            <a:r>
              <a:rPr lang="fr-FR" dirty="0"/>
              <a:t> </a:t>
            </a:r>
            <a:r>
              <a:rPr lang="fr-FR" dirty="0" err="1"/>
              <a:t>average</a:t>
            </a:r>
            <a:r>
              <a:rPr lang="fr-FR" dirty="0"/>
              <a:t> </a:t>
            </a:r>
            <a:r>
              <a:rPr lang="fr-FR" dirty="0" err="1"/>
              <a:t>ranks</a:t>
            </a:r>
            <a:r>
              <a:rPr lang="fr-FR" dirty="0"/>
              <a:t> Node B first, and </a:t>
            </a:r>
            <a:r>
              <a:rPr lang="fr-FR" dirty="0" err="1"/>
              <a:t>sends</a:t>
            </a:r>
            <a:r>
              <a:rPr lang="fr-FR" dirty="0"/>
              <a:t> the </a:t>
            </a:r>
            <a:r>
              <a:rPr lang="fr-FR" dirty="0" err="1"/>
              <a:t>coordinator</a:t>
            </a:r>
            <a:r>
              <a:rPr lang="fr-FR" dirty="0"/>
              <a:t> to the </a:t>
            </a:r>
            <a:r>
              <a:rPr lang="fr-FR" dirty="0" err="1"/>
              <a:t>node</a:t>
            </a:r>
            <a:r>
              <a:rPr lang="fr-FR" dirty="0"/>
              <a:t> </a:t>
            </a:r>
            <a:r>
              <a:rPr lang="fr-FR" dirty="0" err="1"/>
              <a:t>where</a:t>
            </a:r>
            <a:r>
              <a:rPr lang="fr-FR" dirty="0"/>
              <a:t> </a:t>
            </a:r>
            <a:r>
              <a:rPr lang="fr-FR" dirty="0" err="1"/>
              <a:t>nothing</a:t>
            </a:r>
            <a:r>
              <a:rPr lang="fr-FR" dirty="0"/>
              <a:t> </a:t>
            </a:r>
            <a:r>
              <a:rPr lang="fr-FR" dirty="0" err="1"/>
              <a:t>is</a:t>
            </a:r>
            <a:r>
              <a:rPr lang="fr-FR" dirty="0"/>
              <a:t> </a:t>
            </a:r>
            <a:r>
              <a:rPr lang="fr-FR" dirty="0" err="1"/>
              <a:t>wrong</a:t>
            </a:r>
            <a:r>
              <a:rPr lang="fr-FR" dirty="0"/>
              <a:t>, </a:t>
            </a:r>
            <a:r>
              <a:rPr lang="fr-FR" dirty="0" err="1"/>
              <a:t>because</a:t>
            </a:r>
            <a:r>
              <a:rPr lang="fr-FR" dirty="0"/>
              <a:t> five </a:t>
            </a:r>
            <a:r>
              <a:rPr lang="fr-FR" dirty="0" err="1"/>
              <a:t>healthy</a:t>
            </a:r>
            <a:r>
              <a:rPr lang="fr-FR" dirty="0"/>
              <a:t> blocks </a:t>
            </a:r>
            <a:r>
              <a:rPr lang="fr-FR" dirty="0" err="1"/>
              <a:t>average</a:t>
            </a:r>
            <a:r>
              <a:rPr lang="fr-FR" dirty="0"/>
              <a:t> </a:t>
            </a:r>
            <a:r>
              <a:rPr lang="fr-FR" dirty="0" err="1"/>
              <a:t>away</a:t>
            </a:r>
            <a:r>
              <a:rPr lang="fr-FR" dirty="0"/>
              <a:t> the one </a:t>
            </a:r>
            <a:r>
              <a:rPr lang="fr-FR" dirty="0" err="1"/>
              <a:t>that</a:t>
            </a:r>
            <a:r>
              <a:rPr lang="fr-FR" dirty="0"/>
              <a:t> </a:t>
            </a:r>
            <a:r>
              <a:rPr lang="fr-FR" dirty="0" err="1"/>
              <a:t>failed</a:t>
            </a:r>
            <a:endParaRPr lang="fr-FR" dirty="0"/>
          </a:p>
          <a:p>
            <a:r>
              <a:rPr lang="fr-FR" dirty="0"/>
              <a:t>The </a:t>
            </a:r>
            <a:r>
              <a:rPr lang="fr-FR" dirty="0" err="1"/>
              <a:t>probabilistic</a:t>
            </a:r>
            <a:r>
              <a:rPr lang="fr-FR" dirty="0"/>
              <a:t> OR </a:t>
            </a:r>
            <a:r>
              <a:rPr lang="fr-FR" dirty="0" err="1"/>
              <a:t>gives</a:t>
            </a:r>
            <a:r>
              <a:rPr lang="fr-FR" dirty="0"/>
              <a:t> Node A </a:t>
            </a:r>
            <a:r>
              <a:rPr lang="fr-FR" dirty="0" err="1"/>
              <a:t>zero</a:t>
            </a:r>
            <a:r>
              <a:rPr lang="fr-FR" dirty="0"/>
              <a:t> point </a:t>
            </a:r>
            <a:r>
              <a:rPr lang="fr-FR" dirty="0" err="1"/>
              <a:t>nine</a:t>
            </a:r>
            <a:r>
              <a:rPr lang="fr-FR" dirty="0"/>
              <a:t> </a:t>
            </a:r>
            <a:r>
              <a:rPr lang="fr-FR" dirty="0" err="1"/>
              <a:t>two</a:t>
            </a:r>
            <a:r>
              <a:rPr lang="fr-FR" dirty="0"/>
              <a:t> </a:t>
            </a:r>
            <a:r>
              <a:rPr lang="fr-FR" dirty="0" err="1"/>
              <a:t>against</a:t>
            </a:r>
            <a:r>
              <a:rPr lang="fr-FR" dirty="0"/>
              <a:t> </a:t>
            </a:r>
            <a:r>
              <a:rPr lang="fr-FR" dirty="0" err="1"/>
              <a:t>zero</a:t>
            </a:r>
            <a:r>
              <a:rPr lang="fr-FR" dirty="0"/>
              <a:t> point </a:t>
            </a:r>
            <a:r>
              <a:rPr lang="fr-FR" dirty="0" err="1"/>
              <a:t>seven</a:t>
            </a:r>
            <a:r>
              <a:rPr lang="fr-FR" dirty="0"/>
              <a:t> four, and </a:t>
            </a:r>
            <a:r>
              <a:rPr lang="fr-FR" dirty="0" err="1"/>
              <a:t>ranks</a:t>
            </a:r>
            <a:r>
              <a:rPr lang="fr-FR" dirty="0"/>
              <a:t> Node A first.</a:t>
            </a:r>
          </a:p>
          <a:p>
            <a:endParaRPr lang="fr-FR" dirty="0"/>
          </a:p>
          <a:p>
            <a:r>
              <a:rPr lang="fr-FR" dirty="0"/>
              <a:t>For a signal </a:t>
            </a:r>
            <a:r>
              <a:rPr lang="fr-FR" dirty="0" err="1"/>
              <a:t>whose</a:t>
            </a:r>
            <a:r>
              <a:rPr lang="fr-FR" dirty="0"/>
              <a:t> job </a:t>
            </a:r>
            <a:r>
              <a:rPr lang="fr-FR" dirty="0" err="1"/>
              <a:t>is</a:t>
            </a:r>
            <a:r>
              <a:rPr lang="fr-FR" dirty="0"/>
              <a:t> to catch the </a:t>
            </a:r>
            <a:r>
              <a:rPr lang="fr-FR" dirty="0" err="1"/>
              <a:t>node</a:t>
            </a:r>
            <a:r>
              <a:rPr lang="fr-FR" dirty="0"/>
              <a:t> about to fail, non-</a:t>
            </a:r>
            <a:r>
              <a:rPr lang="fr-FR" dirty="0" err="1"/>
              <a:t>compensatory</a:t>
            </a:r>
            <a:r>
              <a:rPr lang="fr-FR" dirty="0"/>
              <a:t> </a:t>
            </a:r>
            <a:r>
              <a:rPr lang="fr-FR" dirty="0" err="1"/>
              <a:t>behaviour</a:t>
            </a:r>
            <a:r>
              <a:rPr lang="fr-FR" dirty="0"/>
              <a:t> </a:t>
            </a:r>
            <a:r>
              <a:rPr lang="fr-FR" dirty="0" err="1"/>
              <a:t>is</a:t>
            </a:r>
            <a:r>
              <a:rPr lang="fr-FR" dirty="0"/>
              <a:t> not a </a:t>
            </a:r>
            <a:r>
              <a:rPr lang="fr-FR" dirty="0" err="1"/>
              <a:t>preference</a:t>
            </a:r>
            <a:r>
              <a:rPr lang="fr-FR" dirty="0"/>
              <a:t>, </a:t>
            </a:r>
            <a:r>
              <a:rPr lang="fr-FR" dirty="0" err="1"/>
              <a:t>it</a:t>
            </a:r>
            <a:r>
              <a:rPr lang="fr-FR" dirty="0"/>
              <a:t> </a:t>
            </a:r>
            <a:r>
              <a:rPr lang="fr-FR" dirty="0" err="1"/>
              <a:t>is</a:t>
            </a:r>
            <a:r>
              <a:rPr lang="fr-FR" dirty="0"/>
              <a:t> a </a:t>
            </a:r>
            <a:r>
              <a:rPr lang="fr-FR" dirty="0" err="1"/>
              <a:t>requirement</a:t>
            </a:r>
            <a:r>
              <a:rPr lang="fr-FR" dirty="0"/>
              <a:t>.</a:t>
            </a:r>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Declared</a:t>
            </a:r>
            <a:r>
              <a:rPr lang="fr-FR" dirty="0"/>
              <a:t> </a:t>
            </a:r>
            <a:r>
              <a:rPr lang="fr-FR" dirty="0" err="1"/>
              <a:t>urgency</a:t>
            </a:r>
            <a:r>
              <a:rPr lang="fr-FR" dirty="0"/>
              <a:t> </a:t>
            </a:r>
            <a:r>
              <a:rPr lang="fr-FR" dirty="0" err="1"/>
              <a:t>is</a:t>
            </a:r>
            <a:r>
              <a:rPr lang="fr-FR" dirty="0"/>
              <a:t> not a free-</a:t>
            </a:r>
            <a:r>
              <a:rPr lang="fr-FR" dirty="0" err="1"/>
              <a:t>text</a:t>
            </a:r>
            <a:r>
              <a:rPr lang="fr-FR" dirty="0"/>
              <a:t> </a:t>
            </a:r>
            <a:r>
              <a:rPr lang="fr-FR" dirty="0" err="1"/>
              <a:t>estimate</a:t>
            </a:r>
            <a:r>
              <a:rPr lang="fr-FR" dirty="0"/>
              <a:t>. It </a:t>
            </a:r>
            <a:r>
              <a:rPr lang="fr-FR" dirty="0" err="1"/>
              <a:t>comes</a:t>
            </a:r>
            <a:r>
              <a:rPr lang="fr-FR" dirty="0"/>
              <a:t> </a:t>
            </a:r>
            <a:r>
              <a:rPr lang="fr-FR" dirty="0" err="1"/>
              <a:t>from</a:t>
            </a:r>
            <a:r>
              <a:rPr lang="fr-FR" dirty="0"/>
              <a:t> </a:t>
            </a:r>
            <a:r>
              <a:rPr lang="fr-FR" dirty="0" err="1"/>
              <a:t>pairwise</a:t>
            </a:r>
            <a:r>
              <a:rPr lang="fr-FR" dirty="0"/>
              <a:t> </a:t>
            </a:r>
            <a:r>
              <a:rPr lang="fr-FR" dirty="0" err="1"/>
              <a:t>comparisons</a:t>
            </a:r>
            <a:r>
              <a:rPr lang="fr-FR" dirty="0"/>
              <a:t>.</a:t>
            </a:r>
          </a:p>
          <a:p>
            <a:endParaRPr lang="fr-FR" dirty="0"/>
          </a:p>
          <a:p>
            <a:r>
              <a:rPr lang="fr-FR" dirty="0"/>
              <a:t>The important part </a:t>
            </a:r>
            <a:r>
              <a:rPr lang="fr-FR" dirty="0" err="1"/>
              <a:t>is</a:t>
            </a:r>
            <a:r>
              <a:rPr lang="fr-FR" dirty="0"/>
              <a:t> the </a:t>
            </a:r>
            <a:r>
              <a:rPr lang="fr-FR" dirty="0" err="1"/>
              <a:t>gate</a:t>
            </a:r>
            <a:r>
              <a:rPr lang="fr-FR" dirty="0"/>
              <a:t>.</a:t>
            </a:r>
          </a:p>
          <a:p>
            <a:r>
              <a:rPr lang="fr-FR" dirty="0"/>
              <a:t>A </a:t>
            </a:r>
            <a:r>
              <a:rPr lang="fr-FR" dirty="0" err="1"/>
              <a:t>vector</a:t>
            </a:r>
            <a:r>
              <a:rPr lang="fr-FR" dirty="0"/>
              <a:t> </a:t>
            </a:r>
            <a:r>
              <a:rPr lang="fr-FR" dirty="0" err="1"/>
              <a:t>that</a:t>
            </a:r>
            <a:r>
              <a:rPr lang="fr-FR" dirty="0"/>
              <a:t> fails the </a:t>
            </a:r>
            <a:r>
              <a:rPr lang="fr-FR" dirty="0" err="1"/>
              <a:t>consistency</a:t>
            </a:r>
            <a:r>
              <a:rPr lang="fr-FR" dirty="0"/>
              <a:t> ratio </a:t>
            </a:r>
            <a:r>
              <a:rPr lang="fr-FR" dirty="0" err="1"/>
              <a:t>is</a:t>
            </a:r>
            <a:r>
              <a:rPr lang="fr-FR" dirty="0"/>
              <a:t> </a:t>
            </a:r>
            <a:r>
              <a:rPr lang="fr-FR" dirty="0" err="1"/>
              <a:t>refused</a:t>
            </a:r>
            <a:r>
              <a:rPr lang="fr-FR" dirty="0"/>
              <a:t>, and the </a:t>
            </a:r>
            <a:r>
              <a:rPr lang="fr-FR" dirty="0" err="1"/>
              <a:t>operator</a:t>
            </a:r>
            <a:r>
              <a:rPr lang="fr-FR" dirty="0"/>
              <a:t> </a:t>
            </a:r>
            <a:r>
              <a:rPr lang="fr-FR" dirty="0" err="1"/>
              <a:t>is</a:t>
            </a:r>
            <a:r>
              <a:rPr lang="fr-FR" dirty="0"/>
              <a:t> sent back to the </a:t>
            </a:r>
            <a:r>
              <a:rPr lang="fr-FR" dirty="0" err="1"/>
              <a:t>most</a:t>
            </a:r>
            <a:r>
              <a:rPr lang="fr-FR" dirty="0"/>
              <a:t> </a:t>
            </a:r>
            <a:r>
              <a:rPr lang="fr-FR" dirty="0" err="1"/>
              <a:t>contradictory</a:t>
            </a:r>
            <a:r>
              <a:rPr lang="fr-FR" dirty="0"/>
              <a:t> of </a:t>
            </a:r>
            <a:r>
              <a:rPr lang="fr-FR" dirty="0" err="1"/>
              <a:t>their</a:t>
            </a:r>
            <a:r>
              <a:rPr lang="fr-FR" dirty="0"/>
              <a:t> </a:t>
            </a:r>
            <a:r>
              <a:rPr lang="fr-FR" dirty="0" err="1"/>
              <a:t>own</a:t>
            </a:r>
            <a:r>
              <a:rPr lang="fr-FR" dirty="0"/>
              <a:t> </a:t>
            </a:r>
            <a:r>
              <a:rPr lang="fr-FR" dirty="0" err="1"/>
              <a:t>comparisons</a:t>
            </a:r>
            <a:r>
              <a:rPr lang="fr-FR" dirty="0"/>
              <a:t>.</a:t>
            </a:r>
          </a:p>
          <a:p>
            <a:r>
              <a:rPr lang="fr-FR" dirty="0"/>
              <a:t>It </a:t>
            </a:r>
            <a:r>
              <a:rPr lang="fr-FR" dirty="0" err="1"/>
              <a:t>is</a:t>
            </a:r>
            <a:r>
              <a:rPr lang="fr-FR" dirty="0"/>
              <a:t> the </a:t>
            </a:r>
            <a:r>
              <a:rPr lang="fr-FR" dirty="0" err="1"/>
              <a:t>only</a:t>
            </a:r>
            <a:r>
              <a:rPr lang="fr-FR" dirty="0"/>
              <a:t> place in the system </a:t>
            </a:r>
            <a:r>
              <a:rPr lang="fr-FR" dirty="0" err="1"/>
              <a:t>where</a:t>
            </a:r>
            <a:r>
              <a:rPr lang="fr-FR" dirty="0"/>
              <a:t> a </a:t>
            </a:r>
            <a:r>
              <a:rPr lang="fr-FR" dirty="0" err="1"/>
              <a:t>human</a:t>
            </a:r>
            <a:r>
              <a:rPr lang="fr-FR" dirty="0"/>
              <a:t> input can </a:t>
            </a:r>
            <a:r>
              <a:rPr lang="fr-FR" dirty="0" err="1"/>
              <a:t>be</a:t>
            </a:r>
            <a:r>
              <a:rPr lang="fr-FR" dirty="0"/>
              <a:t> </a:t>
            </a:r>
            <a:r>
              <a:rPr lang="fr-FR" dirty="0" err="1"/>
              <a:t>rejected</a:t>
            </a:r>
            <a:r>
              <a:rPr lang="fr-FR" dirty="0"/>
              <a:t>.</a:t>
            </a:r>
          </a:p>
          <a:p>
            <a:endParaRPr lang="fr-FR" dirty="0"/>
          </a:p>
          <a:p>
            <a:r>
              <a:rPr lang="fr-FR" dirty="0"/>
              <a:t>One </a:t>
            </a:r>
            <a:r>
              <a:rPr lang="fr-FR" dirty="0" err="1"/>
              <a:t>hypothesis</a:t>
            </a:r>
            <a:r>
              <a:rPr lang="fr-FR" dirty="0"/>
              <a:t>, </a:t>
            </a:r>
            <a:r>
              <a:rPr lang="fr-FR" dirty="0" err="1"/>
              <a:t>because</a:t>
            </a:r>
            <a:r>
              <a:rPr lang="fr-FR" dirty="0"/>
              <a:t> </a:t>
            </a:r>
            <a:r>
              <a:rPr lang="fr-FR" dirty="0" err="1"/>
              <a:t>everything</a:t>
            </a:r>
            <a:r>
              <a:rPr lang="fr-FR" dirty="0"/>
              <a:t> </a:t>
            </a:r>
            <a:r>
              <a:rPr lang="fr-FR" dirty="0" err="1"/>
              <a:t>downstream</a:t>
            </a:r>
            <a:r>
              <a:rPr lang="fr-FR" dirty="0"/>
              <a:t> </a:t>
            </a:r>
            <a:r>
              <a:rPr lang="fr-FR" dirty="0" err="1"/>
              <a:t>rests</a:t>
            </a:r>
            <a:r>
              <a:rPr lang="fr-FR" dirty="0"/>
              <a:t> on </a:t>
            </a:r>
            <a:r>
              <a:rPr lang="fr-FR" dirty="0" err="1"/>
              <a:t>it</a:t>
            </a:r>
            <a:r>
              <a:rPr lang="fr-FR" dirty="0"/>
              <a:t>.</a:t>
            </a:r>
          </a:p>
          <a:p>
            <a:r>
              <a:rPr lang="fr-FR" dirty="0"/>
              <a:t>The </a:t>
            </a:r>
            <a:r>
              <a:rPr lang="fr-FR" dirty="0" err="1"/>
              <a:t>weekly</a:t>
            </a:r>
            <a:r>
              <a:rPr lang="fr-FR" dirty="0"/>
              <a:t> </a:t>
            </a:r>
            <a:r>
              <a:rPr lang="fr-FR" dirty="0" err="1"/>
              <a:t>review</a:t>
            </a:r>
            <a:r>
              <a:rPr lang="fr-FR" dirty="0"/>
              <a:t> </a:t>
            </a:r>
            <a:r>
              <a:rPr lang="fr-FR" dirty="0" err="1"/>
              <a:t>is</a:t>
            </a:r>
            <a:r>
              <a:rPr lang="fr-FR" dirty="0"/>
              <a:t> </a:t>
            </a:r>
            <a:r>
              <a:rPr lang="fr-FR" dirty="0" err="1"/>
              <a:t>taken</a:t>
            </a:r>
            <a:r>
              <a:rPr lang="fr-FR" dirty="0"/>
              <a:t> at face value, as a </a:t>
            </a:r>
            <a:r>
              <a:rPr lang="fr-FR" dirty="0" err="1"/>
              <a:t>sincere</a:t>
            </a:r>
            <a:r>
              <a:rPr lang="fr-FR" dirty="0"/>
              <a:t> report of </a:t>
            </a:r>
            <a:r>
              <a:rPr lang="fr-FR" dirty="0" err="1"/>
              <a:t>what</a:t>
            </a:r>
            <a:r>
              <a:rPr lang="fr-FR" dirty="0"/>
              <a:t> </a:t>
            </a:r>
            <a:r>
              <a:rPr lang="fr-FR" dirty="0" err="1"/>
              <a:t>its</a:t>
            </a:r>
            <a:r>
              <a:rPr lang="fr-FR" dirty="0"/>
              <a:t> </a:t>
            </a:r>
            <a:r>
              <a:rPr lang="fr-FR" dirty="0" err="1"/>
              <a:t>author</a:t>
            </a:r>
            <a:r>
              <a:rPr lang="fr-FR" dirty="0"/>
              <a:t> </a:t>
            </a:r>
            <a:r>
              <a:rPr lang="fr-FR" dirty="0" err="1"/>
              <a:t>perceives</a:t>
            </a:r>
            <a:r>
              <a:rPr lang="fr-FR" dirty="0"/>
              <a:t>.</a:t>
            </a:r>
          </a:p>
          <a:p>
            <a:r>
              <a:rPr lang="fr-FR" dirty="0"/>
              <a:t>That </a:t>
            </a:r>
            <a:r>
              <a:rPr lang="fr-FR" dirty="0" err="1"/>
              <a:t>is</a:t>
            </a:r>
            <a:r>
              <a:rPr lang="fr-FR" dirty="0"/>
              <a:t> </a:t>
            </a:r>
            <a:r>
              <a:rPr lang="fr-FR" dirty="0" err="1"/>
              <a:t>what</a:t>
            </a:r>
            <a:r>
              <a:rPr lang="fr-FR" dirty="0"/>
              <a:t> </a:t>
            </a:r>
            <a:r>
              <a:rPr lang="fr-FR" dirty="0" err="1"/>
              <a:t>makes</a:t>
            </a:r>
            <a:r>
              <a:rPr lang="fr-FR" dirty="0"/>
              <a:t> the </a:t>
            </a:r>
            <a:r>
              <a:rPr lang="fr-FR" dirty="0" err="1"/>
              <a:t>two</a:t>
            </a:r>
            <a:r>
              <a:rPr lang="fr-FR" dirty="0"/>
              <a:t> </a:t>
            </a:r>
            <a:r>
              <a:rPr lang="fr-FR" dirty="0" err="1"/>
              <a:t>signals</a:t>
            </a:r>
            <a:r>
              <a:rPr lang="fr-FR" dirty="0"/>
              <a:t> </a:t>
            </a:r>
            <a:r>
              <a:rPr lang="fr-FR" dirty="0" err="1"/>
              <a:t>independent</a:t>
            </a:r>
            <a:r>
              <a:rPr lang="fr-FR" dirty="0"/>
              <a:t> in source.</a:t>
            </a: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Both </a:t>
            </a:r>
            <a:r>
              <a:rPr lang="fr-FR" dirty="0" err="1"/>
              <a:t>signals</a:t>
            </a:r>
            <a:r>
              <a:rPr lang="fr-FR" dirty="0"/>
              <a:t> over the life of one </a:t>
            </a:r>
            <a:r>
              <a:rPr lang="fr-FR" dirty="0" err="1"/>
              <a:t>task</a:t>
            </a:r>
            <a:r>
              <a:rPr lang="fr-FR" dirty="0"/>
              <a:t>.</a:t>
            </a:r>
          </a:p>
          <a:p>
            <a:r>
              <a:rPr lang="fr-FR" dirty="0"/>
              <a:t>The </a:t>
            </a:r>
            <a:r>
              <a:rPr lang="fr-FR" dirty="0" err="1"/>
              <a:t>declaration</a:t>
            </a:r>
            <a:r>
              <a:rPr lang="fr-FR" dirty="0"/>
              <a:t> </a:t>
            </a:r>
            <a:r>
              <a:rPr lang="fr-FR" dirty="0" err="1"/>
              <a:t>is</a:t>
            </a:r>
            <a:r>
              <a:rPr lang="fr-FR" dirty="0"/>
              <a:t> a </a:t>
            </a:r>
            <a:r>
              <a:rPr lang="fr-FR" dirty="0" err="1"/>
              <a:t>staircase</a:t>
            </a:r>
            <a:r>
              <a:rPr lang="fr-FR" dirty="0"/>
              <a:t>: </a:t>
            </a:r>
            <a:r>
              <a:rPr lang="fr-FR" dirty="0" err="1"/>
              <a:t>it</a:t>
            </a:r>
            <a:r>
              <a:rPr lang="fr-FR" dirty="0"/>
              <a:t> moves </a:t>
            </a:r>
            <a:r>
              <a:rPr lang="fr-FR" dirty="0" err="1"/>
              <a:t>only</a:t>
            </a:r>
            <a:r>
              <a:rPr lang="fr-FR" dirty="0"/>
              <a:t> </a:t>
            </a:r>
            <a:r>
              <a:rPr lang="fr-FR" dirty="0" err="1"/>
              <a:t>when</a:t>
            </a:r>
            <a:r>
              <a:rPr lang="fr-FR" dirty="0"/>
              <a:t> </a:t>
            </a:r>
            <a:r>
              <a:rPr lang="fr-FR" dirty="0" err="1"/>
              <a:t>someone</a:t>
            </a:r>
            <a:r>
              <a:rPr lang="fr-FR" dirty="0"/>
              <a:t> </a:t>
            </a:r>
            <a:r>
              <a:rPr lang="fr-FR" dirty="0" err="1"/>
              <a:t>sits</a:t>
            </a:r>
            <a:r>
              <a:rPr lang="fr-FR" dirty="0"/>
              <a:t> down for the </a:t>
            </a:r>
            <a:r>
              <a:rPr lang="fr-FR" dirty="0" err="1"/>
              <a:t>weekly</a:t>
            </a:r>
            <a:r>
              <a:rPr lang="fr-FR" dirty="0"/>
              <a:t> </a:t>
            </a:r>
            <a:r>
              <a:rPr lang="fr-FR" dirty="0" err="1"/>
              <a:t>review</a:t>
            </a:r>
            <a:r>
              <a:rPr lang="fr-FR" dirty="0"/>
              <a:t>. The </a:t>
            </a:r>
            <a:r>
              <a:rPr lang="fr-FR" dirty="0" err="1"/>
              <a:t>computed</a:t>
            </a:r>
            <a:r>
              <a:rPr lang="fr-FR" dirty="0"/>
              <a:t> signal moves </a:t>
            </a:r>
            <a:r>
              <a:rPr lang="fr-FR" dirty="0" err="1"/>
              <a:t>continuously</a:t>
            </a:r>
            <a:r>
              <a:rPr lang="fr-FR" dirty="0"/>
              <a:t>, </a:t>
            </a:r>
            <a:r>
              <a:rPr lang="fr-FR" dirty="0" err="1"/>
              <a:t>because</a:t>
            </a:r>
            <a:r>
              <a:rPr lang="fr-FR" dirty="0"/>
              <a:t> the </a:t>
            </a:r>
            <a:r>
              <a:rPr lang="fr-FR" dirty="0" err="1"/>
              <a:t>indicators</a:t>
            </a:r>
            <a:r>
              <a:rPr lang="fr-FR" dirty="0"/>
              <a:t> do</a:t>
            </a:r>
          </a:p>
          <a:p>
            <a:endParaRPr lang="fr-FR" dirty="0"/>
          </a:p>
          <a:p>
            <a:r>
              <a:rPr lang="fr-FR" dirty="0" err="1"/>
              <a:t>Where</a:t>
            </a:r>
            <a:r>
              <a:rPr lang="fr-FR" dirty="0"/>
              <a:t> the </a:t>
            </a:r>
            <a:r>
              <a:rPr lang="fr-FR" dirty="0" err="1"/>
              <a:t>declaration</a:t>
            </a:r>
            <a:r>
              <a:rPr lang="fr-FR" dirty="0"/>
              <a:t> </a:t>
            </a:r>
            <a:r>
              <a:rPr lang="fr-FR" dirty="0" err="1"/>
              <a:t>is</a:t>
            </a:r>
            <a:r>
              <a:rPr lang="fr-FR" dirty="0"/>
              <a:t> </a:t>
            </a:r>
            <a:r>
              <a:rPr lang="fr-FR" dirty="0" err="1"/>
              <a:t>above</a:t>
            </a:r>
            <a:r>
              <a:rPr lang="fr-FR" dirty="0"/>
              <a:t> the state, the </a:t>
            </a:r>
            <a:r>
              <a:rPr lang="fr-FR" dirty="0" err="1"/>
              <a:t>operator</a:t>
            </a:r>
            <a:r>
              <a:rPr lang="fr-FR" dirty="0"/>
              <a:t> </a:t>
            </a:r>
            <a:r>
              <a:rPr lang="fr-FR" dirty="0" err="1"/>
              <a:t>is</a:t>
            </a:r>
            <a:r>
              <a:rPr lang="fr-FR" dirty="0"/>
              <a:t> </a:t>
            </a:r>
            <a:r>
              <a:rPr lang="fr-FR" dirty="0" err="1"/>
              <a:t>spending</a:t>
            </a:r>
            <a:r>
              <a:rPr lang="fr-FR" dirty="0"/>
              <a:t> attention on a </a:t>
            </a:r>
            <a:r>
              <a:rPr lang="fr-FR" dirty="0" err="1"/>
              <a:t>node</a:t>
            </a:r>
            <a:r>
              <a:rPr lang="fr-FR" dirty="0"/>
              <a:t> </a:t>
            </a:r>
            <a:r>
              <a:rPr lang="fr-FR" dirty="0" err="1"/>
              <a:t>that</a:t>
            </a:r>
            <a:r>
              <a:rPr lang="fr-FR" dirty="0"/>
              <a:t> </a:t>
            </a:r>
            <a:r>
              <a:rPr lang="fr-FR" dirty="0" err="1"/>
              <a:t>does</a:t>
            </a:r>
            <a:r>
              <a:rPr lang="fr-FR" dirty="0"/>
              <a:t> not </a:t>
            </a:r>
            <a:r>
              <a:rPr lang="fr-FR" dirty="0" err="1"/>
              <a:t>need</a:t>
            </a:r>
            <a:r>
              <a:rPr lang="fr-FR" dirty="0"/>
              <a:t> </a:t>
            </a:r>
            <a:r>
              <a:rPr lang="fr-FR" dirty="0" err="1"/>
              <a:t>it</a:t>
            </a:r>
            <a:r>
              <a:rPr lang="fr-FR" dirty="0"/>
              <a:t>. </a:t>
            </a:r>
            <a:r>
              <a:rPr lang="fr-FR" dirty="0" err="1"/>
              <a:t>Capacity</a:t>
            </a:r>
            <a:r>
              <a:rPr lang="fr-FR" dirty="0"/>
              <a:t> </a:t>
            </a:r>
            <a:r>
              <a:rPr lang="fr-FR" dirty="0" err="1"/>
              <a:t>taken</a:t>
            </a:r>
            <a:r>
              <a:rPr lang="fr-FR" dirty="0"/>
              <a:t> </a:t>
            </a:r>
            <a:r>
              <a:rPr lang="fr-FR" dirty="0" err="1"/>
              <a:t>from</a:t>
            </a:r>
            <a:r>
              <a:rPr lang="fr-FR" dirty="0"/>
              <a:t> </a:t>
            </a:r>
            <a:r>
              <a:rPr lang="fr-FR" dirty="0" err="1"/>
              <a:t>another</a:t>
            </a:r>
            <a:r>
              <a:rPr lang="fr-FR" dirty="0"/>
              <a:t> flow.</a:t>
            </a:r>
          </a:p>
          <a:p>
            <a:endParaRPr lang="fr-FR" dirty="0"/>
          </a:p>
          <a:p>
            <a:r>
              <a:rPr lang="fr-FR" dirty="0" err="1"/>
              <a:t>Where</a:t>
            </a:r>
            <a:r>
              <a:rPr lang="fr-FR" dirty="0"/>
              <a:t> the state </a:t>
            </a:r>
            <a:r>
              <a:rPr lang="fr-FR" dirty="0" err="1"/>
              <a:t>is</a:t>
            </a:r>
            <a:r>
              <a:rPr lang="fr-FR" dirty="0"/>
              <a:t> </a:t>
            </a:r>
            <a:r>
              <a:rPr lang="fr-FR" dirty="0" err="1"/>
              <a:t>above</a:t>
            </a:r>
            <a:r>
              <a:rPr lang="fr-FR" dirty="0"/>
              <a:t> the </a:t>
            </a:r>
            <a:r>
              <a:rPr lang="fr-FR" dirty="0" err="1"/>
              <a:t>declaration</a:t>
            </a:r>
            <a:r>
              <a:rPr lang="fr-FR" dirty="0"/>
              <a:t>, </a:t>
            </a:r>
            <a:r>
              <a:rPr lang="fr-FR" dirty="0" err="1"/>
              <a:t>nobody</a:t>
            </a:r>
            <a:r>
              <a:rPr lang="fr-FR" dirty="0"/>
              <a:t> has </a:t>
            </a:r>
            <a:r>
              <a:rPr lang="fr-FR" dirty="0" err="1"/>
              <a:t>raised</a:t>
            </a:r>
            <a:r>
              <a:rPr lang="fr-FR" dirty="0"/>
              <a:t> an </a:t>
            </a:r>
            <a:r>
              <a:rPr lang="fr-FR" dirty="0" err="1"/>
              <a:t>alert</a:t>
            </a:r>
            <a:endParaRPr lang="fr-FR" dirty="0"/>
          </a:p>
          <a:p>
            <a:r>
              <a:rPr lang="fr-FR" dirty="0"/>
              <a:t>That </a:t>
            </a:r>
            <a:r>
              <a:rPr lang="fr-FR" dirty="0" err="1"/>
              <a:t>is</a:t>
            </a:r>
            <a:r>
              <a:rPr lang="fr-FR" dirty="0"/>
              <a:t> </a:t>
            </a:r>
            <a:r>
              <a:rPr lang="fr-FR" dirty="0" err="1"/>
              <a:t>hidden</a:t>
            </a:r>
            <a:r>
              <a:rPr lang="fr-FR" dirty="0"/>
              <a:t> </a:t>
            </a:r>
            <a:r>
              <a:rPr lang="fr-FR" dirty="0" err="1"/>
              <a:t>risk</a:t>
            </a:r>
            <a:r>
              <a:rPr lang="fr-FR" dirty="0"/>
              <a:t>, and </a:t>
            </a:r>
            <a:r>
              <a:rPr lang="fr-FR" dirty="0" err="1"/>
              <a:t>it</a:t>
            </a:r>
            <a:r>
              <a:rPr lang="fr-FR" dirty="0"/>
              <a:t> </a:t>
            </a:r>
            <a:r>
              <a:rPr lang="fr-FR" dirty="0" err="1"/>
              <a:t>is</a:t>
            </a:r>
            <a:r>
              <a:rPr lang="fr-FR" dirty="0"/>
              <a:t> the </a:t>
            </a:r>
            <a:r>
              <a:rPr lang="fr-FR" dirty="0" err="1"/>
              <a:t>quantity</a:t>
            </a:r>
            <a:r>
              <a:rPr lang="fr-FR" dirty="0"/>
              <a:t> </a:t>
            </a:r>
            <a:r>
              <a:rPr lang="fr-FR" dirty="0" err="1"/>
              <a:t>every</a:t>
            </a:r>
            <a:r>
              <a:rPr lang="fr-FR" dirty="0"/>
              <a:t> </a:t>
            </a:r>
            <a:r>
              <a:rPr lang="fr-FR" dirty="0" err="1"/>
              <a:t>result</a:t>
            </a:r>
            <a:r>
              <a:rPr lang="fr-FR" dirty="0"/>
              <a:t> in </a:t>
            </a:r>
            <a:r>
              <a:rPr lang="fr-FR" dirty="0" err="1"/>
              <a:t>this</a:t>
            </a:r>
            <a:r>
              <a:rPr lang="fr-FR" dirty="0"/>
              <a:t> </a:t>
            </a:r>
            <a:r>
              <a:rPr lang="fr-FR" dirty="0" err="1"/>
              <a:t>presentation</a:t>
            </a:r>
            <a:r>
              <a:rPr lang="fr-FR" dirty="0"/>
              <a:t> </a:t>
            </a:r>
            <a:r>
              <a:rPr lang="fr-FR" dirty="0" err="1"/>
              <a:t>is</a:t>
            </a:r>
            <a:r>
              <a:rPr lang="fr-FR" dirty="0"/>
              <a:t> </a:t>
            </a:r>
            <a:r>
              <a:rPr lang="fr-FR" dirty="0" err="1"/>
              <a:t>built</a:t>
            </a:r>
            <a:r>
              <a:rPr lang="fr-FR" dirty="0"/>
              <a:t> on.</a:t>
            </a:r>
          </a:p>
          <a:p>
            <a:endParaRPr lang="fr-FR" dirty="0"/>
          </a:p>
          <a:p>
            <a:r>
              <a:rPr lang="fr-FR" dirty="0"/>
              <a:t>Both areas are one-</a:t>
            </a:r>
            <a:r>
              <a:rPr lang="fr-FR" dirty="0" err="1"/>
              <a:t>sided</a:t>
            </a:r>
            <a:r>
              <a:rPr lang="fr-FR" dirty="0"/>
              <a:t>. </a:t>
            </a:r>
            <a:r>
              <a:rPr lang="fr-FR" dirty="0" err="1"/>
              <a:t>When</a:t>
            </a:r>
            <a:r>
              <a:rPr lang="fr-FR" dirty="0"/>
              <a:t> the </a:t>
            </a:r>
            <a:r>
              <a:rPr lang="fr-FR" dirty="0" err="1"/>
              <a:t>declaration</a:t>
            </a:r>
            <a:r>
              <a:rPr lang="fr-FR" dirty="0"/>
              <a:t> </a:t>
            </a:r>
            <a:r>
              <a:rPr lang="fr-FR" dirty="0" err="1"/>
              <a:t>is</a:t>
            </a:r>
            <a:r>
              <a:rPr lang="fr-FR" dirty="0"/>
              <a:t> the </a:t>
            </a:r>
            <a:r>
              <a:rPr lang="fr-FR" dirty="0" err="1"/>
              <a:t>higher</a:t>
            </a:r>
            <a:r>
              <a:rPr lang="fr-FR" dirty="0"/>
              <a:t> of the </a:t>
            </a:r>
            <a:r>
              <a:rPr lang="fr-FR" dirty="0" err="1"/>
              <a:t>two</a:t>
            </a:r>
            <a:r>
              <a:rPr lang="fr-FR" dirty="0"/>
              <a:t>, </a:t>
            </a:r>
            <a:r>
              <a:rPr lang="fr-FR" dirty="0" err="1"/>
              <a:t>hidden</a:t>
            </a:r>
            <a:r>
              <a:rPr lang="fr-FR" dirty="0"/>
              <a:t> </a:t>
            </a:r>
            <a:r>
              <a:rPr lang="fr-FR" dirty="0" err="1"/>
              <a:t>risk</a:t>
            </a:r>
            <a:r>
              <a:rPr lang="fr-FR" dirty="0"/>
              <a:t> </a:t>
            </a:r>
            <a:r>
              <a:rPr lang="fr-FR" dirty="0" err="1"/>
              <a:t>is</a:t>
            </a:r>
            <a:r>
              <a:rPr lang="fr-FR" dirty="0"/>
              <a:t> </a:t>
            </a:r>
            <a:r>
              <a:rPr lang="fr-FR" dirty="0" err="1"/>
              <a:t>exactly</a:t>
            </a:r>
            <a:r>
              <a:rPr lang="fr-FR" dirty="0"/>
              <a:t> </a:t>
            </a:r>
            <a:r>
              <a:rPr lang="fr-FR" dirty="0" err="1"/>
              <a:t>zero</a:t>
            </a:r>
            <a:r>
              <a:rPr lang="fr-FR" dirty="0"/>
              <a:t>.</a:t>
            </a:r>
          </a:p>
          <a:p>
            <a:endParaRPr lang="fr-FR" dirty="0"/>
          </a:p>
          <a:p>
            <a:r>
              <a:rPr lang="fr-FR" dirty="0"/>
              <a:t>Both </a:t>
            </a:r>
            <a:r>
              <a:rPr lang="fr-FR" dirty="0" err="1"/>
              <a:t>signals</a:t>
            </a:r>
            <a:r>
              <a:rPr lang="fr-FR" dirty="0"/>
              <a:t> </a:t>
            </a:r>
            <a:r>
              <a:rPr lang="fr-FR" dirty="0" err="1"/>
              <a:t>also</a:t>
            </a:r>
            <a:r>
              <a:rPr lang="fr-FR" dirty="0"/>
              <a:t> </a:t>
            </a:r>
            <a:r>
              <a:rPr lang="fr-FR" dirty="0" err="1"/>
              <a:t>propagate</a:t>
            </a:r>
            <a:r>
              <a:rPr lang="fr-FR" dirty="0"/>
              <a:t>, in opposite directions. Gamma </a:t>
            </a:r>
            <a:r>
              <a:rPr lang="fr-FR" dirty="0" err="1"/>
              <a:t>attenuates</a:t>
            </a:r>
            <a:r>
              <a:rPr lang="fr-FR" dirty="0"/>
              <a:t> the </a:t>
            </a:r>
            <a:r>
              <a:rPr lang="fr-FR" dirty="0" err="1"/>
              <a:t>declaration</a:t>
            </a:r>
            <a:r>
              <a:rPr lang="fr-FR" dirty="0"/>
              <a:t> as </a:t>
            </a:r>
            <a:r>
              <a:rPr lang="fr-FR" dirty="0" err="1"/>
              <a:t>it</a:t>
            </a:r>
            <a:r>
              <a:rPr lang="fr-FR" dirty="0"/>
              <a:t> descends, beta amplifies </a:t>
            </a:r>
            <a:r>
              <a:rPr lang="fr-FR" dirty="0" err="1"/>
              <a:t>computed</a:t>
            </a:r>
            <a:r>
              <a:rPr lang="fr-FR" dirty="0"/>
              <a:t> </a:t>
            </a:r>
            <a:r>
              <a:rPr lang="fr-FR" dirty="0" err="1"/>
              <a:t>risk</a:t>
            </a:r>
            <a:r>
              <a:rPr lang="fr-FR" dirty="0"/>
              <a:t> as </a:t>
            </a:r>
            <a:r>
              <a:rPr lang="fr-FR" dirty="0" err="1"/>
              <a:t>it</a:t>
            </a:r>
            <a:r>
              <a:rPr lang="fr-FR" dirty="0"/>
              <a:t> </a:t>
            </a:r>
            <a:r>
              <a:rPr lang="fr-FR" dirty="0" err="1"/>
              <a:t>ascends</a:t>
            </a:r>
            <a:r>
              <a:rPr lang="fr-FR" dirty="0"/>
              <a:t>.</a:t>
            </a:r>
          </a:p>
          <a:p>
            <a:r>
              <a:rPr lang="fr-FR" dirty="0"/>
              <a:t>The </a:t>
            </a:r>
            <a:r>
              <a:rPr lang="fr-FR" dirty="0" err="1"/>
              <a:t>asymmetry</a:t>
            </a:r>
            <a:r>
              <a:rPr lang="fr-FR" dirty="0"/>
              <a:t> </a:t>
            </a:r>
            <a:r>
              <a:rPr lang="fr-FR" dirty="0" err="1"/>
              <a:t>is</a:t>
            </a:r>
            <a:r>
              <a:rPr lang="fr-FR" dirty="0"/>
              <a:t> </a:t>
            </a:r>
            <a:r>
              <a:rPr lang="fr-FR" dirty="0" err="1"/>
              <a:t>physical</a:t>
            </a:r>
            <a:r>
              <a:rPr lang="fr-FR" dirty="0"/>
              <a:t>: </a:t>
            </a:r>
            <a:r>
              <a:rPr lang="fr-FR" dirty="0" err="1"/>
              <a:t>demand</a:t>
            </a:r>
            <a:r>
              <a:rPr lang="fr-FR" dirty="0"/>
              <a:t> pressure </a:t>
            </a:r>
            <a:r>
              <a:rPr lang="fr-FR" dirty="0" err="1"/>
              <a:t>is</a:t>
            </a:r>
            <a:r>
              <a:rPr lang="fr-FR" dirty="0"/>
              <a:t> </a:t>
            </a:r>
            <a:r>
              <a:rPr lang="fr-FR" dirty="0" err="1"/>
              <a:t>what</a:t>
            </a:r>
            <a:r>
              <a:rPr lang="fr-FR" dirty="0"/>
              <a:t> a </a:t>
            </a:r>
            <a:r>
              <a:rPr lang="fr-FR" dirty="0" err="1"/>
              <a:t>customer</a:t>
            </a:r>
            <a:r>
              <a:rPr lang="fr-FR" dirty="0"/>
              <a:t> </a:t>
            </a:r>
            <a:r>
              <a:rPr lang="fr-FR" dirty="0" err="1"/>
              <a:t>transmits</a:t>
            </a:r>
            <a:r>
              <a:rPr lang="fr-FR" dirty="0"/>
              <a:t>, </a:t>
            </a:r>
            <a:r>
              <a:rPr lang="fr-FR" dirty="0" err="1"/>
              <a:t>physical</a:t>
            </a:r>
            <a:r>
              <a:rPr lang="fr-FR" dirty="0"/>
              <a:t> </a:t>
            </a:r>
            <a:r>
              <a:rPr lang="fr-FR" dirty="0" err="1"/>
              <a:t>risk</a:t>
            </a:r>
            <a:r>
              <a:rPr lang="fr-FR" dirty="0"/>
              <a:t> </a:t>
            </a:r>
            <a:r>
              <a:rPr lang="fr-FR" dirty="0" err="1"/>
              <a:t>what</a:t>
            </a:r>
            <a:r>
              <a:rPr lang="fr-FR" dirty="0"/>
              <a:t> a supplier </a:t>
            </a:r>
            <a:r>
              <a:rPr lang="fr-FR" dirty="0" err="1"/>
              <a:t>transmits</a:t>
            </a:r>
            <a:r>
              <a:rPr lang="fr-FR" dirty="0"/>
              <a:t>.</a:t>
            </a:r>
          </a:p>
          <a:p>
            <a:endParaRPr lang="fr-FR" dirty="0"/>
          </a:p>
          <a:p>
            <a:r>
              <a:rPr lang="fr-FR" dirty="0"/>
              <a:t>Hidden </a:t>
            </a:r>
            <a:r>
              <a:rPr lang="fr-FR" dirty="0" err="1"/>
              <a:t>risk</a:t>
            </a:r>
            <a:r>
              <a:rPr lang="fr-FR" dirty="0"/>
              <a:t> </a:t>
            </a:r>
            <a:r>
              <a:rPr lang="fr-FR" dirty="0" err="1"/>
              <a:t>is</a:t>
            </a:r>
            <a:r>
              <a:rPr lang="fr-FR" dirty="0"/>
              <a:t> the </a:t>
            </a:r>
            <a:r>
              <a:rPr lang="fr-FR" dirty="0" err="1"/>
              <a:t>quantity</a:t>
            </a:r>
            <a:r>
              <a:rPr lang="fr-FR" dirty="0"/>
              <a:t> </a:t>
            </a:r>
            <a:r>
              <a:rPr lang="fr-FR" dirty="0" err="1"/>
              <a:t>every</a:t>
            </a:r>
            <a:r>
              <a:rPr lang="fr-FR" dirty="0"/>
              <a:t> </a:t>
            </a:r>
            <a:r>
              <a:rPr lang="fr-FR" dirty="0" err="1"/>
              <a:t>result</a:t>
            </a:r>
            <a:r>
              <a:rPr lang="fr-FR" dirty="0"/>
              <a:t> in </a:t>
            </a:r>
            <a:r>
              <a:rPr lang="fr-FR" dirty="0" err="1"/>
              <a:t>this</a:t>
            </a:r>
            <a:r>
              <a:rPr lang="fr-FR" dirty="0"/>
              <a:t> </a:t>
            </a:r>
            <a:r>
              <a:rPr lang="fr-FR" dirty="0" err="1"/>
              <a:t>presentation</a:t>
            </a:r>
            <a:r>
              <a:rPr lang="fr-FR" dirty="0"/>
              <a:t> </a:t>
            </a:r>
            <a:r>
              <a:rPr lang="fr-FR" dirty="0" err="1"/>
              <a:t>is</a:t>
            </a:r>
            <a:r>
              <a:rPr lang="fr-FR" dirty="0"/>
              <a:t> </a:t>
            </a:r>
            <a:r>
              <a:rPr lang="fr-FR" dirty="0" err="1"/>
              <a:t>built</a:t>
            </a:r>
            <a:r>
              <a:rPr lang="fr-FR" dirty="0"/>
              <a:t> on.</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You </a:t>
            </a:r>
            <a:r>
              <a:rPr lang="fr-FR" dirty="0" err="1"/>
              <a:t>cannot</a:t>
            </a:r>
            <a:r>
              <a:rPr lang="fr-FR" dirty="0"/>
              <a:t> </a:t>
            </a:r>
            <a:r>
              <a:rPr lang="fr-FR" dirty="0" err="1"/>
              <a:t>read</a:t>
            </a:r>
            <a:r>
              <a:rPr lang="fr-FR" dirty="0"/>
              <a:t> </a:t>
            </a:r>
            <a:r>
              <a:rPr lang="fr-FR" dirty="0" err="1"/>
              <a:t>this</a:t>
            </a:r>
            <a:r>
              <a:rPr lang="fr-FR" dirty="0"/>
              <a:t> </a:t>
            </a:r>
            <a:r>
              <a:rPr lang="fr-FR" dirty="0" err="1"/>
              <a:t>diagram</a:t>
            </a:r>
            <a:r>
              <a:rPr lang="fr-FR" dirty="0"/>
              <a:t> </a:t>
            </a:r>
            <a:r>
              <a:rPr lang="fr-FR" dirty="0" err="1"/>
              <a:t>from</a:t>
            </a:r>
            <a:r>
              <a:rPr lang="fr-FR" dirty="0"/>
              <a:t> </a:t>
            </a:r>
            <a:r>
              <a:rPr lang="fr-FR" dirty="0" err="1"/>
              <a:t>where</a:t>
            </a:r>
            <a:r>
              <a:rPr lang="fr-FR" dirty="0"/>
              <a:t> </a:t>
            </a:r>
            <a:r>
              <a:rPr lang="fr-FR" dirty="0" err="1"/>
              <a:t>you</a:t>
            </a:r>
            <a:r>
              <a:rPr lang="fr-FR" dirty="0"/>
              <a:t> are </a:t>
            </a:r>
            <a:r>
              <a:rPr lang="fr-FR" dirty="0" err="1"/>
              <a:t>sitting</a:t>
            </a:r>
            <a:r>
              <a:rPr lang="fr-FR" dirty="0"/>
              <a:t>, and </a:t>
            </a:r>
            <a:r>
              <a:rPr lang="fr-FR" dirty="0" err="1"/>
              <a:t>you</a:t>
            </a:r>
            <a:r>
              <a:rPr lang="fr-FR" dirty="0"/>
              <a:t> do not </a:t>
            </a:r>
            <a:r>
              <a:rPr lang="fr-FR" dirty="0" err="1"/>
              <a:t>need</a:t>
            </a:r>
            <a:r>
              <a:rPr lang="fr-FR" dirty="0"/>
              <a:t> to. </a:t>
            </a:r>
            <a:r>
              <a:rPr lang="fr-FR" dirty="0" err="1"/>
              <a:t>Three</a:t>
            </a:r>
            <a:r>
              <a:rPr lang="fr-FR" dirty="0"/>
              <a:t> </a:t>
            </a:r>
            <a:r>
              <a:rPr lang="fr-FR" dirty="0" err="1"/>
              <a:t>decisions</a:t>
            </a:r>
            <a:r>
              <a:rPr lang="fr-FR" dirty="0"/>
              <a:t> carry the engineering </a:t>
            </a:r>
            <a:r>
              <a:rPr lang="fr-FR" dirty="0" err="1"/>
              <a:t>weight</a:t>
            </a:r>
            <a:r>
              <a:rPr lang="fr-FR" dirty="0"/>
              <a:t>.</a:t>
            </a:r>
          </a:p>
          <a:p>
            <a:endParaRPr lang="fr-FR" dirty="0"/>
          </a:p>
          <a:p>
            <a:r>
              <a:rPr lang="fr-FR" dirty="0"/>
              <a:t>Every </a:t>
            </a:r>
            <a:r>
              <a:rPr lang="fr-FR" dirty="0" err="1"/>
              <a:t>operation</a:t>
            </a:r>
            <a:r>
              <a:rPr lang="fr-FR" dirty="0"/>
              <a:t> passes </a:t>
            </a:r>
            <a:r>
              <a:rPr lang="fr-FR" dirty="0" err="1"/>
              <a:t>through</a:t>
            </a:r>
            <a:r>
              <a:rPr lang="fr-FR" dirty="0"/>
              <a:t> a single </a:t>
            </a:r>
            <a:r>
              <a:rPr lang="fr-FR" dirty="0" err="1"/>
              <a:t>orchestrating</a:t>
            </a:r>
            <a:r>
              <a:rPr lang="fr-FR" dirty="0"/>
              <a:t> </a:t>
            </a:r>
            <a:r>
              <a:rPr lang="fr-FR" dirty="0" err="1"/>
              <a:t>facade</a:t>
            </a:r>
            <a:r>
              <a:rPr lang="fr-FR" dirty="0"/>
              <a:t>, </a:t>
            </a:r>
            <a:r>
              <a:rPr lang="fr-FR" dirty="0" err="1"/>
              <a:t>so</a:t>
            </a:r>
            <a:r>
              <a:rPr lang="fr-FR" dirty="0"/>
              <a:t> </a:t>
            </a:r>
            <a:r>
              <a:rPr lang="fr-FR" dirty="0" err="1"/>
              <a:t>there</a:t>
            </a:r>
            <a:r>
              <a:rPr lang="fr-FR" dirty="0"/>
              <a:t> </a:t>
            </a:r>
            <a:r>
              <a:rPr lang="fr-FR" dirty="0" err="1"/>
              <a:t>is</a:t>
            </a:r>
            <a:r>
              <a:rPr lang="fr-FR" dirty="0"/>
              <a:t> no second </a:t>
            </a:r>
            <a:r>
              <a:rPr lang="fr-FR" dirty="0" err="1"/>
              <a:t>write</a:t>
            </a:r>
            <a:r>
              <a:rPr lang="fr-FR" dirty="0"/>
              <a:t> </a:t>
            </a:r>
            <a:r>
              <a:rPr lang="fr-FR" dirty="0" err="1"/>
              <a:t>path</a:t>
            </a:r>
            <a:r>
              <a:rPr lang="fr-FR" dirty="0"/>
              <a:t> </a:t>
            </a:r>
            <a:r>
              <a:rPr lang="fr-FR" dirty="0" err="1"/>
              <a:t>into</a:t>
            </a:r>
            <a:r>
              <a:rPr lang="fr-FR" dirty="0"/>
              <a:t> the </a:t>
            </a:r>
            <a:r>
              <a:rPr lang="fr-FR" dirty="0" err="1"/>
              <a:t>domain</a:t>
            </a:r>
            <a:r>
              <a:rPr lang="fr-FR" dirty="0"/>
              <a:t>, </a:t>
            </a:r>
            <a:r>
              <a:rPr lang="fr-FR" dirty="0" err="1"/>
              <a:t>including</a:t>
            </a:r>
            <a:r>
              <a:rPr lang="fr-FR" dirty="0"/>
              <a:t> </a:t>
            </a:r>
            <a:r>
              <a:rPr lang="fr-FR" dirty="0" err="1"/>
              <a:t>from</a:t>
            </a:r>
            <a:r>
              <a:rPr lang="fr-FR" dirty="0"/>
              <a:t> the administration interface.</a:t>
            </a:r>
          </a:p>
          <a:p>
            <a:r>
              <a:rPr lang="fr-FR" dirty="0"/>
              <a:t>Every business </a:t>
            </a:r>
            <a:r>
              <a:rPr lang="fr-FR" dirty="0" err="1"/>
              <a:t>write</a:t>
            </a:r>
            <a:r>
              <a:rPr lang="fr-FR" dirty="0"/>
              <a:t> </a:t>
            </a:r>
            <a:r>
              <a:rPr lang="fr-FR" dirty="0" err="1"/>
              <a:t>then</a:t>
            </a:r>
            <a:r>
              <a:rPr lang="fr-FR" dirty="0"/>
              <a:t> crosses a single mutation service </a:t>
            </a:r>
            <a:r>
              <a:rPr lang="fr-FR" dirty="0" err="1"/>
              <a:t>that</a:t>
            </a:r>
            <a:r>
              <a:rPr lang="fr-FR" dirty="0"/>
              <a:t> </a:t>
            </a:r>
            <a:r>
              <a:rPr lang="fr-FR" dirty="0" err="1"/>
              <a:t>validates</a:t>
            </a:r>
            <a:r>
              <a:rPr lang="fr-FR" dirty="0"/>
              <a:t> ranges, diffs </a:t>
            </a:r>
            <a:r>
              <a:rPr lang="fr-FR" dirty="0" err="1"/>
              <a:t>against</a:t>
            </a:r>
            <a:r>
              <a:rPr lang="fr-FR" dirty="0"/>
              <a:t> </a:t>
            </a:r>
            <a:r>
              <a:rPr lang="fr-FR" dirty="0" err="1"/>
              <a:t>current</a:t>
            </a:r>
            <a:r>
              <a:rPr lang="fr-FR" dirty="0"/>
              <a:t> state, and records the </a:t>
            </a:r>
            <a:r>
              <a:rPr lang="fr-FR" dirty="0" err="1"/>
              <a:t>author</a:t>
            </a:r>
            <a:r>
              <a:rPr lang="fr-FR" dirty="0"/>
              <a:t>.</a:t>
            </a:r>
          </a:p>
          <a:p>
            <a:r>
              <a:rPr lang="fr-FR" dirty="0"/>
              <a:t>The audit trail </a:t>
            </a:r>
            <a:r>
              <a:rPr lang="fr-FR" dirty="0" err="1"/>
              <a:t>becomes</a:t>
            </a:r>
            <a:r>
              <a:rPr lang="fr-FR" dirty="0"/>
              <a:t> a </a:t>
            </a:r>
            <a:r>
              <a:rPr lang="fr-FR" dirty="0" err="1"/>
              <a:t>property</a:t>
            </a:r>
            <a:r>
              <a:rPr lang="fr-FR" dirty="0"/>
              <a:t> of the architecture </a:t>
            </a:r>
            <a:r>
              <a:rPr lang="fr-FR" dirty="0" err="1"/>
              <a:t>rather</a:t>
            </a:r>
            <a:r>
              <a:rPr lang="fr-FR" dirty="0"/>
              <a:t> </a:t>
            </a:r>
            <a:r>
              <a:rPr lang="fr-FR" dirty="0" err="1"/>
              <a:t>than</a:t>
            </a:r>
            <a:r>
              <a:rPr lang="fr-FR" dirty="0"/>
              <a:t> a convention </a:t>
            </a:r>
            <a:r>
              <a:rPr lang="fr-FR" dirty="0" err="1"/>
              <a:t>someone</a:t>
            </a:r>
            <a:r>
              <a:rPr lang="fr-FR" dirty="0"/>
              <a:t> has to </a:t>
            </a:r>
            <a:r>
              <a:rPr lang="fr-FR" dirty="0" err="1"/>
              <a:t>remember</a:t>
            </a:r>
            <a:r>
              <a:rPr lang="fr-FR" dirty="0"/>
              <a:t>.</a:t>
            </a:r>
          </a:p>
          <a:p>
            <a:r>
              <a:rPr lang="fr-FR" dirty="0"/>
              <a:t>And </a:t>
            </a:r>
            <a:r>
              <a:rPr lang="fr-FR" dirty="0" err="1"/>
              <a:t>persistence</a:t>
            </a:r>
            <a:r>
              <a:rPr lang="fr-FR" dirty="0"/>
              <a:t> </a:t>
            </a:r>
            <a:r>
              <a:rPr lang="fr-FR" dirty="0" err="1"/>
              <a:t>is</a:t>
            </a:r>
            <a:r>
              <a:rPr lang="fr-FR" dirty="0"/>
              <a:t> split one </a:t>
            </a:r>
            <a:r>
              <a:rPr lang="fr-FR" dirty="0" err="1"/>
              <a:t>database</a:t>
            </a:r>
            <a:r>
              <a:rPr lang="fr-FR" dirty="0"/>
              <a:t> per </a:t>
            </a:r>
            <a:r>
              <a:rPr lang="fr-FR" dirty="0" err="1"/>
              <a:t>node</a:t>
            </a:r>
            <a:r>
              <a:rPr lang="fr-FR" dirty="0"/>
              <a:t>, </a:t>
            </a:r>
            <a:r>
              <a:rPr lang="fr-FR" dirty="0" err="1"/>
              <a:t>so</a:t>
            </a:r>
            <a:r>
              <a:rPr lang="fr-FR" dirty="0"/>
              <a:t> tenant isolation </a:t>
            </a:r>
            <a:r>
              <a:rPr lang="fr-FR" dirty="0" err="1"/>
              <a:t>follows</a:t>
            </a:r>
            <a:r>
              <a:rPr lang="fr-FR" dirty="0"/>
              <a:t> </a:t>
            </a:r>
            <a:r>
              <a:rPr lang="fr-FR" dirty="0" err="1"/>
              <a:t>from</a:t>
            </a:r>
            <a:r>
              <a:rPr lang="fr-FR" dirty="0"/>
              <a:t> the </a:t>
            </a:r>
            <a:r>
              <a:rPr lang="fr-FR" dirty="0" err="1"/>
              <a:t>storage</a:t>
            </a:r>
            <a:r>
              <a:rPr lang="fr-FR" dirty="0"/>
              <a:t> </a:t>
            </a:r>
            <a:r>
              <a:rPr lang="fr-FR" dirty="0" err="1"/>
              <a:t>layout</a:t>
            </a:r>
            <a:r>
              <a:rPr lang="fr-FR" dirty="0"/>
              <a:t> </a:t>
            </a:r>
            <a:r>
              <a:rPr lang="fr-FR" dirty="0" err="1"/>
              <a:t>rather</a:t>
            </a:r>
            <a:r>
              <a:rPr lang="fr-FR" dirty="0"/>
              <a:t> </a:t>
            </a:r>
            <a:r>
              <a:rPr lang="fr-FR" dirty="0" err="1"/>
              <a:t>than</a:t>
            </a:r>
            <a:r>
              <a:rPr lang="fr-FR" dirty="0"/>
              <a:t> </a:t>
            </a:r>
            <a:r>
              <a:rPr lang="fr-FR" dirty="0" err="1"/>
              <a:t>from</a:t>
            </a:r>
            <a:r>
              <a:rPr lang="fr-FR" dirty="0"/>
              <a:t> a </a:t>
            </a:r>
            <a:r>
              <a:rPr lang="fr-FR" dirty="0" err="1"/>
              <a:t>query</a:t>
            </a:r>
            <a:r>
              <a:rPr lang="fr-FR" dirty="0"/>
              <a:t> </a:t>
            </a:r>
            <a:r>
              <a:rPr lang="fr-FR" dirty="0" err="1"/>
              <a:t>filter</a:t>
            </a:r>
            <a:r>
              <a:rPr lang="fr-FR" dirty="0"/>
              <a:t> </a:t>
            </a:r>
            <a:r>
              <a:rPr lang="fr-FR" dirty="0" err="1"/>
              <a:t>someone</a:t>
            </a:r>
            <a:r>
              <a:rPr lang="fr-FR" dirty="0"/>
              <a:t> </a:t>
            </a:r>
            <a:r>
              <a:rPr lang="fr-FR" dirty="0" err="1"/>
              <a:t>could</a:t>
            </a:r>
            <a:r>
              <a:rPr lang="fr-FR" dirty="0"/>
              <a:t> </a:t>
            </a:r>
            <a:r>
              <a:rPr lang="fr-FR" dirty="0" err="1"/>
              <a:t>forget</a:t>
            </a:r>
            <a:endParaRPr lang="fr-FR" dirty="0"/>
          </a:p>
          <a:p>
            <a:endParaRPr lang="fr-FR" dirty="0"/>
          </a:p>
          <a:p>
            <a:r>
              <a:rPr lang="fr-FR" dirty="0"/>
              <a:t>On the right, the application as the </a:t>
            </a:r>
            <a:r>
              <a:rPr lang="fr-FR" dirty="0" err="1"/>
              <a:t>operator</a:t>
            </a:r>
            <a:r>
              <a:rPr lang="fr-FR" dirty="0"/>
              <a:t> </a:t>
            </a:r>
            <a:r>
              <a:rPr lang="fr-FR" dirty="0" err="1"/>
              <a:t>meets</a:t>
            </a:r>
            <a:r>
              <a:rPr lang="fr-FR" dirty="0"/>
              <a:t> </a:t>
            </a:r>
            <a:r>
              <a:rPr lang="fr-FR" dirty="0" err="1"/>
              <a:t>it</a:t>
            </a:r>
            <a:r>
              <a:rPr lang="fr-FR" dirty="0"/>
              <a:t>.</a:t>
            </a:r>
          </a:p>
          <a:p>
            <a:r>
              <a:rPr lang="fr-FR" dirty="0"/>
              <a:t>The </a:t>
            </a:r>
            <a:r>
              <a:rPr lang="fr-FR" dirty="0" err="1"/>
              <a:t>weekly</a:t>
            </a:r>
            <a:r>
              <a:rPr lang="fr-FR" dirty="0"/>
              <a:t> </a:t>
            </a:r>
            <a:r>
              <a:rPr lang="fr-FR" dirty="0" err="1"/>
              <a:t>review</a:t>
            </a:r>
            <a:r>
              <a:rPr lang="fr-FR" dirty="0"/>
              <a:t> </a:t>
            </a:r>
            <a:r>
              <a:rPr lang="fr-FR" dirty="0" err="1"/>
              <a:t>commits</a:t>
            </a:r>
            <a:r>
              <a:rPr lang="fr-FR" dirty="0"/>
              <a:t> as one </a:t>
            </a:r>
            <a:r>
              <a:rPr lang="fr-FR" dirty="0" err="1"/>
              <a:t>signed</a:t>
            </a:r>
            <a:r>
              <a:rPr lang="fr-FR" dirty="0"/>
              <a:t> transaction. The </a:t>
            </a:r>
            <a:r>
              <a:rPr lang="fr-FR" dirty="0" err="1"/>
              <a:t>explainability</a:t>
            </a:r>
            <a:r>
              <a:rPr lang="fr-FR" dirty="0"/>
              <a:t> page </a:t>
            </a:r>
            <a:r>
              <a:rPr lang="fr-FR" dirty="0" err="1"/>
              <a:t>reconstructs</a:t>
            </a:r>
            <a:r>
              <a:rPr lang="fr-FR" dirty="0"/>
              <a:t> </a:t>
            </a:r>
            <a:r>
              <a:rPr lang="fr-FR" dirty="0" err="1"/>
              <a:t>any</a:t>
            </a:r>
            <a:r>
              <a:rPr lang="fr-FR" dirty="0"/>
              <a:t> score </a:t>
            </a:r>
            <a:r>
              <a:rPr lang="fr-FR" dirty="0" err="1"/>
              <a:t>term</a:t>
            </a:r>
            <a:r>
              <a:rPr lang="fr-FR" dirty="0"/>
              <a:t> by </a:t>
            </a:r>
            <a:r>
              <a:rPr lang="fr-FR" dirty="0" err="1"/>
              <a:t>term</a:t>
            </a:r>
            <a:endParaRPr lang="fr-FR" dirty="0"/>
          </a:p>
          <a:p>
            <a:endParaRPr lang="fr-FR" dirty="0"/>
          </a:p>
          <a:p>
            <a:r>
              <a:rPr lang="fr-FR" dirty="0"/>
              <a:t>That </a:t>
            </a:r>
            <a:r>
              <a:rPr lang="fr-FR" dirty="0" err="1"/>
              <a:t>explainability</a:t>
            </a:r>
            <a:r>
              <a:rPr lang="fr-FR" dirty="0"/>
              <a:t> page </a:t>
            </a:r>
            <a:r>
              <a:rPr lang="fr-FR" dirty="0" err="1"/>
              <a:t>is</a:t>
            </a:r>
            <a:r>
              <a:rPr lang="fr-FR" dirty="0"/>
              <a:t> </a:t>
            </a:r>
            <a:r>
              <a:rPr lang="fr-FR" dirty="0" err="1"/>
              <a:t>what</a:t>
            </a:r>
            <a:r>
              <a:rPr lang="fr-FR" dirty="0"/>
              <a:t> made the </a:t>
            </a:r>
            <a:r>
              <a:rPr lang="fr-FR" dirty="0" err="1"/>
              <a:t>next</a:t>
            </a:r>
            <a:r>
              <a:rPr lang="fr-FR" dirty="0"/>
              <a:t> </a:t>
            </a:r>
            <a:r>
              <a:rPr lang="fr-FR" dirty="0" err="1"/>
              <a:t>diagnosis</a:t>
            </a:r>
            <a:r>
              <a:rPr lang="fr-FR" dirty="0"/>
              <a:t> possible </a:t>
            </a:r>
            <a:r>
              <a:rPr lang="fr-FR" dirty="0" err="1"/>
              <a:t>from</a:t>
            </a:r>
            <a:r>
              <a:rPr lang="fr-FR" dirty="0"/>
              <a:t> the application </a:t>
            </a:r>
            <a:r>
              <a:rPr lang="fr-FR" dirty="0" err="1"/>
              <a:t>rather</a:t>
            </a:r>
            <a:r>
              <a:rPr lang="fr-FR" dirty="0"/>
              <a:t> </a:t>
            </a:r>
            <a:r>
              <a:rPr lang="fr-FR" dirty="0" err="1"/>
              <a:t>than</a:t>
            </a:r>
            <a:r>
              <a:rPr lang="fr-FR" dirty="0"/>
              <a:t> by hand</a:t>
            </a:r>
          </a:p>
          <a:p>
            <a:endParaRPr lang="fr-FR" dirty="0"/>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D1A19-2C5A-F593-F72F-A8A3880731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CF4B9F-DF4C-4822-B126-F16B67E582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C872B4-9A2C-63FC-1C4B-A0E04646A9FC}"/>
              </a:ext>
            </a:extLst>
          </p:cNvPr>
          <p:cNvSpPr>
            <a:spLocks noGrp="1"/>
          </p:cNvSpPr>
          <p:nvPr>
            <p:ph type="body" idx="1"/>
          </p:nvPr>
        </p:nvSpPr>
        <p:spPr/>
        <p:txBody>
          <a:bodyPr/>
          <a:lstStyle/>
          <a:p>
            <a:r>
              <a:rPr lang="en-US" dirty="0"/>
              <a:t>This </a:t>
            </a:r>
            <a:r>
              <a:rPr lang="en-US" dirty="0" err="1"/>
              <a:t>prez</a:t>
            </a:r>
            <a:r>
              <a:rPr lang="en-US" dirty="0"/>
              <a:t> will be in 5 parts ! </a:t>
            </a:r>
          </a:p>
          <a:p>
            <a:r>
              <a:rPr lang="fr-FR" dirty="0"/>
              <a:t>The first </a:t>
            </a:r>
            <a:r>
              <a:rPr lang="fr-FR" dirty="0" err="1"/>
              <a:t>three</a:t>
            </a:r>
            <a:r>
              <a:rPr lang="fr-FR" dirty="0"/>
              <a:t> </a:t>
            </a:r>
            <a:r>
              <a:rPr lang="fr-FR" dirty="0" err="1"/>
              <a:t>build</a:t>
            </a:r>
            <a:r>
              <a:rPr lang="fr-FR" dirty="0"/>
              <a:t> the instrument.</a:t>
            </a:r>
          </a:p>
          <a:p>
            <a:r>
              <a:rPr lang="fr-FR" dirty="0"/>
              <a:t>The 4 </a:t>
            </a:r>
            <a:r>
              <a:rPr lang="fr-FR" dirty="0" err="1"/>
              <a:t>is</a:t>
            </a:r>
            <a:r>
              <a:rPr lang="fr-FR" dirty="0"/>
              <a:t> </a:t>
            </a:r>
            <a:r>
              <a:rPr lang="fr-FR" dirty="0" err="1"/>
              <a:t>where</a:t>
            </a:r>
            <a:r>
              <a:rPr lang="fr-FR" dirty="0"/>
              <a:t> the </a:t>
            </a:r>
            <a:r>
              <a:rPr lang="fr-FR" dirty="0" err="1"/>
              <a:t>number</a:t>
            </a:r>
            <a:r>
              <a:rPr lang="fr-FR" dirty="0"/>
              <a:t> I </a:t>
            </a:r>
            <a:r>
              <a:rPr lang="fr-FR" dirty="0" err="1"/>
              <a:t>just</a:t>
            </a:r>
            <a:r>
              <a:rPr lang="fr-FR" dirty="0"/>
              <a:t> gave </a:t>
            </a:r>
            <a:r>
              <a:rPr lang="fr-FR" dirty="0" err="1"/>
              <a:t>you</a:t>
            </a:r>
            <a:r>
              <a:rPr lang="fr-FR" dirty="0"/>
              <a:t> </a:t>
            </a:r>
            <a:r>
              <a:rPr lang="fr-FR" dirty="0" err="1"/>
              <a:t>comes</a:t>
            </a:r>
            <a:r>
              <a:rPr lang="fr-FR" dirty="0"/>
              <a:t> </a:t>
            </a:r>
            <a:r>
              <a:rPr lang="fr-FR" dirty="0" err="1"/>
              <a:t>from</a:t>
            </a:r>
            <a:r>
              <a:rPr lang="fr-FR" dirty="0"/>
              <a:t>.</a:t>
            </a:r>
          </a:p>
          <a:p>
            <a:r>
              <a:rPr lang="fr-FR" dirty="0"/>
              <a:t>The 5 </a:t>
            </a:r>
            <a:r>
              <a:rPr lang="fr-FR" dirty="0" err="1"/>
              <a:t>is</a:t>
            </a:r>
            <a:r>
              <a:rPr lang="fr-FR" dirty="0"/>
              <a:t> </a:t>
            </a:r>
            <a:r>
              <a:rPr lang="fr-FR" dirty="0" err="1"/>
              <a:t>what</a:t>
            </a:r>
            <a:r>
              <a:rPr lang="fr-FR" dirty="0"/>
              <a:t> I </a:t>
            </a:r>
            <a:r>
              <a:rPr lang="fr-FR" dirty="0" err="1"/>
              <a:t>would</a:t>
            </a:r>
            <a:r>
              <a:rPr lang="fr-FR" dirty="0"/>
              <a:t> do </a:t>
            </a:r>
            <a:r>
              <a:rPr lang="fr-FR" dirty="0" err="1"/>
              <a:t>next</a:t>
            </a:r>
            <a:r>
              <a:rPr lang="fr-FR" dirty="0"/>
              <a:t>.</a:t>
            </a:r>
            <a:endParaRPr lang="en-US" dirty="0"/>
          </a:p>
        </p:txBody>
      </p:sp>
    </p:spTree>
    <p:extLst>
      <p:ext uri="{BB962C8B-B14F-4D97-AF65-F5344CB8AC3E}">
        <p14:creationId xmlns:p14="http://schemas.microsoft.com/office/powerpoint/2010/main" val="3581099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Now the </a:t>
            </a:r>
            <a:r>
              <a:rPr lang="fr-FR" dirty="0" err="1"/>
              <a:t>results</a:t>
            </a:r>
            <a:r>
              <a:rPr lang="fr-FR" dirty="0"/>
              <a:t>. Four tests, all </a:t>
            </a:r>
            <a:r>
              <a:rPr lang="fr-FR" dirty="0" err="1"/>
              <a:t>designed</a:t>
            </a:r>
            <a:r>
              <a:rPr lang="fr-FR" dirty="0"/>
              <a:t> to </a:t>
            </a:r>
            <a:r>
              <a:rPr lang="fr-FR" dirty="0" err="1"/>
              <a:t>try</a:t>
            </a:r>
            <a:r>
              <a:rPr lang="fr-FR" dirty="0"/>
              <a:t> to break the </a:t>
            </a:r>
            <a:r>
              <a:rPr lang="fr-FR" dirty="0" err="1"/>
              <a:t>tool</a:t>
            </a:r>
            <a:r>
              <a:rPr lang="fr-FR" dirty="0"/>
              <a:t> </a:t>
            </a:r>
            <a:r>
              <a:rPr lang="fr-FR" dirty="0" err="1"/>
              <a:t>rather</a:t>
            </a:r>
            <a:r>
              <a:rPr lang="fr-FR" dirty="0"/>
              <a:t> </a:t>
            </a:r>
            <a:r>
              <a:rPr lang="fr-FR" dirty="0" err="1"/>
              <a:t>than</a:t>
            </a:r>
            <a:r>
              <a:rPr lang="fr-FR" dirty="0"/>
              <a:t> to show </a:t>
            </a:r>
            <a:r>
              <a:rPr lang="fr-FR" dirty="0" err="1"/>
              <a:t>it</a:t>
            </a:r>
            <a:r>
              <a:rPr lang="fr-FR" dirty="0"/>
              <a:t> </a:t>
            </a:r>
            <a:r>
              <a:rPr lang="fr-FR" dirty="0" err="1"/>
              <a:t>working</a:t>
            </a:r>
            <a:endParaRPr lang="fr-FR" dirty="0"/>
          </a:p>
          <a:p>
            <a:endParaRPr lang="fr-FR" dirty="0"/>
          </a:p>
          <a:p>
            <a:r>
              <a:rPr lang="fr-FR" dirty="0"/>
              <a:t>The first </a:t>
            </a:r>
            <a:r>
              <a:rPr lang="fr-FR" dirty="0" err="1"/>
              <a:t>campaign</a:t>
            </a:r>
            <a:r>
              <a:rPr lang="fr-FR" dirty="0"/>
              <a:t> replays the 2020 to 2022 </a:t>
            </a:r>
            <a:r>
              <a:rPr lang="fr-FR" dirty="0" err="1"/>
              <a:t>semiconductor</a:t>
            </a:r>
            <a:r>
              <a:rPr lang="fr-FR" dirty="0"/>
              <a:t> </a:t>
            </a:r>
            <a:r>
              <a:rPr lang="fr-FR" dirty="0" err="1"/>
              <a:t>shortage</a:t>
            </a:r>
            <a:r>
              <a:rPr lang="fr-FR" dirty="0"/>
              <a:t> over </a:t>
            </a:r>
            <a:r>
              <a:rPr lang="fr-FR" dirty="0" err="1"/>
              <a:t>nineteen</a:t>
            </a:r>
            <a:r>
              <a:rPr lang="fr-FR" dirty="0"/>
              <a:t> </a:t>
            </a:r>
            <a:r>
              <a:rPr lang="fr-FR" dirty="0" err="1"/>
              <a:t>turns</a:t>
            </a:r>
            <a:r>
              <a:rPr lang="fr-FR" dirty="0"/>
              <a:t> </a:t>
            </a:r>
            <a:r>
              <a:rPr lang="fr-FR" dirty="0" err="1"/>
              <a:t>across</a:t>
            </a:r>
            <a:r>
              <a:rPr lang="fr-FR" dirty="0"/>
              <a:t> </a:t>
            </a:r>
            <a:r>
              <a:rPr lang="fr-FR" dirty="0" err="1"/>
              <a:t>eight</a:t>
            </a:r>
            <a:r>
              <a:rPr lang="fr-FR" dirty="0"/>
              <a:t> </a:t>
            </a:r>
            <a:r>
              <a:rPr lang="fr-FR" dirty="0" err="1"/>
              <a:t>nodes</a:t>
            </a:r>
            <a:endParaRPr lang="fr-FR" dirty="0"/>
          </a:p>
          <a:p>
            <a:r>
              <a:rPr lang="fr-FR" dirty="0"/>
              <a:t>Real </a:t>
            </a:r>
            <a:r>
              <a:rPr lang="fr-FR" dirty="0" err="1"/>
              <a:t>urgency</a:t>
            </a:r>
            <a:r>
              <a:rPr lang="fr-FR" dirty="0"/>
              <a:t> </a:t>
            </a:r>
            <a:r>
              <a:rPr lang="fr-FR" dirty="0" err="1"/>
              <a:t>comes</a:t>
            </a:r>
            <a:r>
              <a:rPr lang="fr-FR" dirty="0"/>
              <a:t> </a:t>
            </a:r>
            <a:r>
              <a:rPr lang="fr-FR" dirty="0" err="1"/>
              <a:t>from</a:t>
            </a:r>
            <a:r>
              <a:rPr lang="fr-FR" dirty="0"/>
              <a:t> public time </a:t>
            </a:r>
            <a:r>
              <a:rPr lang="fr-FR" dirty="0" err="1"/>
              <a:t>series</a:t>
            </a:r>
            <a:r>
              <a:rPr lang="fr-FR" dirty="0"/>
              <a:t> of the </a:t>
            </a:r>
            <a:r>
              <a:rPr lang="fr-FR" dirty="0" err="1"/>
              <a:t>actual</a:t>
            </a:r>
            <a:r>
              <a:rPr lang="fr-FR" dirty="0"/>
              <a:t> </a:t>
            </a:r>
            <a:r>
              <a:rPr lang="fr-FR" dirty="0" err="1"/>
              <a:t>crisis</a:t>
            </a:r>
            <a:r>
              <a:rPr lang="fr-FR" dirty="0"/>
              <a:t>, </a:t>
            </a:r>
            <a:r>
              <a:rPr lang="fr-FR" dirty="0" err="1"/>
              <a:t>declared</a:t>
            </a:r>
            <a:r>
              <a:rPr lang="fr-FR" dirty="0"/>
              <a:t> </a:t>
            </a:r>
            <a:r>
              <a:rPr lang="fr-FR" dirty="0" err="1"/>
              <a:t>urgency</a:t>
            </a:r>
            <a:r>
              <a:rPr lang="fr-FR" dirty="0"/>
              <a:t> </a:t>
            </a:r>
            <a:r>
              <a:rPr lang="fr-FR" dirty="0" err="1"/>
              <a:t>from</a:t>
            </a:r>
            <a:r>
              <a:rPr lang="fr-FR" dirty="0"/>
              <a:t> the participants </a:t>
            </a:r>
          </a:p>
          <a:p>
            <a:r>
              <a:rPr lang="fr-FR" dirty="0"/>
              <a:t>Four of the </a:t>
            </a:r>
            <a:r>
              <a:rPr lang="fr-FR" dirty="0" err="1"/>
              <a:t>eight</a:t>
            </a:r>
            <a:r>
              <a:rPr lang="fr-FR" dirty="0"/>
              <a:t> go on to miss a </a:t>
            </a:r>
            <a:r>
              <a:rPr lang="fr-FR" dirty="0" err="1"/>
              <a:t>commitment</a:t>
            </a:r>
            <a:r>
              <a:rPr lang="fr-FR" dirty="0"/>
              <a:t>.</a:t>
            </a:r>
          </a:p>
          <a:p>
            <a:endParaRPr lang="fr-FR" dirty="0"/>
          </a:p>
          <a:p>
            <a:r>
              <a:rPr lang="fr-FR" dirty="0"/>
              <a:t>At </a:t>
            </a:r>
            <a:r>
              <a:rPr lang="fr-FR" dirty="0" err="1"/>
              <a:t>each</a:t>
            </a:r>
            <a:r>
              <a:rPr lang="fr-FR" dirty="0"/>
              <a:t> </a:t>
            </a:r>
            <a:r>
              <a:rPr lang="fr-FR" dirty="0" err="1"/>
              <a:t>turn</a:t>
            </a:r>
            <a:r>
              <a:rPr lang="fr-FR" dirty="0"/>
              <a:t> I </a:t>
            </a:r>
            <a:r>
              <a:rPr lang="fr-FR" dirty="0" err="1"/>
              <a:t>rank</a:t>
            </a:r>
            <a:r>
              <a:rPr lang="fr-FR" dirty="0"/>
              <a:t> the </a:t>
            </a:r>
            <a:r>
              <a:rPr lang="fr-FR" dirty="0" err="1"/>
              <a:t>nodes</a:t>
            </a:r>
            <a:r>
              <a:rPr lang="fr-FR" dirty="0"/>
              <a:t> by </a:t>
            </a:r>
            <a:r>
              <a:rPr lang="fr-FR" dirty="0" err="1"/>
              <a:t>hidden</a:t>
            </a:r>
            <a:r>
              <a:rPr lang="fr-FR" dirty="0"/>
              <a:t> </a:t>
            </a:r>
            <a:r>
              <a:rPr lang="fr-FR" dirty="0" err="1"/>
              <a:t>risk</a:t>
            </a:r>
            <a:r>
              <a:rPr lang="fr-FR" dirty="0"/>
              <a:t> and flag </a:t>
            </a:r>
            <a:r>
              <a:rPr lang="fr-FR" dirty="0" err="1"/>
              <a:t>those</a:t>
            </a:r>
            <a:r>
              <a:rPr lang="fr-FR" dirty="0"/>
              <a:t> </a:t>
            </a:r>
            <a:r>
              <a:rPr lang="fr-FR" dirty="0" err="1"/>
              <a:t>above</a:t>
            </a:r>
            <a:r>
              <a:rPr lang="fr-FR" dirty="0"/>
              <a:t> </a:t>
            </a:r>
            <a:r>
              <a:rPr lang="fr-FR" dirty="0" err="1"/>
              <a:t>zero</a:t>
            </a:r>
            <a:r>
              <a:rPr lang="fr-FR" dirty="0"/>
              <a:t> point one </a:t>
            </a:r>
            <a:r>
              <a:rPr lang="fr-FR" dirty="0" err="1"/>
              <a:t>zero</a:t>
            </a:r>
            <a:r>
              <a:rPr lang="fr-FR" dirty="0"/>
              <a:t>.</a:t>
            </a:r>
          </a:p>
          <a:p>
            <a:r>
              <a:rPr lang="fr-FR" dirty="0"/>
              <a:t>For six </a:t>
            </a:r>
            <a:r>
              <a:rPr lang="fr-FR" dirty="0" err="1"/>
              <a:t>consecutive</a:t>
            </a:r>
            <a:r>
              <a:rPr lang="fr-FR" dirty="0"/>
              <a:t> </a:t>
            </a:r>
            <a:r>
              <a:rPr lang="fr-FR" dirty="0" err="1"/>
              <a:t>turns</a:t>
            </a:r>
            <a:r>
              <a:rPr lang="fr-FR" dirty="0"/>
              <a:t>, </a:t>
            </a:r>
            <a:r>
              <a:rPr lang="fr-FR" dirty="0" err="1"/>
              <a:t>before</a:t>
            </a:r>
            <a:r>
              <a:rPr lang="fr-FR" dirty="0"/>
              <a:t> the </a:t>
            </a:r>
            <a:r>
              <a:rPr lang="fr-FR" dirty="0" err="1"/>
              <a:t>crisis</a:t>
            </a:r>
            <a:r>
              <a:rPr lang="fr-FR" dirty="0"/>
              <a:t> </a:t>
            </a:r>
            <a:r>
              <a:rPr lang="fr-FR" dirty="0" err="1"/>
              <a:t>is</a:t>
            </a:r>
            <a:r>
              <a:rPr lang="fr-FR" dirty="0"/>
              <a:t> visible, the signal flags </a:t>
            </a:r>
            <a:r>
              <a:rPr lang="fr-FR" dirty="0" err="1"/>
              <a:t>exactly</a:t>
            </a:r>
            <a:r>
              <a:rPr lang="fr-FR" dirty="0"/>
              <a:t> </a:t>
            </a:r>
            <a:r>
              <a:rPr lang="fr-FR" dirty="0" err="1"/>
              <a:t>three</a:t>
            </a:r>
            <a:r>
              <a:rPr lang="fr-FR" dirty="0"/>
              <a:t> </a:t>
            </a:r>
            <a:r>
              <a:rPr lang="fr-FR" dirty="0" err="1"/>
              <a:t>nodes</a:t>
            </a:r>
            <a:r>
              <a:rPr lang="fr-FR" dirty="0"/>
              <a:t>, and all </a:t>
            </a:r>
            <a:r>
              <a:rPr lang="fr-FR" dirty="0" err="1"/>
              <a:t>three</a:t>
            </a:r>
            <a:r>
              <a:rPr lang="fr-FR" dirty="0"/>
              <a:t> go on to miss</a:t>
            </a:r>
          </a:p>
          <a:p>
            <a:endParaRPr lang="fr-FR" dirty="0"/>
          </a:p>
          <a:p>
            <a:r>
              <a:rPr lang="fr-FR" dirty="0"/>
              <a:t>The </a:t>
            </a:r>
            <a:r>
              <a:rPr lang="fr-FR" dirty="0" err="1"/>
              <a:t>worst</a:t>
            </a:r>
            <a:r>
              <a:rPr lang="fr-FR" dirty="0"/>
              <a:t>-scoring </a:t>
            </a:r>
            <a:r>
              <a:rPr lang="fr-FR" dirty="0" err="1"/>
              <a:t>node</a:t>
            </a:r>
            <a:r>
              <a:rPr lang="fr-FR" dirty="0"/>
              <a:t> </a:t>
            </a:r>
            <a:r>
              <a:rPr lang="fr-FR" dirty="0" err="1"/>
              <a:t>throughout</a:t>
            </a:r>
            <a:r>
              <a:rPr lang="fr-FR" dirty="0"/>
              <a:t> </a:t>
            </a:r>
            <a:r>
              <a:rPr lang="fr-FR" dirty="0" err="1"/>
              <a:t>is</a:t>
            </a:r>
            <a:r>
              <a:rPr lang="fr-FR" dirty="0"/>
              <a:t> the satellite prime. </a:t>
            </a:r>
            <a:r>
              <a:rPr lang="fr-FR" dirty="0" err="1"/>
              <a:t>Flagged</a:t>
            </a:r>
            <a:r>
              <a:rPr lang="fr-FR" dirty="0"/>
              <a:t> </a:t>
            </a:r>
            <a:r>
              <a:rPr lang="fr-FR" dirty="0" err="1"/>
              <a:t>from</a:t>
            </a:r>
            <a:r>
              <a:rPr lang="fr-FR" dirty="0"/>
              <a:t> </a:t>
            </a:r>
            <a:r>
              <a:rPr lang="fr-FR" dirty="0" err="1"/>
              <a:t>turn</a:t>
            </a:r>
            <a:r>
              <a:rPr lang="fr-FR" dirty="0"/>
              <a:t> </a:t>
            </a:r>
            <a:r>
              <a:rPr lang="fr-FR" dirty="0" err="1"/>
              <a:t>zero</a:t>
            </a:r>
            <a:r>
              <a:rPr lang="fr-FR" dirty="0"/>
              <a:t>, </a:t>
            </a:r>
            <a:r>
              <a:rPr lang="fr-FR" dirty="0" err="1"/>
              <a:t>it</a:t>
            </a:r>
            <a:r>
              <a:rPr lang="fr-FR" dirty="0"/>
              <a:t> misses at </a:t>
            </a:r>
            <a:r>
              <a:rPr lang="fr-FR" dirty="0" err="1"/>
              <a:t>turn</a:t>
            </a:r>
            <a:r>
              <a:rPr lang="fr-FR" dirty="0"/>
              <a:t> </a:t>
            </a:r>
            <a:r>
              <a:rPr lang="fr-FR" dirty="0" err="1"/>
              <a:t>eight</a:t>
            </a:r>
            <a:endParaRPr lang="fr-FR" dirty="0"/>
          </a:p>
          <a:p>
            <a:r>
              <a:rPr lang="fr-FR" dirty="0"/>
              <a:t>Eight </a:t>
            </a:r>
            <a:r>
              <a:rPr lang="fr-FR" dirty="0" err="1"/>
              <a:t>turns</a:t>
            </a:r>
            <a:r>
              <a:rPr lang="fr-FR" dirty="0"/>
              <a:t> of warning, </a:t>
            </a:r>
            <a:r>
              <a:rPr lang="fr-FR" dirty="0" err="1"/>
              <a:t>raised</a:t>
            </a:r>
            <a:r>
              <a:rPr lang="fr-FR" dirty="0"/>
              <a:t> </a:t>
            </a:r>
            <a:r>
              <a:rPr lang="fr-FR" dirty="0" err="1"/>
              <a:t>while</a:t>
            </a:r>
            <a:r>
              <a:rPr lang="fr-FR" dirty="0"/>
              <a:t> </a:t>
            </a:r>
            <a:r>
              <a:rPr lang="fr-FR" dirty="0" err="1"/>
              <a:t>its</a:t>
            </a:r>
            <a:r>
              <a:rPr lang="fr-FR" dirty="0"/>
              <a:t> </a:t>
            </a:r>
            <a:r>
              <a:rPr lang="fr-FR" dirty="0" err="1"/>
              <a:t>own</a:t>
            </a:r>
            <a:r>
              <a:rPr lang="fr-FR" dirty="0"/>
              <a:t> manager </a:t>
            </a:r>
            <a:r>
              <a:rPr lang="fr-FR" dirty="0" err="1"/>
              <a:t>declares</a:t>
            </a:r>
            <a:r>
              <a:rPr lang="fr-FR" dirty="0"/>
              <a:t> </a:t>
            </a:r>
            <a:r>
              <a:rPr lang="fr-FR" dirty="0" err="1"/>
              <a:t>zero</a:t>
            </a:r>
            <a:r>
              <a:rPr lang="fr-FR" dirty="0"/>
              <a:t> point </a:t>
            </a:r>
            <a:r>
              <a:rPr lang="fr-FR" dirty="0" err="1"/>
              <a:t>zero</a:t>
            </a:r>
            <a:r>
              <a:rPr lang="fr-FR" dirty="0"/>
              <a:t> </a:t>
            </a:r>
            <a:r>
              <a:rPr lang="fr-FR" dirty="0" err="1"/>
              <a:t>zero</a:t>
            </a:r>
            <a:r>
              <a:rPr lang="fr-FR" dirty="0"/>
              <a:t> one.</a:t>
            </a:r>
          </a:p>
          <a:p>
            <a:endParaRPr lang="fr-FR" dirty="0"/>
          </a:p>
          <a:p>
            <a:r>
              <a:rPr lang="fr-FR" dirty="0"/>
              <a:t>That flag </a:t>
            </a:r>
            <a:r>
              <a:rPr lang="fr-FR" dirty="0" err="1"/>
              <a:t>does</a:t>
            </a:r>
            <a:r>
              <a:rPr lang="fr-FR" dirty="0"/>
              <a:t> not come </a:t>
            </a:r>
            <a:r>
              <a:rPr lang="fr-FR" dirty="0" err="1"/>
              <a:t>from</a:t>
            </a:r>
            <a:r>
              <a:rPr lang="fr-FR" dirty="0"/>
              <a:t> a </a:t>
            </a:r>
            <a:r>
              <a:rPr lang="fr-FR" dirty="0" err="1"/>
              <a:t>pessimistic</a:t>
            </a:r>
            <a:r>
              <a:rPr lang="fr-FR" dirty="0"/>
              <a:t> </a:t>
            </a:r>
            <a:r>
              <a:rPr lang="fr-FR" dirty="0" err="1"/>
              <a:t>declaration</a:t>
            </a:r>
            <a:r>
              <a:rPr lang="fr-FR" dirty="0"/>
              <a:t>. It </a:t>
            </a:r>
            <a:r>
              <a:rPr lang="fr-FR" dirty="0" err="1"/>
              <a:t>comes</a:t>
            </a:r>
            <a:r>
              <a:rPr lang="fr-FR" dirty="0"/>
              <a:t> </a:t>
            </a:r>
            <a:r>
              <a:rPr lang="fr-FR" dirty="0" err="1"/>
              <a:t>from</a:t>
            </a:r>
            <a:r>
              <a:rPr lang="fr-FR" dirty="0"/>
              <a:t> an </a:t>
            </a:r>
            <a:r>
              <a:rPr lang="fr-FR" dirty="0" err="1"/>
              <a:t>optimistic</a:t>
            </a:r>
            <a:r>
              <a:rPr lang="fr-FR" dirty="0"/>
              <a:t> </a:t>
            </a:r>
            <a:r>
              <a:rPr lang="fr-FR" dirty="0" err="1"/>
              <a:t>declaration</a:t>
            </a:r>
            <a:r>
              <a:rPr lang="fr-FR" dirty="0"/>
              <a:t> </a:t>
            </a:r>
            <a:r>
              <a:rPr lang="fr-FR" dirty="0" err="1"/>
              <a:t>against</a:t>
            </a:r>
            <a:r>
              <a:rPr lang="fr-FR" dirty="0"/>
              <a:t> a </a:t>
            </a:r>
            <a:r>
              <a:rPr lang="fr-FR" dirty="0" err="1"/>
              <a:t>computed</a:t>
            </a:r>
            <a:r>
              <a:rPr lang="fr-FR" dirty="0"/>
              <a:t> state </a:t>
            </a:r>
            <a:r>
              <a:rPr lang="fr-FR" dirty="0" err="1"/>
              <a:t>that</a:t>
            </a:r>
            <a:r>
              <a:rPr lang="fr-FR" dirty="0"/>
              <a:t> </a:t>
            </a:r>
            <a:r>
              <a:rPr lang="fr-FR" dirty="0" err="1"/>
              <a:t>is</a:t>
            </a:r>
            <a:r>
              <a:rPr lang="fr-FR" dirty="0"/>
              <a:t> not.</a:t>
            </a:r>
          </a:p>
          <a:p>
            <a:r>
              <a:rPr lang="fr-FR" dirty="0"/>
              <a:t>A system </a:t>
            </a:r>
            <a:r>
              <a:rPr lang="fr-FR" dirty="0" err="1"/>
              <a:t>aggregating</a:t>
            </a:r>
            <a:r>
              <a:rPr lang="fr-FR" dirty="0"/>
              <a:t> </a:t>
            </a:r>
            <a:r>
              <a:rPr lang="fr-FR" dirty="0" err="1"/>
              <a:t>only</a:t>
            </a:r>
            <a:r>
              <a:rPr lang="fr-FR" dirty="0"/>
              <a:t> </a:t>
            </a:r>
            <a:r>
              <a:rPr lang="fr-FR" dirty="0" err="1"/>
              <a:t>indicators</a:t>
            </a:r>
            <a:r>
              <a:rPr lang="fr-FR" dirty="0"/>
              <a:t> </a:t>
            </a:r>
            <a:r>
              <a:rPr lang="fr-FR" dirty="0" err="1"/>
              <a:t>would</a:t>
            </a:r>
            <a:r>
              <a:rPr lang="fr-FR" dirty="0"/>
              <a:t> have </a:t>
            </a:r>
            <a:r>
              <a:rPr lang="fr-FR" dirty="0" err="1"/>
              <a:t>ranked</a:t>
            </a:r>
            <a:r>
              <a:rPr lang="fr-FR" dirty="0"/>
              <a:t> </a:t>
            </a:r>
            <a:r>
              <a:rPr lang="fr-FR" dirty="0" err="1"/>
              <a:t>that</a:t>
            </a:r>
            <a:r>
              <a:rPr lang="fr-FR" dirty="0"/>
              <a:t> </a:t>
            </a:r>
            <a:r>
              <a:rPr lang="fr-FR" dirty="0" err="1"/>
              <a:t>node</a:t>
            </a:r>
            <a:r>
              <a:rPr lang="fr-FR" dirty="0"/>
              <a:t> by </a:t>
            </a:r>
            <a:r>
              <a:rPr lang="fr-FR" dirty="0" err="1"/>
              <a:t>its</a:t>
            </a:r>
            <a:r>
              <a:rPr lang="fr-FR" dirty="0"/>
              <a:t> </a:t>
            </a:r>
            <a:r>
              <a:rPr lang="fr-FR" dirty="0" err="1"/>
              <a:t>indicators</a:t>
            </a:r>
            <a:r>
              <a:rPr lang="fr-FR" dirty="0"/>
              <a:t>. A system </a:t>
            </a:r>
            <a:r>
              <a:rPr lang="fr-FR" dirty="0" err="1"/>
              <a:t>collecting</a:t>
            </a:r>
            <a:r>
              <a:rPr lang="fr-FR" dirty="0"/>
              <a:t> </a:t>
            </a:r>
            <a:r>
              <a:rPr lang="fr-FR" dirty="0" err="1"/>
              <a:t>only</a:t>
            </a:r>
            <a:r>
              <a:rPr lang="fr-FR" dirty="0"/>
              <a:t> </a:t>
            </a:r>
            <a:r>
              <a:rPr lang="fr-FR" dirty="0" err="1"/>
              <a:t>declarations</a:t>
            </a:r>
            <a:r>
              <a:rPr lang="fr-FR" dirty="0"/>
              <a:t> </a:t>
            </a:r>
            <a:r>
              <a:rPr lang="fr-FR" dirty="0" err="1"/>
              <a:t>would</a:t>
            </a:r>
            <a:r>
              <a:rPr lang="fr-FR" dirty="0"/>
              <a:t> have </a:t>
            </a:r>
            <a:r>
              <a:rPr lang="fr-FR" dirty="0" err="1"/>
              <a:t>believed</a:t>
            </a:r>
            <a:r>
              <a:rPr lang="fr-FR" dirty="0"/>
              <a:t> </a:t>
            </a:r>
            <a:r>
              <a:rPr lang="fr-FR" dirty="0" err="1"/>
              <a:t>it</a:t>
            </a:r>
            <a:r>
              <a:rPr lang="fr-FR" dirty="0"/>
              <a:t>.</a:t>
            </a:r>
          </a:p>
          <a:p>
            <a:endParaRPr lang="fr-FR" dirty="0"/>
          </a:p>
          <a:p>
            <a:r>
              <a:rPr lang="fr-FR" dirty="0"/>
              <a:t>From </a:t>
            </a:r>
            <a:r>
              <a:rPr lang="fr-FR" dirty="0" err="1"/>
              <a:t>turn</a:t>
            </a:r>
            <a:r>
              <a:rPr lang="fr-FR" dirty="0"/>
              <a:t> six </a:t>
            </a:r>
            <a:r>
              <a:rPr lang="fr-FR" dirty="0" err="1"/>
              <a:t>precision</a:t>
            </a:r>
            <a:r>
              <a:rPr lang="fr-FR" dirty="0"/>
              <a:t> </a:t>
            </a:r>
            <a:r>
              <a:rPr lang="fr-FR" dirty="0" err="1"/>
              <a:t>falls</a:t>
            </a:r>
            <a:r>
              <a:rPr lang="fr-FR" dirty="0"/>
              <a:t> to </a:t>
            </a:r>
            <a:r>
              <a:rPr lang="fr-FR" dirty="0" err="1"/>
              <a:t>zero</a:t>
            </a:r>
            <a:r>
              <a:rPr lang="fr-FR" dirty="0"/>
              <a:t> point five </a:t>
            </a:r>
            <a:r>
              <a:rPr lang="fr-FR" dirty="0" err="1"/>
              <a:t>zero</a:t>
            </a:r>
            <a:r>
              <a:rPr lang="fr-FR" dirty="0"/>
              <a:t> or </a:t>
            </a:r>
            <a:r>
              <a:rPr lang="fr-FR" dirty="0" err="1"/>
              <a:t>below</a:t>
            </a:r>
            <a:r>
              <a:rPr lang="fr-FR" dirty="0"/>
              <a:t>, and </a:t>
            </a:r>
            <a:r>
              <a:rPr lang="fr-FR" dirty="0" err="1"/>
              <a:t>that</a:t>
            </a:r>
            <a:r>
              <a:rPr lang="fr-FR" dirty="0"/>
              <a:t> </a:t>
            </a:r>
            <a:r>
              <a:rPr lang="fr-FR" dirty="0" err="1"/>
              <a:t>is</a:t>
            </a:r>
            <a:r>
              <a:rPr lang="fr-FR" dirty="0"/>
              <a:t> not a </a:t>
            </a:r>
            <a:r>
              <a:rPr lang="fr-FR" dirty="0" err="1"/>
              <a:t>failure</a:t>
            </a:r>
            <a:r>
              <a:rPr lang="fr-FR" dirty="0"/>
              <a:t>.</a:t>
            </a:r>
          </a:p>
          <a:p>
            <a:r>
              <a:rPr lang="fr-FR" dirty="0"/>
              <a:t>The </a:t>
            </a:r>
            <a:r>
              <a:rPr lang="fr-FR" dirty="0" err="1"/>
              <a:t>crisis</a:t>
            </a:r>
            <a:r>
              <a:rPr lang="fr-FR" dirty="0"/>
              <a:t> </a:t>
            </a:r>
            <a:r>
              <a:rPr lang="fr-FR" dirty="0" err="1"/>
              <a:t>becomes</a:t>
            </a:r>
            <a:r>
              <a:rPr lang="fr-FR" dirty="0"/>
              <a:t> public, </a:t>
            </a:r>
            <a:r>
              <a:rPr lang="fr-FR" dirty="0" err="1"/>
              <a:t>everyone</a:t>
            </a:r>
            <a:r>
              <a:rPr lang="fr-FR" dirty="0"/>
              <a:t> </a:t>
            </a:r>
            <a:r>
              <a:rPr lang="fr-FR" dirty="0" err="1"/>
              <a:t>raises</a:t>
            </a:r>
            <a:r>
              <a:rPr lang="fr-FR" dirty="0"/>
              <a:t> </a:t>
            </a:r>
            <a:r>
              <a:rPr lang="fr-FR" dirty="0" err="1"/>
              <a:t>their</a:t>
            </a:r>
            <a:r>
              <a:rPr lang="fr-FR" dirty="0"/>
              <a:t> </a:t>
            </a:r>
            <a:r>
              <a:rPr lang="fr-FR" dirty="0" err="1"/>
              <a:t>urgency</a:t>
            </a:r>
            <a:r>
              <a:rPr lang="fr-FR" dirty="0"/>
              <a:t>, and a </a:t>
            </a:r>
            <a:r>
              <a:rPr lang="fr-FR" dirty="0" err="1"/>
              <a:t>measure</a:t>
            </a:r>
            <a:r>
              <a:rPr lang="fr-FR" dirty="0"/>
              <a:t> </a:t>
            </a:r>
            <a:r>
              <a:rPr lang="fr-FR" dirty="0" err="1"/>
              <a:t>defined</a:t>
            </a:r>
            <a:r>
              <a:rPr lang="fr-FR" dirty="0"/>
              <a:t> as a </a:t>
            </a:r>
            <a:r>
              <a:rPr lang="fr-FR" dirty="0" err="1"/>
              <a:t>difference</a:t>
            </a:r>
            <a:r>
              <a:rPr lang="fr-FR" dirty="0"/>
              <a:t> closes </a:t>
            </a:r>
            <a:r>
              <a:rPr lang="fr-FR" dirty="0" err="1"/>
              <a:t>mechanically</a:t>
            </a:r>
            <a:r>
              <a:rPr lang="fr-FR" dirty="0"/>
              <a:t>.</a:t>
            </a:r>
          </a:p>
          <a:p>
            <a:endParaRPr lang="fr-FR" dirty="0"/>
          </a:p>
          <a:p>
            <a:r>
              <a:rPr lang="fr-FR" dirty="0"/>
              <a:t>I </a:t>
            </a:r>
            <a:r>
              <a:rPr lang="fr-FR" dirty="0" err="1"/>
              <a:t>will</a:t>
            </a:r>
            <a:r>
              <a:rPr lang="fr-FR" dirty="0"/>
              <a:t> state the </a:t>
            </a:r>
            <a:r>
              <a:rPr lang="fr-FR" dirty="0" err="1"/>
              <a:t>limit</a:t>
            </a:r>
            <a:r>
              <a:rPr lang="fr-FR" dirty="0"/>
              <a:t> </a:t>
            </a:r>
            <a:r>
              <a:rPr lang="fr-FR" dirty="0" err="1"/>
              <a:t>before</a:t>
            </a:r>
            <a:r>
              <a:rPr lang="fr-FR" dirty="0"/>
              <a:t> </a:t>
            </a:r>
            <a:r>
              <a:rPr lang="fr-FR" dirty="0" err="1"/>
              <a:t>you</a:t>
            </a:r>
            <a:r>
              <a:rPr lang="fr-FR" dirty="0"/>
              <a:t> </a:t>
            </a:r>
            <a:r>
              <a:rPr lang="fr-FR" dirty="0" err="1"/>
              <a:t>ask</a:t>
            </a:r>
            <a:r>
              <a:rPr lang="fr-FR" dirty="0"/>
              <a:t>. Eight </a:t>
            </a:r>
            <a:r>
              <a:rPr lang="fr-FR" dirty="0" err="1"/>
              <a:t>nodes</a:t>
            </a:r>
            <a:r>
              <a:rPr lang="fr-FR" dirty="0"/>
              <a:t>, four positives, one scenario.</a:t>
            </a:r>
          </a:p>
          <a:p>
            <a:r>
              <a:rPr lang="fr-FR" dirty="0"/>
              <a:t>That </a:t>
            </a:r>
            <a:r>
              <a:rPr lang="fr-FR" dirty="0" err="1"/>
              <a:t>precision</a:t>
            </a:r>
            <a:r>
              <a:rPr lang="fr-FR" dirty="0"/>
              <a:t> </a:t>
            </a:r>
            <a:r>
              <a:rPr lang="fr-FR" dirty="0" err="1"/>
              <a:t>is</a:t>
            </a:r>
            <a:r>
              <a:rPr lang="fr-FR" dirty="0"/>
              <a:t> an </a:t>
            </a:r>
            <a:r>
              <a:rPr lang="fr-FR" dirty="0" err="1"/>
              <a:t>encouraging</a:t>
            </a:r>
            <a:r>
              <a:rPr lang="fr-FR" dirty="0"/>
              <a:t> observation, not an </a:t>
            </a:r>
            <a:r>
              <a:rPr lang="fr-FR" dirty="0" err="1"/>
              <a:t>established</a:t>
            </a:r>
            <a:r>
              <a:rPr lang="fr-FR" dirty="0"/>
              <a:t> rate</a:t>
            </a: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The second question </a:t>
            </a:r>
            <a:r>
              <a:rPr lang="fr-FR" dirty="0" err="1"/>
              <a:t>is</a:t>
            </a:r>
            <a:r>
              <a:rPr lang="fr-FR" dirty="0"/>
              <a:t> </a:t>
            </a:r>
            <a:r>
              <a:rPr lang="fr-FR" dirty="0" err="1"/>
              <a:t>different</a:t>
            </a:r>
            <a:r>
              <a:rPr lang="fr-FR" dirty="0"/>
              <a:t>: </a:t>
            </a:r>
            <a:r>
              <a:rPr lang="fr-FR" dirty="0" err="1"/>
              <a:t>turning</a:t>
            </a:r>
            <a:r>
              <a:rPr lang="fr-FR" dirty="0"/>
              <a:t> </a:t>
            </a:r>
            <a:r>
              <a:rPr lang="fr-FR" dirty="0" err="1"/>
              <a:t>that</a:t>
            </a:r>
            <a:r>
              <a:rPr lang="fr-FR" dirty="0"/>
              <a:t> </a:t>
            </a:r>
            <a:r>
              <a:rPr lang="fr-FR" dirty="0" err="1"/>
              <a:t>ranking</a:t>
            </a:r>
            <a:r>
              <a:rPr lang="fr-FR" dirty="0"/>
              <a:t> </a:t>
            </a:r>
            <a:r>
              <a:rPr lang="fr-FR" dirty="0" err="1"/>
              <a:t>into</a:t>
            </a:r>
            <a:r>
              <a:rPr lang="fr-FR" dirty="0"/>
              <a:t> a </a:t>
            </a:r>
            <a:r>
              <a:rPr lang="fr-FR" dirty="0" err="1"/>
              <a:t>probability</a:t>
            </a:r>
            <a:r>
              <a:rPr lang="fr-FR" dirty="0"/>
              <a:t> </a:t>
            </a:r>
            <a:r>
              <a:rPr lang="fr-FR" dirty="0" err="1"/>
              <a:t>attached</a:t>
            </a:r>
            <a:r>
              <a:rPr lang="fr-FR" dirty="0"/>
              <a:t> to a </a:t>
            </a:r>
            <a:r>
              <a:rPr lang="fr-FR" dirty="0" err="1"/>
              <a:t>named</a:t>
            </a:r>
            <a:r>
              <a:rPr lang="fr-FR" dirty="0"/>
              <a:t> </a:t>
            </a:r>
            <a:r>
              <a:rPr lang="fr-FR" dirty="0" err="1"/>
              <a:t>week</a:t>
            </a:r>
            <a:r>
              <a:rPr lang="fr-FR" dirty="0"/>
              <a:t>.</a:t>
            </a:r>
          </a:p>
          <a:p>
            <a:endParaRPr lang="fr-FR" dirty="0"/>
          </a:p>
          <a:p>
            <a:r>
              <a:rPr lang="fr-FR" dirty="0" err="1"/>
              <a:t>Scored</a:t>
            </a:r>
            <a:r>
              <a:rPr lang="fr-FR" dirty="0"/>
              <a:t> </a:t>
            </a:r>
            <a:r>
              <a:rPr lang="fr-FR" dirty="0" err="1"/>
              <a:t>against</a:t>
            </a:r>
            <a:r>
              <a:rPr lang="fr-FR" dirty="0"/>
              <a:t> the </a:t>
            </a:r>
            <a:r>
              <a:rPr lang="fr-FR" dirty="0" err="1"/>
              <a:t>outcome</a:t>
            </a:r>
            <a:r>
              <a:rPr lang="fr-FR" dirty="0"/>
              <a:t> </a:t>
            </a:r>
            <a:r>
              <a:rPr lang="fr-FR" dirty="0" err="1"/>
              <a:t>definition</a:t>
            </a:r>
            <a:r>
              <a:rPr lang="fr-FR" dirty="0"/>
              <a:t> the system </a:t>
            </a:r>
            <a:r>
              <a:rPr lang="fr-FR" dirty="0" err="1"/>
              <a:t>itself</a:t>
            </a:r>
            <a:r>
              <a:rPr lang="fr-FR" dirty="0"/>
              <a:t> </a:t>
            </a:r>
            <a:r>
              <a:rPr lang="fr-FR" dirty="0" err="1"/>
              <a:t>applies</a:t>
            </a:r>
            <a:r>
              <a:rPr lang="fr-FR" dirty="0"/>
              <a:t>, the first version </a:t>
            </a:r>
            <a:r>
              <a:rPr lang="fr-FR" dirty="0" err="1"/>
              <a:t>failed</a:t>
            </a:r>
            <a:r>
              <a:rPr lang="fr-FR" dirty="0"/>
              <a:t> on </a:t>
            </a:r>
            <a:r>
              <a:rPr lang="fr-FR" dirty="0" err="1"/>
              <a:t>both</a:t>
            </a:r>
            <a:r>
              <a:rPr lang="fr-FR" dirty="0"/>
              <a:t> axes</a:t>
            </a:r>
          </a:p>
          <a:p>
            <a:r>
              <a:rPr lang="fr-FR" dirty="0"/>
              <a:t>Discrimination </a:t>
            </a:r>
            <a:r>
              <a:rPr lang="fr-FR" dirty="0" err="1"/>
              <a:t>indistinguishable</a:t>
            </a:r>
            <a:r>
              <a:rPr lang="fr-FR" dirty="0"/>
              <a:t> </a:t>
            </a:r>
            <a:r>
              <a:rPr lang="fr-FR" dirty="0" err="1"/>
              <a:t>from</a:t>
            </a:r>
            <a:r>
              <a:rPr lang="fr-FR" dirty="0"/>
              <a:t> chance, and a Brier </a:t>
            </a:r>
            <a:r>
              <a:rPr lang="fr-FR" dirty="0" err="1"/>
              <a:t>skill</a:t>
            </a:r>
            <a:r>
              <a:rPr lang="fr-FR" dirty="0"/>
              <a:t> </a:t>
            </a:r>
            <a:r>
              <a:rPr lang="fr-FR" dirty="0" err="1"/>
              <a:t>several</a:t>
            </a:r>
            <a:r>
              <a:rPr lang="fr-FR" dirty="0"/>
              <a:t> times </a:t>
            </a:r>
            <a:r>
              <a:rPr lang="fr-FR" dirty="0" err="1"/>
              <a:t>worse</a:t>
            </a:r>
            <a:r>
              <a:rPr lang="fr-FR" dirty="0"/>
              <a:t> </a:t>
            </a:r>
            <a:r>
              <a:rPr lang="fr-FR" dirty="0" err="1"/>
              <a:t>than</a:t>
            </a:r>
            <a:r>
              <a:rPr lang="fr-FR" dirty="0"/>
              <a:t> a </a:t>
            </a:r>
            <a:r>
              <a:rPr lang="fr-FR" dirty="0" err="1"/>
              <a:t>forecaster</a:t>
            </a:r>
            <a:r>
              <a:rPr lang="fr-FR" dirty="0"/>
              <a:t> </a:t>
            </a:r>
            <a:r>
              <a:rPr lang="fr-FR" dirty="0" err="1"/>
              <a:t>who</a:t>
            </a:r>
            <a:r>
              <a:rPr lang="fr-FR" dirty="0"/>
              <a:t> </a:t>
            </a:r>
            <a:r>
              <a:rPr lang="fr-FR" dirty="0" err="1"/>
              <a:t>simply</a:t>
            </a:r>
            <a:r>
              <a:rPr lang="fr-FR" dirty="0"/>
              <a:t> </a:t>
            </a:r>
            <a:r>
              <a:rPr lang="fr-FR" dirty="0" err="1"/>
              <a:t>announces</a:t>
            </a:r>
            <a:r>
              <a:rPr lang="fr-FR" dirty="0"/>
              <a:t> the base rate</a:t>
            </a:r>
          </a:p>
          <a:p>
            <a:endParaRPr lang="fr-FR" dirty="0"/>
          </a:p>
          <a:p>
            <a:r>
              <a:rPr lang="fr-FR" dirty="0"/>
              <a:t>The </a:t>
            </a:r>
            <a:r>
              <a:rPr lang="fr-FR" dirty="0" err="1"/>
              <a:t>reliability</a:t>
            </a:r>
            <a:r>
              <a:rPr lang="fr-FR" dirty="0"/>
              <a:t> </a:t>
            </a:r>
            <a:r>
              <a:rPr lang="fr-FR" dirty="0" err="1"/>
              <a:t>diagram</a:t>
            </a:r>
            <a:r>
              <a:rPr lang="fr-FR" dirty="0"/>
              <a:t> localises </a:t>
            </a:r>
            <a:r>
              <a:rPr lang="fr-FR" dirty="0" err="1"/>
              <a:t>it</a:t>
            </a:r>
            <a:r>
              <a:rPr lang="fr-FR" dirty="0"/>
              <a:t>. </a:t>
            </a:r>
            <a:r>
              <a:rPr lang="fr-FR" dirty="0" err="1"/>
              <a:t>Where</a:t>
            </a:r>
            <a:r>
              <a:rPr lang="fr-FR" dirty="0"/>
              <a:t> the model </a:t>
            </a:r>
            <a:r>
              <a:rPr lang="fr-FR" dirty="0" err="1"/>
              <a:t>announces</a:t>
            </a:r>
            <a:r>
              <a:rPr lang="fr-FR" dirty="0"/>
              <a:t> a </a:t>
            </a:r>
            <a:r>
              <a:rPr lang="fr-FR" dirty="0" err="1"/>
              <a:t>low</a:t>
            </a:r>
            <a:r>
              <a:rPr lang="fr-FR" dirty="0"/>
              <a:t> </a:t>
            </a:r>
            <a:r>
              <a:rPr lang="fr-FR" dirty="0" err="1"/>
              <a:t>probability</a:t>
            </a:r>
            <a:r>
              <a:rPr lang="fr-FR" dirty="0"/>
              <a:t>, </a:t>
            </a:r>
            <a:r>
              <a:rPr lang="fr-FR" dirty="0" err="1"/>
              <a:t>it</a:t>
            </a:r>
            <a:r>
              <a:rPr lang="fr-FR" dirty="0"/>
              <a:t> </a:t>
            </a:r>
            <a:r>
              <a:rPr lang="fr-FR" dirty="0" err="1"/>
              <a:t>is</a:t>
            </a:r>
            <a:r>
              <a:rPr lang="fr-FR" dirty="0"/>
              <a:t> right.</a:t>
            </a:r>
          </a:p>
          <a:p>
            <a:r>
              <a:rPr lang="fr-FR" dirty="0" err="1"/>
              <a:t>Where</a:t>
            </a:r>
            <a:r>
              <a:rPr lang="fr-FR" dirty="0"/>
              <a:t> </a:t>
            </a:r>
            <a:r>
              <a:rPr lang="fr-FR" dirty="0" err="1"/>
              <a:t>it</a:t>
            </a:r>
            <a:r>
              <a:rPr lang="fr-FR" dirty="0"/>
              <a:t> </a:t>
            </a:r>
            <a:r>
              <a:rPr lang="fr-FR" dirty="0" err="1"/>
              <a:t>announces</a:t>
            </a:r>
            <a:r>
              <a:rPr lang="fr-FR" dirty="0"/>
              <a:t> a high </a:t>
            </a:r>
            <a:r>
              <a:rPr lang="fr-FR" dirty="0" err="1"/>
              <a:t>probability</a:t>
            </a:r>
            <a:r>
              <a:rPr lang="fr-FR" dirty="0"/>
              <a:t>, </a:t>
            </a:r>
            <a:r>
              <a:rPr lang="fr-FR" dirty="0" err="1"/>
              <a:t>it</a:t>
            </a:r>
            <a:r>
              <a:rPr lang="fr-FR" dirty="0"/>
              <a:t> </a:t>
            </a:r>
            <a:r>
              <a:rPr lang="fr-FR" dirty="0" err="1"/>
              <a:t>is</a:t>
            </a:r>
            <a:r>
              <a:rPr lang="fr-FR" dirty="0"/>
              <a:t> </a:t>
            </a:r>
            <a:r>
              <a:rPr lang="fr-FR" dirty="0" err="1"/>
              <a:t>wrong</a:t>
            </a:r>
            <a:r>
              <a:rPr lang="fr-FR" dirty="0"/>
              <a:t> </a:t>
            </a:r>
            <a:r>
              <a:rPr lang="fr-FR" dirty="0" err="1"/>
              <a:t>every</a:t>
            </a:r>
            <a:r>
              <a:rPr lang="fr-FR" dirty="0"/>
              <a:t> time: </a:t>
            </a:r>
            <a:r>
              <a:rPr lang="fr-FR" dirty="0" err="1"/>
              <a:t>twenty</a:t>
            </a:r>
            <a:r>
              <a:rPr lang="fr-FR" dirty="0"/>
              <a:t>-one </a:t>
            </a:r>
            <a:r>
              <a:rPr lang="fr-FR" dirty="0" err="1"/>
              <a:t>forecasts</a:t>
            </a:r>
            <a:r>
              <a:rPr lang="fr-FR" dirty="0"/>
              <a:t> </a:t>
            </a:r>
            <a:r>
              <a:rPr lang="fr-FR" dirty="0" err="1"/>
              <a:t>announcing</a:t>
            </a:r>
            <a:r>
              <a:rPr lang="fr-FR" dirty="0"/>
              <a:t> a </a:t>
            </a:r>
            <a:r>
              <a:rPr lang="fr-FR" dirty="0" err="1"/>
              <a:t>mean</a:t>
            </a:r>
            <a:r>
              <a:rPr lang="fr-FR" dirty="0"/>
              <a:t> of </a:t>
            </a:r>
            <a:r>
              <a:rPr lang="fr-FR" dirty="0" err="1"/>
              <a:t>zero</a:t>
            </a:r>
            <a:r>
              <a:rPr lang="fr-FR" dirty="0"/>
              <a:t> point </a:t>
            </a:r>
            <a:r>
              <a:rPr lang="fr-FR" dirty="0" err="1"/>
              <a:t>nine</a:t>
            </a:r>
            <a:r>
              <a:rPr lang="fr-FR" dirty="0"/>
              <a:t> four </a:t>
            </a:r>
            <a:r>
              <a:rPr lang="fr-FR" dirty="0" err="1"/>
              <a:t>eight</a:t>
            </a:r>
            <a:r>
              <a:rPr lang="fr-FR" dirty="0"/>
              <a:t>, and not one </a:t>
            </a:r>
            <a:r>
              <a:rPr lang="fr-FR" dirty="0" err="1"/>
              <a:t>materialised</a:t>
            </a:r>
            <a:endParaRPr lang="fr-FR" dirty="0"/>
          </a:p>
          <a:p>
            <a:endParaRPr lang="fr-FR" dirty="0"/>
          </a:p>
          <a:p>
            <a:r>
              <a:rPr lang="fr-FR" dirty="0"/>
              <a:t>Then the </a:t>
            </a:r>
            <a:r>
              <a:rPr lang="fr-FR" dirty="0" err="1"/>
              <a:t>explainability</a:t>
            </a:r>
            <a:r>
              <a:rPr lang="fr-FR" dirty="0"/>
              <a:t> layer gave me the cause, and </a:t>
            </a:r>
            <a:r>
              <a:rPr lang="fr-FR" dirty="0" err="1"/>
              <a:t>it</a:t>
            </a:r>
            <a:r>
              <a:rPr lang="fr-FR" dirty="0"/>
              <a:t> </a:t>
            </a:r>
            <a:r>
              <a:rPr lang="fr-FR" dirty="0" err="1"/>
              <a:t>comes</a:t>
            </a:r>
            <a:r>
              <a:rPr lang="fr-FR" dirty="0"/>
              <a:t> down to a count</a:t>
            </a:r>
          </a:p>
          <a:p>
            <a:r>
              <a:rPr lang="fr-FR" dirty="0" err="1"/>
              <a:t>Across</a:t>
            </a:r>
            <a:r>
              <a:rPr lang="fr-FR" dirty="0"/>
              <a:t> </a:t>
            </a:r>
            <a:r>
              <a:rPr lang="fr-FR" dirty="0" err="1"/>
              <a:t>three</a:t>
            </a:r>
            <a:r>
              <a:rPr lang="fr-FR" dirty="0"/>
              <a:t> </a:t>
            </a:r>
            <a:r>
              <a:rPr lang="fr-FR" dirty="0" err="1"/>
              <a:t>hundred</a:t>
            </a:r>
            <a:r>
              <a:rPr lang="fr-FR" dirty="0"/>
              <a:t> and </a:t>
            </a:r>
            <a:r>
              <a:rPr lang="fr-FR" dirty="0" err="1"/>
              <a:t>twenty-eight</a:t>
            </a:r>
            <a:r>
              <a:rPr lang="fr-FR" dirty="0"/>
              <a:t> </a:t>
            </a:r>
            <a:r>
              <a:rPr lang="fr-FR" dirty="0" err="1"/>
              <a:t>indicator</a:t>
            </a:r>
            <a:r>
              <a:rPr lang="fr-FR" dirty="0"/>
              <a:t> snapshots, the </a:t>
            </a:r>
            <a:r>
              <a:rPr lang="fr-FR" dirty="0" err="1"/>
              <a:t>accumulated-delay</a:t>
            </a:r>
            <a:r>
              <a:rPr lang="fr-FR" dirty="0"/>
              <a:t> </a:t>
            </a:r>
            <a:r>
              <a:rPr lang="fr-FR" dirty="0" err="1"/>
              <a:t>field</a:t>
            </a:r>
            <a:r>
              <a:rPr lang="fr-FR" dirty="0"/>
              <a:t> </a:t>
            </a:r>
            <a:r>
              <a:rPr lang="fr-FR" dirty="0" err="1"/>
              <a:t>that</a:t>
            </a:r>
            <a:r>
              <a:rPr lang="fr-FR" dirty="0"/>
              <a:t> the time block </a:t>
            </a:r>
            <a:r>
              <a:rPr lang="fr-FR" dirty="0" err="1"/>
              <a:t>reads</a:t>
            </a:r>
            <a:r>
              <a:rPr lang="fr-FR" dirty="0"/>
              <a:t> </a:t>
            </a:r>
            <a:r>
              <a:rPr lang="fr-FR" dirty="0" err="1"/>
              <a:t>was</a:t>
            </a:r>
            <a:r>
              <a:rPr lang="fr-FR" dirty="0"/>
              <a:t> </a:t>
            </a:r>
            <a:r>
              <a:rPr lang="fr-FR" dirty="0" err="1"/>
              <a:t>written</a:t>
            </a:r>
            <a:r>
              <a:rPr lang="fr-FR" dirty="0"/>
              <a:t> a non-</a:t>
            </a:r>
            <a:r>
              <a:rPr lang="fr-FR" dirty="0" err="1"/>
              <a:t>zero</a:t>
            </a:r>
            <a:r>
              <a:rPr lang="fr-FR" dirty="0"/>
              <a:t> value </a:t>
            </a:r>
            <a:r>
              <a:rPr lang="fr-FR" dirty="0" err="1"/>
              <a:t>exactly</a:t>
            </a:r>
            <a:r>
              <a:rPr lang="fr-FR" dirty="0"/>
              <a:t> </a:t>
            </a:r>
            <a:r>
              <a:rPr lang="fr-FR" dirty="0" err="1"/>
              <a:t>zero</a:t>
            </a:r>
            <a:r>
              <a:rPr lang="fr-FR" dirty="0"/>
              <a:t> times</a:t>
            </a:r>
          </a:p>
          <a:p>
            <a:r>
              <a:rPr lang="fr-FR" dirty="0"/>
              <a:t>The </a:t>
            </a:r>
            <a:r>
              <a:rPr lang="fr-FR" dirty="0" err="1"/>
              <a:t>event</a:t>
            </a:r>
            <a:r>
              <a:rPr lang="fr-FR" dirty="0"/>
              <a:t> engine </a:t>
            </a:r>
            <a:r>
              <a:rPr lang="fr-FR" dirty="0" err="1"/>
              <a:t>writes</a:t>
            </a:r>
            <a:r>
              <a:rPr lang="fr-FR" dirty="0"/>
              <a:t> to </a:t>
            </a:r>
            <a:r>
              <a:rPr lang="fr-FR" dirty="0" err="1"/>
              <a:t>capacity</a:t>
            </a:r>
            <a:r>
              <a:rPr lang="fr-FR" dirty="0"/>
              <a:t>, </a:t>
            </a:r>
            <a:r>
              <a:rPr lang="fr-FR" dirty="0" err="1"/>
              <a:t>cost</a:t>
            </a:r>
            <a:r>
              <a:rPr lang="fr-FR" dirty="0"/>
              <a:t> and </a:t>
            </a:r>
            <a:r>
              <a:rPr lang="fr-FR" dirty="0" err="1"/>
              <a:t>failure</a:t>
            </a:r>
            <a:r>
              <a:rPr lang="fr-FR" dirty="0"/>
              <a:t> </a:t>
            </a:r>
            <a:r>
              <a:rPr lang="fr-FR" dirty="0" err="1"/>
              <a:t>probability</a:t>
            </a:r>
            <a:r>
              <a:rPr lang="fr-FR" dirty="0"/>
              <a:t>. Never to </a:t>
            </a:r>
            <a:r>
              <a:rPr lang="fr-FR" dirty="0" err="1"/>
              <a:t>any</a:t>
            </a:r>
            <a:r>
              <a:rPr lang="fr-FR" dirty="0"/>
              <a:t> </a:t>
            </a:r>
            <a:r>
              <a:rPr lang="fr-FR" dirty="0" err="1"/>
              <a:t>quantity</a:t>
            </a:r>
            <a:r>
              <a:rPr lang="fr-FR" dirty="0"/>
              <a:t> on the time axis</a:t>
            </a:r>
          </a:p>
          <a:p>
            <a:r>
              <a:rPr lang="fr-FR" dirty="0"/>
              <a:t>The block </a:t>
            </a:r>
            <a:r>
              <a:rPr lang="fr-FR" dirty="0" err="1"/>
              <a:t>is</a:t>
            </a:r>
            <a:r>
              <a:rPr lang="fr-FR" dirty="0"/>
              <a:t> blind by construction, and </a:t>
            </a:r>
            <a:r>
              <a:rPr lang="fr-FR" dirty="0" err="1"/>
              <a:t>because</a:t>
            </a:r>
            <a:r>
              <a:rPr lang="fr-FR" dirty="0"/>
              <a:t> </a:t>
            </a:r>
            <a:r>
              <a:rPr lang="fr-FR" dirty="0" err="1"/>
              <a:t>it</a:t>
            </a:r>
            <a:r>
              <a:rPr lang="fr-FR" dirty="0"/>
              <a:t> drives the </a:t>
            </a:r>
            <a:r>
              <a:rPr lang="fr-FR" dirty="0" err="1"/>
              <a:t>entire</a:t>
            </a:r>
            <a:r>
              <a:rPr lang="fr-FR" dirty="0"/>
              <a:t> confident </a:t>
            </a:r>
            <a:r>
              <a:rPr lang="fr-FR" dirty="0" err="1"/>
              <a:t>tail</a:t>
            </a:r>
            <a:r>
              <a:rPr lang="fr-FR" dirty="0"/>
              <a:t>, </a:t>
            </a:r>
            <a:r>
              <a:rPr lang="fr-FR" dirty="0" err="1"/>
              <a:t>so</a:t>
            </a:r>
            <a:r>
              <a:rPr lang="fr-FR" dirty="0"/>
              <a:t> </a:t>
            </a:r>
            <a:r>
              <a:rPr lang="fr-FR" dirty="0" err="1"/>
              <a:t>is</a:t>
            </a:r>
            <a:r>
              <a:rPr lang="fr-FR" dirty="0"/>
              <a:t> the </a:t>
            </a:r>
            <a:r>
              <a:rPr lang="fr-FR" dirty="0" err="1"/>
              <a:t>forecast</a:t>
            </a:r>
            <a:r>
              <a:rPr lang="fr-FR" dirty="0"/>
              <a:t>.</a:t>
            </a:r>
          </a:p>
          <a:p>
            <a:endParaRPr lang="fr-FR" dirty="0"/>
          </a:p>
          <a:p>
            <a:r>
              <a:rPr lang="fr-FR" dirty="0"/>
              <a:t>The </a:t>
            </a:r>
            <a:r>
              <a:rPr lang="fr-FR" dirty="0" err="1"/>
              <a:t>repair</a:t>
            </a:r>
            <a:r>
              <a:rPr lang="fr-FR" dirty="0"/>
              <a:t> </a:t>
            </a:r>
            <a:r>
              <a:rPr lang="fr-FR" dirty="0" err="1"/>
              <a:t>is</a:t>
            </a:r>
            <a:r>
              <a:rPr lang="fr-FR" dirty="0"/>
              <a:t> a change to the </a:t>
            </a:r>
            <a:r>
              <a:rPr lang="fr-FR" dirty="0" err="1"/>
              <a:t>event</a:t>
            </a:r>
            <a:r>
              <a:rPr lang="fr-FR" dirty="0"/>
              <a:t> mapping, not to the </a:t>
            </a:r>
            <a:r>
              <a:rPr lang="fr-FR" dirty="0" err="1"/>
              <a:t>mathematics</a:t>
            </a:r>
            <a:r>
              <a:rPr lang="fr-FR" dirty="0"/>
              <a:t>.</a:t>
            </a:r>
          </a:p>
          <a:p>
            <a:r>
              <a:rPr lang="fr-FR" dirty="0" err="1"/>
              <a:t>Lost</a:t>
            </a:r>
            <a:r>
              <a:rPr lang="fr-FR" dirty="0"/>
              <a:t> production time </a:t>
            </a:r>
            <a:r>
              <a:rPr lang="fr-FR" dirty="0" err="1"/>
              <a:t>is</a:t>
            </a:r>
            <a:r>
              <a:rPr lang="fr-FR" dirty="0"/>
              <a:t> additive: a four-</a:t>
            </a:r>
            <a:r>
              <a:rPr lang="fr-FR" dirty="0" err="1"/>
              <a:t>week</a:t>
            </a:r>
            <a:r>
              <a:rPr lang="fr-FR" dirty="0"/>
              <a:t> freeze </a:t>
            </a:r>
            <a:r>
              <a:rPr lang="fr-FR" dirty="0" err="1"/>
              <a:t>costs</a:t>
            </a:r>
            <a:r>
              <a:rPr lang="fr-FR" dirty="0"/>
              <a:t> four </a:t>
            </a:r>
            <a:r>
              <a:rPr lang="fr-FR" dirty="0" err="1"/>
              <a:t>weeks</a:t>
            </a:r>
            <a:r>
              <a:rPr lang="fr-FR" dirty="0"/>
              <a:t> </a:t>
            </a:r>
            <a:r>
              <a:rPr lang="fr-FR" dirty="0" err="1"/>
              <a:t>whether</a:t>
            </a:r>
            <a:r>
              <a:rPr lang="fr-FR" dirty="0"/>
              <a:t> the </a:t>
            </a:r>
            <a:r>
              <a:rPr lang="fr-FR" dirty="0" err="1"/>
              <a:t>order</a:t>
            </a:r>
            <a:r>
              <a:rPr lang="fr-FR" dirty="0"/>
              <a:t> </a:t>
            </a:r>
            <a:r>
              <a:rPr lang="fr-FR" dirty="0" err="1"/>
              <a:t>is</a:t>
            </a:r>
            <a:r>
              <a:rPr lang="fr-FR" dirty="0"/>
              <a:t> a </a:t>
            </a:r>
            <a:r>
              <a:rPr lang="fr-FR" dirty="0" err="1"/>
              <a:t>tenth</a:t>
            </a:r>
            <a:r>
              <a:rPr lang="fr-FR" dirty="0"/>
              <a:t> </a:t>
            </a:r>
            <a:r>
              <a:rPr lang="fr-FR" dirty="0" err="1"/>
              <a:t>done</a:t>
            </a:r>
            <a:r>
              <a:rPr lang="fr-FR" dirty="0"/>
              <a:t> or </a:t>
            </a:r>
            <a:r>
              <a:rPr lang="fr-FR" dirty="0" err="1"/>
              <a:t>nine</a:t>
            </a:r>
            <a:r>
              <a:rPr lang="fr-FR" dirty="0"/>
              <a:t> </a:t>
            </a:r>
            <a:r>
              <a:rPr lang="fr-FR" dirty="0" err="1"/>
              <a:t>tenths</a:t>
            </a:r>
            <a:r>
              <a:rPr lang="fr-FR" dirty="0"/>
              <a:t> </a:t>
            </a:r>
            <a:r>
              <a:rPr lang="fr-FR" dirty="0" err="1"/>
              <a:t>done</a:t>
            </a:r>
            <a:endParaRPr lang="fr-FR" dirty="0"/>
          </a:p>
          <a:p>
            <a:endParaRPr lang="fr-FR" dirty="0"/>
          </a:p>
          <a:p>
            <a:r>
              <a:rPr lang="fr-FR" dirty="0"/>
              <a:t>On the </a:t>
            </a:r>
            <a:r>
              <a:rPr lang="fr-FR" dirty="0" err="1"/>
              <a:t>same</a:t>
            </a:r>
            <a:r>
              <a:rPr lang="fr-FR" dirty="0"/>
              <a:t> one </a:t>
            </a:r>
            <a:r>
              <a:rPr lang="fr-FR" dirty="0" err="1"/>
              <a:t>hundred</a:t>
            </a:r>
            <a:r>
              <a:rPr lang="fr-FR" dirty="0"/>
              <a:t> and </a:t>
            </a:r>
            <a:r>
              <a:rPr lang="fr-FR" dirty="0" err="1"/>
              <a:t>twenty</a:t>
            </a:r>
            <a:r>
              <a:rPr lang="fr-FR" dirty="0"/>
              <a:t> </a:t>
            </a:r>
            <a:r>
              <a:rPr lang="fr-FR" dirty="0" err="1"/>
              <a:t>frozen</a:t>
            </a:r>
            <a:r>
              <a:rPr lang="fr-FR" dirty="0"/>
              <a:t> </a:t>
            </a:r>
            <a:r>
              <a:rPr lang="fr-FR" dirty="0" err="1"/>
              <a:t>forecasts</a:t>
            </a:r>
            <a:r>
              <a:rPr lang="fr-FR" dirty="0"/>
              <a:t>, the Brier </a:t>
            </a:r>
            <a:r>
              <a:rPr lang="fr-FR" dirty="0" err="1"/>
              <a:t>skill</a:t>
            </a:r>
            <a:r>
              <a:rPr lang="fr-FR" dirty="0"/>
              <a:t> </a:t>
            </a:r>
            <a:r>
              <a:rPr lang="fr-FR" dirty="0" err="1"/>
              <a:t>improves</a:t>
            </a:r>
            <a:r>
              <a:rPr lang="fr-FR" dirty="0"/>
              <a:t> </a:t>
            </a:r>
            <a:r>
              <a:rPr lang="fr-FR" dirty="0" err="1"/>
              <a:t>from</a:t>
            </a:r>
            <a:r>
              <a:rPr lang="fr-FR" dirty="0"/>
              <a:t> minus one point </a:t>
            </a:r>
            <a:r>
              <a:rPr lang="fr-FR" dirty="0" err="1"/>
              <a:t>two</a:t>
            </a:r>
            <a:r>
              <a:rPr lang="fr-FR" dirty="0"/>
              <a:t> </a:t>
            </a:r>
            <a:r>
              <a:rPr lang="fr-FR" dirty="0" err="1"/>
              <a:t>seven</a:t>
            </a:r>
            <a:r>
              <a:rPr lang="fr-FR" dirty="0"/>
              <a:t> </a:t>
            </a:r>
            <a:r>
              <a:rPr lang="fr-FR" dirty="0" err="1"/>
              <a:t>eight</a:t>
            </a:r>
            <a:r>
              <a:rPr lang="fr-FR" dirty="0"/>
              <a:t> to minus </a:t>
            </a:r>
            <a:r>
              <a:rPr lang="fr-FR" dirty="0" err="1"/>
              <a:t>zero</a:t>
            </a:r>
            <a:r>
              <a:rPr lang="fr-FR" dirty="0"/>
              <a:t> point six four six at one </a:t>
            </a:r>
            <a:r>
              <a:rPr lang="fr-FR" dirty="0" err="1"/>
              <a:t>week</a:t>
            </a:r>
            <a:r>
              <a:rPr lang="fr-FR" dirty="0"/>
              <a:t>.</a:t>
            </a:r>
          </a:p>
          <a:p>
            <a:r>
              <a:rPr lang="fr-FR" dirty="0"/>
              <a:t>It </a:t>
            </a:r>
            <a:r>
              <a:rPr lang="fr-FR" dirty="0" err="1"/>
              <a:t>is</a:t>
            </a:r>
            <a:r>
              <a:rPr lang="fr-FR" dirty="0"/>
              <a:t> </a:t>
            </a:r>
            <a:r>
              <a:rPr lang="fr-FR" dirty="0" err="1"/>
              <a:t>still</a:t>
            </a:r>
            <a:r>
              <a:rPr lang="fr-FR" dirty="0"/>
              <a:t> </a:t>
            </a:r>
            <a:r>
              <a:rPr lang="fr-FR" dirty="0" err="1"/>
              <a:t>negative</a:t>
            </a:r>
            <a:r>
              <a:rPr lang="fr-FR" dirty="0"/>
              <a:t> </a:t>
            </a:r>
            <a:r>
              <a:rPr lang="fr-FR" dirty="0" err="1"/>
              <a:t>everywhere</a:t>
            </a:r>
            <a:r>
              <a:rPr lang="fr-FR" dirty="0"/>
              <a:t>, and I report </a:t>
            </a:r>
            <a:r>
              <a:rPr lang="fr-FR" dirty="0" err="1"/>
              <a:t>it</a:t>
            </a:r>
            <a:r>
              <a:rPr lang="fr-FR" dirty="0"/>
              <a:t> as </a:t>
            </a:r>
            <a:r>
              <a:rPr lang="fr-FR" dirty="0" err="1"/>
              <a:t>such</a:t>
            </a:r>
            <a:r>
              <a:rPr lang="fr-FR" dirty="0"/>
              <a:t>. On discrimination I claim </a:t>
            </a:r>
            <a:r>
              <a:rPr lang="fr-FR" dirty="0" err="1"/>
              <a:t>nothing</a:t>
            </a:r>
            <a:r>
              <a:rPr lang="fr-FR" dirty="0"/>
              <a:t>: </a:t>
            </a:r>
            <a:r>
              <a:rPr lang="fr-FR" dirty="0" err="1"/>
              <a:t>with</a:t>
            </a:r>
            <a:r>
              <a:rPr lang="fr-FR" dirty="0"/>
              <a:t> </a:t>
            </a:r>
            <a:r>
              <a:rPr lang="fr-FR" dirty="0" err="1"/>
              <a:t>twenty</a:t>
            </a:r>
            <a:r>
              <a:rPr lang="fr-FR" dirty="0"/>
              <a:t>-six positives the </a:t>
            </a:r>
            <a:r>
              <a:rPr lang="fr-FR" dirty="0" err="1"/>
              <a:t>interval</a:t>
            </a:r>
            <a:r>
              <a:rPr lang="fr-FR" dirty="0"/>
              <a:t> </a:t>
            </a:r>
            <a:r>
              <a:rPr lang="fr-FR" dirty="0" err="1"/>
              <a:t>is</a:t>
            </a:r>
            <a:r>
              <a:rPr lang="fr-FR" dirty="0"/>
              <a:t> </a:t>
            </a:r>
            <a:r>
              <a:rPr lang="fr-FR" dirty="0" err="1"/>
              <a:t>too</a:t>
            </a:r>
            <a:r>
              <a:rPr lang="fr-FR" dirty="0"/>
              <a:t> </a:t>
            </a:r>
            <a:r>
              <a:rPr lang="fr-FR" dirty="0" err="1"/>
              <a:t>wide</a:t>
            </a:r>
            <a:r>
              <a:rPr lang="fr-FR" dirty="0"/>
              <a:t> to </a:t>
            </a:r>
            <a:r>
              <a:rPr lang="fr-FR" dirty="0" err="1"/>
              <a:t>read</a:t>
            </a:r>
            <a:r>
              <a:rPr lang="fr-FR" dirty="0"/>
              <a:t>.</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The </a:t>
            </a:r>
            <a:r>
              <a:rPr lang="fr-FR" dirty="0" err="1"/>
              <a:t>third</a:t>
            </a:r>
            <a:r>
              <a:rPr lang="fr-FR" dirty="0"/>
              <a:t> test </a:t>
            </a:r>
            <a:r>
              <a:rPr lang="fr-FR" dirty="0" err="1"/>
              <a:t>is</a:t>
            </a:r>
            <a:r>
              <a:rPr lang="fr-FR" dirty="0"/>
              <a:t> a </a:t>
            </a:r>
            <a:r>
              <a:rPr lang="fr-FR" dirty="0" err="1"/>
              <a:t>negative</a:t>
            </a:r>
            <a:r>
              <a:rPr lang="fr-FR" dirty="0"/>
              <a:t> </a:t>
            </a:r>
            <a:r>
              <a:rPr lang="fr-FR" dirty="0" err="1"/>
              <a:t>result</a:t>
            </a:r>
            <a:r>
              <a:rPr lang="fr-FR" dirty="0"/>
              <a:t>, and </a:t>
            </a:r>
            <a:r>
              <a:rPr lang="fr-FR" dirty="0" err="1"/>
              <a:t>it</a:t>
            </a:r>
            <a:r>
              <a:rPr lang="fr-FR" dirty="0"/>
              <a:t> </a:t>
            </a:r>
            <a:r>
              <a:rPr lang="fr-FR" dirty="0" err="1"/>
              <a:t>is</a:t>
            </a:r>
            <a:r>
              <a:rPr lang="fr-FR" dirty="0"/>
              <a:t> the one I </a:t>
            </a:r>
            <a:r>
              <a:rPr lang="fr-FR" dirty="0" err="1"/>
              <a:t>would</a:t>
            </a:r>
            <a:r>
              <a:rPr lang="fr-FR" dirty="0"/>
              <a:t> </a:t>
            </a:r>
            <a:r>
              <a:rPr lang="fr-FR" dirty="0" err="1"/>
              <a:t>defend</a:t>
            </a:r>
            <a:r>
              <a:rPr lang="fr-FR" dirty="0"/>
              <a:t> </a:t>
            </a:r>
            <a:r>
              <a:rPr lang="fr-FR" dirty="0" err="1"/>
              <a:t>hardest</a:t>
            </a:r>
            <a:endParaRPr lang="fr-FR" dirty="0"/>
          </a:p>
          <a:p>
            <a:endParaRPr lang="fr-FR" dirty="0"/>
          </a:p>
          <a:p>
            <a:r>
              <a:rPr lang="fr-FR" dirty="0"/>
              <a:t>A </a:t>
            </a:r>
            <a:r>
              <a:rPr lang="fr-FR" dirty="0" err="1"/>
              <a:t>result</a:t>
            </a:r>
            <a:r>
              <a:rPr lang="fr-FR" dirty="0"/>
              <a:t> </a:t>
            </a:r>
            <a:r>
              <a:rPr lang="fr-FR" dirty="0" err="1"/>
              <a:t>measured</a:t>
            </a:r>
            <a:r>
              <a:rPr lang="fr-FR" dirty="0"/>
              <a:t> on one scenario </a:t>
            </a:r>
            <a:r>
              <a:rPr lang="fr-FR" dirty="0" err="1"/>
              <a:t>stays</a:t>
            </a:r>
            <a:r>
              <a:rPr lang="fr-FR" dirty="0"/>
              <a:t> a </a:t>
            </a:r>
            <a:r>
              <a:rPr lang="fr-FR" dirty="0" err="1"/>
              <a:t>property</a:t>
            </a:r>
            <a:r>
              <a:rPr lang="fr-FR" dirty="0"/>
              <a:t> of </a:t>
            </a:r>
            <a:r>
              <a:rPr lang="fr-FR" dirty="0" err="1"/>
              <a:t>that</a:t>
            </a:r>
            <a:r>
              <a:rPr lang="fr-FR" dirty="0"/>
              <a:t> scenario. So I </a:t>
            </a:r>
            <a:r>
              <a:rPr lang="fr-FR" dirty="0" err="1"/>
              <a:t>built</a:t>
            </a:r>
            <a:r>
              <a:rPr lang="fr-FR" dirty="0"/>
              <a:t> a second chain: an </a:t>
            </a:r>
            <a:r>
              <a:rPr lang="fr-FR" dirty="0" err="1"/>
              <a:t>airframer's</a:t>
            </a:r>
            <a:r>
              <a:rPr lang="fr-FR" dirty="0"/>
              <a:t> supply base, </a:t>
            </a:r>
            <a:r>
              <a:rPr lang="fr-FR" dirty="0" err="1"/>
              <a:t>fifteen</a:t>
            </a:r>
            <a:r>
              <a:rPr lang="fr-FR" dirty="0"/>
              <a:t> </a:t>
            </a:r>
            <a:r>
              <a:rPr lang="fr-FR" dirty="0" err="1"/>
              <a:t>nodes</a:t>
            </a:r>
            <a:r>
              <a:rPr lang="fr-FR" dirty="0"/>
              <a:t> over five tiers, no </a:t>
            </a:r>
            <a:r>
              <a:rPr lang="fr-FR" dirty="0" err="1"/>
              <a:t>exogenous</a:t>
            </a:r>
            <a:r>
              <a:rPr lang="fr-FR" dirty="0"/>
              <a:t> </a:t>
            </a:r>
            <a:r>
              <a:rPr lang="fr-FR" dirty="0" err="1"/>
              <a:t>events</a:t>
            </a:r>
            <a:r>
              <a:rPr lang="fr-FR" dirty="0"/>
              <a:t>, and </a:t>
            </a:r>
            <a:r>
              <a:rPr lang="fr-FR" dirty="0" err="1"/>
              <a:t>milestone</a:t>
            </a:r>
            <a:r>
              <a:rPr lang="fr-FR" dirty="0"/>
              <a:t> </a:t>
            </a:r>
            <a:r>
              <a:rPr lang="fr-FR" dirty="0" err="1"/>
              <a:t>truth</a:t>
            </a:r>
            <a:r>
              <a:rPr lang="fr-FR" dirty="0"/>
              <a:t> </a:t>
            </a:r>
            <a:r>
              <a:rPr lang="fr-FR" dirty="0" err="1"/>
              <a:t>computed</a:t>
            </a:r>
            <a:r>
              <a:rPr lang="fr-FR" dirty="0"/>
              <a:t> </a:t>
            </a:r>
            <a:r>
              <a:rPr lang="fr-FR" dirty="0" err="1"/>
              <a:t>from</a:t>
            </a:r>
            <a:r>
              <a:rPr lang="fr-FR" dirty="0"/>
              <a:t> the </a:t>
            </a:r>
            <a:r>
              <a:rPr lang="fr-FR" dirty="0" err="1"/>
              <a:t>indicators</a:t>
            </a:r>
            <a:r>
              <a:rPr lang="fr-FR" dirty="0"/>
              <a:t> </a:t>
            </a:r>
            <a:r>
              <a:rPr lang="fr-FR" dirty="0" err="1"/>
              <a:t>rather</a:t>
            </a:r>
            <a:r>
              <a:rPr lang="fr-FR" dirty="0"/>
              <a:t> </a:t>
            </a:r>
            <a:r>
              <a:rPr lang="fr-FR" dirty="0" err="1"/>
              <a:t>than</a:t>
            </a:r>
            <a:r>
              <a:rPr lang="fr-FR" dirty="0"/>
              <a:t> </a:t>
            </a:r>
            <a:r>
              <a:rPr lang="fr-FR" dirty="0" err="1"/>
              <a:t>written</a:t>
            </a:r>
            <a:r>
              <a:rPr lang="fr-FR" dirty="0"/>
              <a:t> by me</a:t>
            </a:r>
          </a:p>
          <a:p>
            <a:endParaRPr lang="fr-FR" dirty="0"/>
          </a:p>
          <a:p>
            <a:r>
              <a:rPr lang="fr-FR" dirty="0"/>
              <a:t>The </a:t>
            </a:r>
            <a:r>
              <a:rPr lang="fr-FR" dirty="0" err="1"/>
              <a:t>adequacy</a:t>
            </a:r>
            <a:r>
              <a:rPr lang="fr-FR" dirty="0"/>
              <a:t> signal scores a </a:t>
            </a:r>
            <a:r>
              <a:rPr lang="fr-FR" dirty="0" err="1"/>
              <a:t>precision</a:t>
            </a:r>
            <a:r>
              <a:rPr lang="fr-FR" dirty="0"/>
              <a:t> of </a:t>
            </a:r>
            <a:r>
              <a:rPr lang="fr-FR" dirty="0" err="1"/>
              <a:t>zero</a:t>
            </a:r>
            <a:r>
              <a:rPr lang="fr-FR" dirty="0"/>
              <a:t> point </a:t>
            </a:r>
            <a:r>
              <a:rPr lang="fr-FR" dirty="0" err="1"/>
              <a:t>zero</a:t>
            </a:r>
            <a:r>
              <a:rPr lang="fr-FR" dirty="0"/>
              <a:t> </a:t>
            </a:r>
            <a:r>
              <a:rPr lang="fr-FR" dirty="0" err="1"/>
              <a:t>zero</a:t>
            </a:r>
            <a:r>
              <a:rPr lang="fr-FR" dirty="0"/>
              <a:t> </a:t>
            </a:r>
            <a:r>
              <a:rPr lang="fr-FR" dirty="0" err="1"/>
              <a:t>across</a:t>
            </a:r>
            <a:r>
              <a:rPr lang="fr-FR" dirty="0"/>
              <a:t> </a:t>
            </a:r>
            <a:r>
              <a:rPr lang="fr-FR" dirty="0" err="1"/>
              <a:t>nineteen</a:t>
            </a:r>
            <a:r>
              <a:rPr lang="fr-FR" dirty="0"/>
              <a:t> </a:t>
            </a:r>
            <a:r>
              <a:rPr lang="fr-FR" dirty="0" err="1"/>
              <a:t>turns</a:t>
            </a:r>
            <a:r>
              <a:rPr lang="fr-FR" dirty="0"/>
              <a:t>, </a:t>
            </a:r>
            <a:r>
              <a:rPr lang="fr-FR" dirty="0" err="1"/>
              <a:t>against</a:t>
            </a:r>
            <a:r>
              <a:rPr lang="fr-FR" dirty="0"/>
              <a:t> a base rate of </a:t>
            </a:r>
            <a:r>
              <a:rPr lang="fr-FR" dirty="0" err="1"/>
              <a:t>zero</a:t>
            </a:r>
            <a:r>
              <a:rPr lang="fr-FR" dirty="0"/>
              <a:t> point </a:t>
            </a:r>
            <a:r>
              <a:rPr lang="fr-FR" dirty="0" err="1"/>
              <a:t>two</a:t>
            </a:r>
            <a:r>
              <a:rPr lang="fr-FR" dirty="0"/>
              <a:t> </a:t>
            </a:r>
            <a:r>
              <a:rPr lang="fr-FR" dirty="0" err="1"/>
              <a:t>zero</a:t>
            </a:r>
            <a:r>
              <a:rPr lang="fr-FR" dirty="0"/>
              <a:t>. </a:t>
            </a:r>
            <a:r>
              <a:rPr lang="fr-FR" dirty="0" err="1"/>
              <a:t>Worse</a:t>
            </a:r>
            <a:r>
              <a:rPr lang="fr-FR" dirty="0"/>
              <a:t> </a:t>
            </a:r>
            <a:r>
              <a:rPr lang="fr-FR" dirty="0" err="1"/>
              <a:t>than</a:t>
            </a:r>
            <a:r>
              <a:rPr lang="fr-FR" dirty="0"/>
              <a:t> chance</a:t>
            </a:r>
          </a:p>
          <a:p>
            <a:endParaRPr lang="fr-FR" dirty="0"/>
          </a:p>
          <a:p>
            <a:r>
              <a:rPr lang="fr-FR" dirty="0"/>
              <a:t>The </a:t>
            </a:r>
            <a:r>
              <a:rPr lang="fr-FR" dirty="0" err="1"/>
              <a:t>only</a:t>
            </a:r>
            <a:r>
              <a:rPr lang="fr-FR" dirty="0"/>
              <a:t> </a:t>
            </a:r>
            <a:r>
              <a:rPr lang="fr-FR" dirty="0" err="1"/>
              <a:t>ranking</a:t>
            </a:r>
            <a:r>
              <a:rPr lang="fr-FR" dirty="0"/>
              <a:t> </a:t>
            </a:r>
            <a:r>
              <a:rPr lang="fr-FR" dirty="0" err="1"/>
              <a:t>that</a:t>
            </a:r>
            <a:r>
              <a:rPr lang="fr-FR" dirty="0"/>
              <a:t> </a:t>
            </a:r>
            <a:r>
              <a:rPr lang="fr-FR" dirty="0" err="1"/>
              <a:t>finds</a:t>
            </a:r>
            <a:r>
              <a:rPr lang="fr-FR" dirty="0"/>
              <a:t> </a:t>
            </a:r>
            <a:r>
              <a:rPr lang="fr-FR" dirty="0" err="1"/>
              <a:t>them</a:t>
            </a:r>
            <a:r>
              <a:rPr lang="fr-FR" dirty="0"/>
              <a:t> at all </a:t>
            </a:r>
            <a:r>
              <a:rPr lang="fr-FR" dirty="0" err="1"/>
              <a:t>is</a:t>
            </a:r>
            <a:r>
              <a:rPr lang="fr-FR" dirty="0"/>
              <a:t> the </a:t>
            </a:r>
            <a:r>
              <a:rPr lang="fr-FR" dirty="0" err="1"/>
              <a:t>forecast</a:t>
            </a:r>
            <a:r>
              <a:rPr lang="fr-FR" dirty="0"/>
              <a:t> </a:t>
            </a:r>
            <a:r>
              <a:rPr lang="fr-FR" dirty="0" err="1"/>
              <a:t>probability</a:t>
            </a:r>
            <a:r>
              <a:rPr lang="fr-FR" dirty="0"/>
              <a:t>, at </a:t>
            </a:r>
            <a:r>
              <a:rPr lang="fr-FR" dirty="0" err="1"/>
              <a:t>zero</a:t>
            </a:r>
            <a:r>
              <a:rPr lang="fr-FR" dirty="0"/>
              <a:t> point five six. The </a:t>
            </a:r>
            <a:r>
              <a:rPr lang="fr-FR" dirty="0" err="1"/>
              <a:t>very</a:t>
            </a:r>
            <a:r>
              <a:rPr lang="fr-FR" dirty="0"/>
              <a:t> layer I have </a:t>
            </a:r>
            <a:r>
              <a:rPr lang="fr-FR" dirty="0" err="1"/>
              <a:t>just</a:t>
            </a:r>
            <a:r>
              <a:rPr lang="fr-FR" dirty="0"/>
              <a:t> </a:t>
            </a:r>
            <a:r>
              <a:rPr lang="fr-FR" dirty="0" err="1"/>
              <a:t>spent</a:t>
            </a:r>
            <a:r>
              <a:rPr lang="fr-FR" dirty="0"/>
              <a:t> </a:t>
            </a:r>
            <a:r>
              <a:rPr lang="fr-FR" dirty="0" err="1"/>
              <a:t>two</a:t>
            </a:r>
            <a:r>
              <a:rPr lang="fr-FR" dirty="0"/>
              <a:t> minutes </a:t>
            </a:r>
            <a:r>
              <a:rPr lang="fr-FR" dirty="0" err="1"/>
              <a:t>criticising</a:t>
            </a:r>
            <a:endParaRPr lang="fr-FR" dirty="0"/>
          </a:p>
          <a:p>
            <a:endParaRPr lang="fr-FR" dirty="0"/>
          </a:p>
          <a:p>
            <a:pPr lvl="0"/>
            <a:r>
              <a:rPr lang="fr-FR" i="1" dirty="0"/>
              <a:t>The </a:t>
            </a:r>
            <a:r>
              <a:rPr lang="fr-FR" i="1" dirty="0" err="1"/>
              <a:t>reason</a:t>
            </a:r>
            <a:r>
              <a:rPr lang="fr-FR" i="1" dirty="0"/>
              <a:t> </a:t>
            </a:r>
            <a:r>
              <a:rPr lang="fr-FR" i="1" dirty="0" err="1"/>
              <a:t>is</a:t>
            </a:r>
            <a:r>
              <a:rPr lang="fr-FR" i="1" dirty="0"/>
              <a:t> in the </a:t>
            </a:r>
            <a:r>
              <a:rPr lang="fr-FR" i="1" dirty="0" err="1"/>
              <a:t>opening</a:t>
            </a:r>
            <a:r>
              <a:rPr lang="fr-FR" i="1" dirty="0"/>
              <a:t> </a:t>
            </a:r>
            <a:r>
              <a:rPr lang="fr-FR" i="1" dirty="0" err="1"/>
              <a:t>turn</a:t>
            </a:r>
            <a:r>
              <a:rPr lang="fr-FR" i="1" dirty="0"/>
              <a:t>. The </a:t>
            </a:r>
            <a:r>
              <a:rPr lang="fr-FR" i="1" dirty="0" err="1"/>
              <a:t>three</a:t>
            </a:r>
            <a:r>
              <a:rPr lang="fr-FR" i="1" dirty="0"/>
              <a:t> </a:t>
            </a:r>
            <a:r>
              <a:rPr lang="fr-FR" i="1" dirty="0" err="1"/>
              <a:t>suppliers</a:t>
            </a:r>
            <a:r>
              <a:rPr lang="fr-FR" i="1" dirty="0"/>
              <a:t> </a:t>
            </a:r>
            <a:r>
              <a:rPr lang="fr-FR" i="1" dirty="0" err="1"/>
              <a:t>that</a:t>
            </a:r>
            <a:r>
              <a:rPr lang="fr-FR" i="1" dirty="0"/>
              <a:t> go on to miss </a:t>
            </a:r>
            <a:r>
              <a:rPr lang="fr-FR" i="1" dirty="0" err="1"/>
              <a:t>declare</a:t>
            </a:r>
            <a:r>
              <a:rPr lang="fr-FR" i="1" dirty="0"/>
              <a:t> the first, second and </a:t>
            </a:r>
            <a:r>
              <a:rPr lang="fr-FR" i="1" dirty="0" err="1"/>
              <a:t>fourth</a:t>
            </a:r>
            <a:r>
              <a:rPr lang="fr-FR" i="1" dirty="0"/>
              <a:t> </a:t>
            </a:r>
            <a:r>
              <a:rPr lang="fr-FR" i="1" dirty="0" err="1"/>
              <a:t>highest</a:t>
            </a:r>
            <a:r>
              <a:rPr lang="fr-FR" i="1" dirty="0"/>
              <a:t> </a:t>
            </a:r>
            <a:r>
              <a:rPr lang="fr-FR" i="1" dirty="0" err="1"/>
              <a:t>urgencies</a:t>
            </a:r>
            <a:r>
              <a:rPr lang="fr-FR" i="1" dirty="0"/>
              <a:t> in the chain, </a:t>
            </a:r>
            <a:r>
              <a:rPr lang="fr-FR" i="1" dirty="0" err="1"/>
              <a:t>before</a:t>
            </a:r>
            <a:r>
              <a:rPr lang="fr-FR" i="1" dirty="0"/>
              <a:t> </a:t>
            </a:r>
            <a:r>
              <a:rPr lang="fr-FR" i="1" dirty="0" err="1"/>
              <a:t>anything</a:t>
            </a:r>
            <a:r>
              <a:rPr lang="fr-FR" i="1" dirty="0"/>
              <a:t> has </a:t>
            </a:r>
            <a:r>
              <a:rPr lang="fr-FR" i="1" dirty="0" err="1"/>
              <a:t>visibly</a:t>
            </a:r>
            <a:r>
              <a:rPr lang="fr-FR" i="1" dirty="0"/>
              <a:t> gone </a:t>
            </a:r>
            <a:r>
              <a:rPr lang="fr-FR" i="1" dirty="0" err="1"/>
              <a:t>wrong</a:t>
            </a:r>
            <a:r>
              <a:rPr lang="fr-FR" i="1" dirty="0"/>
              <a:t>."</a:t>
            </a:r>
            <a:endParaRPr lang="fr-FR" dirty="0"/>
          </a:p>
          <a:p>
            <a:pPr lvl="0"/>
            <a:r>
              <a:rPr lang="fr-FR" i="1" dirty="0"/>
              <a:t>"Hidden </a:t>
            </a:r>
            <a:r>
              <a:rPr lang="fr-FR" i="1" dirty="0" err="1"/>
              <a:t>risk</a:t>
            </a:r>
            <a:r>
              <a:rPr lang="fr-FR" i="1" dirty="0"/>
              <a:t> </a:t>
            </a:r>
            <a:r>
              <a:rPr lang="fr-FR" i="1" dirty="0" err="1"/>
              <a:t>is</a:t>
            </a:r>
            <a:r>
              <a:rPr lang="fr-FR" i="1" dirty="0"/>
              <a:t> the positive part of </a:t>
            </a:r>
            <a:r>
              <a:rPr lang="fr-FR" i="1" dirty="0" err="1"/>
              <a:t>computed</a:t>
            </a:r>
            <a:r>
              <a:rPr lang="fr-FR" i="1" dirty="0"/>
              <a:t> minus </a:t>
            </a:r>
            <a:r>
              <a:rPr lang="fr-FR" i="1" dirty="0" err="1"/>
              <a:t>declared</a:t>
            </a:r>
            <a:r>
              <a:rPr lang="fr-FR" i="1" dirty="0"/>
              <a:t>, </a:t>
            </a:r>
            <a:r>
              <a:rPr lang="fr-FR" i="1" dirty="0" err="1"/>
              <a:t>so</a:t>
            </a:r>
            <a:r>
              <a:rPr lang="fr-FR" i="1" dirty="0"/>
              <a:t> </a:t>
            </a:r>
            <a:r>
              <a:rPr lang="fr-FR" i="1" dirty="0" err="1"/>
              <a:t>when</a:t>
            </a:r>
            <a:r>
              <a:rPr lang="fr-FR" i="1" dirty="0"/>
              <a:t> the </a:t>
            </a:r>
            <a:r>
              <a:rPr lang="fr-FR" i="1" dirty="0" err="1"/>
              <a:t>declaration</a:t>
            </a:r>
            <a:r>
              <a:rPr lang="fr-FR" i="1" dirty="0"/>
              <a:t> </a:t>
            </a:r>
            <a:r>
              <a:rPr lang="fr-FR" i="1" dirty="0" err="1"/>
              <a:t>is</a:t>
            </a:r>
            <a:r>
              <a:rPr lang="fr-FR" i="1" dirty="0"/>
              <a:t> the </a:t>
            </a:r>
            <a:r>
              <a:rPr lang="fr-FR" i="1" dirty="0" err="1"/>
              <a:t>higher</a:t>
            </a:r>
            <a:r>
              <a:rPr lang="fr-FR" i="1" dirty="0"/>
              <a:t> of the </a:t>
            </a:r>
            <a:r>
              <a:rPr lang="fr-FR" i="1" dirty="0" err="1"/>
              <a:t>two</a:t>
            </a:r>
            <a:r>
              <a:rPr lang="fr-FR" i="1" dirty="0"/>
              <a:t>, </a:t>
            </a:r>
            <a:r>
              <a:rPr lang="fr-FR" i="1" dirty="0" err="1"/>
              <a:t>it</a:t>
            </a:r>
            <a:r>
              <a:rPr lang="fr-FR" i="1" dirty="0"/>
              <a:t> clips to </a:t>
            </a:r>
            <a:r>
              <a:rPr lang="fr-FR" i="1" dirty="0" err="1"/>
              <a:t>zero</a:t>
            </a:r>
            <a:r>
              <a:rPr lang="fr-FR" i="1" dirty="0"/>
              <a:t>."</a:t>
            </a:r>
            <a:endParaRPr lang="fr-FR" dirty="0"/>
          </a:p>
          <a:p>
            <a:pPr lvl="0"/>
            <a:r>
              <a:rPr lang="fr-FR" i="1" dirty="0"/>
              <a:t>"</a:t>
            </a:r>
            <a:r>
              <a:rPr lang="fr-FR" i="1" dirty="0" err="1"/>
              <a:t>Their</a:t>
            </a:r>
            <a:r>
              <a:rPr lang="fr-FR" i="1" dirty="0"/>
              <a:t> </a:t>
            </a:r>
            <a:r>
              <a:rPr lang="fr-FR" i="1" dirty="0" err="1"/>
              <a:t>hidden</a:t>
            </a:r>
            <a:r>
              <a:rPr lang="fr-FR" i="1" dirty="0"/>
              <a:t> </a:t>
            </a:r>
            <a:r>
              <a:rPr lang="fr-FR" i="1" dirty="0" err="1"/>
              <a:t>risk</a:t>
            </a:r>
            <a:r>
              <a:rPr lang="fr-FR" i="1" dirty="0"/>
              <a:t> </a:t>
            </a:r>
            <a:r>
              <a:rPr lang="fr-FR" i="1" dirty="0" err="1"/>
              <a:t>is</a:t>
            </a:r>
            <a:r>
              <a:rPr lang="fr-FR" i="1" dirty="0"/>
              <a:t> </a:t>
            </a:r>
            <a:r>
              <a:rPr lang="fr-FR" i="1" dirty="0" err="1"/>
              <a:t>exactly</a:t>
            </a:r>
            <a:r>
              <a:rPr lang="fr-FR" i="1" dirty="0"/>
              <a:t> </a:t>
            </a:r>
            <a:r>
              <a:rPr lang="fr-FR" i="1" dirty="0" err="1"/>
              <a:t>zero</a:t>
            </a:r>
            <a:r>
              <a:rPr lang="fr-FR" i="1" dirty="0"/>
              <a:t> for </a:t>
            </a:r>
            <a:r>
              <a:rPr lang="fr-FR" i="1" dirty="0" err="1"/>
              <a:t>nineteen</a:t>
            </a:r>
            <a:r>
              <a:rPr lang="fr-FR" i="1" dirty="0"/>
              <a:t> </a:t>
            </a:r>
            <a:r>
              <a:rPr lang="fr-FR" i="1" dirty="0" err="1"/>
              <a:t>turns</a:t>
            </a:r>
            <a:r>
              <a:rPr lang="fr-FR" i="1" dirty="0"/>
              <a:t>, and no </a:t>
            </a:r>
            <a:r>
              <a:rPr lang="fr-FR" i="1" dirty="0" err="1"/>
              <a:t>threshold</a:t>
            </a:r>
            <a:r>
              <a:rPr lang="fr-FR" i="1" dirty="0"/>
              <a:t> </a:t>
            </a:r>
            <a:r>
              <a:rPr lang="fr-FR" i="1" dirty="0" err="1"/>
              <a:t>could</a:t>
            </a:r>
            <a:r>
              <a:rPr lang="fr-FR" i="1" dirty="0"/>
              <a:t> have </a:t>
            </a:r>
            <a:r>
              <a:rPr lang="fr-FR" i="1" dirty="0" err="1"/>
              <a:t>selected</a:t>
            </a:r>
            <a:r>
              <a:rPr lang="fr-FR" i="1" dirty="0"/>
              <a:t> </a:t>
            </a:r>
            <a:r>
              <a:rPr lang="fr-FR" i="1" dirty="0" err="1"/>
              <a:t>them</a:t>
            </a:r>
            <a:r>
              <a:rPr lang="fr-FR" i="1" dirty="0"/>
              <a:t>."</a:t>
            </a:r>
            <a:endParaRPr lang="fr-FR" dirty="0"/>
          </a:p>
          <a:p>
            <a:endParaRPr lang="en-US" dirty="0"/>
          </a:p>
          <a:p>
            <a:r>
              <a:rPr lang="fr-FR" dirty="0"/>
              <a:t>The free </a:t>
            </a:r>
            <a:r>
              <a:rPr lang="fr-FR" dirty="0" err="1"/>
              <a:t>text</a:t>
            </a:r>
            <a:r>
              <a:rPr lang="fr-FR" dirty="0"/>
              <a:t> </a:t>
            </a:r>
            <a:r>
              <a:rPr lang="fr-FR" dirty="0" err="1"/>
              <a:t>says</a:t>
            </a:r>
            <a:r>
              <a:rPr lang="fr-FR" dirty="0"/>
              <a:t> </a:t>
            </a:r>
            <a:r>
              <a:rPr lang="fr-FR" dirty="0" err="1"/>
              <a:t>why</a:t>
            </a:r>
            <a:r>
              <a:rPr lang="fr-FR" dirty="0"/>
              <a:t>: all </a:t>
            </a:r>
            <a:r>
              <a:rPr lang="fr-FR" dirty="0" err="1"/>
              <a:t>three</a:t>
            </a:r>
            <a:r>
              <a:rPr lang="fr-FR" dirty="0"/>
              <a:t> </a:t>
            </a:r>
            <a:r>
              <a:rPr lang="fr-FR" dirty="0" err="1"/>
              <a:t>intend</a:t>
            </a:r>
            <a:r>
              <a:rPr lang="fr-FR" dirty="0"/>
              <a:t> to </a:t>
            </a:r>
            <a:r>
              <a:rPr lang="fr-FR" dirty="0" err="1"/>
              <a:t>delay</a:t>
            </a:r>
            <a:r>
              <a:rPr lang="fr-FR" dirty="0"/>
              <a:t> </a:t>
            </a:r>
            <a:r>
              <a:rPr lang="fr-FR" dirty="0" err="1"/>
              <a:t>informing</a:t>
            </a:r>
            <a:r>
              <a:rPr lang="fr-FR" dirty="0"/>
              <a:t> </a:t>
            </a:r>
            <a:r>
              <a:rPr lang="fr-FR" dirty="0" err="1"/>
              <a:t>their</a:t>
            </a:r>
            <a:r>
              <a:rPr lang="fr-FR" dirty="0"/>
              <a:t> </a:t>
            </a:r>
            <a:r>
              <a:rPr lang="fr-FR" dirty="0" err="1"/>
              <a:t>customer</a:t>
            </a:r>
            <a:r>
              <a:rPr lang="fr-FR" dirty="0"/>
              <a:t> </a:t>
            </a:r>
            <a:r>
              <a:rPr lang="fr-FR" dirty="0" err="1"/>
              <a:t>until</a:t>
            </a:r>
            <a:r>
              <a:rPr lang="fr-FR" dirty="0"/>
              <a:t> </a:t>
            </a:r>
            <a:r>
              <a:rPr lang="fr-FR" dirty="0" err="1"/>
              <a:t>they</a:t>
            </a:r>
            <a:r>
              <a:rPr lang="fr-FR" dirty="0"/>
              <a:t> have a </a:t>
            </a:r>
            <a:r>
              <a:rPr lang="fr-FR" dirty="0" err="1"/>
              <a:t>recovery</a:t>
            </a:r>
            <a:r>
              <a:rPr lang="fr-FR" dirty="0"/>
              <a:t> plan.« </a:t>
            </a:r>
          </a:p>
          <a:p>
            <a:endParaRPr lang="fr-FR" dirty="0"/>
          </a:p>
          <a:p>
            <a:pPr lvl="0"/>
            <a:r>
              <a:rPr lang="fr-FR" i="1" dirty="0"/>
              <a:t>So </a:t>
            </a:r>
            <a:r>
              <a:rPr lang="fr-FR" i="1" dirty="0" err="1"/>
              <a:t>here</a:t>
            </a:r>
            <a:r>
              <a:rPr lang="fr-FR" i="1" dirty="0"/>
              <a:t> </a:t>
            </a:r>
            <a:r>
              <a:rPr lang="fr-FR" i="1" dirty="0" err="1"/>
              <a:t>is</a:t>
            </a:r>
            <a:r>
              <a:rPr lang="fr-FR" i="1" dirty="0"/>
              <a:t> the </a:t>
            </a:r>
            <a:r>
              <a:rPr lang="fr-FR" i="1" dirty="0" err="1"/>
              <a:t>boundary</a:t>
            </a:r>
            <a:r>
              <a:rPr lang="fr-FR" i="1" dirty="0"/>
              <a:t>, and </a:t>
            </a:r>
            <a:r>
              <a:rPr lang="fr-FR" i="1" dirty="0" err="1"/>
              <a:t>it</a:t>
            </a:r>
            <a:r>
              <a:rPr lang="fr-FR" i="1" dirty="0"/>
              <a:t> </a:t>
            </a:r>
            <a:r>
              <a:rPr lang="fr-FR" i="1" dirty="0" err="1"/>
              <a:t>is</a:t>
            </a:r>
            <a:r>
              <a:rPr lang="fr-FR" i="1" dirty="0"/>
              <a:t> the contribution I </a:t>
            </a:r>
            <a:r>
              <a:rPr lang="fr-FR" i="1" dirty="0" err="1"/>
              <a:t>would</a:t>
            </a:r>
            <a:r>
              <a:rPr lang="fr-FR" i="1" dirty="0"/>
              <a:t> put first."</a:t>
            </a:r>
            <a:endParaRPr lang="fr-FR" dirty="0"/>
          </a:p>
          <a:p>
            <a:pPr lvl="0"/>
            <a:r>
              <a:rPr lang="fr-FR" i="1" dirty="0"/>
              <a:t>"The </a:t>
            </a:r>
            <a:r>
              <a:rPr lang="fr-FR" i="1" dirty="0" err="1"/>
              <a:t>tool</a:t>
            </a:r>
            <a:r>
              <a:rPr lang="fr-FR" i="1" dirty="0"/>
              <a:t> </a:t>
            </a:r>
            <a:r>
              <a:rPr lang="fr-FR" i="1" dirty="0" err="1"/>
              <a:t>measures</a:t>
            </a:r>
            <a:r>
              <a:rPr lang="fr-FR" i="1" dirty="0"/>
              <a:t> </a:t>
            </a:r>
            <a:r>
              <a:rPr lang="fr-FR" i="1" dirty="0" err="1"/>
              <a:t>misperception</a:t>
            </a:r>
            <a:r>
              <a:rPr lang="fr-FR" i="1" dirty="0"/>
              <a:t>, not non-</a:t>
            </a:r>
            <a:r>
              <a:rPr lang="fr-FR" i="1" dirty="0" err="1"/>
              <a:t>disclosure</a:t>
            </a:r>
            <a:r>
              <a:rPr lang="fr-FR" i="1" dirty="0"/>
              <a:t>."</a:t>
            </a:r>
            <a:endParaRPr lang="fr-FR" dirty="0"/>
          </a:p>
          <a:p>
            <a:pPr lvl="0"/>
            <a:r>
              <a:rPr lang="fr-FR" i="1" dirty="0"/>
              <a:t>"It </a:t>
            </a:r>
            <a:r>
              <a:rPr lang="fr-FR" i="1" dirty="0" err="1"/>
              <a:t>finds</a:t>
            </a:r>
            <a:r>
              <a:rPr lang="fr-FR" i="1" dirty="0"/>
              <a:t> the supplier </a:t>
            </a:r>
            <a:r>
              <a:rPr lang="fr-FR" i="1" dirty="0" err="1"/>
              <a:t>who</a:t>
            </a:r>
            <a:r>
              <a:rPr lang="fr-FR" i="1" dirty="0"/>
              <a:t> has </a:t>
            </a:r>
            <a:r>
              <a:rPr lang="fr-FR" i="1" dirty="0" err="1"/>
              <a:t>misread</a:t>
            </a:r>
            <a:r>
              <a:rPr lang="fr-FR" i="1" dirty="0"/>
              <a:t> </a:t>
            </a:r>
            <a:r>
              <a:rPr lang="fr-FR" i="1" dirty="0" err="1"/>
              <a:t>their</a:t>
            </a:r>
            <a:r>
              <a:rPr lang="fr-FR" i="1" dirty="0"/>
              <a:t> </a:t>
            </a:r>
            <a:r>
              <a:rPr lang="fr-FR" i="1" dirty="0" err="1"/>
              <a:t>own</a:t>
            </a:r>
            <a:r>
              <a:rPr lang="fr-FR" i="1" dirty="0"/>
              <a:t> situation. It </a:t>
            </a:r>
            <a:r>
              <a:rPr lang="fr-FR" i="1" dirty="0" err="1"/>
              <a:t>cannot</a:t>
            </a:r>
            <a:r>
              <a:rPr lang="fr-FR" i="1" dirty="0"/>
              <a:t> </a:t>
            </a:r>
            <a:r>
              <a:rPr lang="fr-FR" i="1" dirty="0" err="1"/>
              <a:t>find</a:t>
            </a:r>
            <a:r>
              <a:rPr lang="fr-FR" i="1" dirty="0"/>
              <a:t> the one </a:t>
            </a:r>
            <a:r>
              <a:rPr lang="fr-FR" i="1" dirty="0" err="1"/>
              <a:t>who</a:t>
            </a:r>
            <a:r>
              <a:rPr lang="fr-FR" i="1" dirty="0"/>
              <a:t> has </a:t>
            </a:r>
            <a:r>
              <a:rPr lang="fr-FR" i="1" dirty="0" err="1"/>
              <a:t>read</a:t>
            </a:r>
            <a:r>
              <a:rPr lang="fr-FR" i="1" dirty="0"/>
              <a:t> </a:t>
            </a:r>
            <a:r>
              <a:rPr lang="fr-FR" i="1" dirty="0" err="1"/>
              <a:t>it</a:t>
            </a:r>
            <a:r>
              <a:rPr lang="fr-FR" i="1" dirty="0"/>
              <a:t> </a:t>
            </a:r>
            <a:r>
              <a:rPr lang="fr-FR" i="1" dirty="0" err="1"/>
              <a:t>correctly</a:t>
            </a:r>
            <a:r>
              <a:rPr lang="fr-FR" i="1" dirty="0"/>
              <a:t> and </a:t>
            </a:r>
            <a:r>
              <a:rPr lang="fr-FR" i="1" dirty="0" err="1"/>
              <a:t>is</a:t>
            </a:r>
            <a:r>
              <a:rPr lang="fr-FR" i="1" dirty="0"/>
              <a:t> </a:t>
            </a:r>
            <a:r>
              <a:rPr lang="fr-FR" i="1" dirty="0" err="1"/>
              <a:t>managing</a:t>
            </a:r>
            <a:r>
              <a:rPr lang="fr-FR" i="1" dirty="0"/>
              <a:t> </a:t>
            </a:r>
            <a:r>
              <a:rPr lang="fr-FR" i="1" dirty="0" err="1"/>
              <a:t>what</a:t>
            </a:r>
            <a:r>
              <a:rPr lang="fr-FR" i="1" dirty="0"/>
              <a:t> </a:t>
            </a:r>
            <a:r>
              <a:rPr lang="fr-FR" i="1" dirty="0" err="1"/>
              <a:t>they</a:t>
            </a:r>
            <a:r>
              <a:rPr lang="fr-FR" i="1" dirty="0"/>
              <a:t> </a:t>
            </a:r>
            <a:r>
              <a:rPr lang="fr-FR" i="1" dirty="0" err="1"/>
              <a:t>say</a:t>
            </a:r>
            <a:r>
              <a:rPr lang="fr-FR" i="1" dirty="0"/>
              <a:t>."</a:t>
            </a:r>
            <a:endParaRPr lang="fr-FR" dirty="0"/>
          </a:p>
          <a:p>
            <a:pPr lvl="0"/>
            <a:r>
              <a:rPr lang="fr-FR" i="1" dirty="0"/>
              <a:t>"</a:t>
            </a:r>
            <a:r>
              <a:rPr lang="fr-FR" i="1" dirty="0" err="1"/>
              <a:t>Precision</a:t>
            </a:r>
            <a:r>
              <a:rPr lang="fr-FR" i="1" dirty="0"/>
              <a:t> one on the first chain and </a:t>
            </a:r>
            <a:r>
              <a:rPr lang="fr-FR" i="1" dirty="0" err="1"/>
              <a:t>zero</a:t>
            </a:r>
            <a:r>
              <a:rPr lang="fr-FR" i="1" dirty="0"/>
              <a:t> on the second do not </a:t>
            </a:r>
            <a:r>
              <a:rPr lang="fr-FR" i="1" dirty="0" err="1"/>
              <a:t>contradict</a:t>
            </a:r>
            <a:r>
              <a:rPr lang="fr-FR" i="1" dirty="0"/>
              <a:t>. </a:t>
            </a:r>
            <a:r>
              <a:rPr lang="fr-FR" i="1" dirty="0" err="1"/>
              <a:t>Together</a:t>
            </a:r>
            <a:r>
              <a:rPr lang="fr-FR" i="1" dirty="0"/>
              <a:t> </a:t>
            </a:r>
            <a:r>
              <a:rPr lang="fr-FR" i="1" dirty="0" err="1"/>
              <a:t>they</a:t>
            </a:r>
            <a:r>
              <a:rPr lang="fr-FR" i="1" dirty="0"/>
              <a:t> </a:t>
            </a:r>
            <a:r>
              <a:rPr lang="fr-FR" i="1" dirty="0" err="1"/>
              <a:t>name</a:t>
            </a:r>
            <a:r>
              <a:rPr lang="fr-FR" i="1" dirty="0"/>
              <a:t> the </a:t>
            </a:r>
            <a:r>
              <a:rPr lang="fr-FR" i="1" dirty="0" err="1"/>
              <a:t>domain</a:t>
            </a:r>
            <a:r>
              <a:rPr lang="fr-FR" i="1" dirty="0"/>
              <a:t>."</a:t>
            </a:r>
            <a:endParaRPr lang="fr-FR" dirty="0"/>
          </a:p>
          <a:p>
            <a:endParaRPr lang="en-US" dirty="0"/>
          </a:p>
          <a:p>
            <a:pPr lvl="0"/>
            <a:r>
              <a:rPr lang="fr-FR" i="1" dirty="0"/>
              <a:t>"On the right, the </a:t>
            </a:r>
            <a:r>
              <a:rPr lang="fr-FR" i="1" dirty="0" err="1"/>
              <a:t>fourth</a:t>
            </a:r>
            <a:r>
              <a:rPr lang="fr-FR" i="1" dirty="0"/>
              <a:t> test. I </a:t>
            </a:r>
            <a:r>
              <a:rPr lang="fr-FR" i="1" dirty="0" err="1"/>
              <a:t>wrote</a:t>
            </a:r>
            <a:r>
              <a:rPr lang="fr-FR" i="1" dirty="0"/>
              <a:t> the </a:t>
            </a:r>
            <a:r>
              <a:rPr lang="fr-FR" i="1" dirty="0" err="1"/>
              <a:t>cheapest</a:t>
            </a:r>
            <a:r>
              <a:rPr lang="fr-FR" i="1" dirty="0"/>
              <a:t> </a:t>
            </a:r>
            <a:r>
              <a:rPr lang="fr-FR" i="1" dirty="0" err="1"/>
              <a:t>thing</a:t>
            </a:r>
            <a:r>
              <a:rPr lang="fr-FR" i="1" dirty="0"/>
              <a:t> </a:t>
            </a:r>
            <a:r>
              <a:rPr lang="fr-FR" i="1" dirty="0" err="1"/>
              <a:t>that</a:t>
            </a:r>
            <a:r>
              <a:rPr lang="fr-FR" i="1" dirty="0"/>
              <a:t> </a:t>
            </a:r>
            <a:r>
              <a:rPr lang="fr-FR" i="1" dirty="0" err="1"/>
              <a:t>could</a:t>
            </a:r>
            <a:r>
              <a:rPr lang="fr-FR" i="1" dirty="0"/>
              <a:t> replace the </a:t>
            </a:r>
            <a:r>
              <a:rPr lang="fr-FR" i="1" dirty="0" err="1"/>
              <a:t>forecast</a:t>
            </a:r>
            <a:r>
              <a:rPr lang="fr-FR" i="1" dirty="0"/>
              <a:t> layer, a </a:t>
            </a:r>
            <a:r>
              <a:rPr lang="fr-FR" i="1" dirty="0" err="1"/>
              <a:t>two-number</a:t>
            </a:r>
            <a:r>
              <a:rPr lang="fr-FR" i="1" dirty="0"/>
              <a:t> ratio of </a:t>
            </a:r>
            <a:r>
              <a:rPr lang="fr-FR" i="1" dirty="0" err="1"/>
              <a:t>weeks</a:t>
            </a:r>
            <a:r>
              <a:rPr lang="fr-FR" i="1" dirty="0"/>
              <a:t> </a:t>
            </a:r>
            <a:r>
              <a:rPr lang="fr-FR" i="1" dirty="0" err="1"/>
              <a:t>remaining</a:t>
            </a:r>
            <a:r>
              <a:rPr lang="fr-FR" i="1" dirty="0"/>
              <a:t> to </a:t>
            </a:r>
            <a:r>
              <a:rPr lang="fr-FR" i="1" dirty="0" err="1"/>
              <a:t>weeks</a:t>
            </a:r>
            <a:r>
              <a:rPr lang="fr-FR" i="1" dirty="0"/>
              <a:t> </a:t>
            </a:r>
            <a:r>
              <a:rPr lang="fr-FR" i="1" dirty="0" err="1"/>
              <a:t>required</a:t>
            </a:r>
            <a:r>
              <a:rPr lang="fr-FR" i="1" dirty="0"/>
              <a:t>, and </a:t>
            </a:r>
            <a:r>
              <a:rPr lang="fr-FR" i="1" dirty="0" err="1"/>
              <a:t>it</a:t>
            </a:r>
            <a:r>
              <a:rPr lang="fr-FR" i="1" dirty="0"/>
              <a:t> beats five </a:t>
            </a:r>
            <a:r>
              <a:rPr lang="fr-FR" i="1" dirty="0" err="1"/>
              <a:t>hundred</a:t>
            </a:r>
            <a:r>
              <a:rPr lang="fr-FR" i="1" dirty="0"/>
              <a:t> Monte Carlo </a:t>
            </a:r>
            <a:r>
              <a:rPr lang="fr-FR" i="1" dirty="0" err="1"/>
              <a:t>trajectories</a:t>
            </a:r>
            <a:r>
              <a:rPr lang="fr-FR" i="1" dirty="0"/>
              <a:t> at six horizons of </a:t>
            </a:r>
            <a:r>
              <a:rPr lang="fr-FR" i="1" dirty="0" err="1"/>
              <a:t>eight</a:t>
            </a:r>
            <a:r>
              <a:rPr lang="fr-FR" i="1" dirty="0"/>
              <a:t>."</a:t>
            </a:r>
            <a:endParaRPr lang="fr-FR" dirty="0"/>
          </a:p>
          <a:p>
            <a:pPr lvl="0"/>
            <a:r>
              <a:rPr lang="fr-FR" i="1" dirty="0"/>
              <a:t>"</a:t>
            </a:r>
            <a:r>
              <a:rPr lang="fr-FR" i="1" dirty="0" err="1"/>
              <a:t>What</a:t>
            </a:r>
            <a:r>
              <a:rPr lang="fr-FR" i="1" dirty="0"/>
              <a:t> the simulation </a:t>
            </a:r>
            <a:r>
              <a:rPr lang="fr-FR" i="1" dirty="0" err="1"/>
              <a:t>buys</a:t>
            </a:r>
            <a:r>
              <a:rPr lang="fr-FR" i="1" dirty="0"/>
              <a:t> </a:t>
            </a:r>
            <a:r>
              <a:rPr lang="fr-FR" i="1" dirty="0" err="1"/>
              <a:t>is</a:t>
            </a:r>
            <a:r>
              <a:rPr lang="fr-FR" i="1" dirty="0"/>
              <a:t> calibration: minus one point six </a:t>
            </a:r>
            <a:r>
              <a:rPr lang="fr-FR" i="1" dirty="0" err="1"/>
              <a:t>against</a:t>
            </a:r>
            <a:r>
              <a:rPr lang="fr-FR" i="1" dirty="0"/>
              <a:t> minus four point </a:t>
            </a:r>
            <a:r>
              <a:rPr lang="fr-FR" i="1" dirty="0" err="1"/>
              <a:t>eight</a:t>
            </a:r>
            <a:r>
              <a:rPr lang="fr-FR" i="1" dirty="0"/>
              <a:t> five."</a:t>
            </a:r>
            <a:endParaRPr lang="fr-FR" dirty="0"/>
          </a:p>
          <a:p>
            <a:pPr lvl="0"/>
            <a:r>
              <a:rPr lang="fr-FR" i="1" dirty="0"/>
              <a:t>"On </a:t>
            </a:r>
            <a:r>
              <a:rPr lang="fr-FR" i="1" dirty="0" err="1"/>
              <a:t>this</a:t>
            </a:r>
            <a:r>
              <a:rPr lang="fr-FR" i="1" dirty="0"/>
              <a:t> chain, the </a:t>
            </a:r>
            <a:r>
              <a:rPr lang="fr-FR" i="1" dirty="0" err="1"/>
              <a:t>forecast</a:t>
            </a:r>
            <a:r>
              <a:rPr lang="fr-FR" i="1" dirty="0"/>
              <a:t> layer </a:t>
            </a:r>
            <a:r>
              <a:rPr lang="fr-FR" i="1" dirty="0" err="1"/>
              <a:t>is</a:t>
            </a:r>
            <a:r>
              <a:rPr lang="fr-FR" i="1" dirty="0"/>
              <a:t> a calibration </a:t>
            </a:r>
            <a:r>
              <a:rPr lang="fr-FR" i="1" dirty="0" err="1"/>
              <a:t>wrapper</a:t>
            </a:r>
            <a:r>
              <a:rPr lang="fr-FR" i="1" dirty="0"/>
              <a:t> </a:t>
            </a:r>
            <a:r>
              <a:rPr lang="fr-FR" i="1" dirty="0" err="1"/>
              <a:t>around</a:t>
            </a:r>
            <a:r>
              <a:rPr lang="fr-FR" i="1" dirty="0"/>
              <a:t> a lead-time ratio."</a:t>
            </a:r>
            <a:endParaRPr lang="fr-FR" dirty="0"/>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FF680-72B0-DC1C-7C3A-197B480F8D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9674BD-CF21-A538-4309-6480F51B2E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EF73ED-3DCC-BE8A-9F88-90B32A4E49D3}"/>
              </a:ext>
            </a:extLst>
          </p:cNvPr>
          <p:cNvSpPr>
            <a:spLocks noGrp="1"/>
          </p:cNvSpPr>
          <p:nvPr>
            <p:ph type="body" idx="1"/>
          </p:nvPr>
        </p:nvSpPr>
        <p:spPr/>
        <p:txBody>
          <a:bodyPr/>
          <a:lstStyle/>
          <a:p>
            <a:r>
              <a:rPr lang="en-US" dirty="0"/>
              <a:t>This </a:t>
            </a:r>
            <a:r>
              <a:rPr lang="en-US" dirty="0" err="1"/>
              <a:t>prez</a:t>
            </a:r>
            <a:r>
              <a:rPr lang="en-US" dirty="0"/>
              <a:t> will be in 5 parts ! </a:t>
            </a:r>
          </a:p>
          <a:p>
            <a:r>
              <a:rPr lang="fr-FR" dirty="0"/>
              <a:t>The first </a:t>
            </a:r>
            <a:r>
              <a:rPr lang="fr-FR" dirty="0" err="1"/>
              <a:t>three</a:t>
            </a:r>
            <a:r>
              <a:rPr lang="fr-FR" dirty="0"/>
              <a:t> </a:t>
            </a:r>
            <a:r>
              <a:rPr lang="fr-FR" dirty="0" err="1"/>
              <a:t>build</a:t>
            </a:r>
            <a:r>
              <a:rPr lang="fr-FR" dirty="0"/>
              <a:t> the instrument.</a:t>
            </a:r>
          </a:p>
          <a:p>
            <a:r>
              <a:rPr lang="fr-FR" dirty="0"/>
              <a:t>The 4 </a:t>
            </a:r>
            <a:r>
              <a:rPr lang="fr-FR" dirty="0" err="1"/>
              <a:t>is</a:t>
            </a:r>
            <a:r>
              <a:rPr lang="fr-FR" dirty="0"/>
              <a:t> </a:t>
            </a:r>
            <a:r>
              <a:rPr lang="fr-FR" dirty="0" err="1"/>
              <a:t>where</a:t>
            </a:r>
            <a:r>
              <a:rPr lang="fr-FR" dirty="0"/>
              <a:t> the </a:t>
            </a:r>
            <a:r>
              <a:rPr lang="fr-FR" dirty="0" err="1"/>
              <a:t>number</a:t>
            </a:r>
            <a:r>
              <a:rPr lang="fr-FR" dirty="0"/>
              <a:t> I </a:t>
            </a:r>
            <a:r>
              <a:rPr lang="fr-FR" dirty="0" err="1"/>
              <a:t>just</a:t>
            </a:r>
            <a:r>
              <a:rPr lang="fr-FR" dirty="0"/>
              <a:t> gave </a:t>
            </a:r>
            <a:r>
              <a:rPr lang="fr-FR" dirty="0" err="1"/>
              <a:t>you</a:t>
            </a:r>
            <a:r>
              <a:rPr lang="fr-FR" dirty="0"/>
              <a:t> </a:t>
            </a:r>
            <a:r>
              <a:rPr lang="fr-FR" dirty="0" err="1"/>
              <a:t>comes</a:t>
            </a:r>
            <a:r>
              <a:rPr lang="fr-FR" dirty="0"/>
              <a:t> </a:t>
            </a:r>
            <a:r>
              <a:rPr lang="fr-FR" dirty="0" err="1"/>
              <a:t>from</a:t>
            </a:r>
            <a:r>
              <a:rPr lang="fr-FR" dirty="0"/>
              <a:t>.</a:t>
            </a:r>
          </a:p>
          <a:p>
            <a:r>
              <a:rPr lang="fr-FR" dirty="0"/>
              <a:t>The 5 </a:t>
            </a:r>
            <a:r>
              <a:rPr lang="fr-FR" dirty="0" err="1"/>
              <a:t>is</a:t>
            </a:r>
            <a:r>
              <a:rPr lang="fr-FR" dirty="0"/>
              <a:t> </a:t>
            </a:r>
            <a:r>
              <a:rPr lang="fr-FR" dirty="0" err="1"/>
              <a:t>what</a:t>
            </a:r>
            <a:r>
              <a:rPr lang="fr-FR" dirty="0"/>
              <a:t> I </a:t>
            </a:r>
            <a:r>
              <a:rPr lang="fr-FR" dirty="0" err="1"/>
              <a:t>would</a:t>
            </a:r>
            <a:r>
              <a:rPr lang="fr-FR" dirty="0"/>
              <a:t> do </a:t>
            </a:r>
            <a:r>
              <a:rPr lang="fr-FR" dirty="0" err="1"/>
              <a:t>next</a:t>
            </a:r>
            <a:r>
              <a:rPr lang="fr-FR" dirty="0"/>
              <a:t>.</a:t>
            </a:r>
            <a:endParaRPr lang="en-US" dirty="0"/>
          </a:p>
        </p:txBody>
      </p:sp>
    </p:spTree>
    <p:extLst>
      <p:ext uri="{BB962C8B-B14F-4D97-AF65-F5344CB8AC3E}">
        <p14:creationId xmlns:p14="http://schemas.microsoft.com/office/powerpoint/2010/main" val="23130424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Everything</a:t>
            </a:r>
            <a:r>
              <a:rPr lang="fr-FR" dirty="0"/>
              <a:t> </a:t>
            </a:r>
            <a:r>
              <a:rPr lang="fr-FR" dirty="0" err="1"/>
              <a:t>you</a:t>
            </a:r>
            <a:r>
              <a:rPr lang="fr-FR" dirty="0"/>
              <a:t> have </a:t>
            </a:r>
            <a:r>
              <a:rPr lang="fr-FR" dirty="0" err="1"/>
              <a:t>seen</a:t>
            </a:r>
            <a:r>
              <a:rPr lang="fr-FR" dirty="0"/>
              <a:t> </a:t>
            </a:r>
            <a:r>
              <a:rPr lang="fr-FR" dirty="0" err="1"/>
              <a:t>rests</a:t>
            </a:r>
            <a:r>
              <a:rPr lang="fr-FR" dirty="0"/>
              <a:t> on </a:t>
            </a:r>
            <a:r>
              <a:rPr lang="fr-FR" dirty="0" err="1"/>
              <a:t>this</a:t>
            </a:r>
            <a:r>
              <a:rPr lang="fr-FR" dirty="0"/>
              <a:t>: </a:t>
            </a:r>
            <a:r>
              <a:rPr lang="fr-FR" dirty="0" err="1"/>
              <a:t>two</a:t>
            </a:r>
            <a:r>
              <a:rPr lang="fr-FR" dirty="0"/>
              <a:t> </a:t>
            </a:r>
            <a:r>
              <a:rPr lang="fr-FR" dirty="0" err="1"/>
              <a:t>campaigns</a:t>
            </a:r>
            <a:r>
              <a:rPr lang="fr-FR" dirty="0"/>
              <a:t>, </a:t>
            </a:r>
            <a:r>
              <a:rPr lang="fr-FR" dirty="0" err="1"/>
              <a:t>two</a:t>
            </a:r>
            <a:r>
              <a:rPr lang="fr-FR" dirty="0"/>
              <a:t> </a:t>
            </a:r>
            <a:r>
              <a:rPr lang="fr-FR" dirty="0" err="1"/>
              <a:t>chains</a:t>
            </a:r>
            <a:r>
              <a:rPr lang="fr-FR" dirty="0"/>
              <a:t>, </a:t>
            </a:r>
            <a:r>
              <a:rPr lang="fr-FR" dirty="0" err="1"/>
              <a:t>twenty-three</a:t>
            </a:r>
            <a:r>
              <a:rPr lang="fr-FR" dirty="0"/>
              <a:t> </a:t>
            </a:r>
            <a:r>
              <a:rPr lang="fr-FR" dirty="0" err="1"/>
              <a:t>nodes</a:t>
            </a:r>
            <a:r>
              <a:rPr lang="fr-FR" dirty="0"/>
              <a:t>, </a:t>
            </a:r>
            <a:r>
              <a:rPr lang="fr-FR" dirty="0" err="1"/>
              <a:t>thirty-three</a:t>
            </a:r>
            <a:r>
              <a:rPr lang="fr-FR" dirty="0"/>
              <a:t> </a:t>
            </a:r>
            <a:r>
              <a:rPr lang="fr-FR" dirty="0" err="1"/>
              <a:t>milestones</a:t>
            </a:r>
            <a:r>
              <a:rPr lang="fr-FR" dirty="0"/>
              <a:t>, five </a:t>
            </a:r>
            <a:r>
              <a:rPr lang="fr-FR" dirty="0" err="1"/>
              <a:t>hundred</a:t>
            </a:r>
            <a:r>
              <a:rPr lang="fr-FR" dirty="0"/>
              <a:t> and </a:t>
            </a:r>
            <a:r>
              <a:rPr lang="fr-FR" dirty="0" err="1"/>
              <a:t>ten</a:t>
            </a:r>
            <a:r>
              <a:rPr lang="fr-FR" dirty="0"/>
              <a:t> déclarations</a:t>
            </a:r>
          </a:p>
          <a:p>
            <a:r>
              <a:rPr lang="en-US" dirty="0"/>
              <a:t>All objectives met</a:t>
            </a:r>
          </a:p>
          <a:p>
            <a:r>
              <a:rPr lang="fr-FR" dirty="0"/>
              <a:t>The </a:t>
            </a:r>
            <a:r>
              <a:rPr lang="fr-FR" dirty="0" err="1"/>
              <a:t>fourth</a:t>
            </a:r>
            <a:r>
              <a:rPr lang="fr-FR" dirty="0"/>
              <a:t> </a:t>
            </a:r>
            <a:r>
              <a:rPr lang="fr-FR" dirty="0" err="1"/>
              <a:t>is</a:t>
            </a:r>
            <a:r>
              <a:rPr lang="fr-FR" dirty="0"/>
              <a:t> met </a:t>
            </a:r>
            <a:r>
              <a:rPr lang="fr-FR" dirty="0" err="1"/>
              <a:t>with</a:t>
            </a:r>
            <a:r>
              <a:rPr lang="fr-FR" dirty="0"/>
              <a:t> </a:t>
            </a:r>
            <a:r>
              <a:rPr lang="fr-FR" dirty="0" err="1"/>
              <a:t>its</a:t>
            </a:r>
            <a:r>
              <a:rPr lang="fr-FR" dirty="0"/>
              <a:t> </a:t>
            </a:r>
            <a:r>
              <a:rPr lang="fr-FR" dirty="0" err="1"/>
              <a:t>domain</a:t>
            </a:r>
            <a:r>
              <a:rPr lang="fr-FR" dirty="0"/>
              <a:t> </a:t>
            </a:r>
            <a:r>
              <a:rPr lang="fr-FR" dirty="0" err="1"/>
              <a:t>established</a:t>
            </a:r>
            <a:r>
              <a:rPr lang="fr-FR" dirty="0"/>
              <a:t>, </a:t>
            </a:r>
            <a:r>
              <a:rPr lang="fr-FR" dirty="0" err="1"/>
              <a:t>which</a:t>
            </a:r>
            <a:r>
              <a:rPr lang="fr-FR" dirty="0"/>
              <a:t> </a:t>
            </a:r>
            <a:r>
              <a:rPr lang="fr-FR" dirty="0" err="1"/>
              <a:t>is</a:t>
            </a:r>
            <a:r>
              <a:rPr lang="fr-FR" dirty="0"/>
              <a:t> more </a:t>
            </a:r>
            <a:r>
              <a:rPr lang="fr-FR" dirty="0" err="1"/>
              <a:t>than</a:t>
            </a:r>
            <a:r>
              <a:rPr lang="fr-FR" dirty="0"/>
              <a:t> the </a:t>
            </a:r>
            <a:r>
              <a:rPr lang="fr-FR" dirty="0" err="1"/>
              <a:t>indicator</a:t>
            </a:r>
            <a:r>
              <a:rPr lang="fr-FR" dirty="0"/>
              <a:t> </a:t>
            </a:r>
            <a:r>
              <a:rPr lang="fr-FR" dirty="0" err="1"/>
              <a:t>asked</a:t>
            </a:r>
            <a:r>
              <a:rPr lang="fr-FR" dirty="0"/>
              <a:t> for.</a:t>
            </a:r>
          </a:p>
          <a:p>
            <a:endParaRPr lang="en-US" dirty="0"/>
          </a:p>
          <a:p>
            <a:pPr lvl="0"/>
            <a:r>
              <a:rPr lang="fr-FR" i="1" dirty="0" err="1"/>
              <a:t>What</a:t>
            </a:r>
            <a:r>
              <a:rPr lang="fr-FR" i="1" dirty="0"/>
              <a:t> the programme can </a:t>
            </a:r>
            <a:r>
              <a:rPr lang="fr-FR" i="1" dirty="0" err="1"/>
              <a:t>now</a:t>
            </a:r>
            <a:r>
              <a:rPr lang="fr-FR" i="1" dirty="0"/>
              <a:t> </a:t>
            </a:r>
            <a:r>
              <a:rPr lang="fr-FR" i="1" dirty="0" err="1"/>
              <a:t>say</a:t>
            </a:r>
            <a:r>
              <a:rPr lang="fr-FR" i="1" dirty="0"/>
              <a:t> about </a:t>
            </a:r>
            <a:r>
              <a:rPr lang="fr-FR" i="1" dirty="0" err="1"/>
              <a:t>SupplyScore</a:t>
            </a:r>
            <a:r>
              <a:rPr lang="fr-FR" i="1" dirty="0"/>
              <a:t> </a:t>
            </a:r>
            <a:r>
              <a:rPr lang="fr-FR" i="1" dirty="0" err="1"/>
              <a:t>comes</a:t>
            </a:r>
            <a:r>
              <a:rPr lang="fr-FR" i="1" dirty="0"/>
              <a:t> down to </a:t>
            </a:r>
            <a:r>
              <a:rPr lang="fr-FR" i="1" dirty="0" err="1"/>
              <a:t>three</a:t>
            </a:r>
            <a:r>
              <a:rPr lang="fr-FR" i="1" dirty="0"/>
              <a:t> </a:t>
            </a:r>
            <a:r>
              <a:rPr lang="fr-FR" i="1" dirty="0" err="1"/>
              <a:t>statements</a:t>
            </a:r>
            <a:r>
              <a:rPr lang="fr-FR" i="1" dirty="0"/>
              <a:t>."</a:t>
            </a:r>
            <a:endParaRPr lang="fr-FR" dirty="0"/>
          </a:p>
          <a:p>
            <a:pPr lvl="0"/>
            <a:r>
              <a:rPr lang="fr-FR" i="1" dirty="0"/>
              <a:t>"It </a:t>
            </a:r>
            <a:r>
              <a:rPr lang="fr-FR" i="1" dirty="0" err="1"/>
              <a:t>detects</a:t>
            </a:r>
            <a:r>
              <a:rPr lang="fr-FR" i="1" dirty="0"/>
              <a:t> </a:t>
            </a:r>
            <a:r>
              <a:rPr lang="fr-FR" i="1" dirty="0" err="1"/>
              <a:t>misperception</a:t>
            </a:r>
            <a:r>
              <a:rPr lang="fr-FR" i="1" dirty="0"/>
              <a:t>, not non-</a:t>
            </a:r>
            <a:r>
              <a:rPr lang="fr-FR" i="1" dirty="0" err="1"/>
              <a:t>disclosure</a:t>
            </a:r>
            <a:r>
              <a:rPr lang="fr-FR" i="1" dirty="0"/>
              <a:t>."</a:t>
            </a:r>
            <a:endParaRPr lang="fr-FR" dirty="0"/>
          </a:p>
          <a:p>
            <a:pPr lvl="0"/>
            <a:r>
              <a:rPr lang="fr-FR" i="1" dirty="0"/>
              <a:t>"It </a:t>
            </a:r>
            <a:r>
              <a:rPr lang="fr-FR" i="1" dirty="0" err="1"/>
              <a:t>is</a:t>
            </a:r>
            <a:r>
              <a:rPr lang="fr-FR" i="1" dirty="0"/>
              <a:t> an </a:t>
            </a:r>
            <a:r>
              <a:rPr lang="fr-FR" i="1" dirty="0" err="1"/>
              <a:t>early</a:t>
            </a:r>
            <a:r>
              <a:rPr lang="fr-FR" i="1" dirty="0"/>
              <a:t>-warning instrument </a:t>
            </a:r>
            <a:r>
              <a:rPr lang="fr-FR" i="1" dirty="0" err="1"/>
              <a:t>that</a:t>
            </a:r>
            <a:r>
              <a:rPr lang="fr-FR" i="1" dirty="0"/>
              <a:t> closes by construction once a </a:t>
            </a:r>
            <a:r>
              <a:rPr lang="fr-FR" i="1" dirty="0" err="1"/>
              <a:t>crisis</a:t>
            </a:r>
            <a:r>
              <a:rPr lang="fr-FR" i="1" dirty="0"/>
              <a:t> </a:t>
            </a:r>
            <a:r>
              <a:rPr lang="fr-FR" i="1" dirty="0" err="1"/>
              <a:t>is</a:t>
            </a:r>
            <a:r>
              <a:rPr lang="fr-FR" i="1" dirty="0"/>
              <a:t> public."</a:t>
            </a:r>
            <a:endParaRPr lang="fr-FR" dirty="0"/>
          </a:p>
          <a:p>
            <a:pPr lvl="0"/>
            <a:r>
              <a:rPr lang="fr-FR" i="1" dirty="0"/>
              <a:t>"And </a:t>
            </a:r>
            <a:r>
              <a:rPr lang="fr-FR" i="1" dirty="0" err="1"/>
              <a:t>its</a:t>
            </a:r>
            <a:r>
              <a:rPr lang="fr-FR" i="1" dirty="0"/>
              <a:t> </a:t>
            </a:r>
            <a:r>
              <a:rPr lang="fr-FR" i="1" dirty="0" err="1"/>
              <a:t>forecast</a:t>
            </a:r>
            <a:r>
              <a:rPr lang="fr-FR" i="1" dirty="0"/>
              <a:t> layer </a:t>
            </a:r>
            <a:r>
              <a:rPr lang="fr-FR" i="1" dirty="0" err="1"/>
              <a:t>buys</a:t>
            </a:r>
            <a:r>
              <a:rPr lang="fr-FR" i="1" dirty="0"/>
              <a:t> calibration </a:t>
            </a:r>
            <a:r>
              <a:rPr lang="fr-FR" i="1" dirty="0" err="1"/>
              <a:t>rather</a:t>
            </a:r>
            <a:r>
              <a:rPr lang="fr-FR" i="1" dirty="0"/>
              <a:t> </a:t>
            </a:r>
            <a:r>
              <a:rPr lang="fr-FR" i="1" dirty="0" err="1"/>
              <a:t>than</a:t>
            </a:r>
            <a:r>
              <a:rPr lang="fr-FR" i="1" dirty="0"/>
              <a:t> short-horizon discrimination."</a:t>
            </a:r>
            <a:endParaRPr lang="fr-FR" dirty="0"/>
          </a:p>
          <a:p>
            <a:endParaRPr lang="en-US" dirty="0"/>
          </a:p>
          <a:p>
            <a:r>
              <a:rPr lang="fr-FR" dirty="0"/>
              <a:t>"Not one of </a:t>
            </a:r>
            <a:r>
              <a:rPr lang="fr-FR" dirty="0" err="1"/>
              <a:t>those</a:t>
            </a:r>
            <a:r>
              <a:rPr lang="fr-FR" dirty="0"/>
              <a:t> </a:t>
            </a:r>
            <a:r>
              <a:rPr lang="fr-FR" dirty="0" err="1"/>
              <a:t>three</a:t>
            </a:r>
            <a:r>
              <a:rPr lang="fr-FR" dirty="0"/>
              <a:t> </a:t>
            </a:r>
            <a:r>
              <a:rPr lang="fr-FR" dirty="0" err="1"/>
              <a:t>was</a:t>
            </a:r>
            <a:r>
              <a:rPr lang="fr-FR" dirty="0"/>
              <a:t> in the </a:t>
            </a:r>
            <a:r>
              <a:rPr lang="fr-FR" dirty="0" err="1"/>
              <a:t>specification</a:t>
            </a:r>
            <a:r>
              <a:rPr lang="fr-FR" dirty="0"/>
              <a:t>. </a:t>
            </a:r>
            <a:r>
              <a:rPr lang="fr-FR" dirty="0" err="1"/>
              <a:t>Each</a:t>
            </a:r>
            <a:r>
              <a:rPr lang="fr-FR" dirty="0"/>
              <a:t> came </a:t>
            </a:r>
            <a:r>
              <a:rPr lang="fr-FR" dirty="0" err="1"/>
              <a:t>from</a:t>
            </a:r>
            <a:r>
              <a:rPr lang="fr-FR" dirty="0"/>
              <a:t> a test </a:t>
            </a:r>
            <a:r>
              <a:rPr lang="fr-FR" dirty="0" err="1"/>
              <a:t>built</a:t>
            </a:r>
            <a:r>
              <a:rPr lang="fr-FR" dirty="0"/>
              <a:t> to </a:t>
            </a:r>
            <a:r>
              <a:rPr lang="fr-FR" dirty="0" err="1"/>
              <a:t>find</a:t>
            </a:r>
            <a:r>
              <a:rPr lang="fr-FR" dirty="0"/>
              <a:t> </a:t>
            </a:r>
            <a:r>
              <a:rPr lang="fr-FR" dirty="0" err="1"/>
              <a:t>it</a:t>
            </a:r>
            <a:r>
              <a:rPr lang="fr-FR" dirty="0"/>
              <a:t> </a:t>
            </a:r>
            <a:r>
              <a:rPr lang="fr-FR" dirty="0" err="1"/>
              <a:t>rather</a:t>
            </a:r>
            <a:r>
              <a:rPr lang="fr-FR" dirty="0"/>
              <a:t> </a:t>
            </a:r>
            <a:r>
              <a:rPr lang="fr-FR" dirty="0" err="1"/>
              <a:t>than</a:t>
            </a:r>
            <a:r>
              <a:rPr lang="fr-FR" dirty="0"/>
              <a:t> to </a:t>
            </a:r>
            <a:r>
              <a:rPr lang="fr-FR" dirty="0" err="1"/>
              <a:t>confirm</a:t>
            </a:r>
            <a:r>
              <a:rPr lang="fr-FR" dirty="0"/>
              <a:t> the </a:t>
            </a:r>
            <a:r>
              <a:rPr lang="fr-FR" dirty="0" err="1"/>
              <a:t>tool</a:t>
            </a:r>
            <a:r>
              <a:rPr lang="fr-FR" dirty="0"/>
              <a:t>."</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fr-FR" i="1" dirty="0"/>
              <a:t>"Four </a:t>
            </a:r>
            <a:r>
              <a:rPr lang="fr-FR" i="1" dirty="0" err="1"/>
              <a:t>limits</a:t>
            </a:r>
            <a:r>
              <a:rPr lang="fr-FR" i="1" dirty="0"/>
              <a:t>, and I </a:t>
            </a:r>
            <a:r>
              <a:rPr lang="fr-FR" i="1" dirty="0" err="1"/>
              <a:t>will</a:t>
            </a:r>
            <a:r>
              <a:rPr lang="fr-FR" i="1" dirty="0"/>
              <a:t> not </a:t>
            </a:r>
            <a:r>
              <a:rPr lang="fr-FR" i="1" dirty="0" err="1"/>
              <a:t>soften</a:t>
            </a:r>
            <a:r>
              <a:rPr lang="fr-FR" i="1" dirty="0"/>
              <a:t> </a:t>
            </a:r>
            <a:r>
              <a:rPr lang="fr-FR" i="1" dirty="0" err="1"/>
              <a:t>them</a:t>
            </a:r>
            <a:r>
              <a:rPr lang="fr-FR" i="1" dirty="0"/>
              <a:t>."</a:t>
            </a:r>
            <a:endParaRPr lang="fr-FR" dirty="0"/>
          </a:p>
          <a:p>
            <a:pPr lvl="0"/>
            <a:r>
              <a:rPr lang="fr-FR" i="1" dirty="0"/>
              <a:t>"The </a:t>
            </a:r>
            <a:r>
              <a:rPr lang="fr-FR" i="1" dirty="0" err="1"/>
              <a:t>declarants</a:t>
            </a:r>
            <a:r>
              <a:rPr lang="fr-FR" i="1" dirty="0"/>
              <a:t> </a:t>
            </a:r>
            <a:r>
              <a:rPr lang="fr-FR" i="1" dirty="0" err="1"/>
              <a:t>were</a:t>
            </a:r>
            <a:r>
              <a:rPr lang="fr-FR" i="1" dirty="0"/>
              <a:t> agents, not </a:t>
            </a:r>
            <a:r>
              <a:rPr lang="fr-FR" i="1" dirty="0" err="1"/>
              <a:t>human</a:t>
            </a:r>
            <a:r>
              <a:rPr lang="fr-FR" i="1" dirty="0"/>
              <a:t> consultants. The positive class </a:t>
            </a:r>
            <a:r>
              <a:rPr lang="fr-FR" i="1" dirty="0" err="1"/>
              <a:t>is</a:t>
            </a:r>
            <a:r>
              <a:rPr lang="fr-FR" i="1" dirty="0"/>
              <a:t> </a:t>
            </a:r>
            <a:r>
              <a:rPr lang="fr-FR" i="1" dirty="0" err="1"/>
              <a:t>small</a:t>
            </a:r>
            <a:r>
              <a:rPr lang="fr-FR" i="1" dirty="0"/>
              <a:t> on </a:t>
            </a:r>
            <a:r>
              <a:rPr lang="fr-FR" i="1" dirty="0" err="1"/>
              <a:t>both</a:t>
            </a:r>
            <a:r>
              <a:rPr lang="fr-FR" i="1" dirty="0"/>
              <a:t> </a:t>
            </a:r>
            <a:r>
              <a:rPr lang="fr-FR" i="1" dirty="0" err="1"/>
              <a:t>chains</a:t>
            </a:r>
            <a:r>
              <a:rPr lang="fr-FR" i="1" dirty="0"/>
              <a:t>, four of </a:t>
            </a:r>
            <a:r>
              <a:rPr lang="fr-FR" i="1" dirty="0" err="1"/>
              <a:t>eight</a:t>
            </a:r>
            <a:r>
              <a:rPr lang="fr-FR" i="1" dirty="0"/>
              <a:t> and </a:t>
            </a:r>
            <a:r>
              <a:rPr lang="fr-FR" i="1" dirty="0" err="1"/>
              <a:t>three</a:t>
            </a:r>
            <a:r>
              <a:rPr lang="fr-FR" i="1" dirty="0"/>
              <a:t> of </a:t>
            </a:r>
            <a:r>
              <a:rPr lang="fr-FR" i="1" dirty="0" err="1"/>
              <a:t>fifteen</a:t>
            </a:r>
            <a:r>
              <a:rPr lang="fr-FR" i="1" dirty="0"/>
              <a:t>. The </a:t>
            </a:r>
            <a:r>
              <a:rPr lang="fr-FR" i="1" dirty="0" err="1"/>
              <a:t>carbon</a:t>
            </a:r>
            <a:r>
              <a:rPr lang="fr-FR" i="1" dirty="0"/>
              <a:t> block </a:t>
            </a:r>
            <a:r>
              <a:rPr lang="fr-FR" i="1" dirty="0" err="1"/>
              <a:t>is</a:t>
            </a:r>
            <a:r>
              <a:rPr lang="fr-FR" i="1" dirty="0"/>
              <a:t> the least </a:t>
            </a:r>
            <a:r>
              <a:rPr lang="fr-FR" i="1" dirty="0" err="1"/>
              <a:t>exercised</a:t>
            </a:r>
            <a:r>
              <a:rPr lang="fr-FR" i="1" dirty="0"/>
              <a:t>, for </a:t>
            </a:r>
            <a:r>
              <a:rPr lang="fr-FR" i="1" dirty="0" err="1"/>
              <a:t>want</a:t>
            </a:r>
            <a:r>
              <a:rPr lang="fr-FR" i="1" dirty="0"/>
              <a:t> of </a:t>
            </a:r>
            <a:r>
              <a:rPr lang="fr-FR" i="1" dirty="0" err="1"/>
              <a:t>node-level</a:t>
            </a:r>
            <a:r>
              <a:rPr lang="fr-FR" i="1" dirty="0"/>
              <a:t> data."</a:t>
            </a:r>
            <a:endParaRPr lang="fr-FR" dirty="0"/>
          </a:p>
          <a:p>
            <a:pPr lvl="0"/>
            <a:r>
              <a:rPr lang="fr-FR" i="1" dirty="0"/>
              <a:t>"The </a:t>
            </a:r>
            <a:r>
              <a:rPr lang="fr-FR" i="1" dirty="0" err="1"/>
              <a:t>fourth</a:t>
            </a:r>
            <a:r>
              <a:rPr lang="fr-FR" i="1" dirty="0"/>
              <a:t> </a:t>
            </a:r>
            <a:r>
              <a:rPr lang="fr-FR" i="1" dirty="0" err="1"/>
              <a:t>is</a:t>
            </a:r>
            <a:r>
              <a:rPr lang="fr-FR" i="1" dirty="0"/>
              <a:t> </a:t>
            </a:r>
            <a:r>
              <a:rPr lang="fr-FR" i="1" dirty="0" err="1"/>
              <a:t>different</a:t>
            </a:r>
            <a:r>
              <a:rPr lang="fr-FR" i="1" dirty="0"/>
              <a:t>. It </a:t>
            </a:r>
            <a:r>
              <a:rPr lang="fr-FR" i="1" dirty="0" err="1"/>
              <a:t>is</a:t>
            </a:r>
            <a:r>
              <a:rPr lang="fr-FR" i="1" dirty="0"/>
              <a:t> </a:t>
            </a:r>
            <a:r>
              <a:rPr lang="fr-FR" i="1" dirty="0" err="1"/>
              <a:t>methodological</a:t>
            </a:r>
            <a:r>
              <a:rPr lang="fr-FR" i="1" dirty="0"/>
              <a:t>, and </a:t>
            </a:r>
            <a:r>
              <a:rPr lang="fr-FR" i="1" dirty="0" err="1"/>
              <a:t>it</a:t>
            </a:r>
            <a:r>
              <a:rPr lang="fr-FR" i="1" dirty="0"/>
              <a:t> </a:t>
            </a:r>
            <a:r>
              <a:rPr lang="fr-FR" i="1" dirty="0" err="1"/>
              <a:t>does</a:t>
            </a:r>
            <a:r>
              <a:rPr lang="fr-FR" i="1" dirty="0"/>
              <a:t> not dissolve </a:t>
            </a:r>
            <a:r>
              <a:rPr lang="fr-FR" i="1" dirty="0" err="1"/>
              <a:t>with</a:t>
            </a:r>
            <a:r>
              <a:rPr lang="fr-FR" i="1" dirty="0"/>
              <a:t> more data: no </a:t>
            </a:r>
            <a:r>
              <a:rPr lang="fr-FR" i="1" dirty="0" err="1"/>
              <a:t>number</a:t>
            </a:r>
            <a:r>
              <a:rPr lang="fr-FR" i="1" dirty="0"/>
              <a:t> in </a:t>
            </a:r>
            <a:r>
              <a:rPr lang="fr-FR" i="1" dirty="0" err="1"/>
              <a:t>this</a:t>
            </a:r>
            <a:r>
              <a:rPr lang="fr-FR" i="1" dirty="0"/>
              <a:t> </a:t>
            </a:r>
            <a:r>
              <a:rPr lang="fr-FR" i="1" dirty="0" err="1"/>
              <a:t>presentation</a:t>
            </a:r>
            <a:r>
              <a:rPr lang="fr-FR" i="1" dirty="0"/>
              <a:t> </a:t>
            </a:r>
            <a:r>
              <a:rPr lang="fr-FR" i="1" dirty="0" err="1"/>
              <a:t>holds</a:t>
            </a:r>
            <a:r>
              <a:rPr lang="fr-FR" i="1" dirty="0"/>
              <a:t> </a:t>
            </a:r>
            <a:r>
              <a:rPr lang="fr-FR" i="1" dirty="0" err="1"/>
              <a:t>without</a:t>
            </a:r>
            <a:r>
              <a:rPr lang="fr-FR" i="1" dirty="0"/>
              <a:t> the </a:t>
            </a:r>
            <a:r>
              <a:rPr lang="fr-FR" i="1" dirty="0" err="1"/>
              <a:t>outcome</a:t>
            </a:r>
            <a:r>
              <a:rPr lang="fr-FR" i="1" dirty="0"/>
              <a:t> </a:t>
            </a:r>
            <a:r>
              <a:rPr lang="fr-FR" i="1" dirty="0" err="1"/>
              <a:t>definition</a:t>
            </a:r>
            <a:r>
              <a:rPr lang="fr-FR" i="1" dirty="0"/>
              <a:t> </a:t>
            </a:r>
            <a:r>
              <a:rPr lang="fr-FR" i="1" dirty="0" err="1"/>
              <a:t>it</a:t>
            </a:r>
            <a:r>
              <a:rPr lang="fr-FR" i="1" dirty="0"/>
              <a:t> </a:t>
            </a:r>
            <a:r>
              <a:rPr lang="fr-FR" i="1" dirty="0" err="1"/>
              <a:t>was</a:t>
            </a:r>
            <a:r>
              <a:rPr lang="fr-FR" i="1" dirty="0"/>
              <a:t> </a:t>
            </a:r>
            <a:r>
              <a:rPr lang="fr-FR" i="1" dirty="0" err="1"/>
              <a:t>read</a:t>
            </a:r>
            <a:r>
              <a:rPr lang="fr-FR" i="1" dirty="0"/>
              <a:t> </a:t>
            </a:r>
            <a:r>
              <a:rPr lang="fr-FR" i="1" dirty="0" err="1"/>
              <a:t>against</a:t>
            </a:r>
            <a:r>
              <a:rPr lang="fr-FR" i="1" dirty="0"/>
              <a:t>."</a:t>
            </a:r>
            <a:endParaRPr lang="fr-FR" dirty="0"/>
          </a:p>
          <a:p>
            <a:endParaRPr lang="en-US" dirty="0"/>
          </a:p>
          <a:p>
            <a:pPr lvl="0"/>
            <a:r>
              <a:rPr lang="fr-FR" i="1" dirty="0"/>
              <a:t>"For ALTEN, four actions in </a:t>
            </a:r>
            <a:r>
              <a:rPr lang="fr-FR" i="1" dirty="0" err="1"/>
              <a:t>order</a:t>
            </a:r>
            <a:r>
              <a:rPr lang="fr-FR" i="1" dirty="0"/>
              <a:t> of </a:t>
            </a:r>
            <a:r>
              <a:rPr lang="fr-FR" i="1" dirty="0" err="1"/>
              <a:t>cost</a:t>
            </a:r>
            <a:r>
              <a:rPr lang="fr-FR" i="1" dirty="0"/>
              <a:t>."</a:t>
            </a:r>
            <a:endParaRPr lang="fr-FR" dirty="0"/>
          </a:p>
          <a:p>
            <a:pPr lvl="0"/>
            <a:r>
              <a:rPr lang="fr-FR" i="1" dirty="0"/>
              <a:t>"</a:t>
            </a:r>
            <a:r>
              <a:rPr lang="fr-FR" i="1" dirty="0" err="1"/>
              <a:t>Connect</a:t>
            </a:r>
            <a:r>
              <a:rPr lang="fr-FR" i="1" dirty="0"/>
              <a:t> </a:t>
            </a:r>
            <a:r>
              <a:rPr lang="fr-FR" i="1" dirty="0" err="1"/>
              <a:t>computed</a:t>
            </a:r>
            <a:r>
              <a:rPr lang="fr-FR" i="1" dirty="0"/>
              <a:t> </a:t>
            </a:r>
            <a:r>
              <a:rPr lang="fr-FR" i="1" dirty="0" err="1"/>
              <a:t>urgency</a:t>
            </a:r>
            <a:r>
              <a:rPr lang="fr-FR" i="1" dirty="0"/>
              <a:t> to the </a:t>
            </a:r>
            <a:r>
              <a:rPr lang="fr-FR" i="1" dirty="0" err="1"/>
              <a:t>quantity</a:t>
            </a:r>
            <a:r>
              <a:rPr lang="fr-FR" i="1" dirty="0"/>
              <a:t> </a:t>
            </a:r>
            <a:r>
              <a:rPr lang="fr-FR" i="1" dirty="0" err="1"/>
              <a:t>being</a:t>
            </a:r>
            <a:r>
              <a:rPr lang="fr-FR" i="1" dirty="0"/>
              <a:t> </a:t>
            </a:r>
            <a:r>
              <a:rPr lang="fr-FR" i="1" dirty="0" err="1"/>
              <a:t>forecast</a:t>
            </a:r>
            <a:r>
              <a:rPr lang="fr-FR" i="1" dirty="0"/>
              <a:t>. One </a:t>
            </a:r>
            <a:r>
              <a:rPr lang="fr-FR" i="1" dirty="0" err="1"/>
              <a:t>afternoon</a:t>
            </a:r>
            <a:r>
              <a:rPr lang="fr-FR" i="1" dirty="0"/>
              <a:t>, on </a:t>
            </a:r>
            <a:r>
              <a:rPr lang="fr-FR" i="1" dirty="0" err="1"/>
              <a:t>forecasts</a:t>
            </a:r>
            <a:r>
              <a:rPr lang="fr-FR" i="1" dirty="0"/>
              <a:t> </a:t>
            </a:r>
            <a:r>
              <a:rPr lang="fr-FR" i="1" dirty="0" err="1"/>
              <a:t>that</a:t>
            </a:r>
            <a:r>
              <a:rPr lang="fr-FR" i="1" dirty="0"/>
              <a:t> </a:t>
            </a:r>
            <a:r>
              <a:rPr lang="fr-FR" i="1" dirty="0" err="1"/>
              <a:t>already</a:t>
            </a:r>
            <a:r>
              <a:rPr lang="fr-FR" i="1" dirty="0"/>
              <a:t> </a:t>
            </a:r>
            <a:r>
              <a:rPr lang="fr-FR" i="1" dirty="0" err="1"/>
              <a:t>exist</a:t>
            </a:r>
            <a:r>
              <a:rPr lang="fr-FR" i="1" dirty="0"/>
              <a:t>."</a:t>
            </a:r>
            <a:endParaRPr lang="fr-FR" dirty="0"/>
          </a:p>
          <a:p>
            <a:pPr lvl="0"/>
            <a:r>
              <a:rPr lang="fr-FR" i="1" dirty="0"/>
              <a:t>"Fill the </a:t>
            </a:r>
            <a:r>
              <a:rPr lang="fr-FR" i="1" dirty="0" err="1"/>
              <a:t>indicators</a:t>
            </a:r>
            <a:r>
              <a:rPr lang="fr-FR" i="1" dirty="0"/>
              <a:t> </a:t>
            </a:r>
            <a:r>
              <a:rPr lang="fr-FR" i="1" dirty="0" err="1"/>
              <a:t>before</a:t>
            </a:r>
            <a:r>
              <a:rPr lang="fr-FR" i="1" dirty="0"/>
              <a:t> </a:t>
            </a:r>
            <a:r>
              <a:rPr lang="fr-FR" i="1" dirty="0" err="1"/>
              <a:t>calibrating</a:t>
            </a:r>
            <a:r>
              <a:rPr lang="fr-FR" i="1" dirty="0"/>
              <a:t>. </a:t>
            </a:r>
            <a:r>
              <a:rPr lang="fr-FR" i="1" dirty="0" err="1"/>
              <a:t>Make</a:t>
            </a:r>
            <a:r>
              <a:rPr lang="fr-FR" i="1" dirty="0"/>
              <a:t> the </a:t>
            </a:r>
            <a:r>
              <a:rPr lang="fr-FR" i="1" dirty="0" err="1"/>
              <a:t>forecast</a:t>
            </a:r>
            <a:r>
              <a:rPr lang="fr-FR" i="1" dirty="0"/>
              <a:t> state </a:t>
            </a:r>
            <a:r>
              <a:rPr lang="fr-FR" i="1" dirty="0" err="1"/>
              <a:t>its</a:t>
            </a:r>
            <a:r>
              <a:rPr lang="fr-FR" i="1" dirty="0"/>
              <a:t> </a:t>
            </a:r>
            <a:r>
              <a:rPr lang="fr-FR" i="1" dirty="0" err="1"/>
              <a:t>own</a:t>
            </a:r>
            <a:r>
              <a:rPr lang="fr-FR" i="1" dirty="0"/>
              <a:t> ignorance. And run the </a:t>
            </a:r>
            <a:r>
              <a:rPr lang="fr-FR" i="1" dirty="0" err="1"/>
              <a:t>campaign</a:t>
            </a:r>
            <a:r>
              <a:rPr lang="fr-FR" i="1" dirty="0"/>
              <a:t> </a:t>
            </a:r>
            <a:r>
              <a:rPr lang="fr-FR" i="1" dirty="0" err="1"/>
              <a:t>with</a:t>
            </a:r>
            <a:r>
              <a:rPr lang="fr-FR" i="1" dirty="0"/>
              <a:t> </a:t>
            </a:r>
            <a:r>
              <a:rPr lang="fr-FR" i="1" dirty="0" err="1"/>
              <a:t>humans</a:t>
            </a:r>
            <a:r>
              <a:rPr lang="fr-FR" i="1" dirty="0"/>
              <a:t>, </a:t>
            </a:r>
            <a:r>
              <a:rPr lang="fr-FR" i="1" dirty="0" err="1"/>
              <a:t>which</a:t>
            </a:r>
            <a:r>
              <a:rPr lang="fr-FR" i="1" dirty="0"/>
              <a:t> </a:t>
            </a:r>
            <a:r>
              <a:rPr lang="fr-FR" i="1" dirty="0" err="1"/>
              <a:t>is</a:t>
            </a:r>
            <a:r>
              <a:rPr lang="fr-FR" i="1" dirty="0"/>
              <a:t> the </a:t>
            </a:r>
            <a:r>
              <a:rPr lang="fr-FR" i="1" dirty="0" err="1"/>
              <a:t>only</a:t>
            </a:r>
            <a:r>
              <a:rPr lang="fr-FR" i="1" dirty="0"/>
              <a:t> run </a:t>
            </a:r>
            <a:r>
              <a:rPr lang="fr-FR" i="1" dirty="0" err="1"/>
              <a:t>that</a:t>
            </a:r>
            <a:r>
              <a:rPr lang="fr-FR" i="1" dirty="0"/>
              <a:t> </a:t>
            </a:r>
            <a:r>
              <a:rPr lang="fr-FR" i="1" dirty="0" err="1"/>
              <a:t>decides</a:t>
            </a:r>
            <a:r>
              <a:rPr lang="fr-FR" i="1" dirty="0"/>
              <a:t>."</a:t>
            </a:r>
            <a:endParaRPr lang="fr-FR" dirty="0"/>
          </a:p>
          <a:p>
            <a:endParaRPr lang="en-US" dirty="0"/>
          </a:p>
          <a:p>
            <a:pPr lvl="0"/>
            <a:r>
              <a:rPr lang="fr-FR" i="1" dirty="0"/>
              <a:t>"</a:t>
            </a:r>
            <a:r>
              <a:rPr lang="fr-FR" i="1" dirty="0" err="1"/>
              <a:t>What</a:t>
            </a:r>
            <a:r>
              <a:rPr lang="fr-FR" i="1" dirty="0"/>
              <a:t> I </a:t>
            </a:r>
            <a:r>
              <a:rPr lang="fr-FR" i="1" dirty="0" err="1"/>
              <a:t>take</a:t>
            </a:r>
            <a:r>
              <a:rPr lang="fr-FR" i="1" dirty="0"/>
              <a:t> </a:t>
            </a:r>
            <a:r>
              <a:rPr lang="fr-FR" i="1" dirty="0" err="1"/>
              <a:t>is</a:t>
            </a:r>
            <a:r>
              <a:rPr lang="fr-FR" i="1" dirty="0"/>
              <a:t> a </a:t>
            </a:r>
            <a:r>
              <a:rPr lang="fr-FR" i="1" dirty="0" err="1"/>
              <a:t>method</a:t>
            </a:r>
            <a:r>
              <a:rPr lang="fr-FR" i="1" dirty="0"/>
              <a:t>. </a:t>
            </a:r>
            <a:r>
              <a:rPr lang="fr-FR" i="1" dirty="0" err="1"/>
              <a:t>Twice</a:t>
            </a:r>
            <a:r>
              <a:rPr lang="fr-FR" i="1" dirty="0"/>
              <a:t> the system </a:t>
            </a:r>
            <a:r>
              <a:rPr lang="fr-FR" i="1" dirty="0" err="1"/>
              <a:t>turned</a:t>
            </a:r>
            <a:r>
              <a:rPr lang="fr-FR" i="1" dirty="0"/>
              <a:t> out to </a:t>
            </a:r>
            <a:r>
              <a:rPr lang="fr-FR" i="1" dirty="0" err="1"/>
              <a:t>be</a:t>
            </a:r>
            <a:r>
              <a:rPr lang="fr-FR" i="1" dirty="0"/>
              <a:t> </a:t>
            </a:r>
            <a:r>
              <a:rPr lang="fr-FR" i="1" dirty="0" err="1"/>
              <a:t>measuring</a:t>
            </a:r>
            <a:r>
              <a:rPr lang="fr-FR" i="1" dirty="0"/>
              <a:t> </a:t>
            </a:r>
            <a:r>
              <a:rPr lang="fr-FR" i="1" dirty="0" err="1"/>
              <a:t>itself</a:t>
            </a:r>
            <a:r>
              <a:rPr lang="fr-FR" i="1" dirty="0"/>
              <a:t>, and </a:t>
            </a:r>
            <a:r>
              <a:rPr lang="fr-FR" i="1" dirty="0" err="1"/>
              <a:t>each</a:t>
            </a:r>
            <a:r>
              <a:rPr lang="fr-FR" i="1" dirty="0"/>
              <a:t> time </a:t>
            </a:r>
            <a:r>
              <a:rPr lang="fr-FR" i="1" dirty="0" err="1"/>
              <a:t>it</a:t>
            </a:r>
            <a:r>
              <a:rPr lang="fr-FR" i="1" dirty="0"/>
              <a:t> </a:t>
            </a:r>
            <a:r>
              <a:rPr lang="fr-FR" i="1" dirty="0" err="1"/>
              <a:t>looked</a:t>
            </a:r>
            <a:r>
              <a:rPr lang="fr-FR" i="1" dirty="0"/>
              <a:t> like a </a:t>
            </a:r>
            <a:r>
              <a:rPr lang="fr-FR" i="1" dirty="0" err="1"/>
              <a:t>modelling</a:t>
            </a:r>
            <a:r>
              <a:rPr lang="fr-FR" i="1" dirty="0"/>
              <a:t> </a:t>
            </a:r>
            <a:r>
              <a:rPr lang="fr-FR" i="1" dirty="0" err="1"/>
              <a:t>defect</a:t>
            </a:r>
            <a:r>
              <a:rPr lang="fr-FR" i="1" dirty="0"/>
              <a:t> </a:t>
            </a:r>
            <a:r>
              <a:rPr lang="fr-FR" i="1" dirty="0" err="1"/>
              <a:t>when</a:t>
            </a:r>
            <a:r>
              <a:rPr lang="fr-FR" i="1" dirty="0"/>
              <a:t> </a:t>
            </a:r>
            <a:r>
              <a:rPr lang="fr-FR" i="1" dirty="0" err="1"/>
              <a:t>it</a:t>
            </a:r>
            <a:r>
              <a:rPr lang="fr-FR" i="1" dirty="0"/>
              <a:t> </a:t>
            </a:r>
            <a:r>
              <a:rPr lang="fr-FR" i="1" dirty="0" err="1"/>
              <a:t>was</a:t>
            </a:r>
            <a:r>
              <a:rPr lang="fr-FR" i="1" dirty="0"/>
              <a:t> </a:t>
            </a:r>
            <a:r>
              <a:rPr lang="fr-FR" i="1" dirty="0" err="1"/>
              <a:t>circularity</a:t>
            </a:r>
            <a:r>
              <a:rPr lang="fr-FR" i="1" dirty="0"/>
              <a:t>."</a:t>
            </a:r>
            <a:endParaRPr lang="fr-FR" dirty="0"/>
          </a:p>
          <a:p>
            <a:pPr lvl="0"/>
            <a:r>
              <a:rPr lang="fr-FR" i="1" dirty="0"/>
              <a:t>"I </a:t>
            </a:r>
            <a:r>
              <a:rPr lang="fr-FR" i="1" dirty="0" err="1"/>
              <a:t>would</a:t>
            </a:r>
            <a:r>
              <a:rPr lang="fr-FR" i="1" dirty="0"/>
              <a:t> </a:t>
            </a:r>
            <a:r>
              <a:rPr lang="fr-FR" i="1" dirty="0" err="1"/>
              <a:t>now</a:t>
            </a:r>
            <a:r>
              <a:rPr lang="fr-FR" i="1" dirty="0"/>
              <a:t> design the </a:t>
            </a:r>
            <a:r>
              <a:rPr lang="fr-FR" i="1" dirty="0" err="1"/>
              <a:t>independence</a:t>
            </a:r>
            <a:r>
              <a:rPr lang="fr-FR" i="1" dirty="0"/>
              <a:t> of </a:t>
            </a:r>
            <a:r>
              <a:rPr lang="fr-FR" i="1" dirty="0" err="1"/>
              <a:t>two</a:t>
            </a:r>
            <a:r>
              <a:rPr lang="fr-FR" i="1" dirty="0"/>
              <a:t> </a:t>
            </a:r>
            <a:r>
              <a:rPr lang="fr-FR" i="1" dirty="0" err="1"/>
              <a:t>signals</a:t>
            </a:r>
            <a:r>
              <a:rPr lang="fr-FR" i="1" dirty="0"/>
              <a:t> </a:t>
            </a:r>
            <a:r>
              <a:rPr lang="fr-FR" i="1" dirty="0" err="1"/>
              <a:t>before</a:t>
            </a:r>
            <a:r>
              <a:rPr lang="fr-FR" i="1" dirty="0"/>
              <a:t> </a:t>
            </a:r>
            <a:r>
              <a:rPr lang="fr-FR" i="1" dirty="0" err="1"/>
              <a:t>designing</a:t>
            </a:r>
            <a:r>
              <a:rPr lang="fr-FR" i="1" dirty="0"/>
              <a:t> </a:t>
            </a:r>
            <a:r>
              <a:rPr lang="fr-FR" i="1" dirty="0" err="1"/>
              <a:t>either</a:t>
            </a:r>
            <a:r>
              <a:rPr lang="fr-FR" i="1" dirty="0"/>
              <a:t>."</a:t>
            </a:r>
            <a:endParaRPr lang="fr-FR" dirty="0"/>
          </a:p>
          <a:p>
            <a:pPr lvl="0"/>
            <a:r>
              <a:rPr lang="fr-FR" i="1" dirty="0"/>
              <a:t>"And </a:t>
            </a:r>
            <a:r>
              <a:rPr lang="fr-FR" i="1" dirty="0" err="1"/>
              <a:t>before</a:t>
            </a:r>
            <a:r>
              <a:rPr lang="fr-FR" i="1" dirty="0"/>
              <a:t> </a:t>
            </a:r>
            <a:r>
              <a:rPr lang="fr-FR" i="1" dirty="0" err="1"/>
              <a:t>trusting</a:t>
            </a:r>
            <a:r>
              <a:rPr lang="fr-FR" i="1" dirty="0"/>
              <a:t> a component, </a:t>
            </a:r>
            <a:r>
              <a:rPr lang="fr-FR" i="1" dirty="0" err="1"/>
              <a:t>write</a:t>
            </a:r>
            <a:r>
              <a:rPr lang="fr-FR" i="1" dirty="0"/>
              <a:t> the </a:t>
            </a:r>
            <a:r>
              <a:rPr lang="fr-FR" i="1" dirty="0" err="1"/>
              <a:t>cheapest</a:t>
            </a:r>
            <a:r>
              <a:rPr lang="fr-FR" i="1" dirty="0"/>
              <a:t> </a:t>
            </a:r>
            <a:r>
              <a:rPr lang="fr-FR" i="1" dirty="0" err="1"/>
              <a:t>thing</a:t>
            </a:r>
            <a:r>
              <a:rPr lang="fr-FR" i="1" dirty="0"/>
              <a:t> </a:t>
            </a:r>
            <a:r>
              <a:rPr lang="fr-FR" i="1" dirty="0" err="1"/>
              <a:t>that</a:t>
            </a:r>
            <a:r>
              <a:rPr lang="fr-FR" i="1" dirty="0"/>
              <a:t> </a:t>
            </a:r>
            <a:r>
              <a:rPr lang="fr-FR" i="1" dirty="0" err="1"/>
              <a:t>could</a:t>
            </a:r>
            <a:r>
              <a:rPr lang="fr-FR" i="1" dirty="0"/>
              <a:t> replace </a:t>
            </a:r>
            <a:r>
              <a:rPr lang="fr-FR" i="1" dirty="0" err="1"/>
              <a:t>it</a:t>
            </a:r>
            <a:r>
              <a:rPr lang="fr-FR" i="1" dirty="0"/>
              <a:t>."</a:t>
            </a:r>
            <a:endParaRPr lang="fr-FR"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8.png"/><Relationship Id="rId7"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1.png"/><Relationship Id="rId5" Type="http://schemas.openxmlformats.org/officeDocument/2006/relationships/image" Target="../media/image33.png"/><Relationship Id="rId10" Type="http://schemas.openxmlformats.org/officeDocument/2006/relationships/image" Target="../media/image37.png"/><Relationship Id="rId4" Type="http://schemas.openxmlformats.org/officeDocument/2006/relationships/image" Target="../media/image32.png"/><Relationship Id="rId9"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38.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8.png"/><Relationship Id="rId7"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29.pn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34.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21.png"/></Relationships>
</file>

<file path=ppt/slides/_rels/slide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51.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55.png"/><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6.png"/><Relationship Id="rId7" Type="http://schemas.openxmlformats.org/officeDocument/2006/relationships/image" Target="../media/image5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18.png"/><Relationship Id="rId4" Type="http://schemas.openxmlformats.org/officeDocument/2006/relationships/image" Target="../media/image55.png"/><Relationship Id="rId9"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13230" b="13230"/>
          <a:stretch/>
        </p:blipFill>
        <p:spPr>
          <a:xfrm>
            <a:off x="0" y="0"/>
            <a:ext cx="12192000" cy="5048250"/>
          </a:xfrm>
          <a:prstGeom prst="rect">
            <a:avLst/>
          </a:prstGeom>
        </p:spPr>
      </p:pic>
      <p:sp>
        <p:nvSpPr>
          <p:cNvPr id="3" name="Shape 0"/>
          <p:cNvSpPr/>
          <p:nvPr/>
        </p:nvSpPr>
        <p:spPr>
          <a:xfrm>
            <a:off x="0" y="0"/>
            <a:ext cx="12192000" cy="5048250"/>
          </a:xfrm>
          <a:prstGeom prst="rect">
            <a:avLst/>
          </a:prstGeom>
          <a:gradFill rotWithShape="1">
            <a:gsLst>
              <a:gs pos="0">
                <a:srgbClr val="063C67">
                  <a:alpha val="30000"/>
                </a:srgbClr>
              </a:gs>
              <a:gs pos="58000">
                <a:srgbClr val="063C67">
                  <a:alpha val="76000"/>
                </a:srgbClr>
              </a:gs>
              <a:gs pos="100000">
                <a:srgbClr val="063C67">
                  <a:alpha val="94000"/>
                </a:srgbClr>
              </a:gs>
            </a:gsLst>
            <a:lin ang="5400000" scaled="0"/>
          </a:gradFill>
          <a:ln/>
        </p:spPr>
        <p:txBody>
          <a:bodyPr/>
          <a:lstStyle/>
          <a:p>
            <a:endParaRPr lang="fr-FR"/>
          </a:p>
        </p:txBody>
      </p:sp>
      <p:sp>
        <p:nvSpPr>
          <p:cNvPr id="4" name="Text 1"/>
          <p:cNvSpPr/>
          <p:nvPr/>
        </p:nvSpPr>
        <p:spPr>
          <a:xfrm>
            <a:off x="419100" y="1123950"/>
            <a:ext cx="11001375" cy="286643"/>
          </a:xfrm>
          <a:prstGeom prst="rect">
            <a:avLst/>
          </a:prstGeom>
          <a:noFill/>
          <a:ln/>
        </p:spPr>
        <p:txBody>
          <a:bodyPr wrap="square" lIns="25400" tIns="25400" rIns="25400" bIns="25400" rtlCol="0" anchor="t">
            <a:normAutofit lnSpcReduction="10000"/>
          </a:bodyPr>
          <a:lstStyle/>
          <a:p>
            <a:pPr marL="0" indent="0" algn="l">
              <a:lnSpc>
                <a:spcPct val="126290"/>
              </a:lnSpc>
              <a:buNone/>
            </a:pPr>
            <a:r>
              <a:rPr lang="en-US" sz="1350" b="1" kern="0" spc="243" dirty="0">
                <a:solidFill>
                  <a:srgbClr val="7ECBEE"/>
                </a:solidFill>
                <a:latin typeface="Arial" pitchFamily="34" charset="0"/>
                <a:ea typeface="Arial" pitchFamily="34" charset="-122"/>
                <a:cs typeface="Arial" pitchFamily="34" charset="-120"/>
              </a:rPr>
              <a:t>INTERNSHIP AT ALTEN SO</a:t>
            </a:r>
            <a:endParaRPr lang="en-US" sz="1350" dirty="0"/>
          </a:p>
        </p:txBody>
      </p:sp>
      <p:sp>
        <p:nvSpPr>
          <p:cNvPr id="5" name="Text 2"/>
          <p:cNvSpPr/>
          <p:nvPr/>
        </p:nvSpPr>
        <p:spPr>
          <a:xfrm>
            <a:off x="419099" y="1620142"/>
            <a:ext cx="11256433" cy="1155899"/>
          </a:xfrm>
          <a:prstGeom prst="rect">
            <a:avLst/>
          </a:prstGeom>
          <a:noFill/>
          <a:ln/>
        </p:spPr>
        <p:txBody>
          <a:bodyPr wrap="square" lIns="25400" tIns="25400" rIns="25400" bIns="25400" rtlCol="0" anchor="t">
            <a:normAutofit/>
          </a:bodyPr>
          <a:lstStyle/>
          <a:p>
            <a:pPr marL="0" indent="0" algn="l">
              <a:lnSpc>
                <a:spcPct val="65368"/>
              </a:lnSpc>
              <a:buNone/>
            </a:pPr>
            <a:r>
              <a:rPr lang="en-US" sz="4050" b="1" dirty="0">
                <a:solidFill>
                  <a:srgbClr val="FFFFFF"/>
                </a:solidFill>
                <a:latin typeface="Arial Black" pitchFamily="34" charset="0"/>
                <a:ea typeface="Arial Black" pitchFamily="34" charset="-122"/>
                <a:cs typeface="Arial Black" pitchFamily="34" charset="-120"/>
              </a:rPr>
              <a:t>R&amp;D : Urgency in the Digital Twin Smart Green Supply Chain</a:t>
            </a:r>
            <a:endParaRPr lang="en-US" sz="4050" dirty="0"/>
          </a:p>
        </p:txBody>
      </p:sp>
      <p:sp>
        <p:nvSpPr>
          <p:cNvPr id="6" name="Text 3"/>
          <p:cNvSpPr/>
          <p:nvPr/>
        </p:nvSpPr>
        <p:spPr>
          <a:xfrm>
            <a:off x="419100" y="2776042"/>
            <a:ext cx="11001375" cy="369491"/>
          </a:xfrm>
          <a:prstGeom prst="rect">
            <a:avLst/>
          </a:prstGeom>
          <a:noFill/>
          <a:ln/>
        </p:spPr>
        <p:txBody>
          <a:bodyPr wrap="square" lIns="25400" tIns="25400" rIns="25400" bIns="25400" rtlCol="0" anchor="t">
            <a:normAutofit/>
          </a:bodyPr>
          <a:lstStyle/>
          <a:p>
            <a:pPr marL="0" indent="0" algn="l">
              <a:lnSpc>
                <a:spcPct val="124286"/>
              </a:lnSpc>
              <a:buNone/>
            </a:pPr>
            <a:r>
              <a:rPr lang="en-US" sz="1800" dirty="0">
                <a:solidFill>
                  <a:srgbClr val="B1DFF4"/>
                </a:solidFill>
                <a:latin typeface="Arial" pitchFamily="34" charset="0"/>
                <a:ea typeface="Arial" pitchFamily="34" charset="-122"/>
                <a:cs typeface="Arial" pitchFamily="34" charset="-120"/>
              </a:rPr>
              <a:t>Measuring declared against real urgency in a supply chain digital twin to acted upon</a:t>
            </a:r>
            <a:endParaRPr lang="en-US" sz="1800" dirty="0"/>
          </a:p>
        </p:txBody>
      </p:sp>
      <p:sp>
        <p:nvSpPr>
          <p:cNvPr id="7" name="Text 4"/>
          <p:cNvSpPr/>
          <p:nvPr/>
        </p:nvSpPr>
        <p:spPr>
          <a:xfrm>
            <a:off x="419100" y="3924300"/>
            <a:ext cx="2595037" cy="480020"/>
          </a:xfrm>
          <a:prstGeom prst="rect">
            <a:avLst/>
          </a:prstGeom>
          <a:noFill/>
          <a:ln/>
        </p:spPr>
        <p:txBody>
          <a:bodyPr wrap="square" lIns="25400" tIns="25400" rIns="25400" bIns="25400" rtlCol="0" anchor="t">
            <a:normAutofit/>
          </a:bodyPr>
          <a:lstStyle/>
          <a:p>
            <a:pPr marL="0" indent="0" algn="l">
              <a:lnSpc>
                <a:spcPct val="102353"/>
              </a:lnSpc>
              <a:buNone/>
            </a:pPr>
            <a:r>
              <a:rPr lang="en-US" sz="2400" b="1" dirty="0">
                <a:solidFill>
                  <a:srgbClr val="FFFFFF"/>
                </a:solidFill>
                <a:latin typeface="Arial Black" pitchFamily="34" charset="0"/>
                <a:ea typeface="Arial Black" pitchFamily="34" charset="-122"/>
                <a:cs typeface="Arial Black" pitchFamily="34" charset="-120"/>
              </a:rPr>
              <a:t>HOARAU John</a:t>
            </a:r>
            <a:endParaRPr lang="en-US" sz="2400" dirty="0"/>
          </a:p>
        </p:txBody>
      </p:sp>
      <p:sp>
        <p:nvSpPr>
          <p:cNvPr id="8" name="Text 5"/>
          <p:cNvSpPr/>
          <p:nvPr/>
        </p:nvSpPr>
        <p:spPr>
          <a:xfrm>
            <a:off x="419100" y="4423370"/>
            <a:ext cx="2595037"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B1DFF4"/>
                </a:solidFill>
                <a:latin typeface="Calibri" pitchFamily="34" charset="0"/>
                <a:ea typeface="Calibri" pitchFamily="34" charset="-122"/>
                <a:cs typeface="Calibri" pitchFamily="34" charset="-120"/>
              </a:rPr>
              <a:t>Cohort 2026 DED</a:t>
            </a:r>
            <a:endParaRPr lang="en-US" sz="1425" dirty="0"/>
          </a:p>
        </p:txBody>
      </p:sp>
      <p:sp>
        <p:nvSpPr>
          <p:cNvPr id="9" name="Text 6"/>
          <p:cNvSpPr/>
          <p:nvPr/>
        </p:nvSpPr>
        <p:spPr>
          <a:xfrm>
            <a:off x="419100" y="5391150"/>
            <a:ext cx="3069580" cy="211435"/>
          </a:xfrm>
          <a:prstGeom prst="rect">
            <a:avLst/>
          </a:prstGeom>
          <a:noFill/>
          <a:ln/>
        </p:spPr>
        <p:txBody>
          <a:bodyPr wrap="square" lIns="25400" tIns="25400" rIns="25400" bIns="25400" rtlCol="0" anchor="t">
            <a:normAutofit lnSpcReduction="10000"/>
          </a:bodyPr>
          <a:lstStyle/>
          <a:p>
            <a:pPr marL="0" indent="0" algn="l">
              <a:lnSpc>
                <a:spcPct val="118696"/>
              </a:lnSpc>
              <a:buNone/>
            </a:pPr>
            <a:r>
              <a:rPr lang="en-US" sz="975" b="1" kern="0" spc="137" dirty="0">
                <a:solidFill>
                  <a:srgbClr val="1D93C9"/>
                </a:solidFill>
                <a:latin typeface="Arial" pitchFamily="34" charset="0"/>
                <a:ea typeface="Arial" pitchFamily="34" charset="-122"/>
                <a:cs typeface="Arial" pitchFamily="34" charset="-120"/>
              </a:rPr>
              <a:t>COMPANY</a:t>
            </a:r>
            <a:endParaRPr lang="en-US" sz="975" dirty="0"/>
          </a:p>
        </p:txBody>
      </p:sp>
      <p:sp>
        <p:nvSpPr>
          <p:cNvPr id="10" name="Text 7"/>
          <p:cNvSpPr/>
          <p:nvPr/>
        </p:nvSpPr>
        <p:spPr>
          <a:xfrm>
            <a:off x="419100" y="5634335"/>
            <a:ext cx="1207988"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ALTEN Sud-Ouest</a:t>
            </a:r>
            <a:endParaRPr lang="en-US" sz="1275" dirty="0"/>
          </a:p>
        </p:txBody>
      </p:sp>
      <p:sp>
        <p:nvSpPr>
          <p:cNvPr id="11" name="Text 8"/>
          <p:cNvSpPr/>
          <p:nvPr/>
        </p:nvSpPr>
        <p:spPr>
          <a:xfrm>
            <a:off x="419100" y="5860951"/>
            <a:ext cx="2874243"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Direction de l’Innovation · Lab de Toulouse</a:t>
            </a:r>
            <a:endParaRPr lang="en-US" sz="1275" dirty="0"/>
          </a:p>
        </p:txBody>
      </p:sp>
      <p:sp>
        <p:nvSpPr>
          <p:cNvPr id="12" name="Text 9"/>
          <p:cNvSpPr/>
          <p:nvPr/>
        </p:nvSpPr>
        <p:spPr>
          <a:xfrm>
            <a:off x="3666827" y="5391150"/>
            <a:ext cx="2014736" cy="211435"/>
          </a:xfrm>
          <a:prstGeom prst="rect">
            <a:avLst/>
          </a:prstGeom>
          <a:noFill/>
          <a:ln/>
        </p:spPr>
        <p:txBody>
          <a:bodyPr wrap="square" lIns="25400" tIns="25400" rIns="25400" bIns="25400" rtlCol="0" anchor="t">
            <a:normAutofit lnSpcReduction="10000"/>
          </a:bodyPr>
          <a:lstStyle/>
          <a:p>
            <a:pPr marL="0" indent="0" algn="l">
              <a:lnSpc>
                <a:spcPct val="118696"/>
              </a:lnSpc>
              <a:buNone/>
            </a:pPr>
            <a:r>
              <a:rPr lang="en-US" sz="975" b="1" kern="0" spc="137" dirty="0">
                <a:solidFill>
                  <a:srgbClr val="1D93C9"/>
                </a:solidFill>
                <a:latin typeface="Arial" pitchFamily="34" charset="0"/>
                <a:ea typeface="Arial" pitchFamily="34" charset="-122"/>
                <a:cs typeface="Arial" pitchFamily="34" charset="-120"/>
              </a:rPr>
              <a:t>PERIOD</a:t>
            </a:r>
            <a:endParaRPr lang="en-US" sz="975" dirty="0"/>
          </a:p>
        </p:txBody>
      </p:sp>
      <p:sp>
        <p:nvSpPr>
          <p:cNvPr id="13" name="Text 10"/>
          <p:cNvSpPr/>
          <p:nvPr/>
        </p:nvSpPr>
        <p:spPr>
          <a:xfrm>
            <a:off x="3666827" y="5634335"/>
            <a:ext cx="1907778"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13 April → 16 October 2026</a:t>
            </a:r>
            <a:endParaRPr lang="en-US" sz="1275" dirty="0"/>
          </a:p>
        </p:txBody>
      </p:sp>
      <p:sp>
        <p:nvSpPr>
          <p:cNvPr id="14" name="Text 11"/>
          <p:cNvSpPr/>
          <p:nvPr/>
        </p:nvSpPr>
        <p:spPr>
          <a:xfrm>
            <a:off x="3666827" y="5860951"/>
            <a:ext cx="1182688"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Confidential: YES</a:t>
            </a:r>
            <a:endParaRPr lang="en-US" sz="1275" dirty="0"/>
          </a:p>
        </p:txBody>
      </p:sp>
      <p:sp>
        <p:nvSpPr>
          <p:cNvPr id="15" name="Text 12"/>
          <p:cNvSpPr/>
          <p:nvPr/>
        </p:nvSpPr>
        <p:spPr>
          <a:xfrm>
            <a:off x="5955606" y="5391150"/>
            <a:ext cx="3127861" cy="211435"/>
          </a:xfrm>
          <a:prstGeom prst="rect">
            <a:avLst/>
          </a:prstGeom>
          <a:noFill/>
          <a:ln/>
        </p:spPr>
        <p:txBody>
          <a:bodyPr wrap="square" lIns="25400" tIns="25400" rIns="25400" bIns="25400" rtlCol="0" anchor="t">
            <a:normAutofit lnSpcReduction="10000"/>
          </a:bodyPr>
          <a:lstStyle/>
          <a:p>
            <a:pPr marL="0" indent="0" algn="l">
              <a:lnSpc>
                <a:spcPct val="118696"/>
              </a:lnSpc>
              <a:buNone/>
            </a:pPr>
            <a:r>
              <a:rPr lang="en-US" sz="975" b="1" kern="0" spc="137" dirty="0">
                <a:solidFill>
                  <a:srgbClr val="1D93C9"/>
                </a:solidFill>
                <a:latin typeface="Arial" pitchFamily="34" charset="0"/>
                <a:ea typeface="Arial" pitchFamily="34" charset="-122"/>
                <a:cs typeface="Arial" pitchFamily="34" charset="-120"/>
              </a:rPr>
              <a:t>TUTORS</a:t>
            </a:r>
            <a:endParaRPr lang="en-US" sz="975" dirty="0"/>
          </a:p>
        </p:txBody>
      </p:sp>
      <p:sp>
        <p:nvSpPr>
          <p:cNvPr id="16" name="Text 13"/>
          <p:cNvSpPr/>
          <p:nvPr/>
        </p:nvSpPr>
        <p:spPr>
          <a:xfrm>
            <a:off x="5955606" y="5634335"/>
            <a:ext cx="2174776"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S. Perthuisot and F. Jules, ALTEN</a:t>
            </a:r>
            <a:endParaRPr lang="en-US" sz="1275" dirty="0"/>
          </a:p>
        </p:txBody>
      </p:sp>
      <p:sp>
        <p:nvSpPr>
          <p:cNvPr id="17" name="Text 14"/>
          <p:cNvSpPr/>
          <p:nvPr/>
        </p:nvSpPr>
        <p:spPr>
          <a:xfrm>
            <a:off x="5955606" y="5860951"/>
            <a:ext cx="2928815"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Dr. D. Gomez, ESTIA · Dr. P. Sherar, Cranfield</a:t>
            </a:r>
            <a:endParaRPr lang="en-US" sz="1275" dirty="0"/>
          </a:p>
        </p:txBody>
      </p:sp>
      <p:pic>
        <p:nvPicPr>
          <p:cNvPr id="18" name="Image 1" descr="preencoded.png"/>
          <p:cNvPicPr>
            <a:picLocks noChangeAspect="1"/>
          </p:cNvPicPr>
          <p:nvPr/>
        </p:nvPicPr>
        <p:blipFill>
          <a:blip r:embed="rId4"/>
          <a:stretch>
            <a:fillRect/>
          </a:stretch>
        </p:blipFill>
        <p:spPr>
          <a:xfrm>
            <a:off x="11209734" y="5262860"/>
            <a:ext cx="525066" cy="742950"/>
          </a:xfrm>
          <a:prstGeom prst="rect">
            <a:avLst/>
          </a:prstGeom>
        </p:spPr>
      </p:pic>
      <p:pic>
        <p:nvPicPr>
          <p:cNvPr id="19" name="Image 2" descr="preencoded.png"/>
          <p:cNvPicPr>
            <a:picLocks noChangeAspect="1"/>
          </p:cNvPicPr>
          <p:nvPr/>
        </p:nvPicPr>
        <p:blipFill>
          <a:blip r:embed="rId5"/>
          <a:stretch>
            <a:fillRect/>
          </a:stretch>
        </p:blipFill>
        <p:spPr>
          <a:xfrm>
            <a:off x="9254728" y="5410198"/>
            <a:ext cx="1184672" cy="514350"/>
          </a:xfrm>
          <a:prstGeom prst="rect">
            <a:avLst/>
          </a:prstGeom>
        </p:spPr>
      </p:pic>
      <p:pic>
        <p:nvPicPr>
          <p:cNvPr id="21" name="Image 20">
            <a:extLst>
              <a:ext uri="{FF2B5EF4-FFF2-40B4-BE49-F238E27FC236}">
                <a16:creationId xmlns:a16="http://schemas.microsoft.com/office/drawing/2014/main" id="{58FAA7EB-B541-2A4F-292E-2CB69C9477A6}"/>
              </a:ext>
            </a:extLst>
          </p:cNvPr>
          <p:cNvPicPr>
            <a:picLocks noChangeAspect="1"/>
          </p:cNvPicPr>
          <p:nvPr/>
        </p:nvPicPr>
        <p:blipFill>
          <a:blip r:embed="rId6"/>
          <a:stretch>
            <a:fillRect/>
          </a:stretch>
        </p:blipFill>
        <p:spPr>
          <a:xfrm>
            <a:off x="11105554" y="6043612"/>
            <a:ext cx="742950" cy="742950"/>
          </a:xfrm>
          <a:prstGeom prst="rect">
            <a:avLst/>
          </a:prstGeom>
        </p:spPr>
      </p:pic>
      <p:pic>
        <p:nvPicPr>
          <p:cNvPr id="23" name="Image 22">
            <a:extLst>
              <a:ext uri="{FF2B5EF4-FFF2-40B4-BE49-F238E27FC236}">
                <a16:creationId xmlns:a16="http://schemas.microsoft.com/office/drawing/2014/main" id="{D67A78C4-863C-68CF-ED51-09ED77173532}"/>
              </a:ext>
            </a:extLst>
          </p:cNvPr>
          <p:cNvPicPr>
            <a:picLocks noChangeAspect="1"/>
          </p:cNvPicPr>
          <p:nvPr/>
        </p:nvPicPr>
        <p:blipFill>
          <a:blip r:embed="rId7"/>
          <a:stretch>
            <a:fillRect/>
          </a:stretch>
        </p:blipFill>
        <p:spPr>
          <a:xfrm>
            <a:off x="9475301" y="6043612"/>
            <a:ext cx="743525" cy="7429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7E3A7-5652-6152-613D-0EFF35BE671C}"/>
            </a:ext>
          </a:extLst>
        </p:cNvPr>
        <p:cNvGrpSpPr/>
        <p:nvPr/>
      </p:nvGrpSpPr>
      <p:grpSpPr>
        <a:xfrm>
          <a:off x="0" y="0"/>
          <a:ext cx="0" cy="0"/>
          <a:chOff x="0" y="0"/>
          <a:chExt cx="0" cy="0"/>
        </a:xfrm>
      </p:grpSpPr>
      <p:pic>
        <p:nvPicPr>
          <p:cNvPr id="24" name="Image 5" descr="preencoded.png">
            <a:extLst>
              <a:ext uri="{FF2B5EF4-FFF2-40B4-BE49-F238E27FC236}">
                <a16:creationId xmlns:a16="http://schemas.microsoft.com/office/drawing/2014/main" id="{E23858DA-5E8B-CA5A-81FB-248A00571ADB}"/>
              </a:ext>
            </a:extLst>
          </p:cNvPr>
          <p:cNvPicPr>
            <a:picLocks noChangeAspect="1"/>
          </p:cNvPicPr>
          <p:nvPr/>
        </p:nvPicPr>
        <p:blipFill>
          <a:blip r:embed="rId3"/>
          <a:srcRect l="26001" r="26001"/>
          <a:stretch/>
        </p:blipFill>
        <p:spPr>
          <a:xfrm>
            <a:off x="7239000" y="0"/>
            <a:ext cx="4953000" cy="6858000"/>
          </a:xfrm>
          <a:prstGeom prst="rect">
            <a:avLst/>
          </a:prstGeom>
        </p:spPr>
      </p:pic>
      <p:sp>
        <p:nvSpPr>
          <p:cNvPr id="31" name="Shape 19">
            <a:extLst>
              <a:ext uri="{FF2B5EF4-FFF2-40B4-BE49-F238E27FC236}">
                <a16:creationId xmlns:a16="http://schemas.microsoft.com/office/drawing/2014/main" id="{C99587F7-B402-6779-4BDA-4286476DE344}"/>
              </a:ext>
            </a:extLst>
          </p:cNvPr>
          <p:cNvSpPr/>
          <p:nvPr/>
        </p:nvSpPr>
        <p:spPr>
          <a:xfrm>
            <a:off x="352426" y="1514475"/>
            <a:ext cx="6286499" cy="704850"/>
          </a:xfrm>
          <a:prstGeom prst="rect">
            <a:avLst/>
          </a:prstGeom>
          <a:solidFill>
            <a:srgbClr val="FFDA65"/>
          </a:solidFill>
          <a:ln/>
        </p:spPr>
        <p:txBody>
          <a:bodyPr/>
          <a:lstStyle/>
          <a:p>
            <a:endParaRPr lang="fr-FR"/>
          </a:p>
        </p:txBody>
      </p:sp>
      <p:sp>
        <p:nvSpPr>
          <p:cNvPr id="2" name="Shape 0">
            <a:extLst>
              <a:ext uri="{FF2B5EF4-FFF2-40B4-BE49-F238E27FC236}">
                <a16:creationId xmlns:a16="http://schemas.microsoft.com/office/drawing/2014/main" id="{918705D8-1D9A-719B-CCD2-38E81C661B70}"/>
              </a:ext>
            </a:extLst>
          </p:cNvPr>
          <p:cNvSpPr/>
          <p:nvPr/>
        </p:nvSpPr>
        <p:spPr>
          <a:xfrm>
            <a:off x="0" y="0"/>
            <a:ext cx="104775" cy="6858000"/>
          </a:xfrm>
          <a:prstGeom prst="rect">
            <a:avLst/>
          </a:prstGeom>
          <a:solidFill>
            <a:srgbClr val="063C67"/>
          </a:solidFill>
          <a:ln/>
        </p:spPr>
        <p:txBody>
          <a:bodyPr/>
          <a:lstStyle/>
          <a:p>
            <a:endParaRPr lang="fr-FR"/>
          </a:p>
        </p:txBody>
      </p:sp>
      <p:sp>
        <p:nvSpPr>
          <p:cNvPr id="3" name="Text 1">
            <a:extLst>
              <a:ext uri="{FF2B5EF4-FFF2-40B4-BE49-F238E27FC236}">
                <a16:creationId xmlns:a16="http://schemas.microsoft.com/office/drawing/2014/main" id="{C0323CCD-F62A-5F65-11AD-C0AACD5CFC25}"/>
              </a:ext>
            </a:extLst>
          </p:cNvPr>
          <p:cNvSpPr/>
          <p:nvPr/>
        </p:nvSpPr>
        <p:spPr>
          <a:xfrm>
            <a:off x="352425" y="171450"/>
            <a:ext cx="1351598"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PLAN</a:t>
            </a:r>
            <a:endParaRPr lang="en-US" sz="3225" dirty="0"/>
          </a:p>
        </p:txBody>
      </p:sp>
      <p:pic>
        <p:nvPicPr>
          <p:cNvPr id="5" name="Image 0" descr="preencoded.png">
            <a:extLst>
              <a:ext uri="{FF2B5EF4-FFF2-40B4-BE49-F238E27FC236}">
                <a16:creationId xmlns:a16="http://schemas.microsoft.com/office/drawing/2014/main" id="{B384B8D2-C617-95E4-BD48-37FA1483DD9E}"/>
              </a:ext>
            </a:extLst>
          </p:cNvPr>
          <p:cNvPicPr>
            <a:picLocks noChangeAspect="1"/>
          </p:cNvPicPr>
          <p:nvPr/>
        </p:nvPicPr>
        <p:blipFill>
          <a:blip r:embed="rId4"/>
          <a:stretch>
            <a:fillRect/>
          </a:stretch>
        </p:blipFill>
        <p:spPr>
          <a:xfrm>
            <a:off x="542925" y="1657350"/>
            <a:ext cx="419100" cy="419100"/>
          </a:xfrm>
          <a:prstGeom prst="rect">
            <a:avLst/>
          </a:prstGeom>
        </p:spPr>
      </p:pic>
      <p:sp>
        <p:nvSpPr>
          <p:cNvPr id="6" name="Text 3">
            <a:extLst>
              <a:ext uri="{FF2B5EF4-FFF2-40B4-BE49-F238E27FC236}">
                <a16:creationId xmlns:a16="http://schemas.microsoft.com/office/drawing/2014/main" id="{0ACD2C82-0831-73A1-4AFE-D84D112C46D0}"/>
              </a:ext>
            </a:extLst>
          </p:cNvPr>
          <p:cNvSpPr/>
          <p:nvPr/>
        </p:nvSpPr>
        <p:spPr>
          <a:xfrm>
            <a:off x="1135261" y="1694259"/>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1</a:t>
            </a:r>
            <a:endParaRPr lang="en-US" sz="1800" dirty="0"/>
          </a:p>
        </p:txBody>
      </p:sp>
      <p:sp>
        <p:nvSpPr>
          <p:cNvPr id="8" name="Shape 5">
            <a:extLst>
              <a:ext uri="{FF2B5EF4-FFF2-40B4-BE49-F238E27FC236}">
                <a16:creationId xmlns:a16="http://schemas.microsoft.com/office/drawing/2014/main" id="{0DAA930A-A862-96A4-7BBE-C2A5B64A1B88}"/>
              </a:ext>
            </a:extLst>
          </p:cNvPr>
          <p:cNvSpPr/>
          <p:nvPr/>
        </p:nvSpPr>
        <p:spPr>
          <a:xfrm>
            <a:off x="352425" y="2362200"/>
            <a:ext cx="6286500" cy="723900"/>
          </a:xfrm>
          <a:prstGeom prst="rect">
            <a:avLst/>
          </a:prstGeom>
          <a:solidFill>
            <a:srgbClr val="F4F4F6"/>
          </a:solidFill>
          <a:ln/>
        </p:spPr>
        <p:txBody>
          <a:bodyPr/>
          <a:lstStyle/>
          <a:p>
            <a:endParaRPr lang="fr-FR"/>
          </a:p>
        </p:txBody>
      </p:sp>
      <p:pic>
        <p:nvPicPr>
          <p:cNvPr id="9" name="Image 1" descr="preencoded.png">
            <a:extLst>
              <a:ext uri="{FF2B5EF4-FFF2-40B4-BE49-F238E27FC236}">
                <a16:creationId xmlns:a16="http://schemas.microsoft.com/office/drawing/2014/main" id="{3D394B2C-34B5-486F-CFA3-98B4DC876A12}"/>
              </a:ext>
            </a:extLst>
          </p:cNvPr>
          <p:cNvPicPr>
            <a:picLocks noChangeAspect="1"/>
          </p:cNvPicPr>
          <p:nvPr/>
        </p:nvPicPr>
        <p:blipFill>
          <a:blip r:embed="rId5"/>
          <a:stretch>
            <a:fillRect/>
          </a:stretch>
        </p:blipFill>
        <p:spPr>
          <a:xfrm>
            <a:off x="542925" y="2514600"/>
            <a:ext cx="331887" cy="419100"/>
          </a:xfrm>
          <a:prstGeom prst="rect">
            <a:avLst/>
          </a:prstGeom>
        </p:spPr>
      </p:pic>
      <p:sp>
        <p:nvSpPr>
          <p:cNvPr id="10" name="Text 6">
            <a:extLst>
              <a:ext uri="{FF2B5EF4-FFF2-40B4-BE49-F238E27FC236}">
                <a16:creationId xmlns:a16="http://schemas.microsoft.com/office/drawing/2014/main" id="{3B67BBD2-BB4C-444E-F1B5-606EC10E859F}"/>
              </a:ext>
            </a:extLst>
          </p:cNvPr>
          <p:cNvSpPr/>
          <p:nvPr/>
        </p:nvSpPr>
        <p:spPr>
          <a:xfrm>
            <a:off x="1135261" y="255324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2</a:t>
            </a:r>
            <a:endParaRPr lang="en-US" sz="1800" dirty="0"/>
          </a:p>
        </p:txBody>
      </p:sp>
      <p:sp>
        <p:nvSpPr>
          <p:cNvPr id="12" name="Shape 8">
            <a:extLst>
              <a:ext uri="{FF2B5EF4-FFF2-40B4-BE49-F238E27FC236}">
                <a16:creationId xmlns:a16="http://schemas.microsoft.com/office/drawing/2014/main" id="{D535C75C-57F0-AEB3-D9DB-1D5066EDFBC6}"/>
              </a:ext>
            </a:extLst>
          </p:cNvPr>
          <p:cNvSpPr/>
          <p:nvPr/>
        </p:nvSpPr>
        <p:spPr>
          <a:xfrm>
            <a:off x="352425" y="3219450"/>
            <a:ext cx="6286500" cy="723900"/>
          </a:xfrm>
          <a:prstGeom prst="rect">
            <a:avLst/>
          </a:prstGeom>
          <a:solidFill>
            <a:srgbClr val="F4F4F6"/>
          </a:solidFill>
          <a:ln/>
        </p:spPr>
        <p:txBody>
          <a:bodyPr/>
          <a:lstStyle/>
          <a:p>
            <a:endParaRPr lang="fr-FR"/>
          </a:p>
        </p:txBody>
      </p:sp>
      <p:pic>
        <p:nvPicPr>
          <p:cNvPr id="13" name="Image 2" descr="preencoded.png">
            <a:extLst>
              <a:ext uri="{FF2B5EF4-FFF2-40B4-BE49-F238E27FC236}">
                <a16:creationId xmlns:a16="http://schemas.microsoft.com/office/drawing/2014/main" id="{C7BCD572-3EC6-8C22-4633-398EE5F5F298}"/>
              </a:ext>
            </a:extLst>
          </p:cNvPr>
          <p:cNvPicPr>
            <a:picLocks noChangeAspect="1"/>
          </p:cNvPicPr>
          <p:nvPr/>
        </p:nvPicPr>
        <p:blipFill>
          <a:blip r:embed="rId6"/>
          <a:stretch>
            <a:fillRect/>
          </a:stretch>
        </p:blipFill>
        <p:spPr>
          <a:xfrm>
            <a:off x="542925" y="3371850"/>
            <a:ext cx="419100" cy="419100"/>
          </a:xfrm>
          <a:prstGeom prst="rect">
            <a:avLst/>
          </a:prstGeom>
        </p:spPr>
      </p:pic>
      <p:sp>
        <p:nvSpPr>
          <p:cNvPr id="14" name="Text 9">
            <a:extLst>
              <a:ext uri="{FF2B5EF4-FFF2-40B4-BE49-F238E27FC236}">
                <a16:creationId xmlns:a16="http://schemas.microsoft.com/office/drawing/2014/main" id="{308B74A7-5B9F-5C78-1967-47731F55BA8B}"/>
              </a:ext>
            </a:extLst>
          </p:cNvPr>
          <p:cNvSpPr/>
          <p:nvPr/>
        </p:nvSpPr>
        <p:spPr>
          <a:xfrm>
            <a:off x="1135261" y="3412231"/>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3</a:t>
            </a:r>
            <a:endParaRPr lang="en-US" sz="1800" dirty="0"/>
          </a:p>
        </p:txBody>
      </p:sp>
      <p:sp>
        <p:nvSpPr>
          <p:cNvPr id="16" name="Shape 11">
            <a:extLst>
              <a:ext uri="{FF2B5EF4-FFF2-40B4-BE49-F238E27FC236}">
                <a16:creationId xmlns:a16="http://schemas.microsoft.com/office/drawing/2014/main" id="{6C59F23B-E0E6-82AF-FA40-6430B3F3FD9C}"/>
              </a:ext>
            </a:extLst>
          </p:cNvPr>
          <p:cNvSpPr/>
          <p:nvPr/>
        </p:nvSpPr>
        <p:spPr>
          <a:xfrm>
            <a:off x="352425" y="4076700"/>
            <a:ext cx="6286500" cy="723900"/>
          </a:xfrm>
          <a:prstGeom prst="rect">
            <a:avLst/>
          </a:prstGeom>
          <a:solidFill>
            <a:srgbClr val="F4F4F6"/>
          </a:solidFill>
          <a:ln/>
        </p:spPr>
        <p:txBody>
          <a:bodyPr/>
          <a:lstStyle/>
          <a:p>
            <a:endParaRPr lang="fr-FR"/>
          </a:p>
        </p:txBody>
      </p:sp>
      <p:pic>
        <p:nvPicPr>
          <p:cNvPr id="17" name="Image 3" descr="preencoded.png">
            <a:extLst>
              <a:ext uri="{FF2B5EF4-FFF2-40B4-BE49-F238E27FC236}">
                <a16:creationId xmlns:a16="http://schemas.microsoft.com/office/drawing/2014/main" id="{C3C3F657-ED4C-0CC2-046F-722F1B7027E9}"/>
              </a:ext>
            </a:extLst>
          </p:cNvPr>
          <p:cNvPicPr>
            <a:picLocks noChangeAspect="1"/>
          </p:cNvPicPr>
          <p:nvPr/>
        </p:nvPicPr>
        <p:blipFill>
          <a:blip r:embed="rId7"/>
          <a:stretch>
            <a:fillRect/>
          </a:stretch>
        </p:blipFill>
        <p:spPr>
          <a:xfrm>
            <a:off x="542925" y="4229100"/>
            <a:ext cx="471785" cy="419100"/>
          </a:xfrm>
          <a:prstGeom prst="rect">
            <a:avLst/>
          </a:prstGeom>
        </p:spPr>
      </p:pic>
      <p:sp>
        <p:nvSpPr>
          <p:cNvPr id="18" name="Text 12">
            <a:extLst>
              <a:ext uri="{FF2B5EF4-FFF2-40B4-BE49-F238E27FC236}">
                <a16:creationId xmlns:a16="http://schemas.microsoft.com/office/drawing/2014/main" id="{D72E9896-E5EA-E465-50CA-7DD2AFB8FD47}"/>
              </a:ext>
            </a:extLst>
          </p:cNvPr>
          <p:cNvSpPr/>
          <p:nvPr/>
        </p:nvSpPr>
        <p:spPr>
          <a:xfrm>
            <a:off x="1135261" y="4271217"/>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4</a:t>
            </a:r>
            <a:endParaRPr lang="en-US" sz="1800" dirty="0"/>
          </a:p>
        </p:txBody>
      </p:sp>
      <p:sp>
        <p:nvSpPr>
          <p:cNvPr id="20" name="Shape 14">
            <a:extLst>
              <a:ext uri="{FF2B5EF4-FFF2-40B4-BE49-F238E27FC236}">
                <a16:creationId xmlns:a16="http://schemas.microsoft.com/office/drawing/2014/main" id="{418195CD-3884-58CD-27C1-B267392D8F21}"/>
              </a:ext>
            </a:extLst>
          </p:cNvPr>
          <p:cNvSpPr/>
          <p:nvPr/>
        </p:nvSpPr>
        <p:spPr>
          <a:xfrm>
            <a:off x="352425" y="4933950"/>
            <a:ext cx="6286500" cy="723900"/>
          </a:xfrm>
          <a:prstGeom prst="rect">
            <a:avLst/>
          </a:prstGeom>
          <a:solidFill>
            <a:srgbClr val="F4F4F6"/>
          </a:solidFill>
          <a:ln/>
        </p:spPr>
        <p:txBody>
          <a:bodyPr/>
          <a:lstStyle/>
          <a:p>
            <a:endParaRPr lang="fr-FR" dirty="0"/>
          </a:p>
        </p:txBody>
      </p:sp>
      <p:pic>
        <p:nvPicPr>
          <p:cNvPr id="21" name="Image 4" descr="preencoded.png">
            <a:extLst>
              <a:ext uri="{FF2B5EF4-FFF2-40B4-BE49-F238E27FC236}">
                <a16:creationId xmlns:a16="http://schemas.microsoft.com/office/drawing/2014/main" id="{A198ED89-AFF7-9824-686F-F9E4B4694F26}"/>
              </a:ext>
            </a:extLst>
          </p:cNvPr>
          <p:cNvPicPr>
            <a:picLocks noChangeAspect="1"/>
          </p:cNvPicPr>
          <p:nvPr/>
        </p:nvPicPr>
        <p:blipFill>
          <a:blip r:embed="rId8"/>
          <a:stretch>
            <a:fillRect/>
          </a:stretch>
        </p:blipFill>
        <p:spPr>
          <a:xfrm>
            <a:off x="542925" y="5086350"/>
            <a:ext cx="469900" cy="419100"/>
          </a:xfrm>
          <a:prstGeom prst="rect">
            <a:avLst/>
          </a:prstGeom>
        </p:spPr>
      </p:pic>
      <p:sp>
        <p:nvSpPr>
          <p:cNvPr id="22" name="Text 15">
            <a:extLst>
              <a:ext uri="{FF2B5EF4-FFF2-40B4-BE49-F238E27FC236}">
                <a16:creationId xmlns:a16="http://schemas.microsoft.com/office/drawing/2014/main" id="{FE6ED056-8C67-F749-0980-B02275BF78A7}"/>
              </a:ext>
            </a:extLst>
          </p:cNvPr>
          <p:cNvSpPr/>
          <p:nvPr/>
        </p:nvSpPr>
        <p:spPr>
          <a:xfrm>
            <a:off x="1135261" y="5130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5</a:t>
            </a:r>
            <a:endParaRPr lang="en-US" sz="1800" dirty="0"/>
          </a:p>
        </p:txBody>
      </p:sp>
      <p:grpSp>
        <p:nvGrpSpPr>
          <p:cNvPr id="27" name="Groupe 26">
            <a:extLst>
              <a:ext uri="{FF2B5EF4-FFF2-40B4-BE49-F238E27FC236}">
                <a16:creationId xmlns:a16="http://schemas.microsoft.com/office/drawing/2014/main" id="{DB6FD6C5-5FE0-8D51-B542-E2634C604BA4}"/>
              </a:ext>
            </a:extLst>
          </p:cNvPr>
          <p:cNvGrpSpPr/>
          <p:nvPr/>
        </p:nvGrpSpPr>
        <p:grpSpPr>
          <a:xfrm>
            <a:off x="1624310" y="1708051"/>
            <a:ext cx="4953000" cy="3784699"/>
            <a:chOff x="1624310" y="1708051"/>
            <a:chExt cx="4953000" cy="3784699"/>
          </a:xfrm>
        </p:grpSpPr>
        <p:sp>
          <p:nvSpPr>
            <p:cNvPr id="7" name="Text 4">
              <a:extLst>
                <a:ext uri="{FF2B5EF4-FFF2-40B4-BE49-F238E27FC236}">
                  <a16:creationId xmlns:a16="http://schemas.microsoft.com/office/drawing/2014/main" id="{329D7CAB-3E91-5A31-9EE7-D0B8F7BF6AD3}"/>
                </a:ext>
              </a:extLst>
            </p:cNvPr>
            <p:cNvSpPr/>
            <p:nvPr/>
          </p:nvSpPr>
          <p:spPr>
            <a:xfrm>
              <a:off x="1624310" y="1708051"/>
              <a:ext cx="405686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CONTEXT, PROBLEM, MISSION</a:t>
              </a:r>
              <a:endParaRPr lang="en-US" sz="1725" dirty="0"/>
            </a:p>
          </p:txBody>
        </p:sp>
        <p:sp>
          <p:nvSpPr>
            <p:cNvPr id="11" name="Text 7">
              <a:extLst>
                <a:ext uri="{FF2B5EF4-FFF2-40B4-BE49-F238E27FC236}">
                  <a16:creationId xmlns:a16="http://schemas.microsoft.com/office/drawing/2014/main" id="{A285C3F7-2CC9-B546-82A8-A56261EF5109}"/>
                </a:ext>
              </a:extLst>
            </p:cNvPr>
            <p:cNvSpPr/>
            <p:nvPr/>
          </p:nvSpPr>
          <p:spPr>
            <a:xfrm>
              <a:off x="1624310" y="2565301"/>
              <a:ext cx="395023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HOW THE PROJECT WAS RUN</a:t>
              </a:r>
              <a:endParaRPr lang="en-US" sz="1725" dirty="0"/>
            </a:p>
          </p:txBody>
        </p:sp>
        <p:sp>
          <p:nvSpPr>
            <p:cNvPr id="15" name="Text 10">
              <a:extLst>
                <a:ext uri="{FF2B5EF4-FFF2-40B4-BE49-F238E27FC236}">
                  <a16:creationId xmlns:a16="http://schemas.microsoft.com/office/drawing/2014/main" id="{3932D22C-299F-BB3A-FE19-581DF0A0FCE3}"/>
                </a:ext>
              </a:extLst>
            </p:cNvPr>
            <p:cNvSpPr/>
            <p:nvPr/>
          </p:nvSpPr>
          <p:spPr>
            <a:xfrm>
              <a:off x="1624310" y="3422551"/>
              <a:ext cx="4953000" cy="355699"/>
            </a:xfrm>
            <a:prstGeom prst="rect">
              <a:avLst/>
            </a:prstGeom>
            <a:noFill/>
            <a:ln/>
          </p:spPr>
          <p:txBody>
            <a:bodyPr wrap="square" lIns="25400" tIns="25400" rIns="25400" bIns="25400" rtlCol="0" anchor="t">
              <a:normAutofit fontScale="92500"/>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LITERATURE, DESIGN AND REALISATION</a:t>
              </a:r>
              <a:endParaRPr lang="en-US" sz="1725" dirty="0"/>
            </a:p>
          </p:txBody>
        </p:sp>
        <p:sp>
          <p:nvSpPr>
            <p:cNvPr id="19" name="Text 13">
              <a:extLst>
                <a:ext uri="{FF2B5EF4-FFF2-40B4-BE49-F238E27FC236}">
                  <a16:creationId xmlns:a16="http://schemas.microsoft.com/office/drawing/2014/main" id="{96D87FDA-E7D9-2884-678F-2DDB2A0CF0A8}"/>
                </a:ext>
              </a:extLst>
            </p:cNvPr>
            <p:cNvSpPr/>
            <p:nvPr/>
          </p:nvSpPr>
          <p:spPr>
            <a:xfrm>
              <a:off x="1624310" y="4292501"/>
              <a:ext cx="3602077"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RESULTS AND VALIDATION</a:t>
              </a:r>
              <a:endParaRPr lang="en-US" sz="1725" dirty="0"/>
            </a:p>
          </p:txBody>
        </p:sp>
        <p:sp>
          <p:nvSpPr>
            <p:cNvPr id="23" name="Text 16">
              <a:extLst>
                <a:ext uri="{FF2B5EF4-FFF2-40B4-BE49-F238E27FC236}">
                  <a16:creationId xmlns:a16="http://schemas.microsoft.com/office/drawing/2014/main" id="{0EFA1F38-9B5C-F455-EB50-D44CEB4A2C1C}"/>
                </a:ext>
              </a:extLst>
            </p:cNvPr>
            <p:cNvSpPr/>
            <p:nvPr/>
          </p:nvSpPr>
          <p:spPr>
            <a:xfrm>
              <a:off x="1624310" y="5137051"/>
              <a:ext cx="461861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ASSESSMENT AND PERSPECTIVES</a:t>
              </a:r>
              <a:endParaRPr lang="en-US" sz="1725" dirty="0"/>
            </a:p>
          </p:txBody>
        </p:sp>
      </p:grpSp>
      <p:pic>
        <p:nvPicPr>
          <p:cNvPr id="25" name="Image 6" descr="preencoded.png">
            <a:extLst>
              <a:ext uri="{FF2B5EF4-FFF2-40B4-BE49-F238E27FC236}">
                <a16:creationId xmlns:a16="http://schemas.microsoft.com/office/drawing/2014/main" id="{D4E91E5E-1CC7-0CEC-7446-ED9125CB41C6}"/>
              </a:ext>
            </a:extLst>
          </p:cNvPr>
          <p:cNvPicPr>
            <a:picLocks noChangeAspect="1"/>
          </p:cNvPicPr>
          <p:nvPr/>
        </p:nvPicPr>
        <p:blipFill>
          <a:blip r:embed="rId9"/>
          <a:stretch>
            <a:fillRect/>
          </a:stretch>
        </p:blipFill>
        <p:spPr>
          <a:xfrm>
            <a:off x="11229975" y="6567488"/>
            <a:ext cx="714375" cy="71438"/>
          </a:xfrm>
          <a:prstGeom prst="rect">
            <a:avLst/>
          </a:prstGeom>
        </p:spPr>
      </p:pic>
    </p:spTree>
    <p:extLst>
      <p:ext uri="{BB962C8B-B14F-4D97-AF65-F5344CB8AC3E}">
        <p14:creationId xmlns:p14="http://schemas.microsoft.com/office/powerpoint/2010/main" val="2175540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9538891"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COMPANY AND THE PROGRAMME</a:t>
            </a:r>
            <a:endParaRPr lang="en-US" sz="3225" dirty="0"/>
          </a:p>
        </p:txBody>
      </p:sp>
      <p:sp>
        <p:nvSpPr>
          <p:cNvPr id="4" name="Text 2"/>
          <p:cNvSpPr/>
          <p:nvPr/>
        </p:nvSpPr>
        <p:spPr>
          <a:xfrm>
            <a:off x="352425" y="666750"/>
            <a:ext cx="5188436"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ALTEN · Direction de l’Innovation · Toulouse Lab</a:t>
            </a:r>
            <a:endParaRPr lang="en-US" sz="1725" dirty="0"/>
          </a:p>
        </p:txBody>
      </p:sp>
      <p:pic>
        <p:nvPicPr>
          <p:cNvPr id="5" name="Image 0" descr="preencoded.png"/>
          <p:cNvPicPr>
            <a:picLocks noChangeAspect="1"/>
          </p:cNvPicPr>
          <p:nvPr/>
        </p:nvPicPr>
        <p:blipFill>
          <a:blip r:embed="rId3"/>
          <a:stretch>
            <a:fillRect/>
          </a:stretch>
        </p:blipFill>
        <p:spPr>
          <a:xfrm>
            <a:off x="304800" y="1493937"/>
            <a:ext cx="438150" cy="438150"/>
          </a:xfrm>
          <a:prstGeom prst="rect">
            <a:avLst/>
          </a:prstGeom>
        </p:spPr>
      </p:pic>
      <p:sp>
        <p:nvSpPr>
          <p:cNvPr id="6" name="Text 3"/>
          <p:cNvSpPr/>
          <p:nvPr/>
        </p:nvSpPr>
        <p:spPr>
          <a:xfrm>
            <a:off x="895350" y="1390650"/>
            <a:ext cx="1245195" cy="432395"/>
          </a:xfrm>
          <a:prstGeom prst="rect">
            <a:avLst/>
          </a:prstGeom>
          <a:noFill/>
          <a:ln/>
        </p:spPr>
        <p:txBody>
          <a:bodyPr wrap="square" lIns="25400" tIns="25400" rIns="25400" bIns="25400" rtlCol="0" anchor="t">
            <a:normAutofit/>
          </a:bodyPr>
          <a:lstStyle/>
          <a:p>
            <a:pPr marL="0" indent="0" algn="l">
              <a:lnSpc>
                <a:spcPct val="64021"/>
              </a:lnSpc>
              <a:buNone/>
            </a:pPr>
            <a:r>
              <a:rPr lang="en-US" sz="3450" b="1" dirty="0">
                <a:solidFill>
                  <a:srgbClr val="043962"/>
                </a:solidFill>
                <a:latin typeface="Arial Black" pitchFamily="34" charset="0"/>
                <a:ea typeface="Arial Black" pitchFamily="34" charset="-122"/>
                <a:cs typeface="Arial Black" pitchFamily="34" charset="-120"/>
              </a:rPr>
              <a:t>1988</a:t>
            </a:r>
            <a:endParaRPr lang="en-US" sz="3450" dirty="0"/>
          </a:p>
        </p:txBody>
      </p:sp>
      <p:sp>
        <p:nvSpPr>
          <p:cNvPr id="7" name="Text 4"/>
          <p:cNvSpPr/>
          <p:nvPr/>
        </p:nvSpPr>
        <p:spPr>
          <a:xfrm>
            <a:off x="895350" y="1842095"/>
            <a:ext cx="124519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FOUNDED</a:t>
            </a:r>
            <a:endParaRPr lang="en-US" sz="1050" dirty="0"/>
          </a:p>
        </p:txBody>
      </p:sp>
      <p:pic>
        <p:nvPicPr>
          <p:cNvPr id="8" name="Image 1" descr="preencoded.png"/>
          <p:cNvPicPr>
            <a:picLocks noChangeAspect="1"/>
          </p:cNvPicPr>
          <p:nvPr/>
        </p:nvPicPr>
        <p:blipFill>
          <a:blip r:embed="rId4"/>
          <a:stretch>
            <a:fillRect/>
          </a:stretch>
        </p:blipFill>
        <p:spPr>
          <a:xfrm>
            <a:off x="3190875" y="1493937"/>
            <a:ext cx="438150" cy="438150"/>
          </a:xfrm>
          <a:prstGeom prst="rect">
            <a:avLst/>
          </a:prstGeom>
        </p:spPr>
      </p:pic>
      <p:sp>
        <p:nvSpPr>
          <p:cNvPr id="9" name="Text 5"/>
          <p:cNvSpPr/>
          <p:nvPr/>
        </p:nvSpPr>
        <p:spPr>
          <a:xfrm>
            <a:off x="3781425" y="1390650"/>
            <a:ext cx="1029593" cy="432395"/>
          </a:xfrm>
          <a:prstGeom prst="rect">
            <a:avLst/>
          </a:prstGeom>
          <a:noFill/>
          <a:ln/>
        </p:spPr>
        <p:txBody>
          <a:bodyPr wrap="square" lIns="25400" tIns="25400" rIns="25400" bIns="25400" rtlCol="0" anchor="t">
            <a:normAutofit/>
          </a:bodyPr>
          <a:lstStyle/>
          <a:p>
            <a:pPr marL="0" indent="0" algn="l">
              <a:lnSpc>
                <a:spcPct val="64021"/>
              </a:lnSpc>
              <a:buNone/>
            </a:pPr>
            <a:r>
              <a:rPr lang="en-US" sz="3450" b="1" dirty="0">
                <a:solidFill>
                  <a:srgbClr val="043962"/>
                </a:solidFill>
                <a:latin typeface="Arial Black" pitchFamily="34" charset="0"/>
                <a:ea typeface="Arial Black" pitchFamily="34" charset="-122"/>
                <a:cs typeface="Arial Black" pitchFamily="34" charset="-120"/>
              </a:rPr>
              <a:t>+30</a:t>
            </a:r>
            <a:endParaRPr lang="en-US" sz="3450" dirty="0"/>
          </a:p>
        </p:txBody>
      </p:sp>
      <p:sp>
        <p:nvSpPr>
          <p:cNvPr id="10" name="Text 6"/>
          <p:cNvSpPr/>
          <p:nvPr/>
        </p:nvSpPr>
        <p:spPr>
          <a:xfrm>
            <a:off x="3781425" y="1842095"/>
            <a:ext cx="1029593"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COUNTRIES</a:t>
            </a:r>
            <a:endParaRPr lang="en-US" sz="1050" dirty="0"/>
          </a:p>
        </p:txBody>
      </p:sp>
      <p:pic>
        <p:nvPicPr>
          <p:cNvPr id="11" name="Image 2" descr="preencoded.png"/>
          <p:cNvPicPr>
            <a:picLocks noChangeAspect="1"/>
          </p:cNvPicPr>
          <p:nvPr/>
        </p:nvPicPr>
        <p:blipFill>
          <a:blip r:embed="rId5"/>
          <a:stretch>
            <a:fillRect/>
          </a:stretch>
        </p:blipFill>
        <p:spPr>
          <a:xfrm>
            <a:off x="6076950" y="1493937"/>
            <a:ext cx="368300" cy="438150"/>
          </a:xfrm>
          <a:prstGeom prst="rect">
            <a:avLst/>
          </a:prstGeom>
        </p:spPr>
      </p:pic>
      <p:sp>
        <p:nvSpPr>
          <p:cNvPr id="12" name="Text 7"/>
          <p:cNvSpPr/>
          <p:nvPr/>
        </p:nvSpPr>
        <p:spPr>
          <a:xfrm>
            <a:off x="6597650" y="1390650"/>
            <a:ext cx="1097558" cy="432395"/>
          </a:xfrm>
          <a:prstGeom prst="rect">
            <a:avLst/>
          </a:prstGeom>
          <a:noFill/>
          <a:ln/>
        </p:spPr>
        <p:txBody>
          <a:bodyPr wrap="square" lIns="25400" tIns="25400" rIns="25400" bIns="25400" rtlCol="0" anchor="t">
            <a:normAutofit/>
          </a:bodyPr>
          <a:lstStyle/>
          <a:p>
            <a:pPr marL="0" indent="0" algn="l">
              <a:lnSpc>
                <a:spcPct val="64021"/>
              </a:lnSpc>
              <a:buNone/>
            </a:pPr>
            <a:r>
              <a:rPr lang="en-US" sz="3450" b="1" dirty="0">
                <a:solidFill>
                  <a:srgbClr val="043962"/>
                </a:solidFill>
                <a:latin typeface="Arial Black" pitchFamily="34" charset="0"/>
                <a:ea typeface="Arial Black" pitchFamily="34" charset="-122"/>
                <a:cs typeface="Arial Black" pitchFamily="34" charset="-120"/>
              </a:rPr>
              <a:t>11</a:t>
            </a:r>
            <a:endParaRPr lang="en-US" sz="3450" dirty="0"/>
          </a:p>
        </p:txBody>
      </p:sp>
      <p:sp>
        <p:nvSpPr>
          <p:cNvPr id="13" name="Text 8"/>
          <p:cNvSpPr/>
          <p:nvPr/>
        </p:nvSpPr>
        <p:spPr>
          <a:xfrm>
            <a:off x="6597650" y="1842095"/>
            <a:ext cx="1097558"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ALTEN LABS</a:t>
            </a:r>
            <a:endParaRPr lang="en-US" sz="1050" dirty="0"/>
          </a:p>
        </p:txBody>
      </p:sp>
      <p:pic>
        <p:nvPicPr>
          <p:cNvPr id="14" name="Image 3" descr="preencoded.png"/>
          <p:cNvPicPr>
            <a:picLocks noChangeAspect="1"/>
          </p:cNvPicPr>
          <p:nvPr/>
        </p:nvPicPr>
        <p:blipFill>
          <a:blip r:embed="rId6"/>
          <a:stretch>
            <a:fillRect/>
          </a:stretch>
        </p:blipFill>
        <p:spPr>
          <a:xfrm>
            <a:off x="8963025" y="1493937"/>
            <a:ext cx="413147" cy="438150"/>
          </a:xfrm>
          <a:prstGeom prst="rect">
            <a:avLst/>
          </a:prstGeom>
        </p:spPr>
      </p:pic>
      <p:sp>
        <p:nvSpPr>
          <p:cNvPr id="15" name="Text 9"/>
          <p:cNvSpPr/>
          <p:nvPr/>
        </p:nvSpPr>
        <p:spPr>
          <a:xfrm>
            <a:off x="9528572" y="1390650"/>
            <a:ext cx="2072908" cy="432395"/>
          </a:xfrm>
          <a:prstGeom prst="rect">
            <a:avLst/>
          </a:prstGeom>
          <a:noFill/>
          <a:ln/>
        </p:spPr>
        <p:txBody>
          <a:bodyPr wrap="square" lIns="25400" tIns="25400" rIns="25400" bIns="25400" rtlCol="0" anchor="t">
            <a:normAutofit/>
          </a:bodyPr>
          <a:lstStyle/>
          <a:p>
            <a:pPr marL="0" indent="0" algn="l">
              <a:lnSpc>
                <a:spcPct val="64021"/>
              </a:lnSpc>
              <a:buNone/>
            </a:pPr>
            <a:r>
              <a:rPr lang="en-US" sz="3450" b="1" dirty="0">
                <a:solidFill>
                  <a:srgbClr val="043962"/>
                </a:solidFill>
                <a:latin typeface="Arial Black" pitchFamily="34" charset="0"/>
                <a:ea typeface="Arial Black" pitchFamily="34" charset="-122"/>
                <a:cs typeface="Arial Black" pitchFamily="34" charset="-120"/>
              </a:rPr>
              <a:t>31 %</a:t>
            </a:r>
            <a:endParaRPr lang="en-US" sz="3450" dirty="0"/>
          </a:p>
        </p:txBody>
      </p:sp>
      <p:sp>
        <p:nvSpPr>
          <p:cNvPr id="16" name="Text 10"/>
          <p:cNvSpPr/>
          <p:nvPr/>
        </p:nvSpPr>
        <p:spPr>
          <a:xfrm>
            <a:off x="9528572" y="1842095"/>
            <a:ext cx="2072908"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R&amp;D ON ENVIRONMENT</a:t>
            </a:r>
            <a:endParaRPr lang="en-US" sz="1050" dirty="0"/>
          </a:p>
        </p:txBody>
      </p:sp>
      <p:sp>
        <p:nvSpPr>
          <p:cNvPr id="17" name="Shape 11"/>
          <p:cNvSpPr/>
          <p:nvPr/>
        </p:nvSpPr>
        <p:spPr>
          <a:xfrm>
            <a:off x="304800" y="2381250"/>
            <a:ext cx="11334750" cy="9525"/>
          </a:xfrm>
          <a:prstGeom prst="rect">
            <a:avLst/>
          </a:prstGeom>
          <a:solidFill>
            <a:srgbClr val="C0C0C8"/>
          </a:solidFill>
          <a:ln/>
        </p:spPr>
        <p:txBody>
          <a:bodyPr/>
          <a:lstStyle/>
          <a:p>
            <a:endParaRPr lang="fr-FR"/>
          </a:p>
        </p:txBody>
      </p:sp>
      <p:sp>
        <p:nvSpPr>
          <p:cNvPr id="18" name="Text 12"/>
          <p:cNvSpPr/>
          <p:nvPr/>
        </p:nvSpPr>
        <p:spPr>
          <a:xfrm>
            <a:off x="304800" y="2647950"/>
            <a:ext cx="5118805"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SMART GREEN SUPPLY CHAIN: THREE AIMS AT ONCE</a:t>
            </a:r>
            <a:endParaRPr lang="en-US" sz="1125" dirty="0"/>
          </a:p>
        </p:txBody>
      </p:sp>
      <p:sp>
        <p:nvSpPr>
          <p:cNvPr id="19" name="Shape 13"/>
          <p:cNvSpPr/>
          <p:nvPr/>
        </p:nvSpPr>
        <p:spPr>
          <a:xfrm>
            <a:off x="304800" y="2971800"/>
            <a:ext cx="5848350" cy="793353"/>
          </a:xfrm>
          <a:prstGeom prst="rect">
            <a:avLst/>
          </a:prstGeom>
          <a:solidFill>
            <a:srgbClr val="F4F4F6"/>
          </a:solidFill>
          <a:ln/>
        </p:spPr>
        <p:txBody>
          <a:bodyPr/>
          <a:lstStyle/>
          <a:p>
            <a:endParaRPr lang="fr-FR"/>
          </a:p>
        </p:txBody>
      </p:sp>
      <p:pic>
        <p:nvPicPr>
          <p:cNvPr id="20" name="Image 4" descr="preencoded.png"/>
          <p:cNvPicPr>
            <a:picLocks noChangeAspect="1"/>
          </p:cNvPicPr>
          <p:nvPr/>
        </p:nvPicPr>
        <p:blipFill>
          <a:blip r:embed="rId7"/>
          <a:stretch>
            <a:fillRect/>
          </a:stretch>
        </p:blipFill>
        <p:spPr>
          <a:xfrm>
            <a:off x="476250" y="3158927"/>
            <a:ext cx="419100" cy="419100"/>
          </a:xfrm>
          <a:prstGeom prst="rect">
            <a:avLst/>
          </a:prstGeom>
        </p:spPr>
      </p:pic>
      <p:sp>
        <p:nvSpPr>
          <p:cNvPr id="21" name="Text 14"/>
          <p:cNvSpPr/>
          <p:nvPr/>
        </p:nvSpPr>
        <p:spPr>
          <a:xfrm>
            <a:off x="1047750" y="3105150"/>
            <a:ext cx="1839347"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043962"/>
                </a:solidFill>
                <a:latin typeface="Arial Black" pitchFamily="34" charset="0"/>
                <a:ea typeface="Arial Black" pitchFamily="34" charset="-122"/>
                <a:cs typeface="Arial Black" pitchFamily="34" charset="-120"/>
              </a:rPr>
              <a:t>LEAN</a:t>
            </a:r>
            <a:endParaRPr lang="en-US" sz="1650" dirty="0"/>
          </a:p>
        </p:txBody>
      </p:sp>
      <p:sp>
        <p:nvSpPr>
          <p:cNvPr id="22" name="Text 15"/>
          <p:cNvSpPr/>
          <p:nvPr/>
        </p:nvSpPr>
        <p:spPr>
          <a:xfrm>
            <a:off x="1047750" y="3408958"/>
            <a:ext cx="1839347"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Cost, delay, excess stock</a:t>
            </a:r>
            <a:endParaRPr lang="en-US" sz="1350" dirty="0"/>
          </a:p>
        </p:txBody>
      </p:sp>
      <p:sp>
        <p:nvSpPr>
          <p:cNvPr id="23" name="Shape 16"/>
          <p:cNvSpPr/>
          <p:nvPr/>
        </p:nvSpPr>
        <p:spPr>
          <a:xfrm>
            <a:off x="304800" y="3879453"/>
            <a:ext cx="5848350" cy="793353"/>
          </a:xfrm>
          <a:prstGeom prst="rect">
            <a:avLst/>
          </a:prstGeom>
          <a:solidFill>
            <a:srgbClr val="F4F4F6"/>
          </a:solidFill>
          <a:ln/>
        </p:spPr>
        <p:txBody>
          <a:bodyPr/>
          <a:lstStyle/>
          <a:p>
            <a:endParaRPr lang="fr-FR"/>
          </a:p>
        </p:txBody>
      </p:sp>
      <p:pic>
        <p:nvPicPr>
          <p:cNvPr id="24" name="Image 5" descr="preencoded.png"/>
          <p:cNvPicPr>
            <a:picLocks noChangeAspect="1"/>
          </p:cNvPicPr>
          <p:nvPr/>
        </p:nvPicPr>
        <p:blipFill>
          <a:blip r:embed="rId8"/>
          <a:stretch>
            <a:fillRect/>
          </a:stretch>
        </p:blipFill>
        <p:spPr>
          <a:xfrm>
            <a:off x="476250" y="4066580"/>
            <a:ext cx="419100" cy="419100"/>
          </a:xfrm>
          <a:prstGeom prst="rect">
            <a:avLst/>
          </a:prstGeom>
        </p:spPr>
      </p:pic>
      <p:sp>
        <p:nvSpPr>
          <p:cNvPr id="25" name="Text 17"/>
          <p:cNvSpPr/>
          <p:nvPr/>
        </p:nvSpPr>
        <p:spPr>
          <a:xfrm>
            <a:off x="1047750" y="4012803"/>
            <a:ext cx="4086443"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043962"/>
                </a:solidFill>
                <a:latin typeface="Arial Black" pitchFamily="34" charset="0"/>
                <a:ea typeface="Arial Black" pitchFamily="34" charset="-122"/>
                <a:cs typeface="Arial Black" pitchFamily="34" charset="-120"/>
              </a:rPr>
              <a:t>GREEN</a:t>
            </a:r>
            <a:endParaRPr lang="en-US" sz="1650" dirty="0"/>
          </a:p>
        </p:txBody>
      </p:sp>
      <p:sp>
        <p:nvSpPr>
          <p:cNvPr id="26" name="Text 18"/>
          <p:cNvSpPr/>
          <p:nvPr/>
        </p:nvSpPr>
        <p:spPr>
          <a:xfrm>
            <a:off x="1047750" y="4316611"/>
            <a:ext cx="4086443"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Carbon per transport leg, to GLEC v3.2 and ISO 14083</a:t>
            </a:r>
            <a:endParaRPr lang="en-US" sz="1350" dirty="0"/>
          </a:p>
        </p:txBody>
      </p:sp>
      <p:sp>
        <p:nvSpPr>
          <p:cNvPr id="27" name="Shape 19"/>
          <p:cNvSpPr/>
          <p:nvPr/>
        </p:nvSpPr>
        <p:spPr>
          <a:xfrm>
            <a:off x="304800" y="4787106"/>
            <a:ext cx="5848350" cy="793353"/>
          </a:xfrm>
          <a:prstGeom prst="rect">
            <a:avLst/>
          </a:prstGeom>
          <a:solidFill>
            <a:srgbClr val="FFDA65"/>
          </a:solidFill>
          <a:ln/>
        </p:spPr>
        <p:txBody>
          <a:bodyPr/>
          <a:lstStyle/>
          <a:p>
            <a:endParaRPr lang="fr-FR"/>
          </a:p>
        </p:txBody>
      </p:sp>
      <p:pic>
        <p:nvPicPr>
          <p:cNvPr id="28" name="Image 6" descr="preencoded.png"/>
          <p:cNvPicPr>
            <a:picLocks noChangeAspect="1"/>
          </p:cNvPicPr>
          <p:nvPr/>
        </p:nvPicPr>
        <p:blipFill>
          <a:blip r:embed="rId9"/>
          <a:stretch>
            <a:fillRect/>
          </a:stretch>
        </p:blipFill>
        <p:spPr>
          <a:xfrm>
            <a:off x="476250" y="4974233"/>
            <a:ext cx="419100" cy="419100"/>
          </a:xfrm>
          <a:prstGeom prst="rect">
            <a:avLst/>
          </a:prstGeom>
        </p:spPr>
      </p:pic>
      <p:sp>
        <p:nvSpPr>
          <p:cNvPr id="29" name="Text 20"/>
          <p:cNvSpPr/>
          <p:nvPr/>
        </p:nvSpPr>
        <p:spPr>
          <a:xfrm>
            <a:off x="1047750" y="4920457"/>
            <a:ext cx="3551873"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043962"/>
                </a:solidFill>
                <a:latin typeface="Arial Black" pitchFamily="34" charset="0"/>
                <a:ea typeface="Arial Black" pitchFamily="34" charset="-122"/>
                <a:cs typeface="Arial Black" pitchFamily="34" charset="-120"/>
              </a:rPr>
              <a:t>PREDICTIVE</a:t>
            </a:r>
            <a:endParaRPr lang="en-US" sz="1650" dirty="0"/>
          </a:p>
        </p:txBody>
      </p:sp>
      <p:sp>
        <p:nvSpPr>
          <p:cNvPr id="30" name="Text 21"/>
          <p:cNvSpPr/>
          <p:nvPr/>
        </p:nvSpPr>
        <p:spPr>
          <a:xfrm>
            <a:off x="1047750" y="5224264"/>
            <a:ext cx="3551873"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Anticipation of disruption.</a:t>
            </a:r>
            <a:endParaRPr lang="en-US" sz="1350" dirty="0"/>
          </a:p>
        </p:txBody>
      </p:sp>
      <p:pic>
        <p:nvPicPr>
          <p:cNvPr id="33" name="Image 7" descr="preencoded.png"/>
          <p:cNvPicPr>
            <a:picLocks noChangeAspect="1"/>
          </p:cNvPicPr>
          <p:nvPr/>
        </p:nvPicPr>
        <p:blipFill>
          <a:blip r:embed="rId10"/>
          <a:srcRect t="-58" b="-58"/>
          <a:stretch/>
        </p:blipFill>
        <p:spPr>
          <a:xfrm>
            <a:off x="6400800" y="2495550"/>
            <a:ext cx="4667250" cy="3924300"/>
          </a:xfrm>
          <a:prstGeom prst="rect">
            <a:avLst/>
          </a:prstGeom>
        </p:spPr>
      </p:pic>
      <p:pic>
        <p:nvPicPr>
          <p:cNvPr id="35" name="Image 8" descr="preencoded.png"/>
          <p:cNvPicPr>
            <a:picLocks noChangeAspect="1"/>
          </p:cNvPicPr>
          <p:nvPr/>
        </p:nvPicPr>
        <p:blipFill>
          <a:blip r:embed="rId11"/>
          <a:stretch>
            <a:fillRect/>
          </a:stretch>
        </p:blipFill>
        <p:spPr>
          <a:xfrm>
            <a:off x="11229975" y="6567488"/>
            <a:ext cx="714375" cy="71438"/>
          </a:xfrm>
          <a:prstGeom prst="rect">
            <a:avLst/>
          </a:prstGeom>
        </p:spPr>
      </p:pic>
      <p:sp>
        <p:nvSpPr>
          <p:cNvPr id="38" name="Text 20">
            <a:extLst>
              <a:ext uri="{FF2B5EF4-FFF2-40B4-BE49-F238E27FC236}">
                <a16:creationId xmlns:a16="http://schemas.microsoft.com/office/drawing/2014/main" id="{E070BF69-5671-B082-8CBB-E39AEEFEFE36}"/>
              </a:ext>
            </a:extLst>
          </p:cNvPr>
          <p:cNvSpPr/>
          <p:nvPr/>
        </p:nvSpPr>
        <p:spPr>
          <a:xfrm>
            <a:off x="7393801" y="6432253"/>
            <a:ext cx="3259912" cy="341908"/>
          </a:xfrm>
          <a:prstGeom prst="rect">
            <a:avLst/>
          </a:prstGeom>
          <a:noFill/>
          <a:ln/>
        </p:spPr>
        <p:txBody>
          <a:bodyPr wrap="square" lIns="25400" tIns="25400" rIns="25400" bIns="25400" rtlCol="0" anchor="t">
            <a:normAutofit fontScale="62500" lnSpcReduction="20000"/>
          </a:bodyPr>
          <a:lstStyle/>
          <a:p>
            <a:r>
              <a:rPr lang="en-US" sz="1650" b="1" dirty="0">
                <a:solidFill>
                  <a:srgbClr val="043962"/>
                </a:solidFill>
                <a:latin typeface="Arial Black" pitchFamily="34" charset="0"/>
                <a:ea typeface="Arial Black" pitchFamily="34" charset="-122"/>
                <a:cs typeface="Arial Black" pitchFamily="34" charset="-120"/>
              </a:rPr>
              <a:t>DISCO, A serious game and a digital twin </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3C67"/>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FFFFFF"/>
          </a:solidFill>
          <a:ln/>
        </p:spPr>
        <p:txBody>
          <a:bodyPr/>
          <a:lstStyle/>
          <a:p>
            <a:endParaRPr lang="fr-FR"/>
          </a:p>
        </p:txBody>
      </p:sp>
      <p:sp>
        <p:nvSpPr>
          <p:cNvPr id="3" name="Text 1"/>
          <p:cNvSpPr/>
          <p:nvPr/>
        </p:nvSpPr>
        <p:spPr>
          <a:xfrm>
            <a:off x="352425" y="171450"/>
            <a:ext cx="5862271"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FFFFFF"/>
                </a:solidFill>
                <a:latin typeface="Arial Black" pitchFamily="34" charset="0"/>
                <a:ea typeface="Arial Black" pitchFamily="34" charset="-122"/>
                <a:cs typeface="Arial Black" pitchFamily="34" charset="-120"/>
              </a:rPr>
              <a:t>THE PROBLEM</a:t>
            </a:r>
            <a:endParaRPr lang="en-US" sz="3225" dirty="0"/>
          </a:p>
        </p:txBody>
      </p:sp>
      <p:sp>
        <p:nvSpPr>
          <p:cNvPr id="4" name="Shape 2"/>
          <p:cNvSpPr/>
          <p:nvPr/>
        </p:nvSpPr>
        <p:spPr>
          <a:xfrm>
            <a:off x="352425" y="1257300"/>
            <a:ext cx="5553075" cy="935236"/>
          </a:xfrm>
          <a:prstGeom prst="rect">
            <a:avLst/>
          </a:prstGeom>
          <a:solidFill>
            <a:srgbClr val="FFFFFF">
              <a:alpha val="12000"/>
            </a:srgbClr>
          </a:solidFill>
          <a:ln/>
        </p:spPr>
        <p:txBody>
          <a:bodyPr/>
          <a:lstStyle/>
          <a:p>
            <a:endParaRPr lang="fr-FR"/>
          </a:p>
        </p:txBody>
      </p:sp>
      <p:pic>
        <p:nvPicPr>
          <p:cNvPr id="5" name="Image 0" descr="preencoded.png"/>
          <p:cNvPicPr>
            <a:picLocks noChangeAspect="1"/>
          </p:cNvPicPr>
          <p:nvPr/>
        </p:nvPicPr>
        <p:blipFill>
          <a:blip r:embed="rId3"/>
          <a:stretch>
            <a:fillRect/>
          </a:stretch>
        </p:blipFill>
        <p:spPr>
          <a:xfrm>
            <a:off x="581025" y="1505843"/>
            <a:ext cx="446187" cy="438150"/>
          </a:xfrm>
          <a:prstGeom prst="rect">
            <a:avLst/>
          </a:prstGeom>
        </p:spPr>
      </p:pic>
      <p:sp>
        <p:nvSpPr>
          <p:cNvPr id="6" name="Text 3"/>
          <p:cNvSpPr/>
          <p:nvPr/>
        </p:nvSpPr>
        <p:spPr>
          <a:xfrm>
            <a:off x="1198662" y="1447800"/>
            <a:ext cx="2338774"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7ECBEE"/>
                </a:solidFill>
                <a:latin typeface="Arial" pitchFamily="34" charset="0"/>
                <a:ea typeface="Arial" pitchFamily="34" charset="-122"/>
                <a:cs typeface="Arial" pitchFamily="34" charset="-120"/>
              </a:rPr>
              <a:t>THE TWIN HAS</a:t>
            </a:r>
            <a:endParaRPr lang="en-US" sz="1050" dirty="0"/>
          </a:p>
        </p:txBody>
      </p:sp>
      <p:sp>
        <p:nvSpPr>
          <p:cNvPr id="7" name="Text 4"/>
          <p:cNvSpPr/>
          <p:nvPr/>
        </p:nvSpPr>
        <p:spPr>
          <a:xfrm>
            <a:off x="1198662" y="1698228"/>
            <a:ext cx="2338774" cy="341908"/>
          </a:xfrm>
          <a:prstGeom prst="rect">
            <a:avLst/>
          </a:prstGeom>
          <a:noFill/>
          <a:ln/>
        </p:spPr>
        <p:txBody>
          <a:bodyPr wrap="square" lIns="25400" tIns="25400" rIns="25400" bIns="25400" rtlCol="0" anchor="t">
            <a:normAutofit/>
          </a:bodyPr>
          <a:lstStyle/>
          <a:p>
            <a:pPr marL="0" indent="0" algn="l">
              <a:lnSpc>
                <a:spcPct val="119625"/>
              </a:lnSpc>
              <a:buNone/>
            </a:pPr>
            <a:r>
              <a:rPr lang="en-US" sz="1650" b="1" dirty="0">
                <a:solidFill>
                  <a:srgbClr val="FFFFFF"/>
                </a:solidFill>
                <a:latin typeface="Calibri" pitchFamily="34" charset="0"/>
                <a:ea typeface="Calibri" pitchFamily="34" charset="-122"/>
                <a:cs typeface="Calibri" pitchFamily="34" charset="-120"/>
              </a:rPr>
              <a:t>Computed physical state</a:t>
            </a:r>
            <a:endParaRPr lang="en-US" sz="1650" dirty="0"/>
          </a:p>
        </p:txBody>
      </p:sp>
      <p:sp>
        <p:nvSpPr>
          <p:cNvPr id="8" name="Shape 5"/>
          <p:cNvSpPr/>
          <p:nvPr/>
        </p:nvSpPr>
        <p:spPr>
          <a:xfrm>
            <a:off x="6096000" y="1257300"/>
            <a:ext cx="5553075" cy="935236"/>
          </a:xfrm>
          <a:prstGeom prst="rect">
            <a:avLst/>
          </a:prstGeom>
          <a:solidFill>
            <a:srgbClr val="FFFFFF">
              <a:alpha val="12000"/>
            </a:srgbClr>
          </a:solidFill>
          <a:ln/>
        </p:spPr>
        <p:txBody>
          <a:bodyPr/>
          <a:lstStyle/>
          <a:p>
            <a:endParaRPr lang="fr-FR"/>
          </a:p>
        </p:txBody>
      </p:sp>
      <p:pic>
        <p:nvPicPr>
          <p:cNvPr id="9" name="Image 1" descr="preencoded.png"/>
          <p:cNvPicPr>
            <a:picLocks noChangeAspect="1"/>
          </p:cNvPicPr>
          <p:nvPr/>
        </p:nvPicPr>
        <p:blipFill>
          <a:blip r:embed="rId4"/>
          <a:stretch>
            <a:fillRect/>
          </a:stretch>
        </p:blipFill>
        <p:spPr>
          <a:xfrm>
            <a:off x="6324600" y="1505843"/>
            <a:ext cx="420588" cy="438150"/>
          </a:xfrm>
          <a:prstGeom prst="rect">
            <a:avLst/>
          </a:prstGeom>
        </p:spPr>
      </p:pic>
      <p:sp>
        <p:nvSpPr>
          <p:cNvPr id="10" name="Text 6"/>
          <p:cNvSpPr/>
          <p:nvPr/>
        </p:nvSpPr>
        <p:spPr>
          <a:xfrm>
            <a:off x="6916638" y="1447800"/>
            <a:ext cx="2326442"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7ECBEE"/>
                </a:solidFill>
                <a:latin typeface="Arial" pitchFamily="34" charset="0"/>
                <a:ea typeface="Arial" pitchFamily="34" charset="-122"/>
                <a:cs typeface="Arial" pitchFamily="34" charset="-120"/>
              </a:rPr>
              <a:t>THE TWIN NEVER SEES</a:t>
            </a:r>
            <a:endParaRPr lang="en-US" sz="1050" dirty="0"/>
          </a:p>
        </p:txBody>
      </p:sp>
      <p:sp>
        <p:nvSpPr>
          <p:cNvPr id="11" name="Text 7"/>
          <p:cNvSpPr/>
          <p:nvPr/>
        </p:nvSpPr>
        <p:spPr>
          <a:xfrm>
            <a:off x="6916638" y="1698228"/>
            <a:ext cx="2326442" cy="341908"/>
          </a:xfrm>
          <a:prstGeom prst="rect">
            <a:avLst/>
          </a:prstGeom>
          <a:noFill/>
          <a:ln/>
        </p:spPr>
        <p:txBody>
          <a:bodyPr wrap="square" lIns="25400" tIns="25400" rIns="25400" bIns="25400" rtlCol="0" anchor="t">
            <a:normAutofit/>
          </a:bodyPr>
          <a:lstStyle/>
          <a:p>
            <a:pPr marL="0" indent="0" algn="l">
              <a:lnSpc>
                <a:spcPct val="119625"/>
              </a:lnSpc>
              <a:buNone/>
            </a:pPr>
            <a:r>
              <a:rPr lang="en-US" sz="1650" b="1" dirty="0">
                <a:solidFill>
                  <a:srgbClr val="FFFFFF"/>
                </a:solidFill>
                <a:latin typeface="Calibri" pitchFamily="34" charset="0"/>
                <a:ea typeface="Calibri" pitchFamily="34" charset="-122"/>
                <a:cs typeface="Calibri" pitchFamily="34" charset="-120"/>
              </a:rPr>
              <a:t>The human who decides</a:t>
            </a:r>
            <a:endParaRPr lang="en-US" sz="1650" dirty="0"/>
          </a:p>
        </p:txBody>
      </p:sp>
      <p:sp>
        <p:nvSpPr>
          <p:cNvPr id="12" name="Shape 8"/>
          <p:cNvSpPr/>
          <p:nvPr/>
        </p:nvSpPr>
        <p:spPr>
          <a:xfrm>
            <a:off x="352426" y="2667000"/>
            <a:ext cx="11296650" cy="2197298"/>
          </a:xfrm>
          <a:prstGeom prst="rect">
            <a:avLst/>
          </a:prstGeom>
          <a:solidFill>
            <a:srgbClr val="FFDA65"/>
          </a:solidFill>
          <a:ln/>
        </p:spPr>
        <p:txBody>
          <a:bodyPr/>
          <a:lstStyle/>
          <a:p>
            <a:endParaRPr lang="fr-FR"/>
          </a:p>
        </p:txBody>
      </p:sp>
      <p:sp>
        <p:nvSpPr>
          <p:cNvPr id="13" name="Text 9"/>
          <p:cNvSpPr/>
          <p:nvPr/>
        </p:nvSpPr>
        <p:spPr>
          <a:xfrm>
            <a:off x="733425" y="3009900"/>
            <a:ext cx="12426315"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80" dirty="0">
                <a:solidFill>
                  <a:srgbClr val="063C67"/>
                </a:solidFill>
                <a:latin typeface="Arial" pitchFamily="34" charset="0"/>
                <a:ea typeface="Arial" pitchFamily="34" charset="-122"/>
                <a:cs typeface="Arial" pitchFamily="34" charset="-120"/>
              </a:rPr>
              <a:t>RESEARCH QUESTION</a:t>
            </a:r>
            <a:endParaRPr lang="en-US" sz="1125" dirty="0"/>
          </a:p>
        </p:txBody>
      </p:sp>
      <p:sp>
        <p:nvSpPr>
          <p:cNvPr id="14" name="Text 10"/>
          <p:cNvSpPr/>
          <p:nvPr/>
        </p:nvSpPr>
        <p:spPr>
          <a:xfrm>
            <a:off x="733425" y="3369469"/>
            <a:ext cx="10915650" cy="1190030"/>
          </a:xfrm>
          <a:prstGeom prst="rect">
            <a:avLst/>
          </a:prstGeom>
          <a:noFill/>
          <a:ln/>
        </p:spPr>
        <p:txBody>
          <a:bodyPr wrap="square" lIns="25400" tIns="25400" rIns="25400" bIns="25400" rtlCol="0" anchor="t">
            <a:normAutofit/>
          </a:bodyPr>
          <a:lstStyle/>
          <a:p>
            <a:pPr marL="0" indent="0" algn="l">
              <a:lnSpc>
                <a:spcPct val="79579"/>
              </a:lnSpc>
              <a:buNone/>
            </a:pPr>
            <a:r>
              <a:rPr lang="en-US" sz="2700" b="1" dirty="0">
                <a:solidFill>
                  <a:srgbClr val="063C67"/>
                </a:solidFill>
                <a:latin typeface="Arial Black" pitchFamily="34" charset="0"/>
                <a:ea typeface="Arial Black" pitchFamily="34" charset="-122"/>
                <a:cs typeface="Arial Black" pitchFamily="34" charset="-120"/>
              </a:rPr>
              <a:t>Can the gap between declared and computed urgency be measured reliably enough, inside a working digital twin, to be acted upon?</a:t>
            </a:r>
            <a:endParaRPr lang="en-US" sz="2700" dirty="0"/>
          </a:p>
        </p:txBody>
      </p:sp>
      <p:sp>
        <p:nvSpPr>
          <p:cNvPr id="15" name="Shape 11"/>
          <p:cNvSpPr/>
          <p:nvPr/>
        </p:nvSpPr>
        <p:spPr>
          <a:xfrm>
            <a:off x="352425" y="5048250"/>
            <a:ext cx="3625850" cy="25400"/>
          </a:xfrm>
          <a:prstGeom prst="rect">
            <a:avLst/>
          </a:prstGeom>
          <a:solidFill>
            <a:srgbClr val="7ECBEE"/>
          </a:solidFill>
          <a:ln/>
        </p:spPr>
        <p:txBody>
          <a:bodyPr/>
          <a:lstStyle/>
          <a:p>
            <a:endParaRPr lang="fr-FR"/>
          </a:p>
        </p:txBody>
      </p:sp>
      <p:pic>
        <p:nvPicPr>
          <p:cNvPr id="16" name="Image 2" descr="preencoded.png"/>
          <p:cNvPicPr>
            <a:picLocks noChangeAspect="1"/>
          </p:cNvPicPr>
          <p:nvPr/>
        </p:nvPicPr>
        <p:blipFill>
          <a:blip r:embed="rId5"/>
          <a:stretch>
            <a:fillRect/>
          </a:stretch>
        </p:blipFill>
        <p:spPr>
          <a:xfrm>
            <a:off x="352425" y="5226050"/>
            <a:ext cx="348059" cy="400050"/>
          </a:xfrm>
          <a:prstGeom prst="rect">
            <a:avLst/>
          </a:prstGeom>
        </p:spPr>
      </p:pic>
      <p:sp>
        <p:nvSpPr>
          <p:cNvPr id="17" name="Text 12"/>
          <p:cNvSpPr/>
          <p:nvPr/>
        </p:nvSpPr>
        <p:spPr>
          <a:xfrm>
            <a:off x="852884" y="5226050"/>
            <a:ext cx="3150781" cy="282377"/>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FFFFFF"/>
                </a:solidFill>
                <a:latin typeface="Calibri" pitchFamily="34" charset="0"/>
                <a:ea typeface="Calibri" pitchFamily="34" charset="-122"/>
                <a:cs typeface="Calibri" pitchFamily="34" charset="-120"/>
              </a:rPr>
              <a:t>It must say </a:t>
            </a:r>
            <a:r>
              <a:rPr lang="en-US" sz="1425" b="1" dirty="0">
                <a:solidFill>
                  <a:srgbClr val="FFFFFF"/>
                </a:solidFill>
                <a:latin typeface="Calibri" pitchFamily="34" charset="0"/>
                <a:ea typeface="Calibri" pitchFamily="34" charset="-122"/>
                <a:cs typeface="Calibri" pitchFamily="34" charset="-120"/>
              </a:rPr>
              <a:t>which node is mismanaged</a:t>
            </a:r>
            <a:endParaRPr lang="en-US" sz="1425" dirty="0"/>
          </a:p>
        </p:txBody>
      </p:sp>
      <p:sp>
        <p:nvSpPr>
          <p:cNvPr id="18" name="Shape 13"/>
          <p:cNvSpPr/>
          <p:nvPr/>
        </p:nvSpPr>
        <p:spPr>
          <a:xfrm>
            <a:off x="4187825" y="5048250"/>
            <a:ext cx="3625850" cy="25400"/>
          </a:xfrm>
          <a:prstGeom prst="rect">
            <a:avLst/>
          </a:prstGeom>
          <a:solidFill>
            <a:srgbClr val="7ECBEE"/>
          </a:solidFill>
          <a:ln/>
        </p:spPr>
        <p:txBody>
          <a:bodyPr/>
          <a:lstStyle/>
          <a:p>
            <a:endParaRPr lang="fr-FR"/>
          </a:p>
        </p:txBody>
      </p:sp>
      <p:pic>
        <p:nvPicPr>
          <p:cNvPr id="19" name="Image 3" descr="preencoded.png"/>
          <p:cNvPicPr>
            <a:picLocks noChangeAspect="1"/>
          </p:cNvPicPr>
          <p:nvPr/>
        </p:nvPicPr>
        <p:blipFill>
          <a:blip r:embed="rId6"/>
          <a:stretch>
            <a:fillRect/>
          </a:stretch>
        </p:blipFill>
        <p:spPr>
          <a:xfrm>
            <a:off x="4187825" y="5226050"/>
            <a:ext cx="350341" cy="400050"/>
          </a:xfrm>
          <a:prstGeom prst="rect">
            <a:avLst/>
          </a:prstGeom>
        </p:spPr>
      </p:pic>
      <p:sp>
        <p:nvSpPr>
          <p:cNvPr id="20" name="Text 14"/>
          <p:cNvSpPr/>
          <p:nvPr/>
        </p:nvSpPr>
        <p:spPr>
          <a:xfrm>
            <a:off x="4690567" y="5226050"/>
            <a:ext cx="3216802"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FFFFFF"/>
                </a:solidFill>
                <a:latin typeface="Calibri" pitchFamily="34" charset="0"/>
                <a:ea typeface="Calibri" pitchFamily="34" charset="-122"/>
                <a:cs typeface="Calibri" pitchFamily="34" charset="-120"/>
              </a:rPr>
              <a:t>It must be reliable and explainable</a:t>
            </a:r>
            <a:endParaRPr lang="en-US" sz="1425" dirty="0"/>
          </a:p>
        </p:txBody>
      </p:sp>
      <p:sp>
        <p:nvSpPr>
          <p:cNvPr id="21" name="Shape 15"/>
          <p:cNvSpPr/>
          <p:nvPr/>
        </p:nvSpPr>
        <p:spPr>
          <a:xfrm>
            <a:off x="8023225" y="5048250"/>
            <a:ext cx="3625850" cy="25400"/>
          </a:xfrm>
          <a:prstGeom prst="rect">
            <a:avLst/>
          </a:prstGeom>
          <a:solidFill>
            <a:srgbClr val="FFDA65"/>
          </a:solidFill>
          <a:ln/>
        </p:spPr>
        <p:txBody>
          <a:bodyPr/>
          <a:lstStyle/>
          <a:p>
            <a:endParaRPr lang="fr-FR"/>
          </a:p>
        </p:txBody>
      </p:sp>
      <p:pic>
        <p:nvPicPr>
          <p:cNvPr id="22" name="Image 4" descr="preencoded.png"/>
          <p:cNvPicPr>
            <a:picLocks noChangeAspect="1"/>
          </p:cNvPicPr>
          <p:nvPr/>
        </p:nvPicPr>
        <p:blipFill>
          <a:blip r:embed="rId7"/>
          <a:stretch>
            <a:fillRect/>
          </a:stretch>
        </p:blipFill>
        <p:spPr>
          <a:xfrm>
            <a:off x="8023225" y="5226050"/>
            <a:ext cx="488454" cy="400050"/>
          </a:xfrm>
          <a:prstGeom prst="rect">
            <a:avLst/>
          </a:prstGeom>
        </p:spPr>
      </p:pic>
      <p:sp>
        <p:nvSpPr>
          <p:cNvPr id="23" name="Text 16"/>
          <p:cNvSpPr/>
          <p:nvPr/>
        </p:nvSpPr>
        <p:spPr>
          <a:xfrm>
            <a:off x="8664079" y="5226050"/>
            <a:ext cx="3074546"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FFFFFF"/>
                </a:solidFill>
                <a:latin typeface="Calibri" pitchFamily="34" charset="0"/>
                <a:ea typeface="Calibri" pitchFamily="34" charset="-122"/>
                <a:cs typeface="Calibri" pitchFamily="34" charset="-120"/>
              </a:rPr>
              <a:t>It must beat the raw indicators a coordinator already has</a:t>
            </a:r>
            <a:endParaRPr lang="en-US" sz="1425" dirty="0"/>
          </a:p>
        </p:txBody>
      </p:sp>
      <p:pic>
        <p:nvPicPr>
          <p:cNvPr id="24" name="Image 5" descr="preencoded.png"/>
          <p:cNvPicPr>
            <a:picLocks noChangeAspect="1"/>
          </p:cNvPicPr>
          <p:nvPr/>
        </p:nvPicPr>
        <p:blipFill>
          <a:blip r:embed="rId8"/>
          <a:stretch>
            <a:fillRect/>
          </a:stretch>
        </p:blipFill>
        <p:spPr>
          <a:xfrm>
            <a:off x="11229975" y="6567488"/>
            <a:ext cx="714375" cy="7143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1" name="Shape 19">
            <a:extLst>
              <a:ext uri="{FF2B5EF4-FFF2-40B4-BE49-F238E27FC236}">
                <a16:creationId xmlns:a16="http://schemas.microsoft.com/office/drawing/2014/main" id="{91C29B8C-CA92-AF7D-5196-6DCA0E81429E}"/>
              </a:ext>
            </a:extLst>
          </p:cNvPr>
          <p:cNvSpPr/>
          <p:nvPr/>
        </p:nvSpPr>
        <p:spPr>
          <a:xfrm>
            <a:off x="352426" y="2406700"/>
            <a:ext cx="6286499" cy="704850"/>
          </a:xfrm>
          <a:prstGeom prst="rect">
            <a:avLst/>
          </a:prstGeom>
          <a:solidFill>
            <a:srgbClr val="FFDA65"/>
          </a:solidFill>
          <a:ln/>
        </p:spPr>
        <p:txBody>
          <a:bodyPr/>
          <a:lstStyle/>
          <a:p>
            <a:endParaRPr lang="fr-FR"/>
          </a:p>
        </p:txBody>
      </p:sp>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351598"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PLAN</a:t>
            </a:r>
            <a:endParaRPr lang="en-US" sz="3225" dirty="0"/>
          </a:p>
        </p:txBody>
      </p:sp>
      <p:sp>
        <p:nvSpPr>
          <p:cNvPr id="4" name="Shape 2"/>
          <p:cNvSpPr/>
          <p:nvPr/>
        </p:nvSpPr>
        <p:spPr>
          <a:xfrm>
            <a:off x="352425" y="1504950"/>
            <a:ext cx="6286500" cy="723900"/>
          </a:xfrm>
          <a:prstGeom prst="rect">
            <a:avLst/>
          </a:prstGeom>
          <a:solidFill>
            <a:srgbClr val="F4F4F6"/>
          </a:solidFill>
          <a:ln/>
        </p:spPr>
        <p:txBody>
          <a:bodyPr/>
          <a:lstStyle/>
          <a:p>
            <a:endParaRPr lang="fr-FR"/>
          </a:p>
        </p:txBody>
      </p:sp>
      <p:pic>
        <p:nvPicPr>
          <p:cNvPr id="5" name="Image 0" descr="preencoded.png"/>
          <p:cNvPicPr>
            <a:picLocks noChangeAspect="1"/>
          </p:cNvPicPr>
          <p:nvPr/>
        </p:nvPicPr>
        <p:blipFill>
          <a:blip r:embed="rId3"/>
          <a:stretch>
            <a:fillRect/>
          </a:stretch>
        </p:blipFill>
        <p:spPr>
          <a:xfrm>
            <a:off x="542925" y="1657350"/>
            <a:ext cx="419100" cy="419100"/>
          </a:xfrm>
          <a:prstGeom prst="rect">
            <a:avLst/>
          </a:prstGeom>
        </p:spPr>
      </p:pic>
      <p:sp>
        <p:nvSpPr>
          <p:cNvPr id="6" name="Text 3"/>
          <p:cNvSpPr/>
          <p:nvPr/>
        </p:nvSpPr>
        <p:spPr>
          <a:xfrm>
            <a:off x="1135261" y="1694259"/>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1</a:t>
            </a:r>
            <a:endParaRPr lang="en-US" sz="1800" dirty="0"/>
          </a:p>
        </p:txBody>
      </p:sp>
      <p:pic>
        <p:nvPicPr>
          <p:cNvPr id="9" name="Image 1" descr="preencoded.png"/>
          <p:cNvPicPr>
            <a:picLocks noChangeAspect="1"/>
          </p:cNvPicPr>
          <p:nvPr/>
        </p:nvPicPr>
        <p:blipFill>
          <a:blip r:embed="rId4"/>
          <a:stretch>
            <a:fillRect/>
          </a:stretch>
        </p:blipFill>
        <p:spPr>
          <a:xfrm>
            <a:off x="542925" y="2514600"/>
            <a:ext cx="331887" cy="419100"/>
          </a:xfrm>
          <a:prstGeom prst="rect">
            <a:avLst/>
          </a:prstGeom>
        </p:spPr>
      </p:pic>
      <p:sp>
        <p:nvSpPr>
          <p:cNvPr id="10" name="Text 6"/>
          <p:cNvSpPr/>
          <p:nvPr/>
        </p:nvSpPr>
        <p:spPr>
          <a:xfrm>
            <a:off x="1135261" y="255324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2</a:t>
            </a:r>
            <a:endParaRPr lang="en-US" sz="1800" dirty="0"/>
          </a:p>
        </p:txBody>
      </p:sp>
      <p:sp>
        <p:nvSpPr>
          <p:cNvPr id="12" name="Shape 8"/>
          <p:cNvSpPr/>
          <p:nvPr/>
        </p:nvSpPr>
        <p:spPr>
          <a:xfrm>
            <a:off x="352425" y="3219450"/>
            <a:ext cx="6286500" cy="723900"/>
          </a:xfrm>
          <a:prstGeom prst="rect">
            <a:avLst/>
          </a:prstGeom>
          <a:solidFill>
            <a:srgbClr val="F4F4F6"/>
          </a:solidFill>
          <a:ln/>
        </p:spPr>
        <p:txBody>
          <a:bodyPr/>
          <a:lstStyle/>
          <a:p>
            <a:endParaRPr lang="fr-FR"/>
          </a:p>
        </p:txBody>
      </p:sp>
      <p:pic>
        <p:nvPicPr>
          <p:cNvPr id="13" name="Image 2" descr="preencoded.png"/>
          <p:cNvPicPr>
            <a:picLocks noChangeAspect="1"/>
          </p:cNvPicPr>
          <p:nvPr/>
        </p:nvPicPr>
        <p:blipFill>
          <a:blip r:embed="rId5"/>
          <a:stretch>
            <a:fillRect/>
          </a:stretch>
        </p:blipFill>
        <p:spPr>
          <a:xfrm>
            <a:off x="542925" y="3371850"/>
            <a:ext cx="419100" cy="419100"/>
          </a:xfrm>
          <a:prstGeom prst="rect">
            <a:avLst/>
          </a:prstGeom>
        </p:spPr>
      </p:pic>
      <p:sp>
        <p:nvSpPr>
          <p:cNvPr id="14" name="Text 9"/>
          <p:cNvSpPr/>
          <p:nvPr/>
        </p:nvSpPr>
        <p:spPr>
          <a:xfrm>
            <a:off x="1135261" y="3412231"/>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3</a:t>
            </a:r>
            <a:endParaRPr lang="en-US" sz="1800" dirty="0"/>
          </a:p>
        </p:txBody>
      </p:sp>
      <p:sp>
        <p:nvSpPr>
          <p:cNvPr id="16" name="Shape 11"/>
          <p:cNvSpPr/>
          <p:nvPr/>
        </p:nvSpPr>
        <p:spPr>
          <a:xfrm>
            <a:off x="352425" y="4076700"/>
            <a:ext cx="6286500" cy="723900"/>
          </a:xfrm>
          <a:prstGeom prst="rect">
            <a:avLst/>
          </a:prstGeom>
          <a:solidFill>
            <a:srgbClr val="F4F4F6"/>
          </a:solidFill>
          <a:ln/>
        </p:spPr>
        <p:txBody>
          <a:bodyPr/>
          <a:lstStyle/>
          <a:p>
            <a:endParaRPr lang="fr-FR"/>
          </a:p>
        </p:txBody>
      </p:sp>
      <p:pic>
        <p:nvPicPr>
          <p:cNvPr id="17" name="Image 3" descr="preencoded.png"/>
          <p:cNvPicPr>
            <a:picLocks noChangeAspect="1"/>
          </p:cNvPicPr>
          <p:nvPr/>
        </p:nvPicPr>
        <p:blipFill>
          <a:blip r:embed="rId6"/>
          <a:stretch>
            <a:fillRect/>
          </a:stretch>
        </p:blipFill>
        <p:spPr>
          <a:xfrm>
            <a:off x="542925" y="4229100"/>
            <a:ext cx="471785" cy="419100"/>
          </a:xfrm>
          <a:prstGeom prst="rect">
            <a:avLst/>
          </a:prstGeom>
        </p:spPr>
      </p:pic>
      <p:sp>
        <p:nvSpPr>
          <p:cNvPr id="18" name="Text 12"/>
          <p:cNvSpPr/>
          <p:nvPr/>
        </p:nvSpPr>
        <p:spPr>
          <a:xfrm>
            <a:off x="1135261" y="4271217"/>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4</a:t>
            </a:r>
            <a:endParaRPr lang="en-US" sz="1800" dirty="0"/>
          </a:p>
        </p:txBody>
      </p:sp>
      <p:sp>
        <p:nvSpPr>
          <p:cNvPr id="20" name="Shape 14"/>
          <p:cNvSpPr/>
          <p:nvPr/>
        </p:nvSpPr>
        <p:spPr>
          <a:xfrm>
            <a:off x="352425" y="4933950"/>
            <a:ext cx="6286500" cy="723900"/>
          </a:xfrm>
          <a:prstGeom prst="rect">
            <a:avLst/>
          </a:prstGeom>
          <a:solidFill>
            <a:srgbClr val="F4F4F6"/>
          </a:solidFill>
          <a:ln/>
        </p:spPr>
        <p:txBody>
          <a:bodyPr/>
          <a:lstStyle/>
          <a:p>
            <a:endParaRPr lang="fr-FR" dirty="0"/>
          </a:p>
        </p:txBody>
      </p:sp>
      <p:pic>
        <p:nvPicPr>
          <p:cNvPr id="21" name="Image 4" descr="preencoded.png"/>
          <p:cNvPicPr>
            <a:picLocks noChangeAspect="1"/>
          </p:cNvPicPr>
          <p:nvPr/>
        </p:nvPicPr>
        <p:blipFill>
          <a:blip r:embed="rId7"/>
          <a:stretch>
            <a:fillRect/>
          </a:stretch>
        </p:blipFill>
        <p:spPr>
          <a:xfrm>
            <a:off x="542925" y="5086350"/>
            <a:ext cx="469900" cy="419100"/>
          </a:xfrm>
          <a:prstGeom prst="rect">
            <a:avLst/>
          </a:prstGeom>
        </p:spPr>
      </p:pic>
      <p:sp>
        <p:nvSpPr>
          <p:cNvPr id="22" name="Text 15"/>
          <p:cNvSpPr/>
          <p:nvPr/>
        </p:nvSpPr>
        <p:spPr>
          <a:xfrm>
            <a:off x="1135261" y="5130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5</a:t>
            </a:r>
            <a:endParaRPr lang="en-US" sz="1800" dirty="0"/>
          </a:p>
        </p:txBody>
      </p:sp>
      <p:grpSp>
        <p:nvGrpSpPr>
          <p:cNvPr id="27" name="Groupe 26">
            <a:extLst>
              <a:ext uri="{FF2B5EF4-FFF2-40B4-BE49-F238E27FC236}">
                <a16:creationId xmlns:a16="http://schemas.microsoft.com/office/drawing/2014/main" id="{31F3B511-AF0C-3891-2B64-96BB88C4B580}"/>
              </a:ext>
            </a:extLst>
          </p:cNvPr>
          <p:cNvGrpSpPr/>
          <p:nvPr/>
        </p:nvGrpSpPr>
        <p:grpSpPr>
          <a:xfrm>
            <a:off x="1624310" y="1708051"/>
            <a:ext cx="4953000" cy="3784699"/>
            <a:chOff x="1624310" y="1708051"/>
            <a:chExt cx="4953000" cy="3784699"/>
          </a:xfrm>
        </p:grpSpPr>
        <p:sp>
          <p:nvSpPr>
            <p:cNvPr id="7" name="Text 4"/>
            <p:cNvSpPr/>
            <p:nvPr/>
          </p:nvSpPr>
          <p:spPr>
            <a:xfrm>
              <a:off x="1624310" y="1708051"/>
              <a:ext cx="405686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CONTEXT, PROBLEM, MISSION</a:t>
              </a:r>
              <a:endParaRPr lang="en-US" sz="1725" dirty="0"/>
            </a:p>
          </p:txBody>
        </p:sp>
        <p:sp>
          <p:nvSpPr>
            <p:cNvPr id="11" name="Text 7"/>
            <p:cNvSpPr/>
            <p:nvPr/>
          </p:nvSpPr>
          <p:spPr>
            <a:xfrm>
              <a:off x="1624310" y="2565301"/>
              <a:ext cx="395023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HOW THE PROJECT WAS RUN</a:t>
              </a:r>
              <a:endParaRPr lang="en-US" sz="1725" dirty="0"/>
            </a:p>
          </p:txBody>
        </p:sp>
        <p:sp>
          <p:nvSpPr>
            <p:cNvPr id="15" name="Text 10"/>
            <p:cNvSpPr/>
            <p:nvPr/>
          </p:nvSpPr>
          <p:spPr>
            <a:xfrm>
              <a:off x="1624310" y="3422551"/>
              <a:ext cx="4953000" cy="355699"/>
            </a:xfrm>
            <a:prstGeom prst="rect">
              <a:avLst/>
            </a:prstGeom>
            <a:noFill/>
            <a:ln/>
          </p:spPr>
          <p:txBody>
            <a:bodyPr wrap="square" lIns="25400" tIns="25400" rIns="25400" bIns="25400" rtlCol="0" anchor="t">
              <a:normAutofit fontScale="92500"/>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LITERATURE, DESIGN AND REALISATION</a:t>
              </a:r>
              <a:endParaRPr lang="en-US" sz="1725" dirty="0"/>
            </a:p>
          </p:txBody>
        </p:sp>
        <p:sp>
          <p:nvSpPr>
            <p:cNvPr id="19" name="Text 13"/>
            <p:cNvSpPr/>
            <p:nvPr/>
          </p:nvSpPr>
          <p:spPr>
            <a:xfrm>
              <a:off x="1624310" y="4292501"/>
              <a:ext cx="3602077"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RESULTS AND VALIDATION</a:t>
              </a:r>
              <a:endParaRPr lang="en-US" sz="1725" dirty="0"/>
            </a:p>
          </p:txBody>
        </p:sp>
        <p:sp>
          <p:nvSpPr>
            <p:cNvPr id="23" name="Text 16"/>
            <p:cNvSpPr/>
            <p:nvPr/>
          </p:nvSpPr>
          <p:spPr>
            <a:xfrm>
              <a:off x="1624310" y="5137051"/>
              <a:ext cx="461861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ASSESSMENT AND PERSPECTIVES</a:t>
              </a:r>
              <a:endParaRPr lang="en-US" sz="1725" dirty="0"/>
            </a:p>
          </p:txBody>
        </p:sp>
      </p:grpSp>
      <p:pic>
        <p:nvPicPr>
          <p:cNvPr id="24" name="Image 5" descr="preencoded.png"/>
          <p:cNvPicPr>
            <a:picLocks noChangeAspect="1"/>
          </p:cNvPicPr>
          <p:nvPr/>
        </p:nvPicPr>
        <p:blipFill>
          <a:blip r:embed="rId8"/>
          <a:srcRect l="26001" r="26001"/>
          <a:stretch/>
        </p:blipFill>
        <p:spPr>
          <a:xfrm>
            <a:off x="7239000" y="0"/>
            <a:ext cx="4953000" cy="6858000"/>
          </a:xfrm>
          <a:prstGeom prst="rect">
            <a:avLst/>
          </a:prstGeom>
        </p:spPr>
      </p:pic>
      <p:pic>
        <p:nvPicPr>
          <p:cNvPr id="25" name="Image 6" descr="preencoded.png"/>
          <p:cNvPicPr>
            <a:picLocks noChangeAspect="1"/>
          </p:cNvPicPr>
          <p:nvPr/>
        </p:nvPicPr>
        <p:blipFill>
          <a:blip r:embed="rId9"/>
          <a:stretch>
            <a:fillRect/>
          </a:stretch>
        </p:blipFill>
        <p:spPr>
          <a:xfrm>
            <a:off x="11229975" y="6567488"/>
            <a:ext cx="714375" cy="714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2652881"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WEEK</a:t>
            </a:r>
            <a:endParaRPr lang="en-US" sz="3225" dirty="0"/>
          </a:p>
        </p:txBody>
      </p:sp>
      <p:sp>
        <p:nvSpPr>
          <p:cNvPr id="4" name="Text 2"/>
          <p:cNvSpPr/>
          <p:nvPr/>
        </p:nvSpPr>
        <p:spPr>
          <a:xfrm>
            <a:off x="352425" y="666750"/>
            <a:ext cx="6559461"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V-cycle for the model · Agile and Test and Learn for the week</a:t>
            </a:r>
            <a:endParaRPr lang="en-US" sz="1725" dirty="0"/>
          </a:p>
        </p:txBody>
      </p:sp>
      <p:sp>
        <p:nvSpPr>
          <p:cNvPr id="5" name="Shape 3"/>
          <p:cNvSpPr/>
          <p:nvPr/>
        </p:nvSpPr>
        <p:spPr>
          <a:xfrm>
            <a:off x="352425" y="1428750"/>
            <a:ext cx="2152650" cy="1511300"/>
          </a:xfrm>
          <a:prstGeom prst="rect">
            <a:avLst/>
          </a:prstGeom>
          <a:solidFill>
            <a:srgbClr val="E9F5FB"/>
          </a:solidFill>
          <a:ln/>
        </p:spPr>
        <p:txBody>
          <a:bodyPr/>
          <a:lstStyle/>
          <a:p>
            <a:endParaRPr lang="fr-FR"/>
          </a:p>
        </p:txBody>
      </p:sp>
      <p:sp>
        <p:nvSpPr>
          <p:cNvPr id="6" name="Shape 4"/>
          <p:cNvSpPr/>
          <p:nvPr/>
        </p:nvSpPr>
        <p:spPr>
          <a:xfrm>
            <a:off x="352425" y="1428750"/>
            <a:ext cx="2152650" cy="44450"/>
          </a:xfrm>
          <a:prstGeom prst="rect">
            <a:avLst/>
          </a:prstGeom>
          <a:solidFill>
            <a:srgbClr val="1D93C9"/>
          </a:solidFill>
          <a:ln/>
        </p:spPr>
        <p:txBody>
          <a:bodyPr/>
          <a:lstStyle/>
          <a:p>
            <a:endParaRPr lang="fr-FR"/>
          </a:p>
        </p:txBody>
      </p:sp>
      <p:sp>
        <p:nvSpPr>
          <p:cNvPr id="7" name="Text 5"/>
          <p:cNvSpPr/>
          <p:nvPr/>
        </p:nvSpPr>
        <p:spPr>
          <a:xfrm>
            <a:off x="523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MON</a:t>
            </a:r>
            <a:endParaRPr lang="en-US" sz="1575" dirty="0"/>
          </a:p>
        </p:txBody>
      </p:sp>
      <p:sp>
        <p:nvSpPr>
          <p:cNvPr id="8" name="Text 6"/>
          <p:cNvSpPr/>
          <p:nvPr/>
        </p:nvSpPr>
        <p:spPr>
          <a:xfrm>
            <a:off x="523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Planning</a:t>
            </a:r>
            <a:endParaRPr lang="en-US" sz="1425" dirty="0"/>
          </a:p>
        </p:txBody>
      </p:sp>
      <p:sp>
        <p:nvSpPr>
          <p:cNvPr id="9" name="Text 7"/>
          <p:cNvSpPr/>
          <p:nvPr/>
        </p:nvSpPr>
        <p:spPr>
          <a:xfrm>
            <a:off x="523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The week’s objective</a:t>
            </a:r>
            <a:endParaRPr lang="en-US" sz="1275" dirty="0"/>
          </a:p>
        </p:txBody>
      </p:sp>
      <p:sp>
        <p:nvSpPr>
          <p:cNvPr id="10" name="Shape 8"/>
          <p:cNvSpPr/>
          <p:nvPr/>
        </p:nvSpPr>
        <p:spPr>
          <a:xfrm>
            <a:off x="2638425" y="1428750"/>
            <a:ext cx="2152650" cy="1511300"/>
          </a:xfrm>
          <a:prstGeom prst="rect">
            <a:avLst/>
          </a:prstGeom>
          <a:solidFill>
            <a:srgbClr val="F4F4F6"/>
          </a:solidFill>
          <a:ln/>
        </p:spPr>
        <p:txBody>
          <a:bodyPr/>
          <a:lstStyle/>
          <a:p>
            <a:endParaRPr lang="fr-FR"/>
          </a:p>
        </p:txBody>
      </p:sp>
      <p:sp>
        <p:nvSpPr>
          <p:cNvPr id="11" name="Shape 9"/>
          <p:cNvSpPr/>
          <p:nvPr/>
        </p:nvSpPr>
        <p:spPr>
          <a:xfrm>
            <a:off x="2638425" y="1428750"/>
            <a:ext cx="2152650" cy="44450"/>
          </a:xfrm>
          <a:prstGeom prst="rect">
            <a:avLst/>
          </a:prstGeom>
          <a:solidFill>
            <a:srgbClr val="C0C0C8"/>
          </a:solidFill>
          <a:ln/>
        </p:spPr>
        <p:txBody>
          <a:bodyPr/>
          <a:lstStyle/>
          <a:p>
            <a:endParaRPr lang="fr-FR"/>
          </a:p>
        </p:txBody>
      </p:sp>
      <p:sp>
        <p:nvSpPr>
          <p:cNvPr id="12" name="Text 10"/>
          <p:cNvSpPr/>
          <p:nvPr/>
        </p:nvSpPr>
        <p:spPr>
          <a:xfrm>
            <a:off x="2809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TUE</a:t>
            </a:r>
            <a:endParaRPr lang="en-US" sz="1575" dirty="0"/>
          </a:p>
        </p:txBody>
      </p:sp>
      <p:sp>
        <p:nvSpPr>
          <p:cNvPr id="13" name="Text 11"/>
          <p:cNvSpPr/>
          <p:nvPr/>
        </p:nvSpPr>
        <p:spPr>
          <a:xfrm>
            <a:off x="2809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Scrum</a:t>
            </a:r>
            <a:endParaRPr lang="en-US" sz="1425" dirty="0"/>
          </a:p>
        </p:txBody>
      </p:sp>
      <p:sp>
        <p:nvSpPr>
          <p:cNvPr id="14" name="Text 12"/>
          <p:cNvSpPr/>
          <p:nvPr/>
        </p:nvSpPr>
        <p:spPr>
          <a:xfrm>
            <a:off x="2809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Blockages surface in a day</a:t>
            </a:r>
            <a:endParaRPr lang="en-US" sz="1275" dirty="0"/>
          </a:p>
        </p:txBody>
      </p:sp>
      <p:sp>
        <p:nvSpPr>
          <p:cNvPr id="15" name="Shape 13"/>
          <p:cNvSpPr/>
          <p:nvPr/>
        </p:nvSpPr>
        <p:spPr>
          <a:xfrm>
            <a:off x="4924425" y="1428750"/>
            <a:ext cx="2152650" cy="1511300"/>
          </a:xfrm>
          <a:prstGeom prst="rect">
            <a:avLst/>
          </a:prstGeom>
          <a:solidFill>
            <a:srgbClr val="E9F5FB"/>
          </a:solidFill>
          <a:ln/>
        </p:spPr>
        <p:txBody>
          <a:bodyPr/>
          <a:lstStyle/>
          <a:p>
            <a:endParaRPr lang="fr-FR"/>
          </a:p>
        </p:txBody>
      </p:sp>
      <p:sp>
        <p:nvSpPr>
          <p:cNvPr id="16" name="Shape 14"/>
          <p:cNvSpPr/>
          <p:nvPr/>
        </p:nvSpPr>
        <p:spPr>
          <a:xfrm>
            <a:off x="4924425" y="1428750"/>
            <a:ext cx="2152650" cy="44450"/>
          </a:xfrm>
          <a:prstGeom prst="rect">
            <a:avLst/>
          </a:prstGeom>
          <a:solidFill>
            <a:srgbClr val="1D93C9"/>
          </a:solidFill>
          <a:ln/>
        </p:spPr>
        <p:txBody>
          <a:bodyPr/>
          <a:lstStyle/>
          <a:p>
            <a:endParaRPr lang="fr-FR"/>
          </a:p>
        </p:txBody>
      </p:sp>
      <p:sp>
        <p:nvSpPr>
          <p:cNvPr id="17" name="Text 15"/>
          <p:cNvSpPr/>
          <p:nvPr/>
        </p:nvSpPr>
        <p:spPr>
          <a:xfrm>
            <a:off x="5095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WED</a:t>
            </a:r>
            <a:endParaRPr lang="en-US" sz="1575" dirty="0"/>
          </a:p>
        </p:txBody>
      </p:sp>
      <p:sp>
        <p:nvSpPr>
          <p:cNvPr id="18" name="Text 16"/>
          <p:cNvSpPr/>
          <p:nvPr/>
        </p:nvSpPr>
        <p:spPr>
          <a:xfrm>
            <a:off x="5095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Programme director</a:t>
            </a:r>
            <a:endParaRPr lang="en-US" sz="1425" dirty="0"/>
          </a:p>
        </p:txBody>
      </p:sp>
      <p:sp>
        <p:nvSpPr>
          <p:cNvPr id="19" name="Text 17"/>
          <p:cNvSpPr/>
          <p:nvPr/>
        </p:nvSpPr>
        <p:spPr>
          <a:xfrm>
            <a:off x="5095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Scientific decisions</a:t>
            </a:r>
            <a:endParaRPr lang="en-US" sz="1275" dirty="0"/>
          </a:p>
        </p:txBody>
      </p:sp>
      <p:sp>
        <p:nvSpPr>
          <p:cNvPr id="20" name="Shape 18"/>
          <p:cNvSpPr/>
          <p:nvPr/>
        </p:nvSpPr>
        <p:spPr>
          <a:xfrm>
            <a:off x="7210425" y="1428750"/>
            <a:ext cx="2152650" cy="1511300"/>
          </a:xfrm>
          <a:prstGeom prst="rect">
            <a:avLst/>
          </a:prstGeom>
          <a:solidFill>
            <a:srgbClr val="F4F4F6"/>
          </a:solidFill>
          <a:ln/>
        </p:spPr>
        <p:txBody>
          <a:bodyPr/>
          <a:lstStyle/>
          <a:p>
            <a:endParaRPr lang="fr-FR"/>
          </a:p>
        </p:txBody>
      </p:sp>
      <p:sp>
        <p:nvSpPr>
          <p:cNvPr id="21" name="Shape 19"/>
          <p:cNvSpPr/>
          <p:nvPr/>
        </p:nvSpPr>
        <p:spPr>
          <a:xfrm>
            <a:off x="7210425" y="1428750"/>
            <a:ext cx="2152650" cy="44450"/>
          </a:xfrm>
          <a:prstGeom prst="rect">
            <a:avLst/>
          </a:prstGeom>
          <a:solidFill>
            <a:srgbClr val="C0C0C8"/>
          </a:solidFill>
          <a:ln/>
        </p:spPr>
        <p:txBody>
          <a:bodyPr/>
          <a:lstStyle/>
          <a:p>
            <a:endParaRPr lang="fr-FR"/>
          </a:p>
        </p:txBody>
      </p:sp>
      <p:sp>
        <p:nvSpPr>
          <p:cNvPr id="22" name="Text 20"/>
          <p:cNvSpPr/>
          <p:nvPr/>
        </p:nvSpPr>
        <p:spPr>
          <a:xfrm>
            <a:off x="7381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THU</a:t>
            </a:r>
            <a:endParaRPr lang="en-US" sz="1575" dirty="0"/>
          </a:p>
        </p:txBody>
      </p:sp>
      <p:sp>
        <p:nvSpPr>
          <p:cNvPr id="23" name="Text 21"/>
          <p:cNvSpPr/>
          <p:nvPr/>
        </p:nvSpPr>
        <p:spPr>
          <a:xfrm>
            <a:off x="7381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Scrum</a:t>
            </a:r>
            <a:endParaRPr lang="en-US" sz="1425" dirty="0"/>
          </a:p>
        </p:txBody>
      </p:sp>
      <p:sp>
        <p:nvSpPr>
          <p:cNvPr id="24" name="Text 22"/>
          <p:cNvSpPr/>
          <p:nvPr/>
        </p:nvSpPr>
        <p:spPr>
          <a:xfrm>
            <a:off x="7381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Course correction</a:t>
            </a:r>
            <a:endParaRPr lang="en-US" sz="1275" dirty="0"/>
          </a:p>
        </p:txBody>
      </p:sp>
      <p:sp>
        <p:nvSpPr>
          <p:cNvPr id="25" name="Shape 23"/>
          <p:cNvSpPr/>
          <p:nvPr/>
        </p:nvSpPr>
        <p:spPr>
          <a:xfrm>
            <a:off x="9496425" y="1428750"/>
            <a:ext cx="2152650" cy="1511300"/>
          </a:xfrm>
          <a:prstGeom prst="rect">
            <a:avLst/>
          </a:prstGeom>
          <a:solidFill>
            <a:srgbClr val="FFDA65"/>
          </a:solidFill>
          <a:ln/>
        </p:spPr>
        <p:txBody>
          <a:bodyPr/>
          <a:lstStyle/>
          <a:p>
            <a:endParaRPr lang="fr-FR"/>
          </a:p>
        </p:txBody>
      </p:sp>
      <p:sp>
        <p:nvSpPr>
          <p:cNvPr id="26" name="Shape 24"/>
          <p:cNvSpPr/>
          <p:nvPr/>
        </p:nvSpPr>
        <p:spPr>
          <a:xfrm>
            <a:off x="9496425" y="1428750"/>
            <a:ext cx="2152650" cy="44450"/>
          </a:xfrm>
          <a:prstGeom prst="rect">
            <a:avLst/>
          </a:prstGeom>
          <a:solidFill>
            <a:srgbClr val="063C67"/>
          </a:solidFill>
          <a:ln/>
        </p:spPr>
        <p:txBody>
          <a:bodyPr/>
          <a:lstStyle/>
          <a:p>
            <a:endParaRPr lang="fr-FR"/>
          </a:p>
        </p:txBody>
      </p:sp>
      <p:sp>
        <p:nvSpPr>
          <p:cNvPr id="27" name="Text 25"/>
          <p:cNvSpPr/>
          <p:nvPr/>
        </p:nvSpPr>
        <p:spPr>
          <a:xfrm>
            <a:off x="9667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FRI</a:t>
            </a:r>
            <a:endParaRPr lang="en-US" sz="1575" dirty="0"/>
          </a:p>
        </p:txBody>
      </p:sp>
      <p:sp>
        <p:nvSpPr>
          <p:cNvPr id="28" name="Text 26"/>
          <p:cNvSpPr/>
          <p:nvPr/>
        </p:nvSpPr>
        <p:spPr>
          <a:xfrm>
            <a:off x="9667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Demonstration</a:t>
            </a:r>
            <a:endParaRPr lang="en-US" sz="1425" dirty="0"/>
          </a:p>
        </p:txBody>
      </p:sp>
      <p:sp>
        <p:nvSpPr>
          <p:cNvPr id="29" name="Text 27"/>
          <p:cNvSpPr/>
          <p:nvPr/>
        </p:nvSpPr>
        <p:spPr>
          <a:xfrm>
            <a:off x="9667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Shown</a:t>
            </a:r>
            <a:endParaRPr lang="en-US" sz="1275" dirty="0"/>
          </a:p>
        </p:txBody>
      </p:sp>
      <p:sp>
        <p:nvSpPr>
          <p:cNvPr id="30" name="Text 28"/>
          <p:cNvSpPr/>
          <p:nvPr/>
        </p:nvSpPr>
        <p:spPr>
          <a:xfrm>
            <a:off x="352425" y="3552825"/>
            <a:ext cx="12635865"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TEST AND LEARN MEANS SOMETHING ONLY IF THINGS WERE LEARNED WHILE FAILING</a:t>
            </a:r>
            <a:endParaRPr lang="en-US" sz="1125" dirty="0"/>
          </a:p>
        </p:txBody>
      </p:sp>
      <p:sp>
        <p:nvSpPr>
          <p:cNvPr id="31" name="Shape 29"/>
          <p:cNvSpPr/>
          <p:nvPr/>
        </p:nvSpPr>
        <p:spPr>
          <a:xfrm>
            <a:off x="352425" y="3931444"/>
            <a:ext cx="7839075" cy="25400"/>
          </a:xfrm>
          <a:prstGeom prst="rect">
            <a:avLst/>
          </a:prstGeom>
          <a:solidFill>
            <a:srgbClr val="FFDA65"/>
          </a:solidFill>
          <a:ln/>
        </p:spPr>
        <p:txBody>
          <a:bodyPr/>
          <a:lstStyle/>
          <a:p>
            <a:endParaRPr lang="fr-FR"/>
          </a:p>
        </p:txBody>
      </p:sp>
      <p:pic>
        <p:nvPicPr>
          <p:cNvPr id="32" name="Image 0" descr="preencoded.png"/>
          <p:cNvPicPr>
            <a:picLocks noChangeAspect="1"/>
          </p:cNvPicPr>
          <p:nvPr/>
        </p:nvPicPr>
        <p:blipFill>
          <a:blip r:embed="rId3"/>
          <a:stretch>
            <a:fillRect/>
          </a:stretch>
        </p:blipFill>
        <p:spPr>
          <a:xfrm>
            <a:off x="352425" y="4090194"/>
            <a:ext cx="381000" cy="381000"/>
          </a:xfrm>
          <a:prstGeom prst="rect">
            <a:avLst/>
          </a:prstGeom>
        </p:spPr>
      </p:pic>
      <p:sp>
        <p:nvSpPr>
          <p:cNvPr id="33" name="Text 30"/>
          <p:cNvSpPr/>
          <p:nvPr/>
        </p:nvSpPr>
        <p:spPr>
          <a:xfrm>
            <a:off x="866775" y="4160639"/>
            <a:ext cx="4369882" cy="278110"/>
          </a:xfrm>
          <a:prstGeom prst="rect">
            <a:avLst/>
          </a:prstGeom>
          <a:noFill/>
          <a:ln/>
        </p:spPr>
        <p:txBody>
          <a:bodyPr wrap="square" lIns="25400" tIns="25400" rIns="25400" bIns="25400" rtlCol="0" anchor="t">
            <a:normAutofit lnSpcReduction="10000"/>
          </a:bodyPr>
          <a:lstStyle/>
          <a:p>
            <a:pPr marL="0" indent="0" algn="l">
              <a:lnSpc>
                <a:spcPct val="99474"/>
              </a:lnSpc>
              <a:buNone/>
            </a:pPr>
            <a:r>
              <a:rPr lang="en-US" sz="1575" b="1" dirty="0">
                <a:solidFill>
                  <a:srgbClr val="063C67"/>
                </a:solidFill>
                <a:latin typeface="Calibri" pitchFamily="34" charset="0"/>
                <a:ea typeface="Calibri" pitchFamily="34" charset="-122"/>
                <a:cs typeface="Calibri" pitchFamily="34" charset="-120"/>
              </a:rPr>
              <a:t>The first urgency model, and why it could not fit</a:t>
            </a:r>
            <a:endParaRPr lang="en-US" sz="1575" dirty="0"/>
          </a:p>
        </p:txBody>
      </p:sp>
      <p:sp>
        <p:nvSpPr>
          <p:cNvPr id="34" name="Shape 31"/>
          <p:cNvSpPr/>
          <p:nvPr/>
        </p:nvSpPr>
        <p:spPr>
          <a:xfrm>
            <a:off x="352425" y="4585494"/>
            <a:ext cx="7839075" cy="476250"/>
          </a:xfrm>
          <a:prstGeom prst="rect">
            <a:avLst/>
          </a:prstGeom>
          <a:solidFill>
            <a:srgbClr val="F4F4F6"/>
          </a:solidFill>
          <a:ln/>
        </p:spPr>
        <p:txBody>
          <a:bodyPr/>
          <a:lstStyle/>
          <a:p>
            <a:endParaRPr lang="fr-FR"/>
          </a:p>
        </p:txBody>
      </p:sp>
      <p:pic>
        <p:nvPicPr>
          <p:cNvPr id="35" name="Image 1" descr="preencoded.png"/>
          <p:cNvPicPr>
            <a:picLocks noChangeAspect="1"/>
          </p:cNvPicPr>
          <p:nvPr/>
        </p:nvPicPr>
        <p:blipFill>
          <a:blip r:embed="rId4"/>
          <a:stretch>
            <a:fillRect/>
          </a:stretch>
        </p:blipFill>
        <p:spPr>
          <a:xfrm>
            <a:off x="545406" y="4633010"/>
            <a:ext cx="321369" cy="381217"/>
          </a:xfrm>
          <a:prstGeom prst="rect">
            <a:avLst/>
          </a:prstGeom>
        </p:spPr>
      </p:pic>
      <p:sp>
        <p:nvSpPr>
          <p:cNvPr id="36" name="Text 32"/>
          <p:cNvSpPr/>
          <p:nvPr/>
        </p:nvSpPr>
        <p:spPr>
          <a:xfrm>
            <a:off x="998934" y="4712196"/>
            <a:ext cx="5436732"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A single time-driven curve: urgency rose only as a deadline approached</a:t>
            </a:r>
            <a:endParaRPr lang="en-US" sz="1350" dirty="0"/>
          </a:p>
        </p:txBody>
      </p:sp>
      <p:sp>
        <p:nvSpPr>
          <p:cNvPr id="37" name="Shape 33"/>
          <p:cNvSpPr/>
          <p:nvPr/>
        </p:nvSpPr>
        <p:spPr>
          <a:xfrm>
            <a:off x="352425" y="5147469"/>
            <a:ext cx="7839075" cy="476250"/>
          </a:xfrm>
          <a:prstGeom prst="rect">
            <a:avLst/>
          </a:prstGeom>
          <a:solidFill>
            <a:srgbClr val="F4F4F6"/>
          </a:solidFill>
          <a:ln/>
        </p:spPr>
        <p:txBody>
          <a:bodyPr/>
          <a:lstStyle/>
          <a:p>
            <a:endParaRPr lang="fr-FR"/>
          </a:p>
        </p:txBody>
      </p:sp>
      <p:pic>
        <p:nvPicPr>
          <p:cNvPr id="38" name="Image 2" descr="preencoded.png"/>
          <p:cNvPicPr>
            <a:picLocks noChangeAspect="1"/>
          </p:cNvPicPr>
          <p:nvPr/>
        </p:nvPicPr>
        <p:blipFill>
          <a:blip r:embed="rId5"/>
          <a:stretch>
            <a:fillRect/>
          </a:stretch>
        </p:blipFill>
        <p:spPr>
          <a:xfrm>
            <a:off x="485775" y="5252244"/>
            <a:ext cx="398859" cy="266700"/>
          </a:xfrm>
          <a:prstGeom prst="rect">
            <a:avLst/>
          </a:prstGeom>
        </p:spPr>
      </p:pic>
      <p:sp>
        <p:nvSpPr>
          <p:cNvPr id="39" name="Text 34"/>
          <p:cNvSpPr/>
          <p:nvPr/>
        </p:nvSpPr>
        <p:spPr>
          <a:xfrm>
            <a:off x="998934" y="5274171"/>
            <a:ext cx="4387126"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It could not represent a node </a:t>
            </a:r>
            <a:r>
              <a:rPr lang="en-US" sz="1350" b="1" dirty="0">
                <a:solidFill>
                  <a:srgbClr val="063C67"/>
                </a:solidFill>
                <a:latin typeface="Calibri" pitchFamily="34" charset="0"/>
                <a:ea typeface="Calibri" pitchFamily="34" charset="-122"/>
                <a:cs typeface="Calibri" pitchFamily="34" charset="-120"/>
              </a:rPr>
              <a:t>on time but out of capacity</a:t>
            </a:r>
            <a:endParaRPr lang="en-US" sz="1350" dirty="0"/>
          </a:p>
        </p:txBody>
      </p:sp>
      <p:sp>
        <p:nvSpPr>
          <p:cNvPr id="40" name="Shape 35"/>
          <p:cNvSpPr/>
          <p:nvPr/>
        </p:nvSpPr>
        <p:spPr>
          <a:xfrm>
            <a:off x="352425" y="5709444"/>
            <a:ext cx="7839075" cy="476250"/>
          </a:xfrm>
          <a:prstGeom prst="rect">
            <a:avLst/>
          </a:prstGeom>
          <a:solidFill>
            <a:srgbClr val="F4F4F6"/>
          </a:solidFill>
          <a:ln/>
        </p:spPr>
        <p:txBody>
          <a:bodyPr/>
          <a:lstStyle/>
          <a:p>
            <a:endParaRPr lang="fr-FR"/>
          </a:p>
        </p:txBody>
      </p:sp>
      <p:pic>
        <p:nvPicPr>
          <p:cNvPr id="41" name="Image 3" descr="preencoded.png"/>
          <p:cNvPicPr>
            <a:picLocks noChangeAspect="1"/>
          </p:cNvPicPr>
          <p:nvPr/>
        </p:nvPicPr>
        <p:blipFill>
          <a:blip r:embed="rId6"/>
          <a:stretch>
            <a:fillRect/>
          </a:stretch>
        </p:blipFill>
        <p:spPr>
          <a:xfrm>
            <a:off x="491067" y="5794010"/>
            <a:ext cx="351963" cy="351963"/>
          </a:xfrm>
          <a:prstGeom prst="rect">
            <a:avLst/>
          </a:prstGeom>
        </p:spPr>
      </p:pic>
      <p:sp>
        <p:nvSpPr>
          <p:cNvPr id="42" name="Text 36"/>
          <p:cNvSpPr/>
          <p:nvPr/>
        </p:nvSpPr>
        <p:spPr>
          <a:xfrm>
            <a:off x="998934" y="5836146"/>
            <a:ext cx="3352255"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It discarded indicators the twin already held</a:t>
            </a:r>
            <a:endParaRPr lang="en-US" sz="1350" dirty="0"/>
          </a:p>
        </p:txBody>
      </p:sp>
      <p:pic>
        <p:nvPicPr>
          <p:cNvPr id="46" name="Image 5" descr="preencoded.png"/>
          <p:cNvPicPr>
            <a:picLocks noChangeAspect="1"/>
          </p:cNvPicPr>
          <p:nvPr/>
        </p:nvPicPr>
        <p:blipFill>
          <a:blip r:embed="rId7"/>
          <a:stretch>
            <a:fillRect/>
          </a:stretch>
        </p:blipFill>
        <p:spPr>
          <a:xfrm>
            <a:off x="11229975" y="6567488"/>
            <a:ext cx="714375" cy="714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6666964"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PHASES AND MILESTONES</a:t>
            </a:r>
            <a:endParaRPr lang="en-US" sz="3225" dirty="0"/>
          </a:p>
        </p:txBody>
      </p:sp>
      <p:sp>
        <p:nvSpPr>
          <p:cNvPr id="4" name="Text 2"/>
          <p:cNvSpPr/>
          <p:nvPr/>
        </p:nvSpPr>
        <p:spPr>
          <a:xfrm>
            <a:off x="352425" y="666750"/>
            <a:ext cx="2679075"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10 phases · 9 milestones</a:t>
            </a:r>
            <a:endParaRPr lang="en-US" sz="1725" dirty="0"/>
          </a:p>
        </p:txBody>
      </p:sp>
      <p:pic>
        <p:nvPicPr>
          <p:cNvPr id="5" name="Image 0" descr="preencoded.png"/>
          <p:cNvPicPr>
            <a:picLocks noChangeAspect="1"/>
          </p:cNvPicPr>
          <p:nvPr/>
        </p:nvPicPr>
        <p:blipFill>
          <a:blip r:embed="rId3"/>
          <a:srcRect l="-154" t="3772" r="-154"/>
          <a:stretch>
            <a:fillRect/>
          </a:stretch>
        </p:blipFill>
        <p:spPr>
          <a:xfrm>
            <a:off x="1428750" y="1287780"/>
            <a:ext cx="9334500" cy="5151120"/>
          </a:xfrm>
          <a:prstGeom prst="rect">
            <a:avLst/>
          </a:prstGeom>
        </p:spPr>
      </p:pic>
      <p:pic>
        <p:nvPicPr>
          <p:cNvPr id="6" name="Image 1" descr="preencoded.png"/>
          <p:cNvPicPr>
            <a:picLocks noChangeAspect="1"/>
          </p:cNvPicPr>
          <p:nvPr/>
        </p:nvPicPr>
        <p:blipFill>
          <a:blip r:embed="rId4"/>
          <a:stretch>
            <a:fillRect/>
          </a:stretch>
        </p:blipFill>
        <p:spPr>
          <a:xfrm>
            <a:off x="11229975" y="6567488"/>
            <a:ext cx="714375" cy="714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B0099-49B8-0358-01CD-962E09D8098C}"/>
            </a:ext>
          </a:extLst>
        </p:cNvPr>
        <p:cNvGrpSpPr/>
        <p:nvPr/>
      </p:nvGrpSpPr>
      <p:grpSpPr>
        <a:xfrm>
          <a:off x="0" y="0"/>
          <a:ext cx="0" cy="0"/>
          <a:chOff x="0" y="0"/>
          <a:chExt cx="0" cy="0"/>
        </a:xfrm>
      </p:grpSpPr>
      <p:sp>
        <p:nvSpPr>
          <p:cNvPr id="12" name="Shape 8">
            <a:extLst>
              <a:ext uri="{FF2B5EF4-FFF2-40B4-BE49-F238E27FC236}">
                <a16:creationId xmlns:a16="http://schemas.microsoft.com/office/drawing/2014/main" id="{66092BC6-BE74-4D4A-4EED-CE6C03EA7788}"/>
              </a:ext>
            </a:extLst>
          </p:cNvPr>
          <p:cNvSpPr/>
          <p:nvPr/>
        </p:nvSpPr>
        <p:spPr>
          <a:xfrm>
            <a:off x="352426" y="2379732"/>
            <a:ext cx="6286500" cy="723900"/>
          </a:xfrm>
          <a:prstGeom prst="rect">
            <a:avLst/>
          </a:prstGeom>
          <a:solidFill>
            <a:srgbClr val="F4F4F6"/>
          </a:solidFill>
          <a:ln/>
        </p:spPr>
        <p:txBody>
          <a:bodyPr/>
          <a:lstStyle/>
          <a:p>
            <a:endParaRPr lang="fr-FR"/>
          </a:p>
        </p:txBody>
      </p:sp>
      <p:sp>
        <p:nvSpPr>
          <p:cNvPr id="31" name="Shape 19">
            <a:extLst>
              <a:ext uri="{FF2B5EF4-FFF2-40B4-BE49-F238E27FC236}">
                <a16:creationId xmlns:a16="http://schemas.microsoft.com/office/drawing/2014/main" id="{4010960D-99DC-9543-9B74-A6DC5A3689D9}"/>
              </a:ext>
            </a:extLst>
          </p:cNvPr>
          <p:cNvSpPr/>
          <p:nvPr/>
        </p:nvSpPr>
        <p:spPr>
          <a:xfrm>
            <a:off x="352426" y="3238500"/>
            <a:ext cx="6286499" cy="704850"/>
          </a:xfrm>
          <a:prstGeom prst="rect">
            <a:avLst/>
          </a:prstGeom>
          <a:solidFill>
            <a:srgbClr val="FFDA65"/>
          </a:solidFill>
          <a:ln/>
        </p:spPr>
        <p:txBody>
          <a:bodyPr/>
          <a:lstStyle/>
          <a:p>
            <a:endParaRPr lang="fr-FR"/>
          </a:p>
        </p:txBody>
      </p:sp>
      <p:sp>
        <p:nvSpPr>
          <p:cNvPr id="2" name="Shape 0">
            <a:extLst>
              <a:ext uri="{FF2B5EF4-FFF2-40B4-BE49-F238E27FC236}">
                <a16:creationId xmlns:a16="http://schemas.microsoft.com/office/drawing/2014/main" id="{686D90B2-FDB9-9597-D5BF-A02CF4C3C83F}"/>
              </a:ext>
            </a:extLst>
          </p:cNvPr>
          <p:cNvSpPr/>
          <p:nvPr/>
        </p:nvSpPr>
        <p:spPr>
          <a:xfrm>
            <a:off x="0" y="0"/>
            <a:ext cx="104775" cy="6858000"/>
          </a:xfrm>
          <a:prstGeom prst="rect">
            <a:avLst/>
          </a:prstGeom>
          <a:solidFill>
            <a:srgbClr val="063C67"/>
          </a:solidFill>
          <a:ln/>
        </p:spPr>
        <p:txBody>
          <a:bodyPr/>
          <a:lstStyle/>
          <a:p>
            <a:endParaRPr lang="fr-FR"/>
          </a:p>
        </p:txBody>
      </p:sp>
      <p:sp>
        <p:nvSpPr>
          <p:cNvPr id="3" name="Text 1">
            <a:extLst>
              <a:ext uri="{FF2B5EF4-FFF2-40B4-BE49-F238E27FC236}">
                <a16:creationId xmlns:a16="http://schemas.microsoft.com/office/drawing/2014/main" id="{60395A88-CD09-32BB-4B3C-60C4C4CF4948}"/>
              </a:ext>
            </a:extLst>
          </p:cNvPr>
          <p:cNvSpPr/>
          <p:nvPr/>
        </p:nvSpPr>
        <p:spPr>
          <a:xfrm>
            <a:off x="352425" y="171450"/>
            <a:ext cx="1351598"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PLAN</a:t>
            </a:r>
            <a:endParaRPr lang="en-US" sz="3225" dirty="0"/>
          </a:p>
        </p:txBody>
      </p:sp>
      <p:sp>
        <p:nvSpPr>
          <p:cNvPr id="4" name="Shape 2">
            <a:extLst>
              <a:ext uri="{FF2B5EF4-FFF2-40B4-BE49-F238E27FC236}">
                <a16:creationId xmlns:a16="http://schemas.microsoft.com/office/drawing/2014/main" id="{C87F667A-1F03-D57D-1140-8F893AF0626D}"/>
              </a:ext>
            </a:extLst>
          </p:cNvPr>
          <p:cNvSpPr/>
          <p:nvPr/>
        </p:nvSpPr>
        <p:spPr>
          <a:xfrm>
            <a:off x="352425" y="1504950"/>
            <a:ext cx="6286500" cy="723900"/>
          </a:xfrm>
          <a:prstGeom prst="rect">
            <a:avLst/>
          </a:prstGeom>
          <a:solidFill>
            <a:srgbClr val="F4F4F6"/>
          </a:solidFill>
          <a:ln/>
        </p:spPr>
        <p:txBody>
          <a:bodyPr/>
          <a:lstStyle/>
          <a:p>
            <a:endParaRPr lang="fr-FR"/>
          </a:p>
        </p:txBody>
      </p:sp>
      <p:pic>
        <p:nvPicPr>
          <p:cNvPr id="5" name="Image 0" descr="preencoded.png">
            <a:extLst>
              <a:ext uri="{FF2B5EF4-FFF2-40B4-BE49-F238E27FC236}">
                <a16:creationId xmlns:a16="http://schemas.microsoft.com/office/drawing/2014/main" id="{1BB12552-6AA7-3AD6-A5C5-712245F14779}"/>
              </a:ext>
            </a:extLst>
          </p:cNvPr>
          <p:cNvPicPr>
            <a:picLocks noChangeAspect="1"/>
          </p:cNvPicPr>
          <p:nvPr/>
        </p:nvPicPr>
        <p:blipFill>
          <a:blip r:embed="rId3"/>
          <a:stretch>
            <a:fillRect/>
          </a:stretch>
        </p:blipFill>
        <p:spPr>
          <a:xfrm>
            <a:off x="542925" y="1657350"/>
            <a:ext cx="419100" cy="419100"/>
          </a:xfrm>
          <a:prstGeom prst="rect">
            <a:avLst/>
          </a:prstGeom>
        </p:spPr>
      </p:pic>
      <p:sp>
        <p:nvSpPr>
          <p:cNvPr id="6" name="Text 3">
            <a:extLst>
              <a:ext uri="{FF2B5EF4-FFF2-40B4-BE49-F238E27FC236}">
                <a16:creationId xmlns:a16="http://schemas.microsoft.com/office/drawing/2014/main" id="{61A02A8A-E7FC-BA0C-5568-7F3904386ADA}"/>
              </a:ext>
            </a:extLst>
          </p:cNvPr>
          <p:cNvSpPr/>
          <p:nvPr/>
        </p:nvSpPr>
        <p:spPr>
          <a:xfrm>
            <a:off x="1135261" y="1694259"/>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1</a:t>
            </a:r>
            <a:endParaRPr lang="en-US" sz="1800" dirty="0"/>
          </a:p>
        </p:txBody>
      </p:sp>
      <p:pic>
        <p:nvPicPr>
          <p:cNvPr id="9" name="Image 1" descr="preencoded.png">
            <a:extLst>
              <a:ext uri="{FF2B5EF4-FFF2-40B4-BE49-F238E27FC236}">
                <a16:creationId xmlns:a16="http://schemas.microsoft.com/office/drawing/2014/main" id="{E8E850DA-45A3-3616-F14B-9019B4E3948F}"/>
              </a:ext>
            </a:extLst>
          </p:cNvPr>
          <p:cNvPicPr>
            <a:picLocks noChangeAspect="1"/>
          </p:cNvPicPr>
          <p:nvPr/>
        </p:nvPicPr>
        <p:blipFill>
          <a:blip r:embed="rId4"/>
          <a:stretch>
            <a:fillRect/>
          </a:stretch>
        </p:blipFill>
        <p:spPr>
          <a:xfrm>
            <a:off x="542925" y="2514600"/>
            <a:ext cx="331887" cy="419100"/>
          </a:xfrm>
          <a:prstGeom prst="rect">
            <a:avLst/>
          </a:prstGeom>
        </p:spPr>
      </p:pic>
      <p:sp>
        <p:nvSpPr>
          <p:cNvPr id="10" name="Text 6">
            <a:extLst>
              <a:ext uri="{FF2B5EF4-FFF2-40B4-BE49-F238E27FC236}">
                <a16:creationId xmlns:a16="http://schemas.microsoft.com/office/drawing/2014/main" id="{AB750641-0CAF-B533-847D-65B8A48AD2C5}"/>
              </a:ext>
            </a:extLst>
          </p:cNvPr>
          <p:cNvSpPr/>
          <p:nvPr/>
        </p:nvSpPr>
        <p:spPr>
          <a:xfrm>
            <a:off x="1135261" y="255324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2</a:t>
            </a:r>
            <a:endParaRPr lang="en-US" sz="1800" dirty="0"/>
          </a:p>
        </p:txBody>
      </p:sp>
      <p:pic>
        <p:nvPicPr>
          <p:cNvPr id="13" name="Image 2" descr="preencoded.png">
            <a:extLst>
              <a:ext uri="{FF2B5EF4-FFF2-40B4-BE49-F238E27FC236}">
                <a16:creationId xmlns:a16="http://schemas.microsoft.com/office/drawing/2014/main" id="{9029CB01-D305-F959-FA2D-AFC16FEFCE51}"/>
              </a:ext>
            </a:extLst>
          </p:cNvPr>
          <p:cNvPicPr>
            <a:picLocks noChangeAspect="1"/>
          </p:cNvPicPr>
          <p:nvPr/>
        </p:nvPicPr>
        <p:blipFill>
          <a:blip r:embed="rId5"/>
          <a:stretch>
            <a:fillRect/>
          </a:stretch>
        </p:blipFill>
        <p:spPr>
          <a:xfrm>
            <a:off x="542925" y="3371850"/>
            <a:ext cx="419100" cy="419100"/>
          </a:xfrm>
          <a:prstGeom prst="rect">
            <a:avLst/>
          </a:prstGeom>
        </p:spPr>
      </p:pic>
      <p:sp>
        <p:nvSpPr>
          <p:cNvPr id="14" name="Text 9">
            <a:extLst>
              <a:ext uri="{FF2B5EF4-FFF2-40B4-BE49-F238E27FC236}">
                <a16:creationId xmlns:a16="http://schemas.microsoft.com/office/drawing/2014/main" id="{B550A8BE-DC98-F635-AED7-42468F1FDE3C}"/>
              </a:ext>
            </a:extLst>
          </p:cNvPr>
          <p:cNvSpPr/>
          <p:nvPr/>
        </p:nvSpPr>
        <p:spPr>
          <a:xfrm>
            <a:off x="1135261" y="3412231"/>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3</a:t>
            </a:r>
            <a:endParaRPr lang="en-US" sz="1800" dirty="0"/>
          </a:p>
        </p:txBody>
      </p:sp>
      <p:sp>
        <p:nvSpPr>
          <p:cNvPr id="16" name="Shape 11">
            <a:extLst>
              <a:ext uri="{FF2B5EF4-FFF2-40B4-BE49-F238E27FC236}">
                <a16:creationId xmlns:a16="http://schemas.microsoft.com/office/drawing/2014/main" id="{0EE2918B-ED79-9BF2-1170-2DB87213A6B6}"/>
              </a:ext>
            </a:extLst>
          </p:cNvPr>
          <p:cNvSpPr/>
          <p:nvPr/>
        </p:nvSpPr>
        <p:spPr>
          <a:xfrm>
            <a:off x="352425" y="4076700"/>
            <a:ext cx="6286500" cy="723900"/>
          </a:xfrm>
          <a:prstGeom prst="rect">
            <a:avLst/>
          </a:prstGeom>
          <a:solidFill>
            <a:srgbClr val="F4F4F6"/>
          </a:solidFill>
          <a:ln/>
        </p:spPr>
        <p:txBody>
          <a:bodyPr/>
          <a:lstStyle/>
          <a:p>
            <a:endParaRPr lang="fr-FR"/>
          </a:p>
        </p:txBody>
      </p:sp>
      <p:pic>
        <p:nvPicPr>
          <p:cNvPr id="17" name="Image 3" descr="preencoded.png">
            <a:extLst>
              <a:ext uri="{FF2B5EF4-FFF2-40B4-BE49-F238E27FC236}">
                <a16:creationId xmlns:a16="http://schemas.microsoft.com/office/drawing/2014/main" id="{036A8EEF-C7F8-818D-B4E6-AACD08275E3B}"/>
              </a:ext>
            </a:extLst>
          </p:cNvPr>
          <p:cNvPicPr>
            <a:picLocks noChangeAspect="1"/>
          </p:cNvPicPr>
          <p:nvPr/>
        </p:nvPicPr>
        <p:blipFill>
          <a:blip r:embed="rId6"/>
          <a:stretch>
            <a:fillRect/>
          </a:stretch>
        </p:blipFill>
        <p:spPr>
          <a:xfrm>
            <a:off x="542925" y="4229100"/>
            <a:ext cx="471785" cy="419100"/>
          </a:xfrm>
          <a:prstGeom prst="rect">
            <a:avLst/>
          </a:prstGeom>
        </p:spPr>
      </p:pic>
      <p:sp>
        <p:nvSpPr>
          <p:cNvPr id="18" name="Text 12">
            <a:extLst>
              <a:ext uri="{FF2B5EF4-FFF2-40B4-BE49-F238E27FC236}">
                <a16:creationId xmlns:a16="http://schemas.microsoft.com/office/drawing/2014/main" id="{FF392D4E-21CD-2087-ADA1-48287CAC86D0}"/>
              </a:ext>
            </a:extLst>
          </p:cNvPr>
          <p:cNvSpPr/>
          <p:nvPr/>
        </p:nvSpPr>
        <p:spPr>
          <a:xfrm>
            <a:off x="1135261" y="4271217"/>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4</a:t>
            </a:r>
            <a:endParaRPr lang="en-US" sz="1800" dirty="0"/>
          </a:p>
        </p:txBody>
      </p:sp>
      <p:sp>
        <p:nvSpPr>
          <p:cNvPr id="20" name="Shape 14">
            <a:extLst>
              <a:ext uri="{FF2B5EF4-FFF2-40B4-BE49-F238E27FC236}">
                <a16:creationId xmlns:a16="http://schemas.microsoft.com/office/drawing/2014/main" id="{2151D5FC-3793-CB55-3927-13E666D8B456}"/>
              </a:ext>
            </a:extLst>
          </p:cNvPr>
          <p:cNvSpPr/>
          <p:nvPr/>
        </p:nvSpPr>
        <p:spPr>
          <a:xfrm>
            <a:off x="352425" y="4933950"/>
            <a:ext cx="6286500" cy="723900"/>
          </a:xfrm>
          <a:prstGeom prst="rect">
            <a:avLst/>
          </a:prstGeom>
          <a:solidFill>
            <a:srgbClr val="F4F4F6"/>
          </a:solidFill>
          <a:ln/>
        </p:spPr>
        <p:txBody>
          <a:bodyPr/>
          <a:lstStyle/>
          <a:p>
            <a:endParaRPr lang="fr-FR" dirty="0"/>
          </a:p>
        </p:txBody>
      </p:sp>
      <p:pic>
        <p:nvPicPr>
          <p:cNvPr id="21" name="Image 4" descr="preencoded.png">
            <a:extLst>
              <a:ext uri="{FF2B5EF4-FFF2-40B4-BE49-F238E27FC236}">
                <a16:creationId xmlns:a16="http://schemas.microsoft.com/office/drawing/2014/main" id="{59C67F44-04B0-0F8F-1D5E-C3E2BB14798E}"/>
              </a:ext>
            </a:extLst>
          </p:cNvPr>
          <p:cNvPicPr>
            <a:picLocks noChangeAspect="1"/>
          </p:cNvPicPr>
          <p:nvPr/>
        </p:nvPicPr>
        <p:blipFill>
          <a:blip r:embed="rId7"/>
          <a:stretch>
            <a:fillRect/>
          </a:stretch>
        </p:blipFill>
        <p:spPr>
          <a:xfrm>
            <a:off x="542925" y="5086350"/>
            <a:ext cx="469900" cy="419100"/>
          </a:xfrm>
          <a:prstGeom prst="rect">
            <a:avLst/>
          </a:prstGeom>
        </p:spPr>
      </p:pic>
      <p:sp>
        <p:nvSpPr>
          <p:cNvPr id="22" name="Text 15">
            <a:extLst>
              <a:ext uri="{FF2B5EF4-FFF2-40B4-BE49-F238E27FC236}">
                <a16:creationId xmlns:a16="http://schemas.microsoft.com/office/drawing/2014/main" id="{3ED36E35-60D7-CBA9-C513-C9716FBF7C3E}"/>
              </a:ext>
            </a:extLst>
          </p:cNvPr>
          <p:cNvSpPr/>
          <p:nvPr/>
        </p:nvSpPr>
        <p:spPr>
          <a:xfrm>
            <a:off x="1135261" y="5130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5</a:t>
            </a:r>
            <a:endParaRPr lang="en-US" sz="1800" dirty="0"/>
          </a:p>
        </p:txBody>
      </p:sp>
      <p:grpSp>
        <p:nvGrpSpPr>
          <p:cNvPr id="27" name="Groupe 26">
            <a:extLst>
              <a:ext uri="{FF2B5EF4-FFF2-40B4-BE49-F238E27FC236}">
                <a16:creationId xmlns:a16="http://schemas.microsoft.com/office/drawing/2014/main" id="{D5D0B97E-7076-DEE1-FD57-5E9D026F2E37}"/>
              </a:ext>
            </a:extLst>
          </p:cNvPr>
          <p:cNvGrpSpPr/>
          <p:nvPr/>
        </p:nvGrpSpPr>
        <p:grpSpPr>
          <a:xfrm>
            <a:off x="1624310" y="1708051"/>
            <a:ext cx="4953000" cy="3784699"/>
            <a:chOff x="1624310" y="1708051"/>
            <a:chExt cx="4953000" cy="3784699"/>
          </a:xfrm>
        </p:grpSpPr>
        <p:sp>
          <p:nvSpPr>
            <p:cNvPr id="7" name="Text 4">
              <a:extLst>
                <a:ext uri="{FF2B5EF4-FFF2-40B4-BE49-F238E27FC236}">
                  <a16:creationId xmlns:a16="http://schemas.microsoft.com/office/drawing/2014/main" id="{3C2CA352-D469-9DC6-53E2-310961EB40F8}"/>
                </a:ext>
              </a:extLst>
            </p:cNvPr>
            <p:cNvSpPr/>
            <p:nvPr/>
          </p:nvSpPr>
          <p:spPr>
            <a:xfrm>
              <a:off x="1624310" y="1708051"/>
              <a:ext cx="405686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CONTEXT, PROBLEM, MISSION</a:t>
              </a:r>
              <a:endParaRPr lang="en-US" sz="1725" dirty="0"/>
            </a:p>
          </p:txBody>
        </p:sp>
        <p:sp>
          <p:nvSpPr>
            <p:cNvPr id="11" name="Text 7">
              <a:extLst>
                <a:ext uri="{FF2B5EF4-FFF2-40B4-BE49-F238E27FC236}">
                  <a16:creationId xmlns:a16="http://schemas.microsoft.com/office/drawing/2014/main" id="{F4F7728D-4589-757B-4C11-13C572800F80}"/>
                </a:ext>
              </a:extLst>
            </p:cNvPr>
            <p:cNvSpPr/>
            <p:nvPr/>
          </p:nvSpPr>
          <p:spPr>
            <a:xfrm>
              <a:off x="1624310" y="2565301"/>
              <a:ext cx="395023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HOW THE PROJECT WAS RUN</a:t>
              </a:r>
              <a:endParaRPr lang="en-US" sz="1725" dirty="0"/>
            </a:p>
          </p:txBody>
        </p:sp>
        <p:sp>
          <p:nvSpPr>
            <p:cNvPr id="15" name="Text 10">
              <a:extLst>
                <a:ext uri="{FF2B5EF4-FFF2-40B4-BE49-F238E27FC236}">
                  <a16:creationId xmlns:a16="http://schemas.microsoft.com/office/drawing/2014/main" id="{26698250-51B5-3BA6-CC42-FF51C9C3BB9E}"/>
                </a:ext>
              </a:extLst>
            </p:cNvPr>
            <p:cNvSpPr/>
            <p:nvPr/>
          </p:nvSpPr>
          <p:spPr>
            <a:xfrm>
              <a:off x="1624310" y="3422551"/>
              <a:ext cx="4953000" cy="355699"/>
            </a:xfrm>
            <a:prstGeom prst="rect">
              <a:avLst/>
            </a:prstGeom>
            <a:noFill/>
            <a:ln/>
          </p:spPr>
          <p:txBody>
            <a:bodyPr wrap="square" lIns="25400" tIns="25400" rIns="25400" bIns="25400" rtlCol="0" anchor="t">
              <a:normAutofit fontScale="92500"/>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LITERATURE, DESIGN AND REALISATION</a:t>
              </a:r>
              <a:endParaRPr lang="en-US" sz="1725" dirty="0"/>
            </a:p>
          </p:txBody>
        </p:sp>
        <p:sp>
          <p:nvSpPr>
            <p:cNvPr id="19" name="Text 13">
              <a:extLst>
                <a:ext uri="{FF2B5EF4-FFF2-40B4-BE49-F238E27FC236}">
                  <a16:creationId xmlns:a16="http://schemas.microsoft.com/office/drawing/2014/main" id="{ABE781E2-2E52-47F5-AB3C-09B956523B5E}"/>
                </a:ext>
              </a:extLst>
            </p:cNvPr>
            <p:cNvSpPr/>
            <p:nvPr/>
          </p:nvSpPr>
          <p:spPr>
            <a:xfrm>
              <a:off x="1624310" y="4292501"/>
              <a:ext cx="3602077"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RESULTS AND VALIDATION</a:t>
              </a:r>
              <a:endParaRPr lang="en-US" sz="1725" dirty="0"/>
            </a:p>
          </p:txBody>
        </p:sp>
        <p:sp>
          <p:nvSpPr>
            <p:cNvPr id="23" name="Text 16">
              <a:extLst>
                <a:ext uri="{FF2B5EF4-FFF2-40B4-BE49-F238E27FC236}">
                  <a16:creationId xmlns:a16="http://schemas.microsoft.com/office/drawing/2014/main" id="{09EB9B85-58CF-15C0-D85E-0A95EFC9C1FD}"/>
                </a:ext>
              </a:extLst>
            </p:cNvPr>
            <p:cNvSpPr/>
            <p:nvPr/>
          </p:nvSpPr>
          <p:spPr>
            <a:xfrm>
              <a:off x="1624310" y="5137051"/>
              <a:ext cx="461861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ASSESSMENT AND PERSPECTIVES</a:t>
              </a:r>
              <a:endParaRPr lang="en-US" sz="1725" dirty="0"/>
            </a:p>
          </p:txBody>
        </p:sp>
      </p:grpSp>
      <p:pic>
        <p:nvPicPr>
          <p:cNvPr id="24" name="Image 5" descr="preencoded.png">
            <a:extLst>
              <a:ext uri="{FF2B5EF4-FFF2-40B4-BE49-F238E27FC236}">
                <a16:creationId xmlns:a16="http://schemas.microsoft.com/office/drawing/2014/main" id="{3EE3E648-4578-80DB-7A26-A1F43F5E91A5}"/>
              </a:ext>
            </a:extLst>
          </p:cNvPr>
          <p:cNvPicPr>
            <a:picLocks noChangeAspect="1"/>
          </p:cNvPicPr>
          <p:nvPr/>
        </p:nvPicPr>
        <p:blipFill>
          <a:blip r:embed="rId8"/>
          <a:srcRect l="26001" r="26001"/>
          <a:stretch/>
        </p:blipFill>
        <p:spPr>
          <a:xfrm>
            <a:off x="7239000" y="0"/>
            <a:ext cx="4953000" cy="6858000"/>
          </a:xfrm>
          <a:prstGeom prst="rect">
            <a:avLst/>
          </a:prstGeom>
        </p:spPr>
      </p:pic>
      <p:pic>
        <p:nvPicPr>
          <p:cNvPr id="25" name="Image 6" descr="preencoded.png">
            <a:extLst>
              <a:ext uri="{FF2B5EF4-FFF2-40B4-BE49-F238E27FC236}">
                <a16:creationId xmlns:a16="http://schemas.microsoft.com/office/drawing/2014/main" id="{2B5FCB71-783C-83ED-2627-DB2B9FF1ECC1}"/>
              </a:ext>
            </a:extLst>
          </p:cNvPr>
          <p:cNvPicPr>
            <a:picLocks noChangeAspect="1"/>
          </p:cNvPicPr>
          <p:nvPr/>
        </p:nvPicPr>
        <p:blipFill>
          <a:blip r:embed="rId9"/>
          <a:stretch>
            <a:fillRect/>
          </a:stretch>
        </p:blipFill>
        <p:spPr>
          <a:xfrm>
            <a:off x="11229975" y="6567488"/>
            <a:ext cx="714375" cy="71438"/>
          </a:xfrm>
          <a:prstGeom prst="rect">
            <a:avLst/>
          </a:prstGeom>
        </p:spPr>
      </p:pic>
    </p:spTree>
    <p:extLst>
      <p:ext uri="{BB962C8B-B14F-4D97-AF65-F5344CB8AC3E}">
        <p14:creationId xmlns:p14="http://schemas.microsoft.com/office/powerpoint/2010/main" val="4172163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6827292"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LITTERATURE REVIEW GAP</a:t>
            </a:r>
            <a:endParaRPr lang="en-US" sz="3225" dirty="0"/>
          </a:p>
        </p:txBody>
      </p:sp>
      <p:sp>
        <p:nvSpPr>
          <p:cNvPr id="4" name="Text 2"/>
          <p:cNvSpPr/>
          <p:nvPr/>
        </p:nvSpPr>
        <p:spPr>
          <a:xfrm>
            <a:off x="352425" y="666750"/>
            <a:ext cx="1513453"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What is new ?</a:t>
            </a:r>
            <a:endParaRPr lang="en-US" sz="1725" dirty="0"/>
          </a:p>
        </p:txBody>
      </p:sp>
      <p:sp>
        <p:nvSpPr>
          <p:cNvPr id="5" name="Text 3"/>
          <p:cNvSpPr/>
          <p:nvPr/>
        </p:nvSpPr>
        <p:spPr>
          <a:xfrm>
            <a:off x="352425" y="1428750"/>
            <a:ext cx="686752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PUBLISHED RESEARCH</a:t>
            </a:r>
            <a:endParaRPr lang="en-US" sz="1050" dirty="0"/>
          </a:p>
        </p:txBody>
      </p:sp>
      <p:sp>
        <p:nvSpPr>
          <p:cNvPr id="6" name="Shape 4"/>
          <p:cNvSpPr/>
          <p:nvPr/>
        </p:nvSpPr>
        <p:spPr>
          <a:xfrm>
            <a:off x="352425" y="1717278"/>
            <a:ext cx="6667500" cy="533400"/>
          </a:xfrm>
          <a:prstGeom prst="rect">
            <a:avLst/>
          </a:prstGeom>
          <a:solidFill>
            <a:srgbClr val="F4F4F6"/>
          </a:solidFill>
          <a:ln/>
        </p:spPr>
        <p:txBody>
          <a:bodyPr/>
          <a:lstStyle/>
          <a:p>
            <a:endParaRPr lang="fr-FR"/>
          </a:p>
        </p:txBody>
      </p:sp>
      <p:pic>
        <p:nvPicPr>
          <p:cNvPr id="7" name="Image 0" descr="preencoded.png"/>
          <p:cNvPicPr>
            <a:picLocks noChangeAspect="1"/>
          </p:cNvPicPr>
          <p:nvPr/>
        </p:nvPicPr>
        <p:blipFill>
          <a:blip r:embed="rId3"/>
          <a:stretch>
            <a:fillRect/>
          </a:stretch>
        </p:blipFill>
        <p:spPr>
          <a:xfrm>
            <a:off x="485775" y="1822053"/>
            <a:ext cx="273050" cy="323850"/>
          </a:xfrm>
          <a:prstGeom prst="rect">
            <a:avLst/>
          </a:prstGeom>
        </p:spPr>
      </p:pic>
      <p:sp>
        <p:nvSpPr>
          <p:cNvPr id="8" name="Text 5"/>
          <p:cNvSpPr/>
          <p:nvPr/>
        </p:nvSpPr>
        <p:spPr>
          <a:xfrm>
            <a:off x="892175" y="1859657"/>
            <a:ext cx="424884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Deadline-driven value. </a:t>
            </a:r>
            <a:r>
              <a:rPr lang="en-US" sz="1350" dirty="0">
                <a:solidFill>
                  <a:srgbClr val="063C67"/>
                </a:solidFill>
                <a:latin typeface="Calibri" pitchFamily="34" charset="0"/>
                <a:ea typeface="Calibri" pitchFamily="34" charset="-122"/>
                <a:cs typeface="Calibri" pitchFamily="34" charset="-120"/>
              </a:rPr>
              <a:t>Time-varying, but one task only.</a:t>
            </a:r>
            <a:endParaRPr lang="en-US" sz="1350" dirty="0"/>
          </a:p>
        </p:txBody>
      </p:sp>
      <p:sp>
        <p:nvSpPr>
          <p:cNvPr id="9" name="Shape 6"/>
          <p:cNvSpPr/>
          <p:nvPr/>
        </p:nvSpPr>
        <p:spPr>
          <a:xfrm>
            <a:off x="352425" y="2336403"/>
            <a:ext cx="6667500" cy="533400"/>
          </a:xfrm>
          <a:prstGeom prst="rect">
            <a:avLst/>
          </a:prstGeom>
          <a:solidFill>
            <a:srgbClr val="F4F4F6"/>
          </a:solidFill>
          <a:ln/>
        </p:spPr>
        <p:txBody>
          <a:bodyPr/>
          <a:lstStyle/>
          <a:p>
            <a:endParaRPr lang="fr-FR"/>
          </a:p>
        </p:txBody>
      </p:sp>
      <p:pic>
        <p:nvPicPr>
          <p:cNvPr id="10" name="Image 1" descr="preencoded.png"/>
          <p:cNvPicPr>
            <a:picLocks noChangeAspect="1"/>
          </p:cNvPicPr>
          <p:nvPr/>
        </p:nvPicPr>
        <p:blipFill>
          <a:blip r:embed="rId4"/>
          <a:stretch>
            <a:fillRect/>
          </a:stretch>
        </p:blipFill>
        <p:spPr>
          <a:xfrm>
            <a:off x="485775" y="2441178"/>
            <a:ext cx="323850" cy="323850"/>
          </a:xfrm>
          <a:prstGeom prst="rect">
            <a:avLst/>
          </a:prstGeom>
        </p:spPr>
      </p:pic>
      <p:sp>
        <p:nvSpPr>
          <p:cNvPr id="11" name="Text 7"/>
          <p:cNvSpPr/>
          <p:nvPr/>
        </p:nvSpPr>
        <p:spPr>
          <a:xfrm>
            <a:off x="942975" y="2478782"/>
            <a:ext cx="4607699"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Ripple effect. </a:t>
            </a:r>
            <a:r>
              <a:rPr lang="en-US" sz="1350" dirty="0">
                <a:solidFill>
                  <a:srgbClr val="063C67"/>
                </a:solidFill>
                <a:latin typeface="Calibri" pitchFamily="34" charset="0"/>
                <a:ea typeface="Calibri" pitchFamily="34" charset="-122"/>
                <a:cs typeface="Calibri" pitchFamily="34" charset="-120"/>
              </a:rPr>
              <a:t>Propagates, but takes the node score as given.</a:t>
            </a:r>
            <a:endParaRPr lang="en-US" sz="1350" dirty="0"/>
          </a:p>
        </p:txBody>
      </p:sp>
      <p:sp>
        <p:nvSpPr>
          <p:cNvPr id="12" name="Shape 8"/>
          <p:cNvSpPr/>
          <p:nvPr/>
        </p:nvSpPr>
        <p:spPr>
          <a:xfrm>
            <a:off x="352425" y="2955528"/>
            <a:ext cx="6667500" cy="533400"/>
          </a:xfrm>
          <a:prstGeom prst="rect">
            <a:avLst/>
          </a:prstGeom>
          <a:solidFill>
            <a:srgbClr val="F4F4F6"/>
          </a:solidFill>
          <a:ln/>
        </p:spPr>
        <p:txBody>
          <a:bodyPr/>
          <a:lstStyle/>
          <a:p>
            <a:endParaRPr lang="fr-FR"/>
          </a:p>
        </p:txBody>
      </p:sp>
      <p:pic>
        <p:nvPicPr>
          <p:cNvPr id="13" name="Image 2" descr="preencoded.png"/>
          <p:cNvPicPr>
            <a:picLocks noChangeAspect="1"/>
          </p:cNvPicPr>
          <p:nvPr/>
        </p:nvPicPr>
        <p:blipFill>
          <a:blip r:embed="rId5"/>
          <a:stretch>
            <a:fillRect/>
          </a:stretch>
        </p:blipFill>
        <p:spPr>
          <a:xfrm>
            <a:off x="485775" y="3060303"/>
            <a:ext cx="458788" cy="323850"/>
          </a:xfrm>
          <a:prstGeom prst="rect">
            <a:avLst/>
          </a:prstGeom>
        </p:spPr>
      </p:pic>
      <p:sp>
        <p:nvSpPr>
          <p:cNvPr id="14" name="Text 9"/>
          <p:cNvSpPr/>
          <p:nvPr/>
        </p:nvSpPr>
        <p:spPr>
          <a:xfrm>
            <a:off x="1077913" y="3097907"/>
            <a:ext cx="479127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Rupture indicators. </a:t>
            </a:r>
            <a:r>
              <a:rPr lang="en-US" sz="1350" dirty="0">
                <a:solidFill>
                  <a:srgbClr val="063C67"/>
                </a:solidFill>
                <a:latin typeface="Calibri" pitchFamily="34" charset="0"/>
                <a:ea typeface="Calibri" pitchFamily="34" charset="-122"/>
                <a:cs typeface="Calibri" pitchFamily="34" charset="-120"/>
              </a:rPr>
              <a:t>Monitored one at a time, never combined.</a:t>
            </a:r>
            <a:endParaRPr lang="en-US" sz="1350" dirty="0"/>
          </a:p>
        </p:txBody>
      </p:sp>
      <p:sp>
        <p:nvSpPr>
          <p:cNvPr id="15" name="Shape 10"/>
          <p:cNvSpPr/>
          <p:nvPr/>
        </p:nvSpPr>
        <p:spPr>
          <a:xfrm>
            <a:off x="352425" y="3574653"/>
            <a:ext cx="6667500" cy="533400"/>
          </a:xfrm>
          <a:prstGeom prst="rect">
            <a:avLst/>
          </a:prstGeom>
          <a:solidFill>
            <a:srgbClr val="F4F4F6"/>
          </a:solidFill>
          <a:ln/>
        </p:spPr>
        <p:txBody>
          <a:bodyPr/>
          <a:lstStyle/>
          <a:p>
            <a:endParaRPr lang="fr-FR"/>
          </a:p>
        </p:txBody>
      </p:sp>
      <p:pic>
        <p:nvPicPr>
          <p:cNvPr id="16" name="Image 3" descr="preencoded.png"/>
          <p:cNvPicPr>
            <a:picLocks noChangeAspect="1"/>
          </p:cNvPicPr>
          <p:nvPr/>
        </p:nvPicPr>
        <p:blipFill>
          <a:blip r:embed="rId6"/>
          <a:stretch>
            <a:fillRect/>
          </a:stretch>
        </p:blipFill>
        <p:spPr>
          <a:xfrm>
            <a:off x="485775" y="3679428"/>
            <a:ext cx="310852" cy="323850"/>
          </a:xfrm>
          <a:prstGeom prst="rect">
            <a:avLst/>
          </a:prstGeom>
        </p:spPr>
      </p:pic>
      <p:sp>
        <p:nvSpPr>
          <p:cNvPr id="17" name="Text 11"/>
          <p:cNvSpPr/>
          <p:nvPr/>
        </p:nvSpPr>
        <p:spPr>
          <a:xfrm>
            <a:off x="929977" y="3717032"/>
            <a:ext cx="48380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Cognitive bias. </a:t>
            </a:r>
            <a:r>
              <a:rPr lang="en-US" sz="1350" dirty="0">
                <a:solidFill>
                  <a:srgbClr val="063C67"/>
                </a:solidFill>
                <a:latin typeface="Calibri" pitchFamily="34" charset="0"/>
                <a:ea typeface="Calibri" pitchFamily="34" charset="-122"/>
                <a:cs typeface="Calibri" pitchFamily="34" charset="-120"/>
              </a:rPr>
              <a:t>Quantified in the lab, no operational correction.</a:t>
            </a:r>
            <a:endParaRPr lang="en-US" sz="1350" dirty="0"/>
          </a:p>
        </p:txBody>
      </p:sp>
      <p:sp>
        <p:nvSpPr>
          <p:cNvPr id="18" name="Shape 12"/>
          <p:cNvSpPr/>
          <p:nvPr/>
        </p:nvSpPr>
        <p:spPr>
          <a:xfrm>
            <a:off x="352425" y="4193778"/>
            <a:ext cx="6667500" cy="533400"/>
          </a:xfrm>
          <a:prstGeom prst="rect">
            <a:avLst/>
          </a:prstGeom>
          <a:solidFill>
            <a:srgbClr val="F4F4F6"/>
          </a:solidFill>
          <a:ln/>
        </p:spPr>
        <p:txBody>
          <a:bodyPr/>
          <a:lstStyle/>
          <a:p>
            <a:endParaRPr lang="fr-FR"/>
          </a:p>
        </p:txBody>
      </p:sp>
      <p:pic>
        <p:nvPicPr>
          <p:cNvPr id="19" name="Image 4" descr="preencoded.png"/>
          <p:cNvPicPr>
            <a:picLocks noChangeAspect="1"/>
          </p:cNvPicPr>
          <p:nvPr/>
        </p:nvPicPr>
        <p:blipFill>
          <a:blip r:embed="rId7"/>
          <a:stretch>
            <a:fillRect/>
          </a:stretch>
        </p:blipFill>
        <p:spPr>
          <a:xfrm>
            <a:off x="485775" y="4298553"/>
            <a:ext cx="323850" cy="323850"/>
          </a:xfrm>
          <a:prstGeom prst="rect">
            <a:avLst/>
          </a:prstGeom>
        </p:spPr>
      </p:pic>
      <p:sp>
        <p:nvSpPr>
          <p:cNvPr id="20" name="Text 13"/>
          <p:cNvSpPr/>
          <p:nvPr/>
        </p:nvSpPr>
        <p:spPr>
          <a:xfrm>
            <a:off x="942975" y="4336157"/>
            <a:ext cx="5764699"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AHP, BWM, PROMETHEE. </a:t>
            </a:r>
            <a:r>
              <a:rPr lang="en-US" sz="1350" dirty="0">
                <a:solidFill>
                  <a:srgbClr val="063C67"/>
                </a:solidFill>
                <a:latin typeface="Calibri" pitchFamily="34" charset="0"/>
                <a:ea typeface="Calibri" pitchFamily="34" charset="-122"/>
                <a:cs typeface="Calibri" pitchFamily="34" charset="-120"/>
              </a:rPr>
              <a:t>Static, and never compared to a computed value.</a:t>
            </a:r>
            <a:endParaRPr lang="en-US" sz="1350" dirty="0"/>
          </a:p>
        </p:txBody>
      </p:sp>
      <p:sp>
        <p:nvSpPr>
          <p:cNvPr id="21" name="Shape 14"/>
          <p:cNvSpPr/>
          <p:nvPr/>
        </p:nvSpPr>
        <p:spPr>
          <a:xfrm>
            <a:off x="352425" y="4812903"/>
            <a:ext cx="6667500" cy="533400"/>
          </a:xfrm>
          <a:prstGeom prst="rect">
            <a:avLst/>
          </a:prstGeom>
          <a:solidFill>
            <a:srgbClr val="F4F4F6"/>
          </a:solidFill>
          <a:ln/>
        </p:spPr>
        <p:txBody>
          <a:bodyPr/>
          <a:lstStyle/>
          <a:p>
            <a:endParaRPr lang="fr-FR"/>
          </a:p>
        </p:txBody>
      </p:sp>
      <p:pic>
        <p:nvPicPr>
          <p:cNvPr id="22" name="Image 5" descr="preencoded.png"/>
          <p:cNvPicPr>
            <a:picLocks noChangeAspect="1"/>
          </p:cNvPicPr>
          <p:nvPr/>
        </p:nvPicPr>
        <p:blipFill>
          <a:blip r:embed="rId8"/>
          <a:stretch>
            <a:fillRect/>
          </a:stretch>
        </p:blipFill>
        <p:spPr>
          <a:xfrm>
            <a:off x="485775" y="4917678"/>
            <a:ext cx="364034" cy="323850"/>
          </a:xfrm>
          <a:prstGeom prst="rect">
            <a:avLst/>
          </a:prstGeom>
        </p:spPr>
      </p:pic>
      <p:sp>
        <p:nvSpPr>
          <p:cNvPr id="23" name="Text 15"/>
          <p:cNvSpPr/>
          <p:nvPr/>
        </p:nvSpPr>
        <p:spPr>
          <a:xfrm>
            <a:off x="983159" y="4955282"/>
            <a:ext cx="4976158"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Digital twins. </a:t>
            </a:r>
            <a:r>
              <a:rPr lang="en-US" sz="1350" dirty="0">
                <a:solidFill>
                  <a:srgbClr val="063C67"/>
                </a:solidFill>
                <a:latin typeface="Calibri" pitchFamily="34" charset="0"/>
                <a:ea typeface="Calibri" pitchFamily="34" charset="-122"/>
                <a:cs typeface="Calibri" pitchFamily="34" charset="-120"/>
              </a:rPr>
              <a:t>Scored on state; their inputs are assumed to arrive.</a:t>
            </a:r>
            <a:endParaRPr lang="en-US" sz="1350" dirty="0"/>
          </a:p>
        </p:txBody>
      </p:sp>
      <p:sp>
        <p:nvSpPr>
          <p:cNvPr id="24" name="Text 16"/>
          <p:cNvSpPr/>
          <p:nvPr/>
        </p:nvSpPr>
        <p:spPr>
          <a:xfrm>
            <a:off x="7381875" y="1428750"/>
            <a:ext cx="4395216"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THE PATENT RECORD: THREE LINES</a:t>
            </a:r>
            <a:endParaRPr lang="en-US" sz="1050" dirty="0"/>
          </a:p>
        </p:txBody>
      </p:sp>
      <p:sp>
        <p:nvSpPr>
          <p:cNvPr id="25" name="Shape 17"/>
          <p:cNvSpPr/>
          <p:nvPr/>
        </p:nvSpPr>
        <p:spPr>
          <a:xfrm>
            <a:off x="7381875" y="1717278"/>
            <a:ext cx="4267200" cy="744736"/>
          </a:xfrm>
          <a:prstGeom prst="rect">
            <a:avLst/>
          </a:prstGeom>
          <a:solidFill>
            <a:srgbClr val="E9F5FB"/>
          </a:solidFill>
          <a:ln/>
        </p:spPr>
        <p:txBody>
          <a:bodyPr/>
          <a:lstStyle/>
          <a:p>
            <a:endParaRPr lang="fr-FR"/>
          </a:p>
        </p:txBody>
      </p:sp>
      <p:sp>
        <p:nvSpPr>
          <p:cNvPr id="26" name="Text 18"/>
          <p:cNvSpPr/>
          <p:nvPr/>
        </p:nvSpPr>
        <p:spPr>
          <a:xfrm>
            <a:off x="7534275" y="1841103"/>
            <a:ext cx="4090416" cy="535186"/>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IBM. </a:t>
            </a:r>
            <a:r>
              <a:rPr lang="en-US" sz="1350" dirty="0">
                <a:solidFill>
                  <a:srgbClr val="063C67"/>
                </a:solidFill>
                <a:highlight>
                  <a:srgbClr val="E9F5FB"/>
                </a:highlight>
                <a:latin typeface="Calibri" pitchFamily="34" charset="0"/>
                <a:ea typeface="Calibri" pitchFamily="34" charset="-122"/>
                <a:cs typeface="Calibri" pitchFamily="34" charset="-120"/>
              </a:rPr>
              <a:t>Revenue at risk from measured inputs. No operator opinion anywhere in the claims.</a:t>
            </a:r>
            <a:endParaRPr lang="en-US" sz="1350" dirty="0"/>
          </a:p>
        </p:txBody>
      </p:sp>
      <p:sp>
        <p:nvSpPr>
          <p:cNvPr id="27" name="Shape 19"/>
          <p:cNvSpPr/>
          <p:nvPr/>
        </p:nvSpPr>
        <p:spPr>
          <a:xfrm>
            <a:off x="7381875" y="2547739"/>
            <a:ext cx="4267200" cy="744736"/>
          </a:xfrm>
          <a:prstGeom prst="rect">
            <a:avLst/>
          </a:prstGeom>
          <a:solidFill>
            <a:srgbClr val="E9F5FB"/>
          </a:solidFill>
          <a:ln/>
        </p:spPr>
        <p:txBody>
          <a:bodyPr/>
          <a:lstStyle/>
          <a:p>
            <a:endParaRPr lang="fr-FR"/>
          </a:p>
        </p:txBody>
      </p:sp>
      <p:sp>
        <p:nvSpPr>
          <p:cNvPr id="28" name="Text 20"/>
          <p:cNvSpPr/>
          <p:nvPr/>
        </p:nvSpPr>
        <p:spPr>
          <a:xfrm>
            <a:off x="7534275" y="2671564"/>
            <a:ext cx="4090416" cy="535186"/>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Wipro. </a:t>
            </a:r>
            <a:r>
              <a:rPr lang="en-US" sz="1350" dirty="0">
                <a:solidFill>
                  <a:srgbClr val="063C67"/>
                </a:solidFill>
                <a:highlight>
                  <a:srgbClr val="E9F5FB"/>
                </a:highlight>
                <a:latin typeface="Calibri" pitchFamily="34" charset="0"/>
                <a:ea typeface="Calibri" pitchFamily="34" charset="-122"/>
                <a:cs typeface="Calibri" pitchFamily="34" charset="-120"/>
              </a:rPr>
              <a:t>Inputs replaced by language. The human narrates; nothing evaluates the narration.</a:t>
            </a:r>
            <a:endParaRPr lang="en-US" sz="1350" dirty="0"/>
          </a:p>
        </p:txBody>
      </p:sp>
      <p:sp>
        <p:nvSpPr>
          <p:cNvPr id="29" name="Shape 21"/>
          <p:cNvSpPr/>
          <p:nvPr/>
        </p:nvSpPr>
        <p:spPr>
          <a:xfrm>
            <a:off x="7381875" y="3378200"/>
            <a:ext cx="4267200" cy="744736"/>
          </a:xfrm>
          <a:prstGeom prst="rect">
            <a:avLst/>
          </a:prstGeom>
          <a:solidFill>
            <a:srgbClr val="E9F5FB"/>
          </a:solidFill>
          <a:ln/>
        </p:spPr>
        <p:txBody>
          <a:bodyPr/>
          <a:lstStyle/>
          <a:p>
            <a:endParaRPr lang="fr-FR"/>
          </a:p>
        </p:txBody>
      </p:sp>
      <p:sp>
        <p:nvSpPr>
          <p:cNvPr id="30" name="Text 22"/>
          <p:cNvSpPr/>
          <p:nvPr/>
        </p:nvSpPr>
        <p:spPr>
          <a:xfrm>
            <a:off x="7534275" y="3502025"/>
            <a:ext cx="4090416" cy="535186"/>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Digital twin control tower. </a:t>
            </a:r>
            <a:r>
              <a:rPr lang="en-US" sz="1350" dirty="0">
                <a:solidFill>
                  <a:srgbClr val="063C67"/>
                </a:solidFill>
                <a:highlight>
                  <a:srgbClr val="E9F5FB"/>
                </a:highlight>
                <a:latin typeface="Calibri" pitchFamily="34" charset="0"/>
                <a:ea typeface="Calibri" pitchFamily="34" charset="-122"/>
                <a:cs typeface="Calibri" pitchFamily="34" charset="-120"/>
              </a:rPr>
              <a:t>Oriented to automation. The operator receives decisions.</a:t>
            </a:r>
            <a:endParaRPr lang="en-US" sz="1350" dirty="0"/>
          </a:p>
        </p:txBody>
      </p:sp>
      <p:pic>
        <p:nvPicPr>
          <p:cNvPr id="31" name="Image 6" descr="preencoded.png"/>
          <p:cNvPicPr>
            <a:picLocks noChangeAspect="1"/>
          </p:cNvPicPr>
          <p:nvPr/>
        </p:nvPicPr>
        <p:blipFill>
          <a:blip r:embed="rId9"/>
          <a:stretch>
            <a:fillRect/>
          </a:stretch>
        </p:blipFill>
        <p:spPr>
          <a:xfrm>
            <a:off x="7381875" y="4275336"/>
            <a:ext cx="183158" cy="285750"/>
          </a:xfrm>
          <a:prstGeom prst="rect">
            <a:avLst/>
          </a:prstGeom>
        </p:spPr>
      </p:pic>
      <p:sp>
        <p:nvSpPr>
          <p:cNvPr id="32" name="Text 23"/>
          <p:cNvSpPr/>
          <p:nvPr/>
        </p:nvSpPr>
        <p:spPr>
          <a:xfrm>
            <a:off x="7698383" y="4313138"/>
            <a:ext cx="3888020" cy="247650"/>
          </a:xfrm>
          <a:prstGeom prst="rect">
            <a:avLst/>
          </a:prstGeom>
          <a:noFill/>
          <a:ln/>
        </p:spPr>
        <p:txBody>
          <a:bodyPr wrap="square" lIns="0" tIns="0" rIns="0" bIns="0" rtlCol="0" anchor="t">
            <a:normAutofit/>
          </a:bodyPr>
          <a:lstStyle/>
          <a:p>
            <a:pPr marL="0" indent="0" algn="l">
              <a:lnSpc>
                <a:spcPct val="106364"/>
              </a:lnSpc>
              <a:buNone/>
            </a:pPr>
            <a:r>
              <a:rPr lang="en-US" sz="1350" dirty="0">
                <a:solidFill>
                  <a:srgbClr val="858591"/>
                </a:solidFill>
                <a:latin typeface="Calibri" pitchFamily="34" charset="0"/>
                <a:ea typeface="Calibri" pitchFamily="34" charset="-122"/>
                <a:cs typeface="Calibri" pitchFamily="34" charset="-120"/>
              </a:rPr>
              <a:t>Fifteen years running away from the human declarant.</a:t>
            </a:r>
            <a:endParaRPr lang="en-US" sz="1350" dirty="0"/>
          </a:p>
        </p:txBody>
      </p:sp>
      <p:sp>
        <p:nvSpPr>
          <p:cNvPr id="33" name="Shape 24"/>
          <p:cNvSpPr/>
          <p:nvPr/>
        </p:nvSpPr>
        <p:spPr>
          <a:xfrm>
            <a:off x="323850" y="5495925"/>
            <a:ext cx="11858625" cy="866775"/>
          </a:xfrm>
          <a:prstGeom prst="rect">
            <a:avLst/>
          </a:prstGeom>
          <a:solidFill>
            <a:srgbClr val="063C67"/>
          </a:solidFill>
          <a:ln/>
        </p:spPr>
        <p:txBody>
          <a:bodyPr/>
          <a:lstStyle/>
          <a:p>
            <a:endParaRPr lang="fr-FR"/>
          </a:p>
        </p:txBody>
      </p:sp>
      <p:pic>
        <p:nvPicPr>
          <p:cNvPr id="34" name="Image 7" descr="preencoded.png"/>
          <p:cNvPicPr>
            <a:picLocks noChangeAspect="1"/>
          </p:cNvPicPr>
          <p:nvPr/>
        </p:nvPicPr>
        <p:blipFill>
          <a:blip r:embed="rId10"/>
          <a:stretch>
            <a:fillRect/>
          </a:stretch>
        </p:blipFill>
        <p:spPr>
          <a:xfrm>
            <a:off x="590550" y="5672138"/>
            <a:ext cx="481012" cy="514350"/>
          </a:xfrm>
          <a:prstGeom prst="rect">
            <a:avLst/>
          </a:prstGeom>
        </p:spPr>
      </p:pic>
      <p:sp>
        <p:nvSpPr>
          <p:cNvPr id="35" name="Text 25"/>
          <p:cNvSpPr/>
          <p:nvPr/>
        </p:nvSpPr>
        <p:spPr>
          <a:xfrm>
            <a:off x="1300163" y="5529362"/>
            <a:ext cx="11677174"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FFDA65"/>
                </a:solidFill>
                <a:latin typeface="Arial" pitchFamily="34" charset="0"/>
                <a:ea typeface="Arial" pitchFamily="34" charset="-122"/>
                <a:cs typeface="Arial" pitchFamily="34" charset="-120"/>
              </a:rPr>
              <a:t>THE GAP</a:t>
            </a:r>
            <a:endParaRPr lang="en-US" sz="1050" dirty="0"/>
          </a:p>
        </p:txBody>
      </p:sp>
      <p:sp>
        <p:nvSpPr>
          <p:cNvPr id="36" name="Text 26"/>
          <p:cNvSpPr/>
          <p:nvPr/>
        </p:nvSpPr>
        <p:spPr>
          <a:xfrm>
            <a:off x="1290637" y="5703094"/>
            <a:ext cx="10790237" cy="578048"/>
          </a:xfrm>
          <a:prstGeom prst="rect">
            <a:avLst/>
          </a:prstGeom>
          <a:noFill/>
          <a:ln/>
        </p:spPr>
        <p:txBody>
          <a:bodyPr wrap="square" lIns="25400" tIns="25400" rIns="25400" bIns="25400" rtlCol="0" anchor="t">
            <a:normAutofit/>
          </a:bodyPr>
          <a:lstStyle/>
          <a:p>
            <a:pPr marL="0" indent="0" algn="l">
              <a:lnSpc>
                <a:spcPct val="111908"/>
              </a:lnSpc>
              <a:buNone/>
            </a:pPr>
            <a:r>
              <a:rPr lang="en-US" sz="1575" dirty="0">
                <a:solidFill>
                  <a:srgbClr val="FFFFFF"/>
                </a:solidFill>
                <a:latin typeface="Calibri" pitchFamily="34" charset="0"/>
                <a:ea typeface="Calibri" pitchFamily="34" charset="-122"/>
                <a:cs typeface="Calibri" pitchFamily="34" charset="-120"/>
              </a:rPr>
              <a:t>No system, published or patented, combines a declared urgency, a computed one, and their propagated mismatch. To achive a forcast.</a:t>
            </a:r>
            <a:endParaRPr lang="en-US" sz="1575" dirty="0"/>
          </a:p>
        </p:txBody>
      </p:sp>
      <p:pic>
        <p:nvPicPr>
          <p:cNvPr id="37" name="Image 8" descr="preencoded.png"/>
          <p:cNvPicPr>
            <a:picLocks noChangeAspect="1"/>
          </p:cNvPicPr>
          <p:nvPr/>
        </p:nvPicPr>
        <p:blipFill>
          <a:blip r:embed="rId11"/>
          <a:stretch>
            <a:fillRect/>
          </a:stretch>
        </p:blipFill>
        <p:spPr>
          <a:xfrm>
            <a:off x="11229975" y="6567488"/>
            <a:ext cx="714375" cy="714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7687975"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OBJECTIVES AND INDICATORS</a:t>
            </a:r>
            <a:endParaRPr lang="en-US" sz="3225" dirty="0"/>
          </a:p>
        </p:txBody>
      </p:sp>
      <p:sp>
        <p:nvSpPr>
          <p:cNvPr id="4" name="Text 2"/>
          <p:cNvSpPr/>
          <p:nvPr/>
        </p:nvSpPr>
        <p:spPr>
          <a:xfrm>
            <a:off x="2178474" y="2255476"/>
            <a:ext cx="4316730" cy="211435"/>
          </a:xfrm>
          <a:prstGeom prst="rect">
            <a:avLst/>
          </a:prstGeom>
          <a:noFill/>
          <a:ln/>
        </p:spPr>
        <p:txBody>
          <a:bodyPr wrap="square" lIns="25400" tIns="25400" rIns="25400" bIns="25400" rtlCol="0" anchor="t">
            <a:normAutofit lnSpcReduction="10000"/>
          </a:bodyPr>
          <a:lstStyle/>
          <a:p>
            <a:pPr marL="0" indent="0" algn="l">
              <a:lnSpc>
                <a:spcPct val="113750"/>
              </a:lnSpc>
              <a:buNone/>
            </a:pPr>
            <a:r>
              <a:rPr lang="en-US" sz="1050" b="1" kern="0" spc="126" dirty="0">
                <a:solidFill>
                  <a:srgbClr val="1D93C9"/>
                </a:solidFill>
                <a:latin typeface="Arial" pitchFamily="34" charset="0"/>
                <a:ea typeface="Arial" pitchFamily="34" charset="-122"/>
                <a:cs typeface="Arial" pitchFamily="34" charset="-120"/>
              </a:rPr>
              <a:t>OBJECTIVE</a:t>
            </a:r>
            <a:endParaRPr lang="en-US" sz="1050" dirty="0"/>
          </a:p>
        </p:txBody>
      </p:sp>
      <p:sp>
        <p:nvSpPr>
          <p:cNvPr id="5" name="Text 3"/>
          <p:cNvSpPr/>
          <p:nvPr/>
        </p:nvSpPr>
        <p:spPr>
          <a:xfrm>
            <a:off x="6559974" y="2255476"/>
            <a:ext cx="4316730" cy="211435"/>
          </a:xfrm>
          <a:prstGeom prst="rect">
            <a:avLst/>
          </a:prstGeom>
          <a:noFill/>
          <a:ln/>
        </p:spPr>
        <p:txBody>
          <a:bodyPr wrap="square" lIns="25400" tIns="25400" rIns="25400" bIns="25400" rtlCol="0" anchor="t">
            <a:normAutofit lnSpcReduction="10000"/>
          </a:bodyPr>
          <a:lstStyle/>
          <a:p>
            <a:pPr marL="0" indent="0" algn="l">
              <a:lnSpc>
                <a:spcPct val="113750"/>
              </a:lnSpc>
              <a:buNone/>
            </a:pPr>
            <a:r>
              <a:rPr lang="en-US" sz="1050" b="1" kern="0" spc="126" dirty="0">
                <a:solidFill>
                  <a:srgbClr val="1D93C9"/>
                </a:solidFill>
                <a:latin typeface="Arial" pitchFamily="34" charset="0"/>
                <a:ea typeface="Arial" pitchFamily="34" charset="-122"/>
                <a:cs typeface="Arial" pitchFamily="34" charset="-120"/>
              </a:rPr>
              <a:t>INDICATOR</a:t>
            </a:r>
            <a:endParaRPr lang="en-US" sz="1050" dirty="0"/>
          </a:p>
        </p:txBody>
      </p:sp>
      <p:sp>
        <p:nvSpPr>
          <p:cNvPr id="7" name="Shape 5"/>
          <p:cNvSpPr/>
          <p:nvPr/>
        </p:nvSpPr>
        <p:spPr>
          <a:xfrm>
            <a:off x="1549824" y="2505011"/>
            <a:ext cx="438150" cy="9525"/>
          </a:xfrm>
          <a:prstGeom prst="rect">
            <a:avLst/>
          </a:prstGeom>
          <a:solidFill>
            <a:srgbClr val="C0C0C8"/>
          </a:solidFill>
          <a:ln/>
        </p:spPr>
        <p:txBody>
          <a:bodyPr/>
          <a:lstStyle/>
          <a:p>
            <a:endParaRPr lang="fr-FR"/>
          </a:p>
        </p:txBody>
      </p:sp>
      <p:sp>
        <p:nvSpPr>
          <p:cNvPr id="8" name="Text 6"/>
          <p:cNvSpPr/>
          <p:nvPr/>
        </p:nvSpPr>
        <p:spPr>
          <a:xfrm>
            <a:off x="1549824" y="2654236"/>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O1</a:t>
            </a:r>
            <a:endParaRPr lang="en-US" sz="1500" dirty="0"/>
          </a:p>
        </p:txBody>
      </p:sp>
      <p:sp>
        <p:nvSpPr>
          <p:cNvPr id="9" name="Shape 7"/>
          <p:cNvSpPr/>
          <p:nvPr/>
        </p:nvSpPr>
        <p:spPr>
          <a:xfrm>
            <a:off x="2178474" y="2505011"/>
            <a:ext cx="4191000" cy="9525"/>
          </a:xfrm>
          <a:prstGeom prst="rect">
            <a:avLst/>
          </a:prstGeom>
          <a:solidFill>
            <a:srgbClr val="C0C0C8"/>
          </a:solidFill>
          <a:ln/>
        </p:spPr>
        <p:txBody>
          <a:bodyPr/>
          <a:lstStyle/>
          <a:p>
            <a:endParaRPr lang="fr-FR"/>
          </a:p>
        </p:txBody>
      </p:sp>
      <p:sp>
        <p:nvSpPr>
          <p:cNvPr id="10" name="Text 8"/>
          <p:cNvSpPr/>
          <p:nvPr/>
        </p:nvSpPr>
        <p:spPr>
          <a:xfrm>
            <a:off x="2178474" y="2654236"/>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Define real/declared urgency and the adequacy score</a:t>
            </a:r>
            <a:endParaRPr lang="en-US" sz="1350" dirty="0"/>
          </a:p>
        </p:txBody>
      </p:sp>
      <p:sp>
        <p:nvSpPr>
          <p:cNvPr id="11" name="Shape 9"/>
          <p:cNvSpPr/>
          <p:nvPr/>
        </p:nvSpPr>
        <p:spPr>
          <a:xfrm>
            <a:off x="6559974" y="2505011"/>
            <a:ext cx="4191000" cy="9525"/>
          </a:xfrm>
          <a:prstGeom prst="rect">
            <a:avLst/>
          </a:prstGeom>
          <a:solidFill>
            <a:srgbClr val="C0C0C8"/>
          </a:solidFill>
          <a:ln/>
        </p:spPr>
        <p:txBody>
          <a:bodyPr/>
          <a:lstStyle/>
          <a:p>
            <a:endParaRPr lang="fr-FR"/>
          </a:p>
        </p:txBody>
      </p:sp>
      <p:sp>
        <p:nvSpPr>
          <p:cNvPr id="12" name="Text 10"/>
          <p:cNvSpPr/>
          <p:nvPr/>
        </p:nvSpPr>
        <p:spPr>
          <a:xfrm>
            <a:off x="6559974" y="2654236"/>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Every term decomposable; aggregation justified</a:t>
            </a:r>
            <a:endParaRPr lang="en-US" sz="1350" dirty="0"/>
          </a:p>
        </p:txBody>
      </p:sp>
      <p:sp>
        <p:nvSpPr>
          <p:cNvPr id="15" name="Shape 13"/>
          <p:cNvSpPr/>
          <p:nvPr/>
        </p:nvSpPr>
        <p:spPr>
          <a:xfrm>
            <a:off x="1549824" y="3044761"/>
            <a:ext cx="438150" cy="9525"/>
          </a:xfrm>
          <a:prstGeom prst="rect">
            <a:avLst/>
          </a:prstGeom>
          <a:solidFill>
            <a:srgbClr val="C0C0C8"/>
          </a:solidFill>
          <a:ln/>
        </p:spPr>
        <p:txBody>
          <a:bodyPr/>
          <a:lstStyle/>
          <a:p>
            <a:endParaRPr lang="fr-FR"/>
          </a:p>
        </p:txBody>
      </p:sp>
      <p:sp>
        <p:nvSpPr>
          <p:cNvPr id="16" name="Text 14"/>
          <p:cNvSpPr/>
          <p:nvPr/>
        </p:nvSpPr>
        <p:spPr>
          <a:xfrm>
            <a:off x="1549824" y="3193986"/>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O2</a:t>
            </a:r>
            <a:endParaRPr lang="en-US" sz="1500" dirty="0"/>
          </a:p>
        </p:txBody>
      </p:sp>
      <p:sp>
        <p:nvSpPr>
          <p:cNvPr id="17" name="Shape 15"/>
          <p:cNvSpPr/>
          <p:nvPr/>
        </p:nvSpPr>
        <p:spPr>
          <a:xfrm>
            <a:off x="2178474" y="3044761"/>
            <a:ext cx="4191000" cy="9525"/>
          </a:xfrm>
          <a:prstGeom prst="rect">
            <a:avLst/>
          </a:prstGeom>
          <a:solidFill>
            <a:srgbClr val="C0C0C8"/>
          </a:solidFill>
          <a:ln/>
        </p:spPr>
        <p:txBody>
          <a:bodyPr/>
          <a:lstStyle/>
          <a:p>
            <a:endParaRPr lang="fr-FR"/>
          </a:p>
        </p:txBody>
      </p:sp>
      <p:sp>
        <p:nvSpPr>
          <p:cNvPr id="18" name="Text 16"/>
          <p:cNvSpPr/>
          <p:nvPr/>
        </p:nvSpPr>
        <p:spPr>
          <a:xfrm>
            <a:off x="2173182" y="3734788"/>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Deliver a working, auditable application</a:t>
            </a:r>
            <a:endParaRPr lang="en-US" sz="1350" dirty="0"/>
          </a:p>
        </p:txBody>
      </p:sp>
      <p:sp>
        <p:nvSpPr>
          <p:cNvPr id="19" name="Shape 17"/>
          <p:cNvSpPr/>
          <p:nvPr/>
        </p:nvSpPr>
        <p:spPr>
          <a:xfrm>
            <a:off x="6559974" y="3044761"/>
            <a:ext cx="4191000" cy="9525"/>
          </a:xfrm>
          <a:prstGeom prst="rect">
            <a:avLst/>
          </a:prstGeom>
          <a:solidFill>
            <a:srgbClr val="C0C0C8"/>
          </a:solidFill>
          <a:ln/>
        </p:spPr>
        <p:txBody>
          <a:bodyPr/>
          <a:lstStyle/>
          <a:p>
            <a:endParaRPr lang="fr-FR"/>
          </a:p>
        </p:txBody>
      </p:sp>
      <p:sp>
        <p:nvSpPr>
          <p:cNvPr id="20" name="Text 18"/>
          <p:cNvSpPr/>
          <p:nvPr/>
        </p:nvSpPr>
        <p:spPr>
          <a:xfrm>
            <a:off x="6598920" y="3739055"/>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Every write logged, tests passing</a:t>
            </a:r>
            <a:endParaRPr lang="en-US" sz="1350" dirty="0"/>
          </a:p>
        </p:txBody>
      </p:sp>
      <p:sp>
        <p:nvSpPr>
          <p:cNvPr id="23" name="Shape 21"/>
          <p:cNvSpPr/>
          <p:nvPr/>
        </p:nvSpPr>
        <p:spPr>
          <a:xfrm>
            <a:off x="1549824" y="3584511"/>
            <a:ext cx="438150" cy="9525"/>
          </a:xfrm>
          <a:prstGeom prst="rect">
            <a:avLst/>
          </a:prstGeom>
          <a:solidFill>
            <a:srgbClr val="C0C0C8"/>
          </a:solidFill>
          <a:ln/>
        </p:spPr>
        <p:txBody>
          <a:bodyPr/>
          <a:lstStyle/>
          <a:p>
            <a:endParaRPr lang="fr-FR"/>
          </a:p>
        </p:txBody>
      </p:sp>
      <p:sp>
        <p:nvSpPr>
          <p:cNvPr id="24" name="Text 22"/>
          <p:cNvSpPr/>
          <p:nvPr/>
        </p:nvSpPr>
        <p:spPr>
          <a:xfrm>
            <a:off x="1549824" y="3733736"/>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O3</a:t>
            </a:r>
            <a:endParaRPr lang="en-US" sz="1500" dirty="0"/>
          </a:p>
        </p:txBody>
      </p:sp>
      <p:sp>
        <p:nvSpPr>
          <p:cNvPr id="25" name="Shape 23"/>
          <p:cNvSpPr/>
          <p:nvPr/>
        </p:nvSpPr>
        <p:spPr>
          <a:xfrm>
            <a:off x="2178474" y="3584511"/>
            <a:ext cx="4191000" cy="9525"/>
          </a:xfrm>
          <a:prstGeom prst="rect">
            <a:avLst/>
          </a:prstGeom>
          <a:solidFill>
            <a:srgbClr val="C0C0C8"/>
          </a:solidFill>
          <a:ln/>
        </p:spPr>
        <p:txBody>
          <a:bodyPr/>
          <a:lstStyle/>
          <a:p>
            <a:endParaRPr lang="fr-FR"/>
          </a:p>
        </p:txBody>
      </p:sp>
      <p:sp>
        <p:nvSpPr>
          <p:cNvPr id="26" name="Text 24"/>
          <p:cNvSpPr/>
          <p:nvPr/>
        </p:nvSpPr>
        <p:spPr>
          <a:xfrm>
            <a:off x="2178474" y="3183465"/>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Propagate across tiers, rank by criticality</a:t>
            </a:r>
            <a:endParaRPr lang="en-US" sz="1350" dirty="0"/>
          </a:p>
        </p:txBody>
      </p:sp>
      <p:sp>
        <p:nvSpPr>
          <p:cNvPr id="27" name="Shape 25"/>
          <p:cNvSpPr/>
          <p:nvPr/>
        </p:nvSpPr>
        <p:spPr>
          <a:xfrm>
            <a:off x="6559974" y="3584511"/>
            <a:ext cx="4191000" cy="9525"/>
          </a:xfrm>
          <a:prstGeom prst="rect">
            <a:avLst/>
          </a:prstGeom>
          <a:solidFill>
            <a:srgbClr val="C0C0C8"/>
          </a:solidFill>
          <a:ln/>
        </p:spPr>
        <p:txBody>
          <a:bodyPr/>
          <a:lstStyle/>
          <a:p>
            <a:endParaRPr lang="fr-FR"/>
          </a:p>
        </p:txBody>
      </p:sp>
      <p:sp>
        <p:nvSpPr>
          <p:cNvPr id="28" name="Text 26"/>
          <p:cNvSpPr/>
          <p:nvPr/>
        </p:nvSpPr>
        <p:spPr>
          <a:xfrm>
            <a:off x="6559974" y="3183434"/>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Real-programme scale, interactive time budget</a:t>
            </a:r>
            <a:endParaRPr lang="en-US" sz="1350" dirty="0"/>
          </a:p>
        </p:txBody>
      </p:sp>
      <p:sp>
        <p:nvSpPr>
          <p:cNvPr id="31" name="Shape 29"/>
          <p:cNvSpPr/>
          <p:nvPr/>
        </p:nvSpPr>
        <p:spPr>
          <a:xfrm>
            <a:off x="1549824" y="4124261"/>
            <a:ext cx="438150" cy="539750"/>
          </a:xfrm>
          <a:prstGeom prst="rect">
            <a:avLst/>
          </a:prstGeom>
          <a:solidFill>
            <a:srgbClr val="063C67"/>
          </a:solidFill>
          <a:ln/>
        </p:spPr>
        <p:txBody>
          <a:bodyPr/>
          <a:lstStyle/>
          <a:p>
            <a:endParaRPr lang="fr-FR"/>
          </a:p>
        </p:txBody>
      </p:sp>
      <p:sp>
        <p:nvSpPr>
          <p:cNvPr id="32" name="Shape 30"/>
          <p:cNvSpPr/>
          <p:nvPr/>
        </p:nvSpPr>
        <p:spPr>
          <a:xfrm>
            <a:off x="1549824" y="4124261"/>
            <a:ext cx="438150" cy="9525"/>
          </a:xfrm>
          <a:prstGeom prst="rect">
            <a:avLst/>
          </a:prstGeom>
          <a:solidFill>
            <a:srgbClr val="C0C0C8"/>
          </a:solidFill>
          <a:ln/>
        </p:spPr>
        <p:txBody>
          <a:bodyPr/>
          <a:lstStyle/>
          <a:p>
            <a:endParaRPr lang="fr-FR"/>
          </a:p>
        </p:txBody>
      </p:sp>
      <p:sp>
        <p:nvSpPr>
          <p:cNvPr id="33" name="Text 31"/>
          <p:cNvSpPr/>
          <p:nvPr/>
        </p:nvSpPr>
        <p:spPr>
          <a:xfrm>
            <a:off x="1511724" y="4273486"/>
            <a:ext cx="514350" cy="285750"/>
          </a:xfrm>
          <a:prstGeom prst="rect">
            <a:avLst/>
          </a:prstGeom>
          <a:noFill/>
          <a:ln/>
        </p:spPr>
        <p:txBody>
          <a:bodyPr wrap="square" lIns="25400" tIns="25400" rIns="25400" bIns="25400" rtlCol="0" anchor="t">
            <a:normAutofit/>
          </a:bodyPr>
          <a:lstStyle/>
          <a:p>
            <a:pPr marL="0" indent="0" algn="ctr">
              <a:lnSpc>
                <a:spcPct val="92857"/>
              </a:lnSpc>
              <a:buNone/>
            </a:pPr>
            <a:r>
              <a:rPr lang="en-US" sz="1500" b="1" dirty="0">
                <a:solidFill>
                  <a:srgbClr val="FFC800"/>
                </a:solidFill>
                <a:latin typeface="Arial Black" pitchFamily="34" charset="0"/>
                <a:ea typeface="Arial Black" pitchFamily="34" charset="-122"/>
                <a:cs typeface="Arial Black" pitchFamily="34" charset="-120"/>
              </a:rPr>
              <a:t>O4</a:t>
            </a:r>
            <a:endParaRPr lang="en-US" sz="1500" dirty="0"/>
          </a:p>
        </p:txBody>
      </p:sp>
      <p:sp>
        <p:nvSpPr>
          <p:cNvPr id="34" name="Shape 32"/>
          <p:cNvSpPr/>
          <p:nvPr/>
        </p:nvSpPr>
        <p:spPr>
          <a:xfrm>
            <a:off x="2178474" y="4124261"/>
            <a:ext cx="4191000" cy="539750"/>
          </a:xfrm>
          <a:prstGeom prst="rect">
            <a:avLst/>
          </a:prstGeom>
          <a:solidFill>
            <a:srgbClr val="FFF6DA"/>
          </a:solidFill>
          <a:ln/>
        </p:spPr>
        <p:txBody>
          <a:bodyPr/>
          <a:lstStyle/>
          <a:p>
            <a:endParaRPr lang="fr-FR"/>
          </a:p>
        </p:txBody>
      </p:sp>
      <p:sp>
        <p:nvSpPr>
          <p:cNvPr id="35" name="Shape 33"/>
          <p:cNvSpPr/>
          <p:nvPr/>
        </p:nvSpPr>
        <p:spPr>
          <a:xfrm>
            <a:off x="2178474" y="4124261"/>
            <a:ext cx="4191000" cy="9525"/>
          </a:xfrm>
          <a:prstGeom prst="rect">
            <a:avLst/>
          </a:prstGeom>
          <a:solidFill>
            <a:srgbClr val="C0C0C8"/>
          </a:solidFill>
          <a:ln/>
        </p:spPr>
        <p:txBody>
          <a:bodyPr/>
          <a:lstStyle/>
          <a:p>
            <a:endParaRPr lang="fr-FR"/>
          </a:p>
        </p:txBody>
      </p:sp>
      <p:sp>
        <p:nvSpPr>
          <p:cNvPr id="36" name="Text 34"/>
          <p:cNvSpPr/>
          <p:nvPr/>
        </p:nvSpPr>
        <p:spPr>
          <a:xfrm>
            <a:off x="2178474" y="4273486"/>
            <a:ext cx="3921125"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latin typeface="Calibri" pitchFamily="34" charset="0"/>
                <a:ea typeface="Calibri" pitchFamily="34" charset="-122"/>
                <a:cs typeface="Calibri" pitchFamily="34" charset="-120"/>
              </a:rPr>
              <a:t>Establish whether the signal predicts outcomes</a:t>
            </a:r>
            <a:endParaRPr lang="en-US" sz="1350" dirty="0"/>
          </a:p>
        </p:txBody>
      </p:sp>
      <p:sp>
        <p:nvSpPr>
          <p:cNvPr id="37" name="Shape 35"/>
          <p:cNvSpPr/>
          <p:nvPr/>
        </p:nvSpPr>
        <p:spPr>
          <a:xfrm>
            <a:off x="6559974" y="4124261"/>
            <a:ext cx="4191000" cy="539750"/>
          </a:xfrm>
          <a:prstGeom prst="rect">
            <a:avLst/>
          </a:prstGeom>
          <a:solidFill>
            <a:srgbClr val="FFF6DA"/>
          </a:solidFill>
          <a:ln/>
        </p:spPr>
        <p:txBody>
          <a:bodyPr/>
          <a:lstStyle/>
          <a:p>
            <a:endParaRPr lang="fr-FR"/>
          </a:p>
        </p:txBody>
      </p:sp>
      <p:sp>
        <p:nvSpPr>
          <p:cNvPr id="38" name="Shape 36"/>
          <p:cNvSpPr/>
          <p:nvPr/>
        </p:nvSpPr>
        <p:spPr>
          <a:xfrm>
            <a:off x="6559974" y="4124261"/>
            <a:ext cx="4191000" cy="9525"/>
          </a:xfrm>
          <a:prstGeom prst="rect">
            <a:avLst/>
          </a:prstGeom>
          <a:solidFill>
            <a:srgbClr val="C0C0C8"/>
          </a:solidFill>
          <a:ln/>
        </p:spPr>
        <p:txBody>
          <a:bodyPr/>
          <a:lstStyle/>
          <a:p>
            <a:endParaRPr lang="fr-FR"/>
          </a:p>
        </p:txBody>
      </p:sp>
      <p:sp>
        <p:nvSpPr>
          <p:cNvPr id="39" name="Text 37"/>
          <p:cNvSpPr/>
          <p:nvPr/>
        </p:nvSpPr>
        <p:spPr>
          <a:xfrm>
            <a:off x="6559974" y="4273486"/>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highlight>
                  <a:srgbClr val="FFF6DA"/>
                </a:highlight>
                <a:latin typeface="Calibri" pitchFamily="34" charset="0"/>
                <a:ea typeface="Calibri" pitchFamily="34" charset="-122"/>
                <a:cs typeface="Calibri" pitchFamily="34" charset="-120"/>
              </a:rPr>
              <a:t>Serious game testing</a:t>
            </a:r>
            <a:endParaRPr lang="en-US" sz="1350" b="1" dirty="0"/>
          </a:p>
        </p:txBody>
      </p:sp>
      <p:sp>
        <p:nvSpPr>
          <p:cNvPr id="43" name="Shape 41"/>
          <p:cNvSpPr/>
          <p:nvPr/>
        </p:nvSpPr>
        <p:spPr>
          <a:xfrm>
            <a:off x="1549824" y="4664011"/>
            <a:ext cx="438150" cy="9525"/>
          </a:xfrm>
          <a:prstGeom prst="rect">
            <a:avLst/>
          </a:prstGeom>
          <a:solidFill>
            <a:srgbClr val="C0C0C8"/>
          </a:solidFill>
          <a:ln/>
        </p:spPr>
        <p:txBody>
          <a:bodyPr/>
          <a:lstStyle/>
          <a:p>
            <a:endParaRPr lang="fr-FR"/>
          </a:p>
        </p:txBody>
      </p:sp>
      <p:sp>
        <p:nvSpPr>
          <p:cNvPr id="45" name="Shape 43"/>
          <p:cNvSpPr/>
          <p:nvPr/>
        </p:nvSpPr>
        <p:spPr>
          <a:xfrm>
            <a:off x="2178474" y="4664011"/>
            <a:ext cx="4191000" cy="9525"/>
          </a:xfrm>
          <a:prstGeom prst="rect">
            <a:avLst/>
          </a:prstGeom>
          <a:solidFill>
            <a:srgbClr val="C0C0C8"/>
          </a:solidFill>
          <a:ln/>
        </p:spPr>
        <p:txBody>
          <a:bodyPr/>
          <a:lstStyle/>
          <a:p>
            <a:endParaRPr lang="fr-FR"/>
          </a:p>
        </p:txBody>
      </p:sp>
      <p:sp>
        <p:nvSpPr>
          <p:cNvPr id="47" name="Shape 45"/>
          <p:cNvSpPr/>
          <p:nvPr/>
        </p:nvSpPr>
        <p:spPr>
          <a:xfrm>
            <a:off x="6559974" y="4664011"/>
            <a:ext cx="4191000" cy="9525"/>
          </a:xfrm>
          <a:prstGeom prst="rect">
            <a:avLst/>
          </a:prstGeom>
          <a:solidFill>
            <a:srgbClr val="C0C0C8"/>
          </a:solidFill>
          <a:ln/>
        </p:spPr>
        <p:txBody>
          <a:bodyPr/>
          <a:lstStyle/>
          <a:p>
            <a:endParaRPr lang="fr-FR"/>
          </a:p>
        </p:txBody>
      </p:sp>
      <p:sp>
        <p:nvSpPr>
          <p:cNvPr id="51" name="Shape 49"/>
          <p:cNvSpPr/>
          <p:nvPr/>
        </p:nvSpPr>
        <p:spPr>
          <a:xfrm>
            <a:off x="1549824" y="5205352"/>
            <a:ext cx="438150" cy="9525"/>
          </a:xfrm>
          <a:prstGeom prst="rect">
            <a:avLst/>
          </a:prstGeom>
          <a:solidFill>
            <a:srgbClr val="C0C0C8"/>
          </a:solidFill>
          <a:ln/>
        </p:spPr>
        <p:txBody>
          <a:bodyPr/>
          <a:lstStyle/>
          <a:p>
            <a:endParaRPr lang="fr-FR"/>
          </a:p>
        </p:txBody>
      </p:sp>
      <p:sp>
        <p:nvSpPr>
          <p:cNvPr id="52" name="Shape 50"/>
          <p:cNvSpPr/>
          <p:nvPr/>
        </p:nvSpPr>
        <p:spPr>
          <a:xfrm>
            <a:off x="1549824" y="4665602"/>
            <a:ext cx="438150" cy="9525"/>
          </a:xfrm>
          <a:prstGeom prst="rect">
            <a:avLst/>
          </a:prstGeom>
          <a:solidFill>
            <a:srgbClr val="C0C0C8"/>
          </a:solidFill>
          <a:ln/>
        </p:spPr>
        <p:txBody>
          <a:bodyPr/>
          <a:lstStyle/>
          <a:p>
            <a:endParaRPr lang="fr-FR"/>
          </a:p>
        </p:txBody>
      </p:sp>
      <p:sp>
        <p:nvSpPr>
          <p:cNvPr id="53" name="Text 51"/>
          <p:cNvSpPr/>
          <p:nvPr/>
        </p:nvSpPr>
        <p:spPr>
          <a:xfrm>
            <a:off x="1549824" y="4814827"/>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O5</a:t>
            </a:r>
            <a:endParaRPr lang="en-US" sz="1500" dirty="0"/>
          </a:p>
        </p:txBody>
      </p:sp>
      <p:sp>
        <p:nvSpPr>
          <p:cNvPr id="54" name="Shape 52"/>
          <p:cNvSpPr/>
          <p:nvPr/>
        </p:nvSpPr>
        <p:spPr>
          <a:xfrm>
            <a:off x="2178474" y="5205352"/>
            <a:ext cx="4191000" cy="9525"/>
          </a:xfrm>
          <a:prstGeom prst="rect">
            <a:avLst/>
          </a:prstGeom>
          <a:solidFill>
            <a:srgbClr val="C0C0C8"/>
          </a:solidFill>
          <a:ln/>
        </p:spPr>
        <p:txBody>
          <a:bodyPr/>
          <a:lstStyle/>
          <a:p>
            <a:endParaRPr lang="fr-FR"/>
          </a:p>
        </p:txBody>
      </p:sp>
      <p:sp>
        <p:nvSpPr>
          <p:cNvPr id="55" name="Shape 53"/>
          <p:cNvSpPr/>
          <p:nvPr/>
        </p:nvSpPr>
        <p:spPr>
          <a:xfrm>
            <a:off x="2178474" y="4665602"/>
            <a:ext cx="4191000" cy="9525"/>
          </a:xfrm>
          <a:prstGeom prst="rect">
            <a:avLst/>
          </a:prstGeom>
          <a:solidFill>
            <a:srgbClr val="C0C0C8"/>
          </a:solidFill>
          <a:ln/>
        </p:spPr>
        <p:txBody>
          <a:bodyPr/>
          <a:lstStyle/>
          <a:p>
            <a:endParaRPr lang="fr-FR"/>
          </a:p>
        </p:txBody>
      </p:sp>
      <p:sp>
        <p:nvSpPr>
          <p:cNvPr id="56" name="Text 54"/>
          <p:cNvSpPr/>
          <p:nvPr/>
        </p:nvSpPr>
        <p:spPr>
          <a:xfrm>
            <a:off x="2178474" y="4814827"/>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latin typeface="Calibri" pitchFamily="34" charset="0"/>
                <a:ea typeface="Calibri" pitchFamily="34" charset="-122"/>
                <a:cs typeface="Calibri" pitchFamily="34" charset="-120"/>
              </a:rPr>
              <a:t>Global warehouse capacity imagery modeling</a:t>
            </a:r>
            <a:endParaRPr lang="en-US" sz="1350" b="1" dirty="0"/>
          </a:p>
        </p:txBody>
      </p:sp>
      <p:sp>
        <p:nvSpPr>
          <p:cNvPr id="57" name="Shape 55"/>
          <p:cNvSpPr/>
          <p:nvPr/>
        </p:nvSpPr>
        <p:spPr>
          <a:xfrm>
            <a:off x="6559974" y="5205352"/>
            <a:ext cx="4191000" cy="9525"/>
          </a:xfrm>
          <a:prstGeom prst="rect">
            <a:avLst/>
          </a:prstGeom>
          <a:solidFill>
            <a:srgbClr val="C0C0C8"/>
          </a:solidFill>
          <a:ln/>
        </p:spPr>
        <p:txBody>
          <a:bodyPr/>
          <a:lstStyle/>
          <a:p>
            <a:endParaRPr lang="fr-FR"/>
          </a:p>
        </p:txBody>
      </p:sp>
      <p:sp>
        <p:nvSpPr>
          <p:cNvPr id="58" name="Shape 56"/>
          <p:cNvSpPr/>
          <p:nvPr/>
        </p:nvSpPr>
        <p:spPr>
          <a:xfrm>
            <a:off x="6559974" y="4665602"/>
            <a:ext cx="4191000" cy="9525"/>
          </a:xfrm>
          <a:prstGeom prst="rect">
            <a:avLst/>
          </a:prstGeom>
          <a:solidFill>
            <a:srgbClr val="C0C0C8"/>
          </a:solidFill>
          <a:ln/>
        </p:spPr>
        <p:txBody>
          <a:bodyPr/>
          <a:lstStyle/>
          <a:p>
            <a:endParaRPr lang="fr-FR"/>
          </a:p>
        </p:txBody>
      </p:sp>
      <p:sp>
        <p:nvSpPr>
          <p:cNvPr id="59" name="Text 57"/>
          <p:cNvSpPr/>
          <p:nvPr/>
        </p:nvSpPr>
        <p:spPr>
          <a:xfrm>
            <a:off x="6559974" y="4814827"/>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latin typeface="Calibri" pitchFamily="34" charset="0"/>
                <a:ea typeface="Calibri" pitchFamily="34" charset="-122"/>
                <a:cs typeface="Calibri" pitchFamily="34" charset="-120"/>
              </a:rPr>
              <a:t>KPIs </a:t>
            </a:r>
            <a:endParaRPr lang="en-US" sz="1350" b="1" dirty="0"/>
          </a:p>
        </p:txBody>
      </p:sp>
      <p:pic>
        <p:nvPicPr>
          <p:cNvPr id="63" name="Image 0" descr="preencoded.png"/>
          <p:cNvPicPr>
            <a:picLocks noChangeAspect="1"/>
          </p:cNvPicPr>
          <p:nvPr/>
        </p:nvPicPr>
        <p:blipFill>
          <a:blip r:embed="rId3"/>
          <a:stretch>
            <a:fillRect/>
          </a:stretch>
        </p:blipFill>
        <p:spPr>
          <a:xfrm>
            <a:off x="11229975" y="6567488"/>
            <a:ext cx="714375" cy="7143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3353564"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MISSION</a:t>
            </a:r>
            <a:endParaRPr lang="en-US" sz="3225" dirty="0"/>
          </a:p>
        </p:txBody>
      </p:sp>
      <p:sp>
        <p:nvSpPr>
          <p:cNvPr id="4" name="Text 2"/>
          <p:cNvSpPr/>
          <p:nvPr/>
        </p:nvSpPr>
        <p:spPr>
          <a:xfrm>
            <a:off x="352425" y="666750"/>
            <a:ext cx="9765467"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A working application, two independently elicited signals, and the score that compares them</a:t>
            </a:r>
            <a:endParaRPr lang="en-US" sz="1725" dirty="0"/>
          </a:p>
        </p:txBody>
      </p:sp>
      <p:pic>
        <p:nvPicPr>
          <p:cNvPr id="5" name="Image 0" descr="preencoded.png"/>
          <p:cNvPicPr>
            <a:picLocks noChangeAspect="1"/>
          </p:cNvPicPr>
          <p:nvPr/>
        </p:nvPicPr>
        <p:blipFill>
          <a:blip r:embed="rId3"/>
          <a:stretch>
            <a:fillRect/>
          </a:stretch>
        </p:blipFill>
        <p:spPr>
          <a:xfrm>
            <a:off x="352425" y="1254522"/>
            <a:ext cx="365720" cy="381000"/>
          </a:xfrm>
          <a:prstGeom prst="rect">
            <a:avLst/>
          </a:prstGeom>
        </p:spPr>
      </p:pic>
      <p:sp>
        <p:nvSpPr>
          <p:cNvPr id="6" name="Text 3"/>
          <p:cNvSpPr/>
          <p:nvPr/>
        </p:nvSpPr>
        <p:spPr>
          <a:xfrm>
            <a:off x="851495" y="1162050"/>
            <a:ext cx="3009039" cy="410766"/>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043962"/>
                </a:solidFill>
                <a:latin typeface="Arial Black" pitchFamily="34" charset="0"/>
                <a:ea typeface="Arial Black" pitchFamily="34" charset="-122"/>
                <a:cs typeface="Arial Black" pitchFamily="34" charset="-120"/>
              </a:rPr>
              <a:t>DECLARED U</a:t>
            </a:r>
            <a:r>
              <a:rPr lang="en-US" sz="1500" b="1" baseline="-40000" dirty="0">
                <a:solidFill>
                  <a:srgbClr val="043962"/>
                </a:solidFill>
                <a:latin typeface="Arial Black" pitchFamily="34" charset="0"/>
                <a:ea typeface="Arial Black" pitchFamily="34" charset="-122"/>
                <a:cs typeface="Arial Black" pitchFamily="34" charset="-120"/>
              </a:rPr>
              <a:t>D</a:t>
            </a:r>
            <a:endParaRPr lang="en-US" sz="1800" dirty="0"/>
          </a:p>
        </p:txBody>
      </p:sp>
      <p:sp>
        <p:nvSpPr>
          <p:cNvPr id="7" name="Text 4"/>
          <p:cNvSpPr/>
          <p:nvPr/>
        </p:nvSpPr>
        <p:spPr>
          <a:xfrm>
            <a:off x="851495" y="1534716"/>
            <a:ext cx="3213537"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kern="0" spc="126" dirty="0">
                <a:solidFill>
                  <a:srgbClr val="1D93C9"/>
                </a:solidFill>
                <a:latin typeface="Arial" pitchFamily="34" charset="0"/>
                <a:ea typeface="Arial" pitchFamily="34" charset="-122"/>
                <a:cs typeface="Arial" pitchFamily="34" charset="-120"/>
              </a:rPr>
              <a:t>AHP, FUZZY BWM AND PROMETHEE II</a:t>
            </a:r>
            <a:endParaRPr lang="en-US" sz="1050" dirty="0"/>
          </a:p>
        </p:txBody>
      </p:sp>
      <p:pic>
        <p:nvPicPr>
          <p:cNvPr id="8" name="Image 1" descr="preencoded.png"/>
          <p:cNvPicPr>
            <a:picLocks noChangeAspect="1"/>
          </p:cNvPicPr>
          <p:nvPr/>
        </p:nvPicPr>
        <p:blipFill>
          <a:blip r:embed="rId4"/>
          <a:stretch>
            <a:fillRect/>
          </a:stretch>
        </p:blipFill>
        <p:spPr>
          <a:xfrm>
            <a:off x="6438900" y="1254522"/>
            <a:ext cx="387945" cy="381000"/>
          </a:xfrm>
          <a:prstGeom prst="rect">
            <a:avLst/>
          </a:prstGeom>
        </p:spPr>
      </p:pic>
      <p:sp>
        <p:nvSpPr>
          <p:cNvPr id="9" name="Text 5"/>
          <p:cNvSpPr/>
          <p:nvPr/>
        </p:nvSpPr>
        <p:spPr>
          <a:xfrm>
            <a:off x="6960196" y="1162050"/>
            <a:ext cx="2476798" cy="410766"/>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043962"/>
                </a:solidFill>
                <a:latin typeface="Arial Black" pitchFamily="34" charset="0"/>
                <a:ea typeface="Arial Black" pitchFamily="34" charset="-122"/>
                <a:cs typeface="Arial Black" pitchFamily="34" charset="-120"/>
              </a:rPr>
              <a:t>COMPUTED U</a:t>
            </a:r>
            <a:r>
              <a:rPr lang="en-US" sz="1500" b="1" baseline="-40000" dirty="0">
                <a:solidFill>
                  <a:srgbClr val="043962"/>
                </a:solidFill>
                <a:latin typeface="Arial Black" pitchFamily="34" charset="0"/>
                <a:ea typeface="Arial Black" pitchFamily="34" charset="-122"/>
                <a:cs typeface="Arial Black" pitchFamily="34" charset="-120"/>
              </a:rPr>
              <a:t>R</a:t>
            </a:r>
            <a:endParaRPr lang="en-US" sz="1800" dirty="0"/>
          </a:p>
        </p:txBody>
      </p:sp>
      <p:sp>
        <p:nvSpPr>
          <p:cNvPr id="10" name="Text 6"/>
          <p:cNvSpPr/>
          <p:nvPr/>
        </p:nvSpPr>
        <p:spPr>
          <a:xfrm>
            <a:off x="6960196" y="1534716"/>
            <a:ext cx="3512272" cy="231378"/>
          </a:xfrm>
          <a:prstGeom prst="rect">
            <a:avLst/>
          </a:prstGeom>
          <a:noFill/>
          <a:ln/>
        </p:spPr>
        <p:txBody>
          <a:bodyPr wrap="square" lIns="25400" tIns="25400" rIns="25400" bIns="25400" rtlCol="0" anchor="t">
            <a:normAutofit fontScale="77500" lnSpcReduction="20000"/>
          </a:bodyPr>
          <a:lstStyle/>
          <a:p>
            <a:pPr marL="0" indent="0" algn="l">
              <a:lnSpc>
                <a:spcPct val="126875"/>
              </a:lnSpc>
              <a:buNone/>
            </a:pPr>
            <a:r>
              <a:rPr lang="en-US" sz="1050" kern="0" spc="126" dirty="0">
                <a:solidFill>
                  <a:srgbClr val="1D93C9"/>
                </a:solidFill>
                <a:latin typeface="Arial" pitchFamily="34" charset="0"/>
                <a:ea typeface="Arial" pitchFamily="34" charset="-122"/>
                <a:cs typeface="Arial" pitchFamily="34" charset="-120"/>
              </a:rPr>
              <a:t>WEIGHTED PROBABILISTIC OR AGREGATION METHOD</a:t>
            </a:r>
            <a:endParaRPr lang="en-US" sz="1050" dirty="0"/>
          </a:p>
        </p:txBody>
      </p:sp>
      <p:sp>
        <p:nvSpPr>
          <p:cNvPr id="11" name="Shape 7"/>
          <p:cNvSpPr/>
          <p:nvPr/>
        </p:nvSpPr>
        <p:spPr>
          <a:xfrm>
            <a:off x="352425" y="1813719"/>
            <a:ext cx="5400675" cy="496193"/>
          </a:xfrm>
          <a:prstGeom prst="rect">
            <a:avLst/>
          </a:prstGeom>
          <a:solidFill>
            <a:srgbClr val="E9F5FB"/>
          </a:solidFill>
          <a:ln/>
        </p:spPr>
        <p:txBody>
          <a:bodyPr/>
          <a:lstStyle/>
          <a:p>
            <a:endParaRPr lang="fr-FR"/>
          </a:p>
        </p:txBody>
      </p:sp>
      <p:sp>
        <p:nvSpPr>
          <p:cNvPr id="12" name="Text 8"/>
          <p:cNvSpPr/>
          <p:nvPr/>
        </p:nvSpPr>
        <p:spPr>
          <a:xfrm>
            <a:off x="504825" y="1937544"/>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Operational impact</a:t>
            </a:r>
            <a:endParaRPr lang="en-US" sz="1350" dirty="0"/>
          </a:p>
        </p:txBody>
      </p:sp>
      <p:sp>
        <p:nvSpPr>
          <p:cNvPr id="13" name="Text 9"/>
          <p:cNvSpPr/>
          <p:nvPr/>
        </p:nvSpPr>
        <p:spPr>
          <a:xfrm>
            <a:off x="5800725" y="1909862"/>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1D93C9"/>
                </a:solidFill>
                <a:latin typeface="Calibri" pitchFamily="34" charset="0"/>
                <a:ea typeface="Calibri" pitchFamily="34" charset="-122"/>
                <a:cs typeface="Calibri" pitchFamily="34" charset="-120"/>
              </a:rPr>
              <a:t>↔</a:t>
            </a:r>
            <a:endParaRPr lang="en-US" sz="1650" dirty="0"/>
          </a:p>
        </p:txBody>
      </p:sp>
      <p:sp>
        <p:nvSpPr>
          <p:cNvPr id="14" name="Shape 10"/>
          <p:cNvSpPr/>
          <p:nvPr/>
        </p:nvSpPr>
        <p:spPr>
          <a:xfrm>
            <a:off x="6438900" y="1813719"/>
            <a:ext cx="5400675" cy="496193"/>
          </a:xfrm>
          <a:prstGeom prst="rect">
            <a:avLst/>
          </a:prstGeom>
          <a:solidFill>
            <a:srgbClr val="F4F4F6"/>
          </a:solidFill>
          <a:ln/>
        </p:spPr>
        <p:txBody>
          <a:bodyPr/>
          <a:lstStyle/>
          <a:p>
            <a:endParaRPr lang="fr-FR"/>
          </a:p>
        </p:txBody>
      </p:sp>
      <p:sp>
        <p:nvSpPr>
          <p:cNvPr id="15" name="Text 11"/>
          <p:cNvSpPr/>
          <p:nvPr/>
        </p:nvSpPr>
        <p:spPr>
          <a:xfrm>
            <a:off x="6591300" y="1937544"/>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Performance and capacity</a:t>
            </a:r>
            <a:endParaRPr lang="en-US" sz="1350" dirty="0"/>
          </a:p>
        </p:txBody>
      </p:sp>
      <p:sp>
        <p:nvSpPr>
          <p:cNvPr id="16" name="Shape 12"/>
          <p:cNvSpPr/>
          <p:nvPr/>
        </p:nvSpPr>
        <p:spPr>
          <a:xfrm>
            <a:off x="352425" y="2395637"/>
            <a:ext cx="5400675" cy="496193"/>
          </a:xfrm>
          <a:prstGeom prst="rect">
            <a:avLst/>
          </a:prstGeom>
          <a:solidFill>
            <a:srgbClr val="E9F5FB"/>
          </a:solidFill>
          <a:ln/>
        </p:spPr>
        <p:txBody>
          <a:bodyPr/>
          <a:lstStyle/>
          <a:p>
            <a:endParaRPr lang="fr-FR"/>
          </a:p>
        </p:txBody>
      </p:sp>
      <p:sp>
        <p:nvSpPr>
          <p:cNvPr id="17" name="Text 13"/>
          <p:cNvSpPr/>
          <p:nvPr/>
        </p:nvSpPr>
        <p:spPr>
          <a:xfrm>
            <a:off x="504825" y="2519462"/>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Time window</a:t>
            </a:r>
            <a:endParaRPr lang="en-US" sz="1350" dirty="0"/>
          </a:p>
        </p:txBody>
      </p:sp>
      <p:sp>
        <p:nvSpPr>
          <p:cNvPr id="18" name="Text 14"/>
          <p:cNvSpPr/>
          <p:nvPr/>
        </p:nvSpPr>
        <p:spPr>
          <a:xfrm>
            <a:off x="5800725" y="2491780"/>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1D93C9"/>
                </a:solidFill>
                <a:latin typeface="Calibri" pitchFamily="34" charset="0"/>
                <a:ea typeface="Calibri" pitchFamily="34" charset="-122"/>
                <a:cs typeface="Calibri" pitchFamily="34" charset="-120"/>
              </a:rPr>
              <a:t>↔</a:t>
            </a:r>
            <a:endParaRPr lang="en-US" sz="1650" dirty="0"/>
          </a:p>
        </p:txBody>
      </p:sp>
      <p:sp>
        <p:nvSpPr>
          <p:cNvPr id="19" name="Shape 15"/>
          <p:cNvSpPr/>
          <p:nvPr/>
        </p:nvSpPr>
        <p:spPr>
          <a:xfrm>
            <a:off x="6438900" y="2395637"/>
            <a:ext cx="5400675" cy="496193"/>
          </a:xfrm>
          <a:prstGeom prst="rect">
            <a:avLst/>
          </a:prstGeom>
          <a:solidFill>
            <a:srgbClr val="F4F4F6"/>
          </a:solidFill>
          <a:ln/>
        </p:spPr>
        <p:txBody>
          <a:bodyPr/>
          <a:lstStyle/>
          <a:p>
            <a:endParaRPr lang="fr-FR"/>
          </a:p>
        </p:txBody>
      </p:sp>
      <p:sp>
        <p:nvSpPr>
          <p:cNvPr id="20" name="Text 16"/>
          <p:cNvSpPr/>
          <p:nvPr/>
        </p:nvSpPr>
        <p:spPr>
          <a:xfrm>
            <a:off x="6591300" y="2519462"/>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Time, against the next deadline</a:t>
            </a:r>
            <a:endParaRPr lang="en-US" sz="1350" dirty="0"/>
          </a:p>
        </p:txBody>
      </p:sp>
      <p:sp>
        <p:nvSpPr>
          <p:cNvPr id="21" name="Shape 17"/>
          <p:cNvSpPr/>
          <p:nvPr/>
        </p:nvSpPr>
        <p:spPr>
          <a:xfrm>
            <a:off x="352425" y="2977555"/>
            <a:ext cx="5400675" cy="496193"/>
          </a:xfrm>
          <a:prstGeom prst="rect">
            <a:avLst/>
          </a:prstGeom>
          <a:solidFill>
            <a:srgbClr val="E9F5FB"/>
          </a:solidFill>
          <a:ln/>
        </p:spPr>
        <p:txBody>
          <a:bodyPr/>
          <a:lstStyle/>
          <a:p>
            <a:endParaRPr lang="fr-FR"/>
          </a:p>
        </p:txBody>
      </p:sp>
      <p:sp>
        <p:nvSpPr>
          <p:cNvPr id="22" name="Text 18"/>
          <p:cNvSpPr/>
          <p:nvPr/>
        </p:nvSpPr>
        <p:spPr>
          <a:xfrm>
            <a:off x="504825" y="3101380"/>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Downstream dependencies</a:t>
            </a:r>
            <a:endParaRPr lang="en-US" sz="1350" dirty="0"/>
          </a:p>
        </p:txBody>
      </p:sp>
      <p:sp>
        <p:nvSpPr>
          <p:cNvPr id="23" name="Text 19"/>
          <p:cNvSpPr/>
          <p:nvPr/>
        </p:nvSpPr>
        <p:spPr>
          <a:xfrm>
            <a:off x="5800725" y="3073698"/>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1D93C9"/>
                </a:solidFill>
                <a:latin typeface="Calibri" pitchFamily="34" charset="0"/>
                <a:ea typeface="Calibri" pitchFamily="34" charset="-122"/>
                <a:cs typeface="Calibri" pitchFamily="34" charset="-120"/>
              </a:rPr>
              <a:t>↔</a:t>
            </a:r>
            <a:endParaRPr lang="en-US" sz="1650" dirty="0"/>
          </a:p>
        </p:txBody>
      </p:sp>
      <p:sp>
        <p:nvSpPr>
          <p:cNvPr id="24" name="Shape 20"/>
          <p:cNvSpPr/>
          <p:nvPr/>
        </p:nvSpPr>
        <p:spPr>
          <a:xfrm>
            <a:off x="6438900" y="2977555"/>
            <a:ext cx="5400675" cy="496193"/>
          </a:xfrm>
          <a:prstGeom prst="rect">
            <a:avLst/>
          </a:prstGeom>
          <a:solidFill>
            <a:srgbClr val="F4F4F6"/>
          </a:solidFill>
          <a:ln/>
        </p:spPr>
        <p:txBody>
          <a:bodyPr/>
          <a:lstStyle/>
          <a:p>
            <a:endParaRPr lang="fr-FR"/>
          </a:p>
        </p:txBody>
      </p:sp>
      <p:sp>
        <p:nvSpPr>
          <p:cNvPr id="25" name="Text 21"/>
          <p:cNvSpPr/>
          <p:nvPr/>
        </p:nvSpPr>
        <p:spPr>
          <a:xfrm>
            <a:off x="6591300" y="3101380"/>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Severity propagated across tiers</a:t>
            </a:r>
            <a:endParaRPr lang="en-US" sz="1350" dirty="0"/>
          </a:p>
        </p:txBody>
      </p:sp>
      <p:sp>
        <p:nvSpPr>
          <p:cNvPr id="26" name="Shape 22"/>
          <p:cNvSpPr/>
          <p:nvPr/>
        </p:nvSpPr>
        <p:spPr>
          <a:xfrm>
            <a:off x="352425" y="3559473"/>
            <a:ext cx="5400675" cy="496193"/>
          </a:xfrm>
          <a:prstGeom prst="rect">
            <a:avLst/>
          </a:prstGeom>
          <a:solidFill>
            <a:srgbClr val="E9F5FB"/>
          </a:solidFill>
          <a:ln/>
        </p:spPr>
        <p:txBody>
          <a:bodyPr/>
          <a:lstStyle/>
          <a:p>
            <a:endParaRPr lang="fr-FR"/>
          </a:p>
        </p:txBody>
      </p:sp>
      <p:sp>
        <p:nvSpPr>
          <p:cNvPr id="27" name="Text 23"/>
          <p:cNvSpPr/>
          <p:nvPr/>
        </p:nvSpPr>
        <p:spPr>
          <a:xfrm>
            <a:off x="504825" y="3683298"/>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Recoverability</a:t>
            </a:r>
            <a:endParaRPr lang="en-US" sz="1350" dirty="0"/>
          </a:p>
        </p:txBody>
      </p:sp>
      <p:sp>
        <p:nvSpPr>
          <p:cNvPr id="28" name="Text 24"/>
          <p:cNvSpPr/>
          <p:nvPr/>
        </p:nvSpPr>
        <p:spPr>
          <a:xfrm>
            <a:off x="5800725" y="3655616"/>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1D93C9"/>
                </a:solidFill>
                <a:latin typeface="Calibri" pitchFamily="34" charset="0"/>
                <a:ea typeface="Calibri" pitchFamily="34" charset="-122"/>
                <a:cs typeface="Calibri" pitchFamily="34" charset="-120"/>
              </a:rPr>
              <a:t>↔</a:t>
            </a:r>
            <a:endParaRPr lang="en-US" sz="1650" dirty="0"/>
          </a:p>
        </p:txBody>
      </p:sp>
      <p:sp>
        <p:nvSpPr>
          <p:cNvPr id="29" name="Shape 25"/>
          <p:cNvSpPr/>
          <p:nvPr/>
        </p:nvSpPr>
        <p:spPr>
          <a:xfrm>
            <a:off x="6438900" y="3559473"/>
            <a:ext cx="5400675" cy="496193"/>
          </a:xfrm>
          <a:prstGeom prst="rect">
            <a:avLst/>
          </a:prstGeom>
          <a:solidFill>
            <a:srgbClr val="F4F4F6"/>
          </a:solidFill>
          <a:ln/>
        </p:spPr>
        <p:txBody>
          <a:bodyPr/>
          <a:lstStyle/>
          <a:p>
            <a:endParaRPr lang="fr-FR"/>
          </a:p>
        </p:txBody>
      </p:sp>
      <p:sp>
        <p:nvSpPr>
          <p:cNvPr id="30" name="Text 26"/>
          <p:cNvSpPr/>
          <p:nvPr/>
        </p:nvSpPr>
        <p:spPr>
          <a:xfrm>
            <a:off x="6591300" y="3683298"/>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Risk, through its recovery term</a:t>
            </a:r>
            <a:endParaRPr lang="en-US" sz="1350" dirty="0"/>
          </a:p>
        </p:txBody>
      </p:sp>
      <p:sp>
        <p:nvSpPr>
          <p:cNvPr id="31" name="Text 27"/>
          <p:cNvSpPr/>
          <p:nvPr/>
        </p:nvSpPr>
        <p:spPr>
          <a:xfrm>
            <a:off x="504825" y="4265216"/>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i="1" dirty="0">
                <a:solidFill>
                  <a:srgbClr val="858591"/>
                </a:solidFill>
                <a:latin typeface="Calibri" pitchFamily="34" charset="0"/>
                <a:ea typeface="Calibri" pitchFamily="34" charset="-122"/>
                <a:cs typeface="Calibri" pitchFamily="34" charset="-120"/>
              </a:rPr>
              <a:t>No declared counterpart</a:t>
            </a:r>
            <a:endParaRPr lang="en-US" sz="1350" dirty="0"/>
          </a:p>
        </p:txBody>
      </p:sp>
      <p:sp>
        <p:nvSpPr>
          <p:cNvPr id="32" name="Text 28"/>
          <p:cNvSpPr/>
          <p:nvPr/>
        </p:nvSpPr>
        <p:spPr>
          <a:xfrm>
            <a:off x="5800725" y="4237534"/>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C0C0C8"/>
                </a:solidFill>
                <a:latin typeface="Calibri" pitchFamily="34" charset="0"/>
                <a:ea typeface="Calibri" pitchFamily="34" charset="-122"/>
                <a:cs typeface="Calibri" pitchFamily="34" charset="-120"/>
              </a:rPr>
              <a:t>↔</a:t>
            </a:r>
            <a:endParaRPr lang="en-US" sz="1650" dirty="0"/>
          </a:p>
        </p:txBody>
      </p:sp>
      <p:sp>
        <p:nvSpPr>
          <p:cNvPr id="33" name="Shape 29"/>
          <p:cNvSpPr/>
          <p:nvPr/>
        </p:nvSpPr>
        <p:spPr>
          <a:xfrm>
            <a:off x="6438900" y="4141391"/>
            <a:ext cx="5400675" cy="496193"/>
          </a:xfrm>
          <a:prstGeom prst="rect">
            <a:avLst/>
          </a:prstGeom>
          <a:solidFill>
            <a:srgbClr val="E9E9ED"/>
          </a:solidFill>
          <a:ln/>
        </p:spPr>
        <p:txBody>
          <a:bodyPr/>
          <a:lstStyle/>
          <a:p>
            <a:endParaRPr lang="fr-FR"/>
          </a:p>
        </p:txBody>
      </p:sp>
      <p:sp>
        <p:nvSpPr>
          <p:cNvPr id="34" name="Text 30"/>
          <p:cNvSpPr/>
          <p:nvPr/>
        </p:nvSpPr>
        <p:spPr>
          <a:xfrm>
            <a:off x="6591300" y="4265216"/>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Cost and carbon, arbitration only</a:t>
            </a:r>
            <a:endParaRPr lang="en-US" sz="1350" dirty="0"/>
          </a:p>
        </p:txBody>
      </p:sp>
      <p:sp>
        <p:nvSpPr>
          <p:cNvPr id="35" name="Shape 31"/>
          <p:cNvSpPr/>
          <p:nvPr/>
        </p:nvSpPr>
        <p:spPr>
          <a:xfrm>
            <a:off x="5962650" y="4724400"/>
            <a:ext cx="266700" cy="368598"/>
          </a:xfrm>
          <a:prstGeom prst="rect">
            <a:avLst/>
          </a:prstGeom>
          <a:solidFill>
            <a:srgbClr val="063C67"/>
          </a:solidFill>
          <a:ln/>
        </p:spPr>
        <p:txBody>
          <a:bodyPr/>
          <a:lstStyle/>
          <a:p>
            <a:endParaRPr lang="fr-FR"/>
          </a:p>
        </p:txBody>
      </p:sp>
      <p:sp>
        <p:nvSpPr>
          <p:cNvPr id="36" name="Shape 32"/>
          <p:cNvSpPr/>
          <p:nvPr/>
        </p:nvSpPr>
        <p:spPr>
          <a:xfrm>
            <a:off x="352425" y="5029201"/>
            <a:ext cx="11496770" cy="1436390"/>
          </a:xfrm>
          <a:prstGeom prst="rect">
            <a:avLst/>
          </a:prstGeom>
          <a:solidFill>
            <a:srgbClr val="063C67"/>
          </a:solidFill>
          <a:ln/>
        </p:spPr>
        <p:txBody>
          <a:bodyPr/>
          <a:lstStyle/>
          <a:p>
            <a:endParaRPr lang="fr-FR"/>
          </a:p>
        </p:txBody>
      </p:sp>
      <p:sp>
        <p:nvSpPr>
          <p:cNvPr id="37" name="Text 33"/>
          <p:cNvSpPr/>
          <p:nvPr/>
        </p:nvSpPr>
        <p:spPr>
          <a:xfrm>
            <a:off x="581025" y="5181600"/>
            <a:ext cx="12635865"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FFFFFF"/>
                </a:solidFill>
                <a:latin typeface="Arial Black" pitchFamily="34" charset="0"/>
                <a:ea typeface="Arial Black" pitchFamily="34" charset="-122"/>
                <a:cs typeface="Arial Black" pitchFamily="34" charset="-120"/>
              </a:rPr>
              <a:t>ADEQUACY SCORE</a:t>
            </a:r>
            <a:endParaRPr lang="en-US" sz="1650" dirty="0"/>
          </a:p>
        </p:txBody>
      </p:sp>
      <p:sp>
        <p:nvSpPr>
          <p:cNvPr id="38" name="Text 34"/>
          <p:cNvSpPr/>
          <p:nvPr/>
        </p:nvSpPr>
        <p:spPr>
          <a:xfrm>
            <a:off x="581025" y="5721648"/>
            <a:ext cx="2609850" cy="483791"/>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FFFFFF"/>
                </a:solidFill>
                <a:latin typeface="Calibri" pitchFamily="34" charset="0"/>
                <a:ea typeface="Calibri" pitchFamily="34" charset="-122"/>
                <a:cs typeface="Calibri" pitchFamily="34" charset="-120"/>
              </a:rPr>
              <a:t>The distance between the two signals, on a </a:t>
            </a:r>
            <a:r>
              <a:rPr lang="en-US" sz="1350" b="1" dirty="0">
                <a:solidFill>
                  <a:srgbClr val="FFDA65"/>
                </a:solidFill>
                <a:latin typeface="Calibri" pitchFamily="34" charset="0"/>
                <a:ea typeface="Calibri" pitchFamily="34" charset="-122"/>
                <a:cs typeface="Calibri" pitchFamily="34" charset="-120"/>
              </a:rPr>
              <a:t>0–100 </a:t>
            </a:r>
            <a:r>
              <a:rPr lang="en-US" sz="1350" dirty="0">
                <a:solidFill>
                  <a:srgbClr val="FFFFFF"/>
                </a:solidFill>
                <a:latin typeface="Calibri" pitchFamily="34" charset="0"/>
                <a:ea typeface="Calibri" pitchFamily="34" charset="-122"/>
                <a:cs typeface="Calibri" pitchFamily="34" charset="-120"/>
              </a:rPr>
              <a:t>scale.</a:t>
            </a:r>
            <a:endParaRPr lang="en-US" sz="1350" dirty="0"/>
          </a:p>
        </p:txBody>
      </p:sp>
      <p:pic>
        <p:nvPicPr>
          <p:cNvPr id="39" name="Image 2" descr="preencoded.png"/>
          <p:cNvPicPr>
            <a:picLocks noChangeAspect="1"/>
          </p:cNvPicPr>
          <p:nvPr/>
        </p:nvPicPr>
        <p:blipFill>
          <a:blip r:embed="rId5"/>
          <a:stretch>
            <a:fillRect/>
          </a:stretch>
        </p:blipFill>
        <p:spPr>
          <a:xfrm>
            <a:off x="3381375" y="5600601"/>
            <a:ext cx="433784" cy="266700"/>
          </a:xfrm>
          <a:prstGeom prst="rect">
            <a:avLst/>
          </a:prstGeom>
        </p:spPr>
      </p:pic>
      <p:sp>
        <p:nvSpPr>
          <p:cNvPr id="40" name="Shape 35"/>
          <p:cNvSpPr/>
          <p:nvPr/>
        </p:nvSpPr>
        <p:spPr>
          <a:xfrm>
            <a:off x="3929460" y="5561608"/>
            <a:ext cx="4069358" cy="95250"/>
          </a:xfrm>
          <a:prstGeom prst="rect">
            <a:avLst/>
          </a:prstGeom>
          <a:solidFill>
            <a:srgbClr val="7ECBEE"/>
          </a:solidFill>
          <a:ln/>
        </p:spPr>
        <p:txBody>
          <a:bodyPr/>
          <a:lstStyle/>
          <a:p>
            <a:endParaRPr lang="fr-FR"/>
          </a:p>
        </p:txBody>
      </p:sp>
      <p:sp>
        <p:nvSpPr>
          <p:cNvPr id="41" name="Text 36"/>
          <p:cNvSpPr/>
          <p:nvPr/>
        </p:nvSpPr>
        <p:spPr>
          <a:xfrm>
            <a:off x="3929460" y="5685433"/>
            <a:ext cx="8952588"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FFFFFF"/>
                </a:solidFill>
                <a:latin typeface="Calibri" pitchFamily="34" charset="0"/>
                <a:ea typeface="Calibri" pitchFamily="34" charset="-122"/>
                <a:cs typeface="Calibri" pitchFamily="34" charset="-120"/>
              </a:rPr>
              <a:t>False urgency · declared &gt; state · </a:t>
            </a:r>
            <a:r>
              <a:rPr lang="en-US" sz="1200" b="1" dirty="0">
                <a:solidFill>
                  <a:srgbClr val="FFFFFF"/>
                </a:solidFill>
                <a:latin typeface="Calibri" pitchFamily="34" charset="0"/>
                <a:ea typeface="Calibri" pitchFamily="34" charset="-122"/>
                <a:cs typeface="Calibri" pitchFamily="34" charset="-120"/>
              </a:rPr>
              <a:t>penalty ×1</a:t>
            </a:r>
            <a:endParaRPr lang="en-US" sz="1200" dirty="0"/>
          </a:p>
        </p:txBody>
      </p:sp>
      <p:pic>
        <p:nvPicPr>
          <p:cNvPr id="42" name="Image 3" descr="preencoded.png"/>
          <p:cNvPicPr>
            <a:picLocks noChangeAspect="1"/>
          </p:cNvPicPr>
          <p:nvPr/>
        </p:nvPicPr>
        <p:blipFill>
          <a:blip r:embed="rId6"/>
          <a:stretch>
            <a:fillRect/>
          </a:stretch>
        </p:blipFill>
        <p:spPr>
          <a:xfrm>
            <a:off x="3588411" y="6021586"/>
            <a:ext cx="232073" cy="266700"/>
          </a:xfrm>
          <a:prstGeom prst="rect">
            <a:avLst/>
          </a:prstGeom>
        </p:spPr>
      </p:pic>
      <p:sp>
        <p:nvSpPr>
          <p:cNvPr id="43" name="Shape 37"/>
          <p:cNvSpPr/>
          <p:nvPr/>
        </p:nvSpPr>
        <p:spPr>
          <a:xfrm>
            <a:off x="3934784" y="5982593"/>
            <a:ext cx="7883227" cy="95250"/>
          </a:xfrm>
          <a:prstGeom prst="rect">
            <a:avLst/>
          </a:prstGeom>
          <a:solidFill>
            <a:srgbClr val="FFDA65"/>
          </a:solidFill>
          <a:ln/>
        </p:spPr>
        <p:txBody>
          <a:bodyPr/>
          <a:lstStyle/>
          <a:p>
            <a:endParaRPr lang="fr-FR"/>
          </a:p>
        </p:txBody>
      </p:sp>
      <p:sp>
        <p:nvSpPr>
          <p:cNvPr id="44" name="Text 38"/>
          <p:cNvSpPr/>
          <p:nvPr/>
        </p:nvSpPr>
        <p:spPr>
          <a:xfrm>
            <a:off x="3934784" y="6106418"/>
            <a:ext cx="9174470"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FFFFFF"/>
                </a:solidFill>
                <a:latin typeface="Calibri" pitchFamily="34" charset="0"/>
                <a:ea typeface="Calibri" pitchFamily="34" charset="-122"/>
                <a:cs typeface="Calibri" pitchFamily="34" charset="-120"/>
              </a:rPr>
              <a:t>Hidden risk · state &gt; declared · </a:t>
            </a:r>
            <a:r>
              <a:rPr lang="en-US" sz="1200" b="1" dirty="0">
                <a:solidFill>
                  <a:srgbClr val="FFDA65"/>
                </a:solidFill>
                <a:latin typeface="Calibri" pitchFamily="34" charset="0"/>
                <a:ea typeface="Calibri" pitchFamily="34" charset="-122"/>
                <a:cs typeface="Calibri" pitchFamily="34" charset="-120"/>
              </a:rPr>
              <a:t>penalty ×2</a:t>
            </a:r>
            <a:endParaRPr lang="en-US" sz="1200" dirty="0"/>
          </a:p>
        </p:txBody>
      </p:sp>
      <p:sp>
        <p:nvSpPr>
          <p:cNvPr id="45" name="Text 39"/>
          <p:cNvSpPr/>
          <p:nvPr/>
        </p:nvSpPr>
        <p:spPr>
          <a:xfrm>
            <a:off x="581025" y="6413103"/>
            <a:ext cx="12635865"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7ECBEE"/>
                </a:solidFill>
                <a:latin typeface="Calibri" pitchFamily="34" charset="0"/>
                <a:ea typeface="Calibri" pitchFamily="34" charset="-122"/>
                <a:cs typeface="Calibri" pitchFamily="34" charset="-120"/>
              </a:rPr>
              <a:t>Every term stays recoverable, so the operator sees what moved the answer.</a:t>
            </a:r>
            <a:endParaRPr lang="en-US" sz="1200" dirty="0"/>
          </a:p>
        </p:txBody>
      </p:sp>
      <p:pic>
        <p:nvPicPr>
          <p:cNvPr id="46" name="Image 4" descr="preencoded.png"/>
          <p:cNvPicPr>
            <a:picLocks noChangeAspect="1"/>
          </p:cNvPicPr>
          <p:nvPr/>
        </p:nvPicPr>
        <p:blipFill>
          <a:blip r:embed="rId7"/>
          <a:stretch>
            <a:fillRect/>
          </a:stretch>
        </p:blipFill>
        <p:spPr>
          <a:xfrm>
            <a:off x="11229975" y="6567488"/>
            <a:ext cx="714375" cy="714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3971518"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REAL URGENCY</a:t>
            </a:r>
            <a:endParaRPr lang="en-US" sz="3225" dirty="0"/>
          </a:p>
        </p:txBody>
      </p:sp>
      <p:sp>
        <p:nvSpPr>
          <p:cNvPr id="4" name="Text 2"/>
          <p:cNvSpPr/>
          <p:nvPr/>
        </p:nvSpPr>
        <p:spPr>
          <a:xfrm>
            <a:off x="352425" y="666750"/>
            <a:ext cx="4032091"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Non-compensatory aggregation score</a:t>
            </a:r>
            <a:endParaRPr lang="en-US" sz="1725" dirty="0"/>
          </a:p>
        </p:txBody>
      </p:sp>
      <p:sp>
        <p:nvSpPr>
          <p:cNvPr id="5" name="Shape 3"/>
          <p:cNvSpPr/>
          <p:nvPr/>
        </p:nvSpPr>
        <p:spPr>
          <a:xfrm>
            <a:off x="352425" y="1333500"/>
            <a:ext cx="11753850" cy="677466"/>
          </a:xfrm>
          <a:prstGeom prst="rect">
            <a:avLst/>
          </a:prstGeom>
          <a:solidFill>
            <a:srgbClr val="F4F4F6"/>
          </a:solidFill>
          <a:ln/>
        </p:spPr>
        <p:txBody>
          <a:bodyPr/>
          <a:lstStyle/>
          <a:p>
            <a:endParaRPr lang="fr-FR"/>
          </a:p>
        </p:txBody>
      </p:sp>
      <p:sp>
        <p:nvSpPr>
          <p:cNvPr id="6" name="Text 4"/>
          <p:cNvSpPr/>
          <p:nvPr/>
        </p:nvSpPr>
        <p:spPr>
          <a:xfrm>
            <a:off x="581025" y="1541066"/>
            <a:ext cx="6773486"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A node is in trouble if </a:t>
            </a:r>
            <a:r>
              <a:rPr lang="en-US" sz="1425" b="1" dirty="0">
                <a:solidFill>
                  <a:srgbClr val="063C67"/>
                </a:solidFill>
                <a:latin typeface="Calibri" pitchFamily="34" charset="0"/>
                <a:ea typeface="Calibri" pitchFamily="34" charset="-122"/>
                <a:cs typeface="Calibri" pitchFamily="34" charset="-120"/>
              </a:rPr>
              <a:t>any one </a:t>
            </a:r>
            <a:r>
              <a:rPr lang="en-US" sz="1425" dirty="0">
                <a:solidFill>
                  <a:srgbClr val="063C67"/>
                </a:solidFill>
                <a:latin typeface="Calibri" pitchFamily="34" charset="0"/>
                <a:ea typeface="Calibri" pitchFamily="34" charset="-122"/>
                <a:cs typeface="Calibri" pitchFamily="34" charset="-120"/>
              </a:rPr>
              <a:t>block fires. A healthy block cannot offset a failed one.</a:t>
            </a:r>
            <a:endParaRPr lang="en-US" sz="1425" dirty="0"/>
          </a:p>
        </p:txBody>
      </p:sp>
      <p:sp>
        <p:nvSpPr>
          <p:cNvPr id="7" name="Text 5"/>
          <p:cNvSpPr/>
          <p:nvPr/>
        </p:nvSpPr>
        <p:spPr>
          <a:xfrm>
            <a:off x="7005439" y="1466850"/>
            <a:ext cx="2467471" cy="448866"/>
          </a:xfrm>
          <a:prstGeom prst="rect">
            <a:avLst/>
          </a:prstGeom>
          <a:noFill/>
          <a:ln/>
        </p:spPr>
        <p:txBody>
          <a:bodyPr wrap="none" lIns="25400" tIns="25400" rIns="25400" bIns="25400" rtlCol="0" anchor="t">
            <a:normAutofit/>
          </a:bodyPr>
          <a:lstStyle/>
          <a:p>
            <a:pPr marL="0" indent="0" algn="l">
              <a:lnSpc>
                <a:spcPct val="127317"/>
              </a:lnSpc>
              <a:buNone/>
            </a:pPr>
            <a:r>
              <a:rPr lang="en-US" sz="1800" i="1" dirty="0">
                <a:solidFill>
                  <a:srgbClr val="063C67"/>
                </a:solidFill>
                <a:latin typeface="Georgia" pitchFamily="34" charset="0"/>
                <a:ea typeface="Georgia" pitchFamily="34" charset="-122"/>
                <a:cs typeface="Georgia" pitchFamily="34" charset="-120"/>
              </a:rPr>
              <a:t>U</a:t>
            </a:r>
            <a:r>
              <a:rPr lang="en-US" sz="1500" i="1" baseline="-40000" dirty="0">
                <a:solidFill>
                  <a:srgbClr val="063C67"/>
                </a:solidFill>
                <a:latin typeface="Georgia" pitchFamily="34" charset="0"/>
                <a:ea typeface="Georgia" pitchFamily="34" charset="-122"/>
                <a:cs typeface="Georgia" pitchFamily="34" charset="-120"/>
              </a:rPr>
              <a:t>r </a:t>
            </a:r>
            <a:r>
              <a:rPr lang="en-US" sz="1800" i="1" dirty="0">
                <a:solidFill>
                  <a:srgbClr val="063C67"/>
                </a:solidFill>
                <a:latin typeface="Georgia" pitchFamily="34" charset="0"/>
                <a:ea typeface="Georgia" pitchFamily="34" charset="-122"/>
                <a:cs typeface="Georgia" pitchFamily="34" charset="-120"/>
              </a:rPr>
              <a:t>= 1 − ∏</a:t>
            </a:r>
            <a:r>
              <a:rPr lang="en-US" sz="1500" i="1" baseline="-40000" dirty="0">
                <a:solidFill>
                  <a:srgbClr val="063C67"/>
                </a:solidFill>
                <a:latin typeface="Georgia" pitchFamily="34" charset="0"/>
                <a:ea typeface="Georgia" pitchFamily="34" charset="-122"/>
                <a:cs typeface="Georgia" pitchFamily="34" charset="-120"/>
              </a:rPr>
              <a:t>m </a:t>
            </a:r>
            <a:r>
              <a:rPr lang="en-US" sz="1800" i="1" dirty="0">
                <a:solidFill>
                  <a:srgbClr val="063C67"/>
                </a:solidFill>
                <a:latin typeface="Georgia" pitchFamily="34" charset="0"/>
                <a:ea typeface="Georgia" pitchFamily="34" charset="-122"/>
                <a:cs typeface="Georgia" pitchFamily="34" charset="-120"/>
              </a:rPr>
              <a:t>(1 − u</a:t>
            </a:r>
            <a:r>
              <a:rPr lang="en-US" sz="1500" i="1" baseline="-40000" dirty="0">
                <a:solidFill>
                  <a:srgbClr val="063C67"/>
                </a:solidFill>
                <a:latin typeface="Georgia" pitchFamily="34" charset="0"/>
                <a:ea typeface="Georgia" pitchFamily="34" charset="-122"/>
                <a:cs typeface="Georgia" pitchFamily="34" charset="-120"/>
              </a:rPr>
              <a:t>m</a:t>
            </a:r>
            <a:r>
              <a:rPr lang="en-US" sz="1800" i="1" dirty="0">
                <a:solidFill>
                  <a:srgbClr val="063C67"/>
                </a:solidFill>
                <a:latin typeface="Georgia" pitchFamily="34" charset="0"/>
                <a:ea typeface="Georgia" pitchFamily="34" charset="-122"/>
                <a:cs typeface="Georgia" pitchFamily="34" charset="-120"/>
              </a:rPr>
              <a:t>)</a:t>
            </a:r>
            <a:r>
              <a:rPr lang="en-US" sz="1500" i="1" baseline="30000" dirty="0">
                <a:solidFill>
                  <a:srgbClr val="063C67"/>
                </a:solidFill>
                <a:latin typeface="Georgia" pitchFamily="34" charset="0"/>
                <a:ea typeface="Georgia" pitchFamily="34" charset="-122"/>
                <a:cs typeface="Georgia" pitchFamily="34" charset="-120"/>
              </a:rPr>
              <a:t>ω</a:t>
            </a:r>
            <a:r>
              <a:rPr lang="en-US" sz="1250" i="1" baseline="-40000" dirty="0">
                <a:solidFill>
                  <a:srgbClr val="063C67"/>
                </a:solidFill>
                <a:latin typeface="Georgia" pitchFamily="34" charset="0"/>
                <a:ea typeface="Georgia" pitchFamily="34" charset="-122"/>
                <a:cs typeface="Georgia" pitchFamily="34" charset="-120"/>
              </a:rPr>
              <a:t>m</a:t>
            </a:r>
            <a:endParaRPr lang="en-US" sz="1800" dirty="0"/>
          </a:p>
        </p:txBody>
      </p:sp>
      <p:sp>
        <p:nvSpPr>
          <p:cNvPr id="8" name="Text 6"/>
          <p:cNvSpPr/>
          <p:nvPr/>
        </p:nvSpPr>
        <p:spPr>
          <a:xfrm>
            <a:off x="352425" y="2133600"/>
            <a:ext cx="368808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043962"/>
                </a:solidFill>
                <a:latin typeface="Arial Black" pitchFamily="34" charset="0"/>
                <a:ea typeface="Arial Black" pitchFamily="34" charset="-122"/>
                <a:cs typeface="Arial Black" pitchFamily="34" charset="-120"/>
              </a:rPr>
              <a:t>NODE A</a:t>
            </a:r>
            <a:endParaRPr lang="en-US" sz="1800" dirty="0"/>
          </a:p>
        </p:txBody>
      </p:sp>
      <p:sp>
        <p:nvSpPr>
          <p:cNvPr id="9" name="Text 7"/>
          <p:cNvSpPr/>
          <p:nvPr/>
        </p:nvSpPr>
        <p:spPr>
          <a:xfrm>
            <a:off x="352425" y="2464991"/>
            <a:ext cx="368808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858591"/>
                </a:solidFill>
                <a:latin typeface="Calibri" pitchFamily="34" charset="0"/>
                <a:ea typeface="Calibri" pitchFamily="34" charset="-122"/>
                <a:cs typeface="Calibri" pitchFamily="34" charset="-120"/>
              </a:rPr>
              <a:t>one block has failed</a:t>
            </a:r>
            <a:endParaRPr lang="en-US" sz="1350" dirty="0"/>
          </a:p>
        </p:txBody>
      </p:sp>
      <p:sp>
        <p:nvSpPr>
          <p:cNvPr id="10" name="Text 8"/>
          <p:cNvSpPr/>
          <p:nvPr/>
        </p:nvSpPr>
        <p:spPr>
          <a:xfrm>
            <a:off x="352425" y="2846884"/>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time</a:t>
            </a:r>
            <a:endParaRPr lang="en-US" sz="1275" dirty="0"/>
          </a:p>
        </p:txBody>
      </p:sp>
      <p:sp>
        <p:nvSpPr>
          <p:cNvPr id="11" name="Shape 9"/>
          <p:cNvSpPr/>
          <p:nvPr/>
        </p:nvSpPr>
        <p:spPr>
          <a:xfrm>
            <a:off x="1400175" y="2872185"/>
            <a:ext cx="1790700" cy="184150"/>
          </a:xfrm>
          <a:prstGeom prst="rect">
            <a:avLst/>
          </a:prstGeom>
          <a:ln w="6350">
            <a:solidFill>
              <a:srgbClr val="C0C0C8"/>
            </a:solidFill>
            <a:prstDash val="solid"/>
          </a:ln>
        </p:spPr>
        <p:txBody>
          <a:bodyPr/>
          <a:lstStyle/>
          <a:p>
            <a:endParaRPr lang="fr-FR"/>
          </a:p>
        </p:txBody>
      </p:sp>
      <p:sp>
        <p:nvSpPr>
          <p:cNvPr id="12" name="Shape 10"/>
          <p:cNvSpPr/>
          <p:nvPr/>
        </p:nvSpPr>
        <p:spPr>
          <a:xfrm>
            <a:off x="1406525" y="2878534"/>
            <a:ext cx="88900" cy="171450"/>
          </a:xfrm>
          <a:prstGeom prst="rect">
            <a:avLst/>
          </a:prstGeom>
          <a:solidFill>
            <a:srgbClr val="1D93C9"/>
          </a:solidFill>
          <a:ln/>
        </p:spPr>
        <p:txBody>
          <a:bodyPr/>
          <a:lstStyle/>
          <a:p>
            <a:endParaRPr lang="fr-FR"/>
          </a:p>
        </p:txBody>
      </p:sp>
      <p:sp>
        <p:nvSpPr>
          <p:cNvPr id="13" name="Text 11"/>
          <p:cNvSpPr/>
          <p:nvPr/>
        </p:nvSpPr>
        <p:spPr>
          <a:xfrm>
            <a:off x="3209925" y="2846884"/>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14" name="Text 12"/>
          <p:cNvSpPr/>
          <p:nvPr/>
        </p:nvSpPr>
        <p:spPr>
          <a:xfrm>
            <a:off x="352425" y="3167360"/>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capacity</a:t>
            </a:r>
            <a:endParaRPr lang="en-US" sz="1275" dirty="0"/>
          </a:p>
        </p:txBody>
      </p:sp>
      <p:sp>
        <p:nvSpPr>
          <p:cNvPr id="15" name="Shape 13"/>
          <p:cNvSpPr/>
          <p:nvPr/>
        </p:nvSpPr>
        <p:spPr>
          <a:xfrm>
            <a:off x="1400175" y="3192661"/>
            <a:ext cx="1790700" cy="184150"/>
          </a:xfrm>
          <a:prstGeom prst="rect">
            <a:avLst/>
          </a:prstGeom>
          <a:ln w="6350">
            <a:solidFill>
              <a:srgbClr val="C0C0C8"/>
            </a:solidFill>
            <a:prstDash val="solid"/>
          </a:ln>
        </p:spPr>
        <p:txBody>
          <a:bodyPr/>
          <a:lstStyle/>
          <a:p>
            <a:endParaRPr lang="fr-FR"/>
          </a:p>
        </p:txBody>
      </p:sp>
      <p:sp>
        <p:nvSpPr>
          <p:cNvPr id="16" name="Shape 14"/>
          <p:cNvSpPr/>
          <p:nvPr/>
        </p:nvSpPr>
        <p:spPr>
          <a:xfrm>
            <a:off x="1406525" y="3199011"/>
            <a:ext cx="1600200" cy="171450"/>
          </a:xfrm>
          <a:prstGeom prst="rect">
            <a:avLst/>
          </a:prstGeom>
          <a:solidFill>
            <a:srgbClr val="FFC800"/>
          </a:solidFill>
          <a:ln/>
        </p:spPr>
        <p:txBody>
          <a:bodyPr/>
          <a:lstStyle/>
          <a:p>
            <a:endParaRPr lang="fr-FR"/>
          </a:p>
        </p:txBody>
      </p:sp>
      <p:sp>
        <p:nvSpPr>
          <p:cNvPr id="17" name="Text 15"/>
          <p:cNvSpPr/>
          <p:nvPr/>
        </p:nvSpPr>
        <p:spPr>
          <a:xfrm>
            <a:off x="3209925" y="3167360"/>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b="1" dirty="0">
                <a:solidFill>
                  <a:srgbClr val="176F98"/>
                </a:solidFill>
                <a:latin typeface="Calibri" pitchFamily="34" charset="0"/>
                <a:ea typeface="Calibri" pitchFamily="34" charset="-122"/>
                <a:cs typeface="Calibri" pitchFamily="34" charset="-120"/>
              </a:rPr>
              <a:t>0.90</a:t>
            </a:r>
            <a:endParaRPr lang="en-US" sz="1275" dirty="0"/>
          </a:p>
        </p:txBody>
      </p:sp>
      <p:sp>
        <p:nvSpPr>
          <p:cNvPr id="18" name="Text 16"/>
          <p:cNvSpPr/>
          <p:nvPr/>
        </p:nvSpPr>
        <p:spPr>
          <a:xfrm>
            <a:off x="352425" y="3487837"/>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performance</a:t>
            </a:r>
            <a:endParaRPr lang="en-US" sz="1275" dirty="0"/>
          </a:p>
        </p:txBody>
      </p:sp>
      <p:sp>
        <p:nvSpPr>
          <p:cNvPr id="19" name="Shape 17"/>
          <p:cNvSpPr/>
          <p:nvPr/>
        </p:nvSpPr>
        <p:spPr>
          <a:xfrm>
            <a:off x="1400175" y="3513138"/>
            <a:ext cx="1790700" cy="184150"/>
          </a:xfrm>
          <a:prstGeom prst="rect">
            <a:avLst/>
          </a:prstGeom>
          <a:ln w="6350">
            <a:solidFill>
              <a:srgbClr val="C0C0C8"/>
            </a:solidFill>
            <a:prstDash val="solid"/>
          </a:ln>
        </p:spPr>
        <p:txBody>
          <a:bodyPr/>
          <a:lstStyle/>
          <a:p>
            <a:endParaRPr lang="fr-FR"/>
          </a:p>
        </p:txBody>
      </p:sp>
      <p:sp>
        <p:nvSpPr>
          <p:cNvPr id="20" name="Shape 18"/>
          <p:cNvSpPr/>
          <p:nvPr/>
        </p:nvSpPr>
        <p:spPr>
          <a:xfrm>
            <a:off x="1406525" y="3519488"/>
            <a:ext cx="88900" cy="171450"/>
          </a:xfrm>
          <a:prstGeom prst="rect">
            <a:avLst/>
          </a:prstGeom>
          <a:solidFill>
            <a:srgbClr val="1D93C9"/>
          </a:solidFill>
          <a:ln/>
        </p:spPr>
        <p:txBody>
          <a:bodyPr/>
          <a:lstStyle/>
          <a:p>
            <a:endParaRPr lang="fr-FR"/>
          </a:p>
        </p:txBody>
      </p:sp>
      <p:sp>
        <p:nvSpPr>
          <p:cNvPr id="21" name="Text 19"/>
          <p:cNvSpPr/>
          <p:nvPr/>
        </p:nvSpPr>
        <p:spPr>
          <a:xfrm>
            <a:off x="3209925" y="3487837"/>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22" name="Text 20"/>
          <p:cNvSpPr/>
          <p:nvPr/>
        </p:nvSpPr>
        <p:spPr>
          <a:xfrm>
            <a:off x="352425" y="3808313"/>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risk</a:t>
            </a:r>
            <a:endParaRPr lang="en-US" sz="1275" dirty="0"/>
          </a:p>
        </p:txBody>
      </p:sp>
      <p:sp>
        <p:nvSpPr>
          <p:cNvPr id="23" name="Shape 21"/>
          <p:cNvSpPr/>
          <p:nvPr/>
        </p:nvSpPr>
        <p:spPr>
          <a:xfrm>
            <a:off x="1400175" y="3833614"/>
            <a:ext cx="1790700" cy="184150"/>
          </a:xfrm>
          <a:prstGeom prst="rect">
            <a:avLst/>
          </a:prstGeom>
          <a:ln w="6350">
            <a:solidFill>
              <a:srgbClr val="C0C0C8"/>
            </a:solidFill>
            <a:prstDash val="solid"/>
          </a:ln>
        </p:spPr>
        <p:txBody>
          <a:bodyPr/>
          <a:lstStyle/>
          <a:p>
            <a:endParaRPr lang="fr-FR"/>
          </a:p>
        </p:txBody>
      </p:sp>
      <p:sp>
        <p:nvSpPr>
          <p:cNvPr id="24" name="Shape 22"/>
          <p:cNvSpPr/>
          <p:nvPr/>
        </p:nvSpPr>
        <p:spPr>
          <a:xfrm>
            <a:off x="1406525" y="3839964"/>
            <a:ext cx="88900" cy="171450"/>
          </a:xfrm>
          <a:prstGeom prst="rect">
            <a:avLst/>
          </a:prstGeom>
          <a:solidFill>
            <a:srgbClr val="1D93C9"/>
          </a:solidFill>
          <a:ln/>
        </p:spPr>
        <p:txBody>
          <a:bodyPr/>
          <a:lstStyle/>
          <a:p>
            <a:endParaRPr lang="fr-FR"/>
          </a:p>
        </p:txBody>
      </p:sp>
      <p:sp>
        <p:nvSpPr>
          <p:cNvPr id="25" name="Text 23"/>
          <p:cNvSpPr/>
          <p:nvPr/>
        </p:nvSpPr>
        <p:spPr>
          <a:xfrm>
            <a:off x="3209925" y="3808313"/>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26" name="Text 24"/>
          <p:cNvSpPr/>
          <p:nvPr/>
        </p:nvSpPr>
        <p:spPr>
          <a:xfrm>
            <a:off x="352425" y="4128790"/>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cost</a:t>
            </a:r>
            <a:endParaRPr lang="en-US" sz="1275" dirty="0"/>
          </a:p>
        </p:txBody>
      </p:sp>
      <p:sp>
        <p:nvSpPr>
          <p:cNvPr id="27" name="Shape 25"/>
          <p:cNvSpPr/>
          <p:nvPr/>
        </p:nvSpPr>
        <p:spPr>
          <a:xfrm>
            <a:off x="1400175" y="4154091"/>
            <a:ext cx="1790700" cy="184150"/>
          </a:xfrm>
          <a:prstGeom prst="rect">
            <a:avLst/>
          </a:prstGeom>
          <a:ln w="6350">
            <a:solidFill>
              <a:srgbClr val="C0C0C8"/>
            </a:solidFill>
            <a:prstDash val="solid"/>
          </a:ln>
        </p:spPr>
        <p:txBody>
          <a:bodyPr/>
          <a:lstStyle/>
          <a:p>
            <a:endParaRPr lang="fr-FR"/>
          </a:p>
        </p:txBody>
      </p:sp>
      <p:sp>
        <p:nvSpPr>
          <p:cNvPr id="28" name="Shape 26"/>
          <p:cNvSpPr/>
          <p:nvPr/>
        </p:nvSpPr>
        <p:spPr>
          <a:xfrm>
            <a:off x="1406525" y="4160441"/>
            <a:ext cx="88900" cy="171450"/>
          </a:xfrm>
          <a:prstGeom prst="rect">
            <a:avLst/>
          </a:prstGeom>
          <a:solidFill>
            <a:srgbClr val="1D93C9"/>
          </a:solidFill>
          <a:ln/>
        </p:spPr>
        <p:txBody>
          <a:bodyPr/>
          <a:lstStyle/>
          <a:p>
            <a:endParaRPr lang="fr-FR"/>
          </a:p>
        </p:txBody>
      </p:sp>
      <p:sp>
        <p:nvSpPr>
          <p:cNvPr id="29" name="Text 27"/>
          <p:cNvSpPr/>
          <p:nvPr/>
        </p:nvSpPr>
        <p:spPr>
          <a:xfrm>
            <a:off x="3209925" y="4128790"/>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30" name="Text 28"/>
          <p:cNvSpPr/>
          <p:nvPr/>
        </p:nvSpPr>
        <p:spPr>
          <a:xfrm>
            <a:off x="352425" y="4449267"/>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carbon</a:t>
            </a:r>
            <a:endParaRPr lang="en-US" sz="1275" dirty="0"/>
          </a:p>
        </p:txBody>
      </p:sp>
      <p:sp>
        <p:nvSpPr>
          <p:cNvPr id="31" name="Shape 29"/>
          <p:cNvSpPr/>
          <p:nvPr/>
        </p:nvSpPr>
        <p:spPr>
          <a:xfrm>
            <a:off x="1400175" y="4474567"/>
            <a:ext cx="1790700" cy="184150"/>
          </a:xfrm>
          <a:prstGeom prst="rect">
            <a:avLst/>
          </a:prstGeom>
          <a:ln w="6350">
            <a:solidFill>
              <a:srgbClr val="C0C0C8"/>
            </a:solidFill>
            <a:prstDash val="solid"/>
          </a:ln>
        </p:spPr>
        <p:txBody>
          <a:bodyPr/>
          <a:lstStyle/>
          <a:p>
            <a:endParaRPr lang="fr-FR"/>
          </a:p>
        </p:txBody>
      </p:sp>
      <p:sp>
        <p:nvSpPr>
          <p:cNvPr id="32" name="Shape 30"/>
          <p:cNvSpPr/>
          <p:nvPr/>
        </p:nvSpPr>
        <p:spPr>
          <a:xfrm>
            <a:off x="1406525" y="4480917"/>
            <a:ext cx="88900" cy="171450"/>
          </a:xfrm>
          <a:prstGeom prst="rect">
            <a:avLst/>
          </a:prstGeom>
          <a:solidFill>
            <a:srgbClr val="1D93C9"/>
          </a:solidFill>
          <a:ln/>
        </p:spPr>
        <p:txBody>
          <a:bodyPr/>
          <a:lstStyle/>
          <a:p>
            <a:endParaRPr lang="fr-FR"/>
          </a:p>
        </p:txBody>
      </p:sp>
      <p:sp>
        <p:nvSpPr>
          <p:cNvPr id="33" name="Text 31"/>
          <p:cNvSpPr/>
          <p:nvPr/>
        </p:nvSpPr>
        <p:spPr>
          <a:xfrm>
            <a:off x="3209925" y="4449267"/>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34" name="Shape 32"/>
          <p:cNvSpPr/>
          <p:nvPr/>
        </p:nvSpPr>
        <p:spPr>
          <a:xfrm>
            <a:off x="352425" y="4855468"/>
            <a:ext cx="3352800" cy="477143"/>
          </a:xfrm>
          <a:prstGeom prst="rect">
            <a:avLst/>
          </a:prstGeom>
          <a:solidFill>
            <a:srgbClr val="E9E9ED"/>
          </a:solidFill>
          <a:ln/>
        </p:spPr>
        <p:txBody>
          <a:bodyPr/>
          <a:lstStyle/>
          <a:p>
            <a:endParaRPr lang="fr-FR"/>
          </a:p>
        </p:txBody>
      </p:sp>
      <p:sp>
        <p:nvSpPr>
          <p:cNvPr id="35" name="Text 33"/>
          <p:cNvSpPr/>
          <p:nvPr/>
        </p:nvSpPr>
        <p:spPr>
          <a:xfrm>
            <a:off x="495300" y="4969768"/>
            <a:ext cx="61952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average</a:t>
            </a:r>
            <a:endParaRPr lang="en-US" sz="1350" dirty="0"/>
          </a:p>
        </p:txBody>
      </p:sp>
      <p:sp>
        <p:nvSpPr>
          <p:cNvPr id="36" name="Text 34"/>
          <p:cNvSpPr/>
          <p:nvPr/>
        </p:nvSpPr>
        <p:spPr>
          <a:xfrm>
            <a:off x="2755999" y="4969768"/>
            <a:ext cx="882551"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0.19 </a:t>
            </a:r>
            <a:r>
              <a:rPr lang="en-US" sz="1350" dirty="0">
                <a:solidFill>
                  <a:srgbClr val="063C67"/>
                </a:solidFill>
                <a:latin typeface="Calibri" pitchFamily="34" charset="0"/>
                <a:ea typeface="Calibri" pitchFamily="34" charset="-122"/>
                <a:cs typeface="Calibri" pitchFamily="34" charset="-120"/>
              </a:rPr>
              <a:t>→ 2nd</a:t>
            </a:r>
            <a:endParaRPr lang="en-US" sz="1350" dirty="0"/>
          </a:p>
        </p:txBody>
      </p:sp>
      <p:sp>
        <p:nvSpPr>
          <p:cNvPr id="37" name="Shape 35"/>
          <p:cNvSpPr/>
          <p:nvPr/>
        </p:nvSpPr>
        <p:spPr>
          <a:xfrm>
            <a:off x="352425" y="5418336"/>
            <a:ext cx="3352800" cy="477143"/>
          </a:xfrm>
          <a:prstGeom prst="rect">
            <a:avLst/>
          </a:prstGeom>
          <a:solidFill>
            <a:srgbClr val="FFDA65"/>
          </a:solidFill>
          <a:ln/>
        </p:spPr>
        <p:txBody>
          <a:bodyPr/>
          <a:lstStyle/>
          <a:p>
            <a:endParaRPr lang="fr-FR"/>
          </a:p>
        </p:txBody>
      </p:sp>
      <p:sp>
        <p:nvSpPr>
          <p:cNvPr id="38" name="Text 36"/>
          <p:cNvSpPr/>
          <p:nvPr/>
        </p:nvSpPr>
        <p:spPr>
          <a:xfrm>
            <a:off x="495300" y="5532636"/>
            <a:ext cx="1172567"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probabilistic OR</a:t>
            </a:r>
            <a:endParaRPr lang="en-US" sz="1350" dirty="0"/>
          </a:p>
        </p:txBody>
      </p:sp>
      <p:sp>
        <p:nvSpPr>
          <p:cNvPr id="39" name="Text 37"/>
          <p:cNvSpPr/>
          <p:nvPr/>
        </p:nvSpPr>
        <p:spPr>
          <a:xfrm>
            <a:off x="2810272" y="5532636"/>
            <a:ext cx="828278"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0.92 </a:t>
            </a:r>
            <a:r>
              <a:rPr lang="en-US" sz="1350" dirty="0">
                <a:solidFill>
                  <a:srgbClr val="063C67"/>
                </a:solidFill>
                <a:latin typeface="Calibri" pitchFamily="34" charset="0"/>
                <a:ea typeface="Calibri" pitchFamily="34" charset="-122"/>
                <a:cs typeface="Calibri" pitchFamily="34" charset="-120"/>
              </a:rPr>
              <a:t>→ </a:t>
            </a:r>
            <a:r>
              <a:rPr lang="en-US" sz="1350" b="1" dirty="0">
                <a:solidFill>
                  <a:srgbClr val="063C67"/>
                </a:solidFill>
                <a:latin typeface="Calibri" pitchFamily="34" charset="0"/>
                <a:ea typeface="Calibri" pitchFamily="34" charset="-122"/>
                <a:cs typeface="Calibri" pitchFamily="34" charset="-120"/>
              </a:rPr>
              <a:t>1st</a:t>
            </a:r>
            <a:endParaRPr lang="en-US" sz="1350" dirty="0"/>
          </a:p>
        </p:txBody>
      </p:sp>
      <p:sp>
        <p:nvSpPr>
          <p:cNvPr id="40" name="Text 38"/>
          <p:cNvSpPr/>
          <p:nvPr/>
        </p:nvSpPr>
        <p:spPr>
          <a:xfrm>
            <a:off x="4162425" y="2133600"/>
            <a:ext cx="368808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043962"/>
                </a:solidFill>
                <a:latin typeface="Arial Black" pitchFamily="34" charset="0"/>
                <a:ea typeface="Arial Black" pitchFamily="34" charset="-122"/>
                <a:cs typeface="Arial Black" pitchFamily="34" charset="-120"/>
              </a:rPr>
              <a:t>NODE B</a:t>
            </a:r>
            <a:endParaRPr lang="en-US" sz="1800" dirty="0"/>
          </a:p>
        </p:txBody>
      </p:sp>
      <p:sp>
        <p:nvSpPr>
          <p:cNvPr id="41" name="Text 39"/>
          <p:cNvSpPr/>
          <p:nvPr/>
        </p:nvSpPr>
        <p:spPr>
          <a:xfrm>
            <a:off x="4162425" y="2464991"/>
            <a:ext cx="368808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858591"/>
                </a:solidFill>
                <a:latin typeface="Calibri" pitchFamily="34" charset="0"/>
                <a:ea typeface="Calibri" pitchFamily="34" charset="-122"/>
                <a:cs typeface="Calibri" pitchFamily="34" charset="-120"/>
              </a:rPr>
              <a:t>nothing has failed</a:t>
            </a:r>
            <a:endParaRPr lang="en-US" sz="1350" dirty="0"/>
          </a:p>
        </p:txBody>
      </p:sp>
      <p:sp>
        <p:nvSpPr>
          <p:cNvPr id="42" name="Text 40"/>
          <p:cNvSpPr/>
          <p:nvPr/>
        </p:nvSpPr>
        <p:spPr>
          <a:xfrm>
            <a:off x="4162425" y="2846884"/>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time</a:t>
            </a:r>
            <a:endParaRPr lang="en-US" sz="1275" dirty="0"/>
          </a:p>
        </p:txBody>
      </p:sp>
      <p:sp>
        <p:nvSpPr>
          <p:cNvPr id="43" name="Shape 41"/>
          <p:cNvSpPr/>
          <p:nvPr/>
        </p:nvSpPr>
        <p:spPr>
          <a:xfrm>
            <a:off x="5210175" y="2872185"/>
            <a:ext cx="1790700" cy="184150"/>
          </a:xfrm>
          <a:prstGeom prst="rect">
            <a:avLst/>
          </a:prstGeom>
          <a:ln w="6350">
            <a:solidFill>
              <a:srgbClr val="C0C0C8"/>
            </a:solidFill>
            <a:prstDash val="solid"/>
          </a:ln>
        </p:spPr>
        <p:txBody>
          <a:bodyPr/>
          <a:lstStyle/>
          <a:p>
            <a:endParaRPr lang="fr-FR"/>
          </a:p>
        </p:txBody>
      </p:sp>
      <p:sp>
        <p:nvSpPr>
          <p:cNvPr id="44" name="Shape 42"/>
          <p:cNvSpPr/>
          <p:nvPr/>
        </p:nvSpPr>
        <p:spPr>
          <a:xfrm>
            <a:off x="5216525" y="2878534"/>
            <a:ext cx="355600" cy="171450"/>
          </a:xfrm>
          <a:prstGeom prst="rect">
            <a:avLst/>
          </a:prstGeom>
          <a:solidFill>
            <a:srgbClr val="7ECBEE"/>
          </a:solidFill>
          <a:ln/>
        </p:spPr>
        <p:txBody>
          <a:bodyPr/>
          <a:lstStyle/>
          <a:p>
            <a:endParaRPr lang="fr-FR"/>
          </a:p>
        </p:txBody>
      </p:sp>
      <p:sp>
        <p:nvSpPr>
          <p:cNvPr id="45" name="Text 43"/>
          <p:cNvSpPr/>
          <p:nvPr/>
        </p:nvSpPr>
        <p:spPr>
          <a:xfrm>
            <a:off x="7019925" y="2846884"/>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46" name="Text 44"/>
          <p:cNvSpPr/>
          <p:nvPr/>
        </p:nvSpPr>
        <p:spPr>
          <a:xfrm>
            <a:off x="4162425" y="3167360"/>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capacity</a:t>
            </a:r>
            <a:endParaRPr lang="en-US" sz="1275" dirty="0"/>
          </a:p>
        </p:txBody>
      </p:sp>
      <p:sp>
        <p:nvSpPr>
          <p:cNvPr id="47" name="Shape 45"/>
          <p:cNvSpPr/>
          <p:nvPr/>
        </p:nvSpPr>
        <p:spPr>
          <a:xfrm>
            <a:off x="5210175" y="3192661"/>
            <a:ext cx="1790700" cy="184150"/>
          </a:xfrm>
          <a:prstGeom prst="rect">
            <a:avLst/>
          </a:prstGeom>
          <a:ln w="6350">
            <a:solidFill>
              <a:srgbClr val="C0C0C8"/>
            </a:solidFill>
            <a:prstDash val="solid"/>
          </a:ln>
        </p:spPr>
        <p:txBody>
          <a:bodyPr/>
          <a:lstStyle/>
          <a:p>
            <a:endParaRPr lang="fr-FR"/>
          </a:p>
        </p:txBody>
      </p:sp>
      <p:sp>
        <p:nvSpPr>
          <p:cNvPr id="48" name="Shape 46"/>
          <p:cNvSpPr/>
          <p:nvPr/>
        </p:nvSpPr>
        <p:spPr>
          <a:xfrm>
            <a:off x="5216525" y="3199011"/>
            <a:ext cx="355600" cy="171450"/>
          </a:xfrm>
          <a:prstGeom prst="rect">
            <a:avLst/>
          </a:prstGeom>
          <a:solidFill>
            <a:srgbClr val="7ECBEE"/>
          </a:solidFill>
          <a:ln/>
        </p:spPr>
        <p:txBody>
          <a:bodyPr/>
          <a:lstStyle/>
          <a:p>
            <a:endParaRPr lang="fr-FR"/>
          </a:p>
        </p:txBody>
      </p:sp>
      <p:sp>
        <p:nvSpPr>
          <p:cNvPr id="49" name="Text 47"/>
          <p:cNvSpPr/>
          <p:nvPr/>
        </p:nvSpPr>
        <p:spPr>
          <a:xfrm>
            <a:off x="7019925" y="3167360"/>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50" name="Text 48"/>
          <p:cNvSpPr/>
          <p:nvPr/>
        </p:nvSpPr>
        <p:spPr>
          <a:xfrm>
            <a:off x="4162425" y="3487837"/>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performance</a:t>
            </a:r>
            <a:endParaRPr lang="en-US" sz="1275" dirty="0"/>
          </a:p>
        </p:txBody>
      </p:sp>
      <p:sp>
        <p:nvSpPr>
          <p:cNvPr id="51" name="Shape 49"/>
          <p:cNvSpPr/>
          <p:nvPr/>
        </p:nvSpPr>
        <p:spPr>
          <a:xfrm>
            <a:off x="5210175" y="3513138"/>
            <a:ext cx="1790700" cy="184150"/>
          </a:xfrm>
          <a:prstGeom prst="rect">
            <a:avLst/>
          </a:prstGeom>
          <a:ln w="6350">
            <a:solidFill>
              <a:srgbClr val="C0C0C8"/>
            </a:solidFill>
            <a:prstDash val="solid"/>
          </a:ln>
        </p:spPr>
        <p:txBody>
          <a:bodyPr/>
          <a:lstStyle/>
          <a:p>
            <a:endParaRPr lang="fr-FR"/>
          </a:p>
        </p:txBody>
      </p:sp>
      <p:sp>
        <p:nvSpPr>
          <p:cNvPr id="52" name="Shape 50"/>
          <p:cNvSpPr/>
          <p:nvPr/>
        </p:nvSpPr>
        <p:spPr>
          <a:xfrm>
            <a:off x="5216525" y="3519488"/>
            <a:ext cx="355600" cy="171450"/>
          </a:xfrm>
          <a:prstGeom prst="rect">
            <a:avLst/>
          </a:prstGeom>
          <a:solidFill>
            <a:srgbClr val="7ECBEE"/>
          </a:solidFill>
          <a:ln/>
        </p:spPr>
        <p:txBody>
          <a:bodyPr/>
          <a:lstStyle/>
          <a:p>
            <a:endParaRPr lang="fr-FR"/>
          </a:p>
        </p:txBody>
      </p:sp>
      <p:sp>
        <p:nvSpPr>
          <p:cNvPr id="53" name="Text 51"/>
          <p:cNvSpPr/>
          <p:nvPr/>
        </p:nvSpPr>
        <p:spPr>
          <a:xfrm>
            <a:off x="7019925" y="3487837"/>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54" name="Text 52"/>
          <p:cNvSpPr/>
          <p:nvPr/>
        </p:nvSpPr>
        <p:spPr>
          <a:xfrm>
            <a:off x="4162425" y="3808313"/>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risk</a:t>
            </a:r>
            <a:endParaRPr lang="en-US" sz="1275" dirty="0"/>
          </a:p>
        </p:txBody>
      </p:sp>
      <p:sp>
        <p:nvSpPr>
          <p:cNvPr id="55" name="Shape 53"/>
          <p:cNvSpPr/>
          <p:nvPr/>
        </p:nvSpPr>
        <p:spPr>
          <a:xfrm>
            <a:off x="5210175" y="3833614"/>
            <a:ext cx="1790700" cy="184150"/>
          </a:xfrm>
          <a:prstGeom prst="rect">
            <a:avLst/>
          </a:prstGeom>
          <a:ln w="6350">
            <a:solidFill>
              <a:srgbClr val="C0C0C8"/>
            </a:solidFill>
            <a:prstDash val="solid"/>
          </a:ln>
        </p:spPr>
        <p:txBody>
          <a:bodyPr/>
          <a:lstStyle/>
          <a:p>
            <a:endParaRPr lang="fr-FR"/>
          </a:p>
        </p:txBody>
      </p:sp>
      <p:sp>
        <p:nvSpPr>
          <p:cNvPr id="56" name="Shape 54"/>
          <p:cNvSpPr/>
          <p:nvPr/>
        </p:nvSpPr>
        <p:spPr>
          <a:xfrm>
            <a:off x="5216525" y="3839964"/>
            <a:ext cx="355600" cy="171450"/>
          </a:xfrm>
          <a:prstGeom prst="rect">
            <a:avLst/>
          </a:prstGeom>
          <a:solidFill>
            <a:srgbClr val="7ECBEE"/>
          </a:solidFill>
          <a:ln/>
        </p:spPr>
        <p:txBody>
          <a:bodyPr/>
          <a:lstStyle/>
          <a:p>
            <a:endParaRPr lang="fr-FR"/>
          </a:p>
        </p:txBody>
      </p:sp>
      <p:sp>
        <p:nvSpPr>
          <p:cNvPr id="57" name="Text 55"/>
          <p:cNvSpPr/>
          <p:nvPr/>
        </p:nvSpPr>
        <p:spPr>
          <a:xfrm>
            <a:off x="7019925" y="3808313"/>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58" name="Text 56"/>
          <p:cNvSpPr/>
          <p:nvPr/>
        </p:nvSpPr>
        <p:spPr>
          <a:xfrm>
            <a:off x="4162425" y="4128790"/>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cost</a:t>
            </a:r>
            <a:endParaRPr lang="en-US" sz="1275" dirty="0"/>
          </a:p>
        </p:txBody>
      </p:sp>
      <p:sp>
        <p:nvSpPr>
          <p:cNvPr id="59" name="Shape 57"/>
          <p:cNvSpPr/>
          <p:nvPr/>
        </p:nvSpPr>
        <p:spPr>
          <a:xfrm>
            <a:off x="5210175" y="4154091"/>
            <a:ext cx="1790700" cy="184150"/>
          </a:xfrm>
          <a:prstGeom prst="rect">
            <a:avLst/>
          </a:prstGeom>
          <a:ln w="6350">
            <a:solidFill>
              <a:srgbClr val="C0C0C8"/>
            </a:solidFill>
            <a:prstDash val="solid"/>
          </a:ln>
        </p:spPr>
        <p:txBody>
          <a:bodyPr/>
          <a:lstStyle/>
          <a:p>
            <a:endParaRPr lang="fr-FR"/>
          </a:p>
        </p:txBody>
      </p:sp>
      <p:sp>
        <p:nvSpPr>
          <p:cNvPr id="60" name="Shape 58"/>
          <p:cNvSpPr/>
          <p:nvPr/>
        </p:nvSpPr>
        <p:spPr>
          <a:xfrm>
            <a:off x="5216525" y="4160441"/>
            <a:ext cx="355600" cy="171450"/>
          </a:xfrm>
          <a:prstGeom prst="rect">
            <a:avLst/>
          </a:prstGeom>
          <a:solidFill>
            <a:srgbClr val="7ECBEE"/>
          </a:solidFill>
          <a:ln/>
        </p:spPr>
        <p:txBody>
          <a:bodyPr/>
          <a:lstStyle/>
          <a:p>
            <a:endParaRPr lang="fr-FR"/>
          </a:p>
        </p:txBody>
      </p:sp>
      <p:sp>
        <p:nvSpPr>
          <p:cNvPr id="61" name="Text 59"/>
          <p:cNvSpPr/>
          <p:nvPr/>
        </p:nvSpPr>
        <p:spPr>
          <a:xfrm>
            <a:off x="7019925" y="4128790"/>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62" name="Text 60"/>
          <p:cNvSpPr/>
          <p:nvPr/>
        </p:nvSpPr>
        <p:spPr>
          <a:xfrm>
            <a:off x="4162425" y="4449267"/>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carbon</a:t>
            </a:r>
            <a:endParaRPr lang="en-US" sz="1275" dirty="0"/>
          </a:p>
        </p:txBody>
      </p:sp>
      <p:sp>
        <p:nvSpPr>
          <p:cNvPr id="63" name="Shape 61"/>
          <p:cNvSpPr/>
          <p:nvPr/>
        </p:nvSpPr>
        <p:spPr>
          <a:xfrm>
            <a:off x="5210175" y="4474567"/>
            <a:ext cx="1790700" cy="184150"/>
          </a:xfrm>
          <a:prstGeom prst="rect">
            <a:avLst/>
          </a:prstGeom>
          <a:ln w="6350">
            <a:solidFill>
              <a:srgbClr val="C0C0C8"/>
            </a:solidFill>
            <a:prstDash val="solid"/>
          </a:ln>
        </p:spPr>
        <p:txBody>
          <a:bodyPr/>
          <a:lstStyle/>
          <a:p>
            <a:endParaRPr lang="fr-FR"/>
          </a:p>
        </p:txBody>
      </p:sp>
      <p:sp>
        <p:nvSpPr>
          <p:cNvPr id="64" name="Shape 62"/>
          <p:cNvSpPr/>
          <p:nvPr/>
        </p:nvSpPr>
        <p:spPr>
          <a:xfrm>
            <a:off x="5216525" y="4480917"/>
            <a:ext cx="355600" cy="171450"/>
          </a:xfrm>
          <a:prstGeom prst="rect">
            <a:avLst/>
          </a:prstGeom>
          <a:solidFill>
            <a:srgbClr val="7ECBEE"/>
          </a:solidFill>
          <a:ln/>
        </p:spPr>
        <p:txBody>
          <a:bodyPr/>
          <a:lstStyle/>
          <a:p>
            <a:endParaRPr lang="fr-FR"/>
          </a:p>
        </p:txBody>
      </p:sp>
      <p:sp>
        <p:nvSpPr>
          <p:cNvPr id="65" name="Text 63"/>
          <p:cNvSpPr/>
          <p:nvPr/>
        </p:nvSpPr>
        <p:spPr>
          <a:xfrm>
            <a:off x="7019925" y="4449267"/>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66" name="Shape 64"/>
          <p:cNvSpPr/>
          <p:nvPr/>
        </p:nvSpPr>
        <p:spPr>
          <a:xfrm>
            <a:off x="4162425" y="4855468"/>
            <a:ext cx="3352800" cy="477143"/>
          </a:xfrm>
          <a:prstGeom prst="rect">
            <a:avLst/>
          </a:prstGeom>
          <a:solidFill>
            <a:srgbClr val="E9E9ED"/>
          </a:solidFill>
          <a:ln/>
        </p:spPr>
        <p:txBody>
          <a:bodyPr/>
          <a:lstStyle/>
          <a:p>
            <a:endParaRPr lang="fr-FR"/>
          </a:p>
        </p:txBody>
      </p:sp>
      <p:sp>
        <p:nvSpPr>
          <p:cNvPr id="67" name="Text 65"/>
          <p:cNvSpPr/>
          <p:nvPr/>
        </p:nvSpPr>
        <p:spPr>
          <a:xfrm>
            <a:off x="4305300" y="4969768"/>
            <a:ext cx="61952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average</a:t>
            </a:r>
            <a:endParaRPr lang="en-US" sz="1350" dirty="0"/>
          </a:p>
        </p:txBody>
      </p:sp>
      <p:sp>
        <p:nvSpPr>
          <p:cNvPr id="68" name="Text 66"/>
          <p:cNvSpPr/>
          <p:nvPr/>
        </p:nvSpPr>
        <p:spPr>
          <a:xfrm>
            <a:off x="6620272" y="4969768"/>
            <a:ext cx="828278"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0.20 </a:t>
            </a:r>
            <a:r>
              <a:rPr lang="en-US" sz="1350" dirty="0">
                <a:solidFill>
                  <a:srgbClr val="063C67"/>
                </a:solidFill>
                <a:latin typeface="Calibri" pitchFamily="34" charset="0"/>
                <a:ea typeface="Calibri" pitchFamily="34" charset="-122"/>
                <a:cs typeface="Calibri" pitchFamily="34" charset="-120"/>
              </a:rPr>
              <a:t>→ </a:t>
            </a:r>
            <a:r>
              <a:rPr lang="en-US" sz="1350" b="1" dirty="0">
                <a:solidFill>
                  <a:srgbClr val="063C67"/>
                </a:solidFill>
                <a:latin typeface="Calibri" pitchFamily="34" charset="0"/>
                <a:ea typeface="Calibri" pitchFamily="34" charset="-122"/>
                <a:cs typeface="Calibri" pitchFamily="34" charset="-120"/>
              </a:rPr>
              <a:t>1st</a:t>
            </a:r>
            <a:endParaRPr lang="en-US" sz="1350" dirty="0"/>
          </a:p>
        </p:txBody>
      </p:sp>
      <p:sp>
        <p:nvSpPr>
          <p:cNvPr id="69" name="Shape 67"/>
          <p:cNvSpPr/>
          <p:nvPr/>
        </p:nvSpPr>
        <p:spPr>
          <a:xfrm>
            <a:off x="4162425" y="5418336"/>
            <a:ext cx="3352800" cy="477143"/>
          </a:xfrm>
          <a:prstGeom prst="rect">
            <a:avLst/>
          </a:prstGeom>
          <a:solidFill>
            <a:srgbClr val="F4F4F6"/>
          </a:solidFill>
          <a:ln/>
        </p:spPr>
        <p:txBody>
          <a:bodyPr/>
          <a:lstStyle/>
          <a:p>
            <a:endParaRPr lang="fr-FR"/>
          </a:p>
        </p:txBody>
      </p:sp>
      <p:sp>
        <p:nvSpPr>
          <p:cNvPr id="70" name="Text 68"/>
          <p:cNvSpPr/>
          <p:nvPr/>
        </p:nvSpPr>
        <p:spPr>
          <a:xfrm>
            <a:off x="4305300" y="5532636"/>
            <a:ext cx="1172567"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probabilistic OR</a:t>
            </a:r>
            <a:endParaRPr lang="en-US" sz="1350" dirty="0"/>
          </a:p>
        </p:txBody>
      </p:sp>
      <p:sp>
        <p:nvSpPr>
          <p:cNvPr id="71" name="Text 69"/>
          <p:cNvSpPr/>
          <p:nvPr/>
        </p:nvSpPr>
        <p:spPr>
          <a:xfrm>
            <a:off x="6565999" y="5532636"/>
            <a:ext cx="882551"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0.74 </a:t>
            </a:r>
            <a:r>
              <a:rPr lang="en-US" sz="1350" dirty="0">
                <a:solidFill>
                  <a:srgbClr val="063C67"/>
                </a:solidFill>
                <a:latin typeface="Calibri" pitchFamily="34" charset="0"/>
                <a:ea typeface="Calibri" pitchFamily="34" charset="-122"/>
                <a:cs typeface="Calibri" pitchFamily="34" charset="-120"/>
              </a:rPr>
              <a:t>→ 2nd</a:t>
            </a:r>
            <a:endParaRPr lang="en-US" sz="1350" dirty="0"/>
          </a:p>
        </p:txBody>
      </p:sp>
      <p:sp>
        <p:nvSpPr>
          <p:cNvPr id="72" name="Shape 70"/>
          <p:cNvSpPr/>
          <p:nvPr/>
        </p:nvSpPr>
        <p:spPr>
          <a:xfrm>
            <a:off x="7972425" y="2133600"/>
            <a:ext cx="3676650" cy="2324100"/>
          </a:xfrm>
          <a:prstGeom prst="rect">
            <a:avLst/>
          </a:prstGeom>
          <a:solidFill>
            <a:srgbClr val="063C67"/>
          </a:solidFill>
          <a:ln/>
        </p:spPr>
        <p:txBody>
          <a:bodyPr/>
          <a:lstStyle/>
          <a:p>
            <a:endParaRPr lang="fr-FR"/>
          </a:p>
        </p:txBody>
      </p:sp>
      <p:sp>
        <p:nvSpPr>
          <p:cNvPr id="73" name="Text 71"/>
          <p:cNvSpPr/>
          <p:nvPr/>
        </p:nvSpPr>
        <p:spPr>
          <a:xfrm>
            <a:off x="8220075" y="2362200"/>
            <a:ext cx="3291650" cy="1905000"/>
          </a:xfrm>
          <a:prstGeom prst="rect">
            <a:avLst/>
          </a:prstGeom>
          <a:noFill/>
          <a:ln/>
        </p:spPr>
        <p:txBody>
          <a:bodyPr wrap="square" lIns="25400" tIns="25400" rIns="25400" bIns="25400" rtlCol="0" anchor="t">
            <a:normAutofit/>
          </a:bodyPr>
          <a:lstStyle/>
          <a:p>
            <a:pPr marL="0" indent="0" algn="l">
              <a:lnSpc>
                <a:spcPct val="113514"/>
              </a:lnSpc>
              <a:buNone/>
            </a:pPr>
            <a:r>
              <a:rPr lang="en-US" sz="1500" dirty="0">
                <a:solidFill>
                  <a:srgbClr val="FFFFFF"/>
                </a:solidFill>
                <a:highlight>
                  <a:srgbClr val="063C67"/>
                </a:highlight>
                <a:latin typeface="Calibri" pitchFamily="34" charset="0"/>
                <a:ea typeface="Calibri" pitchFamily="34" charset="-122"/>
                <a:cs typeface="Calibri" pitchFamily="34" charset="-120"/>
              </a:rPr>
              <a:t>The average sends the coordinator to </a:t>
            </a:r>
            <a:r>
              <a:rPr lang="en-US" sz="1500" b="1" dirty="0">
                <a:solidFill>
                  <a:srgbClr val="FFFFFF"/>
                </a:solidFill>
                <a:latin typeface="Calibri" pitchFamily="34" charset="0"/>
                <a:ea typeface="Calibri" pitchFamily="34" charset="-122"/>
                <a:cs typeface="Calibri" pitchFamily="34" charset="-120"/>
              </a:rPr>
              <a:t>Node B </a:t>
            </a:r>
            <a:r>
              <a:rPr lang="en-US" sz="1500" dirty="0">
                <a:solidFill>
                  <a:srgbClr val="FFFFFF"/>
                </a:solidFill>
                <a:highlight>
                  <a:srgbClr val="063C67"/>
                </a:highlight>
                <a:latin typeface="Calibri" pitchFamily="34" charset="0"/>
                <a:ea typeface="Calibri" pitchFamily="34" charset="-122"/>
                <a:cs typeface="Calibri" pitchFamily="34" charset="-120"/>
              </a:rPr>
              <a:t>, where nothing broke. The OR sends them to </a:t>
            </a:r>
            <a:r>
              <a:rPr lang="en-US" sz="1500" b="1" dirty="0">
                <a:solidFill>
                  <a:srgbClr val="FFFFFF"/>
                </a:solidFill>
                <a:latin typeface="Calibri" pitchFamily="34" charset="0"/>
                <a:ea typeface="Calibri" pitchFamily="34" charset="-122"/>
                <a:cs typeface="Calibri" pitchFamily="34" charset="-120"/>
              </a:rPr>
              <a:t>Node A </a:t>
            </a:r>
            <a:r>
              <a:rPr lang="en-US" sz="1500" dirty="0">
                <a:solidFill>
                  <a:srgbClr val="FFFFFF"/>
                </a:solidFill>
                <a:highlight>
                  <a:srgbClr val="063C67"/>
                </a:highlight>
                <a:latin typeface="Calibri" pitchFamily="34" charset="0"/>
                <a:ea typeface="Calibri" pitchFamily="34" charset="-122"/>
                <a:cs typeface="Calibri" pitchFamily="34" charset="-120"/>
              </a:rPr>
              <a:t>, where capacity did. </a:t>
            </a:r>
            <a:r>
              <a:rPr lang="en-US" sz="1500" b="1" dirty="0">
                <a:solidFill>
                  <a:srgbClr val="FFDA65"/>
                </a:solidFill>
                <a:latin typeface="Calibri" pitchFamily="34" charset="0"/>
                <a:ea typeface="Calibri" pitchFamily="34" charset="-122"/>
                <a:cs typeface="Calibri" pitchFamily="34" charset="-120"/>
              </a:rPr>
              <a:t>Same six numbers, opposite ranking.</a:t>
            </a:r>
            <a:endParaRPr lang="en-US" sz="1500" dirty="0"/>
          </a:p>
        </p:txBody>
      </p:sp>
      <p:sp>
        <p:nvSpPr>
          <p:cNvPr id="74" name="Text 72"/>
          <p:cNvSpPr/>
          <p:nvPr/>
        </p:nvSpPr>
        <p:spPr>
          <a:xfrm>
            <a:off x="7972425" y="4629150"/>
            <a:ext cx="4044315" cy="217587"/>
          </a:xfrm>
          <a:prstGeom prst="rect">
            <a:avLst/>
          </a:prstGeom>
          <a:noFill/>
          <a:ln/>
        </p:spPr>
        <p:txBody>
          <a:bodyPr wrap="square" lIns="25400" tIns="25400" rIns="25400" bIns="25400" rtlCol="0" anchor="t">
            <a:normAutofit lnSpcReduction="10000"/>
          </a:bodyPr>
          <a:lstStyle/>
          <a:p>
            <a:pPr marL="0" indent="0" algn="l">
              <a:lnSpc>
                <a:spcPct val="122935"/>
              </a:lnSpc>
              <a:buNone/>
            </a:pPr>
            <a:r>
              <a:rPr lang="en-US" sz="975" b="1" kern="0" spc="137" dirty="0">
                <a:solidFill>
                  <a:srgbClr val="1D93C9"/>
                </a:solidFill>
                <a:latin typeface="Arial" pitchFamily="34" charset="0"/>
                <a:ea typeface="Arial" pitchFamily="34" charset="-122"/>
                <a:cs typeface="Arial" pitchFamily="34" charset="-120"/>
              </a:rPr>
              <a:t>FOUR CAUSES · TWO CONSTRAINTS</a:t>
            </a:r>
            <a:endParaRPr lang="en-US" sz="975" dirty="0"/>
          </a:p>
        </p:txBody>
      </p:sp>
      <p:sp>
        <p:nvSpPr>
          <p:cNvPr id="75" name="Shape 73"/>
          <p:cNvSpPr/>
          <p:nvPr/>
        </p:nvSpPr>
        <p:spPr>
          <a:xfrm>
            <a:off x="7972425" y="4903887"/>
            <a:ext cx="1162050" cy="892770"/>
          </a:xfrm>
          <a:prstGeom prst="rect">
            <a:avLst/>
          </a:prstGeom>
          <a:solidFill>
            <a:srgbClr val="F4F4F6"/>
          </a:solidFill>
          <a:ln/>
        </p:spPr>
        <p:txBody>
          <a:bodyPr/>
          <a:lstStyle/>
          <a:p>
            <a:endParaRPr lang="fr-FR"/>
          </a:p>
        </p:txBody>
      </p:sp>
      <p:pic>
        <p:nvPicPr>
          <p:cNvPr id="76" name="Image 0" descr="preencoded.png"/>
          <p:cNvPicPr>
            <a:picLocks noChangeAspect="1"/>
          </p:cNvPicPr>
          <p:nvPr/>
        </p:nvPicPr>
        <p:blipFill>
          <a:blip r:embed="rId3"/>
          <a:stretch>
            <a:fillRect/>
          </a:stretch>
        </p:blipFill>
        <p:spPr>
          <a:xfrm>
            <a:off x="8416925" y="5018187"/>
            <a:ext cx="273050" cy="323850"/>
          </a:xfrm>
          <a:prstGeom prst="rect">
            <a:avLst/>
          </a:prstGeom>
        </p:spPr>
      </p:pic>
      <p:sp>
        <p:nvSpPr>
          <p:cNvPr id="77" name="Text 74"/>
          <p:cNvSpPr/>
          <p:nvPr/>
        </p:nvSpPr>
        <p:spPr>
          <a:xfrm>
            <a:off x="7991475" y="5461397"/>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Time</a:t>
            </a:r>
            <a:endParaRPr lang="en-US" sz="1200" dirty="0"/>
          </a:p>
        </p:txBody>
      </p:sp>
      <p:sp>
        <p:nvSpPr>
          <p:cNvPr id="78" name="Shape 75"/>
          <p:cNvSpPr/>
          <p:nvPr/>
        </p:nvSpPr>
        <p:spPr>
          <a:xfrm>
            <a:off x="9229725" y="4903887"/>
            <a:ext cx="1162050" cy="892770"/>
          </a:xfrm>
          <a:prstGeom prst="rect">
            <a:avLst/>
          </a:prstGeom>
          <a:solidFill>
            <a:srgbClr val="F4F4F6"/>
          </a:solidFill>
          <a:ln/>
        </p:spPr>
        <p:txBody>
          <a:bodyPr/>
          <a:lstStyle/>
          <a:p>
            <a:endParaRPr lang="fr-FR"/>
          </a:p>
        </p:txBody>
      </p:sp>
      <p:pic>
        <p:nvPicPr>
          <p:cNvPr id="79" name="Image 1" descr="preencoded.png"/>
          <p:cNvPicPr>
            <a:picLocks noChangeAspect="1"/>
          </p:cNvPicPr>
          <p:nvPr/>
        </p:nvPicPr>
        <p:blipFill>
          <a:blip r:embed="rId4"/>
          <a:stretch>
            <a:fillRect/>
          </a:stretch>
        </p:blipFill>
        <p:spPr>
          <a:xfrm>
            <a:off x="9568557" y="5018187"/>
            <a:ext cx="484386" cy="323850"/>
          </a:xfrm>
          <a:prstGeom prst="rect">
            <a:avLst/>
          </a:prstGeom>
        </p:spPr>
      </p:pic>
      <p:sp>
        <p:nvSpPr>
          <p:cNvPr id="80" name="Text 76"/>
          <p:cNvSpPr/>
          <p:nvPr/>
        </p:nvSpPr>
        <p:spPr>
          <a:xfrm>
            <a:off x="9248775" y="5461397"/>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Capacity</a:t>
            </a:r>
            <a:endParaRPr lang="en-US" sz="1200" dirty="0"/>
          </a:p>
        </p:txBody>
      </p:sp>
      <p:sp>
        <p:nvSpPr>
          <p:cNvPr id="81" name="Shape 77"/>
          <p:cNvSpPr/>
          <p:nvPr/>
        </p:nvSpPr>
        <p:spPr>
          <a:xfrm>
            <a:off x="10487025" y="4903887"/>
            <a:ext cx="1162050" cy="892770"/>
          </a:xfrm>
          <a:prstGeom prst="rect">
            <a:avLst/>
          </a:prstGeom>
          <a:solidFill>
            <a:srgbClr val="F4F4F6"/>
          </a:solidFill>
          <a:ln/>
        </p:spPr>
        <p:txBody>
          <a:bodyPr/>
          <a:lstStyle/>
          <a:p>
            <a:endParaRPr lang="fr-FR"/>
          </a:p>
        </p:txBody>
      </p:sp>
      <p:pic>
        <p:nvPicPr>
          <p:cNvPr id="82" name="Image 2" descr="preencoded.png"/>
          <p:cNvPicPr>
            <a:picLocks noChangeAspect="1"/>
          </p:cNvPicPr>
          <p:nvPr/>
        </p:nvPicPr>
        <p:blipFill>
          <a:blip r:embed="rId5"/>
          <a:stretch>
            <a:fillRect/>
          </a:stretch>
        </p:blipFill>
        <p:spPr>
          <a:xfrm>
            <a:off x="10906125" y="5018187"/>
            <a:ext cx="323850" cy="323850"/>
          </a:xfrm>
          <a:prstGeom prst="rect">
            <a:avLst/>
          </a:prstGeom>
        </p:spPr>
      </p:pic>
      <p:sp>
        <p:nvSpPr>
          <p:cNvPr id="83" name="Text 78"/>
          <p:cNvSpPr/>
          <p:nvPr/>
        </p:nvSpPr>
        <p:spPr>
          <a:xfrm>
            <a:off x="10506075" y="5461397"/>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Performance</a:t>
            </a:r>
            <a:endParaRPr lang="en-US" sz="1200" dirty="0"/>
          </a:p>
        </p:txBody>
      </p:sp>
      <p:sp>
        <p:nvSpPr>
          <p:cNvPr id="84" name="Shape 79"/>
          <p:cNvSpPr/>
          <p:nvPr/>
        </p:nvSpPr>
        <p:spPr>
          <a:xfrm>
            <a:off x="7972425" y="5891907"/>
            <a:ext cx="1162050" cy="892770"/>
          </a:xfrm>
          <a:prstGeom prst="rect">
            <a:avLst/>
          </a:prstGeom>
          <a:solidFill>
            <a:srgbClr val="F4F4F6"/>
          </a:solidFill>
          <a:ln/>
        </p:spPr>
        <p:txBody>
          <a:bodyPr/>
          <a:lstStyle/>
          <a:p>
            <a:endParaRPr lang="fr-FR"/>
          </a:p>
        </p:txBody>
      </p:sp>
      <p:pic>
        <p:nvPicPr>
          <p:cNvPr id="85" name="Image 3" descr="preencoded.png"/>
          <p:cNvPicPr>
            <a:picLocks noChangeAspect="1"/>
          </p:cNvPicPr>
          <p:nvPr/>
        </p:nvPicPr>
        <p:blipFill>
          <a:blip r:embed="rId6"/>
          <a:stretch>
            <a:fillRect/>
          </a:stretch>
        </p:blipFill>
        <p:spPr>
          <a:xfrm>
            <a:off x="8391525" y="6006207"/>
            <a:ext cx="323850" cy="323850"/>
          </a:xfrm>
          <a:prstGeom prst="rect">
            <a:avLst/>
          </a:prstGeom>
        </p:spPr>
      </p:pic>
      <p:sp>
        <p:nvSpPr>
          <p:cNvPr id="86" name="Text 80"/>
          <p:cNvSpPr/>
          <p:nvPr/>
        </p:nvSpPr>
        <p:spPr>
          <a:xfrm>
            <a:off x="7991475" y="6449417"/>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Risk</a:t>
            </a:r>
            <a:endParaRPr lang="en-US" sz="1200" dirty="0"/>
          </a:p>
        </p:txBody>
      </p:sp>
      <p:sp>
        <p:nvSpPr>
          <p:cNvPr id="87" name="Shape 81"/>
          <p:cNvSpPr/>
          <p:nvPr/>
        </p:nvSpPr>
        <p:spPr>
          <a:xfrm>
            <a:off x="9229725" y="5891907"/>
            <a:ext cx="1162050" cy="892770"/>
          </a:xfrm>
          <a:prstGeom prst="rect">
            <a:avLst/>
          </a:prstGeom>
          <a:solidFill>
            <a:srgbClr val="E9E9ED"/>
          </a:solidFill>
          <a:ln/>
        </p:spPr>
        <p:txBody>
          <a:bodyPr/>
          <a:lstStyle/>
          <a:p>
            <a:endParaRPr lang="fr-FR"/>
          </a:p>
        </p:txBody>
      </p:sp>
      <p:pic>
        <p:nvPicPr>
          <p:cNvPr id="88" name="Image 4" descr="preencoded.png"/>
          <p:cNvPicPr>
            <a:picLocks noChangeAspect="1"/>
          </p:cNvPicPr>
          <p:nvPr/>
        </p:nvPicPr>
        <p:blipFill>
          <a:blip r:embed="rId7"/>
          <a:stretch>
            <a:fillRect/>
          </a:stretch>
        </p:blipFill>
        <p:spPr>
          <a:xfrm>
            <a:off x="9648825" y="6006207"/>
            <a:ext cx="323850" cy="323850"/>
          </a:xfrm>
          <a:prstGeom prst="rect">
            <a:avLst/>
          </a:prstGeom>
        </p:spPr>
      </p:pic>
      <p:sp>
        <p:nvSpPr>
          <p:cNvPr id="89" name="Text 82"/>
          <p:cNvSpPr/>
          <p:nvPr/>
        </p:nvSpPr>
        <p:spPr>
          <a:xfrm>
            <a:off x="9248775" y="6449417"/>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Cost</a:t>
            </a:r>
            <a:endParaRPr lang="en-US" sz="1200" dirty="0"/>
          </a:p>
        </p:txBody>
      </p:sp>
      <p:sp>
        <p:nvSpPr>
          <p:cNvPr id="90" name="Shape 83"/>
          <p:cNvSpPr/>
          <p:nvPr/>
        </p:nvSpPr>
        <p:spPr>
          <a:xfrm>
            <a:off x="10487025" y="5891907"/>
            <a:ext cx="1162050" cy="892770"/>
          </a:xfrm>
          <a:prstGeom prst="rect">
            <a:avLst/>
          </a:prstGeom>
          <a:solidFill>
            <a:srgbClr val="E9E9ED"/>
          </a:solidFill>
          <a:ln/>
        </p:spPr>
        <p:txBody>
          <a:bodyPr/>
          <a:lstStyle/>
          <a:p>
            <a:endParaRPr lang="fr-FR"/>
          </a:p>
        </p:txBody>
      </p:sp>
      <p:pic>
        <p:nvPicPr>
          <p:cNvPr id="91" name="Image 5" descr="preencoded.png"/>
          <p:cNvPicPr>
            <a:picLocks noChangeAspect="1"/>
          </p:cNvPicPr>
          <p:nvPr/>
        </p:nvPicPr>
        <p:blipFill>
          <a:blip r:embed="rId8"/>
          <a:stretch>
            <a:fillRect/>
          </a:stretch>
        </p:blipFill>
        <p:spPr>
          <a:xfrm>
            <a:off x="10906125" y="6006207"/>
            <a:ext cx="323850" cy="323850"/>
          </a:xfrm>
          <a:prstGeom prst="rect">
            <a:avLst/>
          </a:prstGeom>
        </p:spPr>
      </p:pic>
      <p:sp>
        <p:nvSpPr>
          <p:cNvPr id="92" name="Text 84"/>
          <p:cNvSpPr/>
          <p:nvPr/>
        </p:nvSpPr>
        <p:spPr>
          <a:xfrm>
            <a:off x="10506075" y="6449417"/>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Carbon</a:t>
            </a:r>
            <a:endParaRPr lang="en-US" sz="1200" dirty="0"/>
          </a:p>
        </p:txBody>
      </p:sp>
      <p:pic>
        <p:nvPicPr>
          <p:cNvPr id="94" name="Image 6" descr="preencoded.png"/>
          <p:cNvPicPr>
            <a:picLocks noChangeAspect="1"/>
          </p:cNvPicPr>
          <p:nvPr/>
        </p:nvPicPr>
        <p:blipFill>
          <a:blip r:embed="rId9"/>
          <a:stretch>
            <a:fillRect/>
          </a:stretch>
        </p:blipFill>
        <p:spPr>
          <a:xfrm>
            <a:off x="11229975" y="6567488"/>
            <a:ext cx="714375" cy="714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5348109"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DECLARED URGENCY</a:t>
            </a:r>
            <a:endParaRPr lang="en-US" sz="3225" dirty="0"/>
          </a:p>
        </p:txBody>
      </p:sp>
      <p:sp>
        <p:nvSpPr>
          <p:cNvPr id="4" name="Text 2"/>
          <p:cNvSpPr/>
          <p:nvPr/>
        </p:nvSpPr>
        <p:spPr>
          <a:xfrm>
            <a:off x="352425" y="666750"/>
            <a:ext cx="8327867"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Elicited from the operator, gated on consistency, then propagated downstream</a:t>
            </a:r>
            <a:endParaRPr lang="en-US" sz="1725" dirty="0"/>
          </a:p>
        </p:txBody>
      </p:sp>
      <p:sp>
        <p:nvSpPr>
          <p:cNvPr id="5" name="Shape 3"/>
          <p:cNvSpPr/>
          <p:nvPr/>
        </p:nvSpPr>
        <p:spPr>
          <a:xfrm>
            <a:off x="352425" y="1257300"/>
            <a:ext cx="6927850" cy="2374900"/>
          </a:xfrm>
          <a:prstGeom prst="rect">
            <a:avLst/>
          </a:prstGeom>
          <a:ln w="6350">
            <a:solidFill>
              <a:srgbClr val="C0C0C8"/>
            </a:solidFill>
            <a:prstDash val="solid"/>
          </a:ln>
        </p:spPr>
        <p:txBody>
          <a:bodyPr/>
          <a:lstStyle/>
          <a:p>
            <a:endParaRPr lang="fr-FR"/>
          </a:p>
        </p:txBody>
      </p:sp>
      <p:pic>
        <p:nvPicPr>
          <p:cNvPr id="6" name="Image 0" descr="preencoded.png"/>
          <p:cNvPicPr>
            <a:picLocks noChangeAspect="1"/>
          </p:cNvPicPr>
          <p:nvPr/>
        </p:nvPicPr>
        <p:blipFill>
          <a:blip r:embed="rId3"/>
          <a:srcRect t="-309" b="-309"/>
          <a:stretch/>
        </p:blipFill>
        <p:spPr>
          <a:xfrm>
            <a:off x="352425" y="1257300"/>
            <a:ext cx="6927850" cy="2374900"/>
          </a:xfrm>
          <a:prstGeom prst="rect">
            <a:avLst/>
          </a:prstGeom>
        </p:spPr>
      </p:pic>
      <p:sp>
        <p:nvSpPr>
          <p:cNvPr id="7" name="Text 4"/>
          <p:cNvSpPr/>
          <p:nvPr/>
        </p:nvSpPr>
        <p:spPr>
          <a:xfrm>
            <a:off x="352425" y="3714750"/>
            <a:ext cx="7122605" cy="434181"/>
          </a:xfrm>
          <a:prstGeom prst="rect">
            <a:avLst/>
          </a:prstGeom>
          <a:noFill/>
          <a:ln/>
        </p:spPr>
        <p:txBody>
          <a:bodyPr wrap="square" lIns="25400" tIns="25400" rIns="25400" bIns="25400" rtlCol="0" anchor="t">
            <a:normAutofit lnSpcReduction="10000"/>
          </a:bodyPr>
          <a:lstStyle/>
          <a:p>
            <a:pPr marL="0" indent="0" algn="l">
              <a:lnSpc>
                <a:spcPct val="107586"/>
              </a:lnSpc>
              <a:buNone/>
            </a:pPr>
            <a:r>
              <a:rPr lang="en-US" sz="1200" dirty="0">
                <a:solidFill>
                  <a:srgbClr val="858591"/>
                </a:solidFill>
                <a:latin typeface="Calibri" pitchFamily="34" charset="0"/>
                <a:ea typeface="Calibri" pitchFamily="34" charset="-122"/>
                <a:cs typeface="Calibri" pitchFamily="34" charset="-120"/>
              </a:rPr>
              <a:t>The application is operated by a French research programme, so its interface is French. The report carries an English key for every term on screen.</a:t>
            </a:r>
            <a:endParaRPr lang="en-US" sz="1200" dirty="0"/>
          </a:p>
        </p:txBody>
      </p:sp>
      <p:sp>
        <p:nvSpPr>
          <p:cNvPr id="8" name="Text 5"/>
          <p:cNvSpPr/>
          <p:nvPr/>
        </p:nvSpPr>
        <p:spPr>
          <a:xfrm>
            <a:off x="352425" y="4267200"/>
            <a:ext cx="760666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FOUR CRITERIA, EACH WITH A COMPUTED COUNTERPART</a:t>
            </a:r>
            <a:endParaRPr lang="en-US" sz="1050" dirty="0"/>
          </a:p>
        </p:txBody>
      </p:sp>
      <p:sp>
        <p:nvSpPr>
          <p:cNvPr id="9" name="Shape 6"/>
          <p:cNvSpPr/>
          <p:nvPr/>
        </p:nvSpPr>
        <p:spPr>
          <a:xfrm>
            <a:off x="352425" y="4574778"/>
            <a:ext cx="3414713" cy="477143"/>
          </a:xfrm>
          <a:prstGeom prst="rect">
            <a:avLst/>
          </a:prstGeom>
          <a:solidFill>
            <a:srgbClr val="E9F5FB"/>
          </a:solidFill>
          <a:ln/>
        </p:spPr>
        <p:txBody>
          <a:bodyPr/>
          <a:lstStyle/>
          <a:p>
            <a:endParaRPr lang="fr-FR"/>
          </a:p>
        </p:txBody>
      </p:sp>
      <p:sp>
        <p:nvSpPr>
          <p:cNvPr id="10" name="Text 7"/>
          <p:cNvSpPr/>
          <p:nvPr/>
        </p:nvSpPr>
        <p:spPr>
          <a:xfrm>
            <a:off x="495300" y="4689078"/>
            <a:ext cx="323140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Operational impact</a:t>
            </a:r>
            <a:endParaRPr lang="en-US" sz="1350" dirty="0"/>
          </a:p>
        </p:txBody>
      </p:sp>
      <p:sp>
        <p:nvSpPr>
          <p:cNvPr id="11" name="Shape 8"/>
          <p:cNvSpPr/>
          <p:nvPr/>
        </p:nvSpPr>
        <p:spPr>
          <a:xfrm>
            <a:off x="3852863" y="4574778"/>
            <a:ext cx="3414713" cy="477143"/>
          </a:xfrm>
          <a:prstGeom prst="rect">
            <a:avLst/>
          </a:prstGeom>
          <a:solidFill>
            <a:srgbClr val="E9F5FB"/>
          </a:solidFill>
          <a:ln/>
        </p:spPr>
        <p:txBody>
          <a:bodyPr/>
          <a:lstStyle/>
          <a:p>
            <a:endParaRPr lang="fr-FR"/>
          </a:p>
        </p:txBody>
      </p:sp>
      <p:sp>
        <p:nvSpPr>
          <p:cNvPr id="12" name="Text 9"/>
          <p:cNvSpPr/>
          <p:nvPr/>
        </p:nvSpPr>
        <p:spPr>
          <a:xfrm>
            <a:off x="3995738" y="4689078"/>
            <a:ext cx="323140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Time window</a:t>
            </a:r>
            <a:endParaRPr lang="en-US" sz="1350" dirty="0"/>
          </a:p>
        </p:txBody>
      </p:sp>
      <p:sp>
        <p:nvSpPr>
          <p:cNvPr id="13" name="Shape 10"/>
          <p:cNvSpPr/>
          <p:nvPr/>
        </p:nvSpPr>
        <p:spPr>
          <a:xfrm>
            <a:off x="352425" y="5137646"/>
            <a:ext cx="3414713" cy="477143"/>
          </a:xfrm>
          <a:prstGeom prst="rect">
            <a:avLst/>
          </a:prstGeom>
          <a:solidFill>
            <a:srgbClr val="E9F5FB"/>
          </a:solidFill>
          <a:ln/>
        </p:spPr>
        <p:txBody>
          <a:bodyPr/>
          <a:lstStyle/>
          <a:p>
            <a:endParaRPr lang="fr-FR"/>
          </a:p>
        </p:txBody>
      </p:sp>
      <p:sp>
        <p:nvSpPr>
          <p:cNvPr id="14" name="Text 11"/>
          <p:cNvSpPr/>
          <p:nvPr/>
        </p:nvSpPr>
        <p:spPr>
          <a:xfrm>
            <a:off x="495300" y="5251946"/>
            <a:ext cx="323140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Downstream dependencies</a:t>
            </a:r>
            <a:endParaRPr lang="en-US" sz="1350" dirty="0"/>
          </a:p>
        </p:txBody>
      </p:sp>
      <p:sp>
        <p:nvSpPr>
          <p:cNvPr id="15" name="Shape 12"/>
          <p:cNvSpPr/>
          <p:nvPr/>
        </p:nvSpPr>
        <p:spPr>
          <a:xfrm>
            <a:off x="3852863" y="5137646"/>
            <a:ext cx="3414713" cy="477143"/>
          </a:xfrm>
          <a:prstGeom prst="rect">
            <a:avLst/>
          </a:prstGeom>
          <a:solidFill>
            <a:srgbClr val="E9F5FB"/>
          </a:solidFill>
          <a:ln/>
        </p:spPr>
        <p:txBody>
          <a:bodyPr/>
          <a:lstStyle/>
          <a:p>
            <a:endParaRPr lang="fr-FR"/>
          </a:p>
        </p:txBody>
      </p:sp>
      <p:sp>
        <p:nvSpPr>
          <p:cNvPr id="16" name="Text 13"/>
          <p:cNvSpPr/>
          <p:nvPr/>
        </p:nvSpPr>
        <p:spPr>
          <a:xfrm>
            <a:off x="3995738" y="5251946"/>
            <a:ext cx="323140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Recoverability</a:t>
            </a:r>
            <a:endParaRPr lang="en-US" sz="1350" dirty="0"/>
          </a:p>
        </p:txBody>
      </p:sp>
      <p:sp>
        <p:nvSpPr>
          <p:cNvPr id="17" name="Shape 14"/>
          <p:cNvSpPr/>
          <p:nvPr/>
        </p:nvSpPr>
        <p:spPr>
          <a:xfrm>
            <a:off x="7572375" y="1257300"/>
            <a:ext cx="4076700" cy="2529483"/>
          </a:xfrm>
          <a:prstGeom prst="rect">
            <a:avLst/>
          </a:prstGeom>
          <a:solidFill>
            <a:srgbClr val="063C67"/>
          </a:solidFill>
          <a:ln/>
        </p:spPr>
        <p:txBody>
          <a:bodyPr/>
          <a:lstStyle/>
          <a:p>
            <a:endParaRPr lang="fr-FR"/>
          </a:p>
        </p:txBody>
      </p:sp>
      <p:pic>
        <p:nvPicPr>
          <p:cNvPr id="18" name="Image 1" descr="preencoded.png"/>
          <p:cNvPicPr>
            <a:picLocks noChangeAspect="1"/>
          </p:cNvPicPr>
          <p:nvPr/>
        </p:nvPicPr>
        <p:blipFill>
          <a:blip r:embed="rId4"/>
          <a:stretch>
            <a:fillRect/>
          </a:stretch>
        </p:blipFill>
        <p:spPr>
          <a:xfrm>
            <a:off x="7800975" y="1466850"/>
            <a:ext cx="407392" cy="361950"/>
          </a:xfrm>
          <a:prstGeom prst="rect">
            <a:avLst/>
          </a:prstGeom>
        </p:spPr>
      </p:pic>
      <p:sp>
        <p:nvSpPr>
          <p:cNvPr id="19" name="Text 15"/>
          <p:cNvSpPr/>
          <p:nvPr/>
        </p:nvSpPr>
        <p:spPr>
          <a:xfrm>
            <a:off x="8341718" y="1495921"/>
            <a:ext cx="3236565"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FFFFFF"/>
                </a:solidFill>
                <a:latin typeface="Arial Black" pitchFamily="34" charset="0"/>
                <a:ea typeface="Arial Black" pitchFamily="34" charset="-122"/>
                <a:cs typeface="Arial Black" pitchFamily="34" charset="-120"/>
              </a:rPr>
              <a:t>THE CONSISTENCY GATE</a:t>
            </a:r>
            <a:endParaRPr lang="en-US" sz="1650" dirty="0"/>
          </a:p>
        </p:txBody>
      </p:sp>
      <p:sp>
        <p:nvSpPr>
          <p:cNvPr id="20" name="Text 16"/>
          <p:cNvSpPr/>
          <p:nvPr/>
        </p:nvSpPr>
        <p:spPr>
          <a:xfrm>
            <a:off x="7800975" y="1943100"/>
            <a:ext cx="3728085" cy="1051322"/>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A weight vector whose consistency ratio exceeds the threshold is </a:t>
            </a:r>
            <a:r>
              <a:rPr lang="en-US" sz="1425" b="1" dirty="0">
                <a:solidFill>
                  <a:srgbClr val="FFDA65"/>
                </a:solidFill>
                <a:latin typeface="Calibri" pitchFamily="34" charset="0"/>
                <a:ea typeface="Calibri" pitchFamily="34" charset="-122"/>
                <a:cs typeface="Calibri" pitchFamily="34" charset="-120"/>
              </a:rPr>
              <a:t>refused </a:t>
            </a:r>
            <a:r>
              <a:rPr lang="en-US" sz="1425" dirty="0">
                <a:solidFill>
                  <a:srgbClr val="FFFFFF"/>
                </a:solidFill>
                <a:latin typeface="Calibri" pitchFamily="34" charset="0"/>
                <a:ea typeface="Calibri" pitchFamily="34" charset="-122"/>
                <a:cs typeface="Calibri" pitchFamily="34" charset="-120"/>
              </a:rPr>
              <a:t>. The operator is sent back to the most contradictory of their own comparisons.</a:t>
            </a:r>
            <a:endParaRPr lang="en-US" sz="1425" dirty="0"/>
          </a:p>
        </p:txBody>
      </p:sp>
      <p:sp>
        <p:nvSpPr>
          <p:cNvPr id="21" name="Text 17"/>
          <p:cNvSpPr/>
          <p:nvPr/>
        </p:nvSpPr>
        <p:spPr>
          <a:xfrm>
            <a:off x="7800975" y="3070622"/>
            <a:ext cx="3728085" cy="544711"/>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Without it, an incoherent judgment would propagate as though it were a considered one.</a:t>
            </a:r>
            <a:endParaRPr lang="en-US" sz="1425" dirty="0"/>
          </a:p>
        </p:txBody>
      </p:sp>
      <p:sp>
        <p:nvSpPr>
          <p:cNvPr id="22" name="Shape 18"/>
          <p:cNvSpPr/>
          <p:nvPr/>
        </p:nvSpPr>
        <p:spPr>
          <a:xfrm>
            <a:off x="7572375" y="3977283"/>
            <a:ext cx="4076700" cy="533400"/>
          </a:xfrm>
          <a:prstGeom prst="rect">
            <a:avLst/>
          </a:prstGeom>
          <a:solidFill>
            <a:srgbClr val="F4F4F6"/>
          </a:solidFill>
          <a:ln/>
        </p:spPr>
        <p:txBody>
          <a:bodyPr/>
          <a:lstStyle/>
          <a:p>
            <a:endParaRPr lang="fr-FR"/>
          </a:p>
        </p:txBody>
      </p:sp>
      <p:pic>
        <p:nvPicPr>
          <p:cNvPr id="23" name="Image 2" descr="preencoded.png"/>
          <p:cNvPicPr>
            <a:picLocks noChangeAspect="1"/>
          </p:cNvPicPr>
          <p:nvPr/>
        </p:nvPicPr>
        <p:blipFill>
          <a:blip r:embed="rId5"/>
          <a:stretch>
            <a:fillRect/>
          </a:stretch>
        </p:blipFill>
        <p:spPr>
          <a:xfrm>
            <a:off x="7715250" y="4101108"/>
            <a:ext cx="285750" cy="285750"/>
          </a:xfrm>
          <a:prstGeom prst="rect">
            <a:avLst/>
          </a:prstGeom>
        </p:spPr>
      </p:pic>
      <p:sp>
        <p:nvSpPr>
          <p:cNvPr id="24" name="Text 19"/>
          <p:cNvSpPr/>
          <p:nvPr/>
        </p:nvSpPr>
        <p:spPr>
          <a:xfrm>
            <a:off x="8124825" y="4132560"/>
            <a:ext cx="3553182"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Pairwise comparisons, not a free-text estimate</a:t>
            </a:r>
            <a:endParaRPr lang="en-US" sz="1350" dirty="0"/>
          </a:p>
        </p:txBody>
      </p:sp>
      <p:sp>
        <p:nvSpPr>
          <p:cNvPr id="25" name="Shape 20"/>
          <p:cNvSpPr/>
          <p:nvPr/>
        </p:nvSpPr>
        <p:spPr>
          <a:xfrm>
            <a:off x="7572375" y="4615458"/>
            <a:ext cx="4076700" cy="533400"/>
          </a:xfrm>
          <a:prstGeom prst="rect">
            <a:avLst/>
          </a:prstGeom>
          <a:solidFill>
            <a:srgbClr val="F4F4F6"/>
          </a:solidFill>
          <a:ln/>
        </p:spPr>
        <p:txBody>
          <a:bodyPr/>
          <a:lstStyle/>
          <a:p>
            <a:endParaRPr lang="fr-FR"/>
          </a:p>
        </p:txBody>
      </p:sp>
      <p:pic>
        <p:nvPicPr>
          <p:cNvPr id="26" name="Image 3" descr="preencoded.png"/>
          <p:cNvPicPr>
            <a:picLocks noChangeAspect="1"/>
          </p:cNvPicPr>
          <p:nvPr/>
        </p:nvPicPr>
        <p:blipFill>
          <a:blip r:embed="rId6"/>
          <a:stretch>
            <a:fillRect/>
          </a:stretch>
        </p:blipFill>
        <p:spPr>
          <a:xfrm>
            <a:off x="7715250" y="4739283"/>
            <a:ext cx="285750" cy="285750"/>
          </a:xfrm>
          <a:prstGeom prst="rect">
            <a:avLst/>
          </a:prstGeom>
        </p:spPr>
      </p:pic>
      <p:sp>
        <p:nvSpPr>
          <p:cNvPr id="27" name="Text 21"/>
          <p:cNvSpPr/>
          <p:nvPr/>
        </p:nvSpPr>
        <p:spPr>
          <a:xfrm>
            <a:off x="8124825" y="4770735"/>
            <a:ext cx="2558693"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AHP · fuzzy BWM · PROMETHEE II</a:t>
            </a:r>
            <a:endParaRPr lang="en-US" sz="1350" dirty="0"/>
          </a:p>
        </p:txBody>
      </p:sp>
      <p:pic>
        <p:nvPicPr>
          <p:cNvPr id="33" name="Image 4" descr="preencoded.png"/>
          <p:cNvPicPr>
            <a:picLocks noChangeAspect="1"/>
          </p:cNvPicPr>
          <p:nvPr/>
        </p:nvPicPr>
        <p:blipFill>
          <a:blip r:embed="rId7"/>
          <a:stretch>
            <a:fillRect/>
          </a:stretch>
        </p:blipFill>
        <p:spPr>
          <a:xfrm>
            <a:off x="11229975" y="6567488"/>
            <a:ext cx="714375" cy="714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3980905"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ADEQUACY</a:t>
            </a:r>
            <a:endParaRPr lang="en-US" sz="3225" dirty="0"/>
          </a:p>
        </p:txBody>
      </p:sp>
      <p:sp>
        <p:nvSpPr>
          <p:cNvPr id="4" name="Text 2"/>
          <p:cNvSpPr/>
          <p:nvPr/>
        </p:nvSpPr>
        <p:spPr>
          <a:xfrm>
            <a:off x="352425" y="666750"/>
            <a:ext cx="5621943"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Elicited separately, propagated in opposite directions</a:t>
            </a:r>
            <a:endParaRPr lang="en-US" sz="1725" dirty="0"/>
          </a:p>
        </p:txBody>
      </p:sp>
      <p:pic>
        <p:nvPicPr>
          <p:cNvPr id="5" name="Image 0" descr="preencoded.png"/>
          <p:cNvPicPr>
            <a:picLocks noChangeAspect="1"/>
          </p:cNvPicPr>
          <p:nvPr/>
        </p:nvPicPr>
        <p:blipFill>
          <a:blip r:embed="rId3"/>
          <a:srcRect t="-129" b="-129"/>
          <a:stretch/>
        </p:blipFill>
        <p:spPr>
          <a:xfrm>
            <a:off x="209550" y="1219200"/>
            <a:ext cx="6877050" cy="4248150"/>
          </a:xfrm>
          <a:prstGeom prst="rect">
            <a:avLst/>
          </a:prstGeom>
        </p:spPr>
      </p:pic>
      <p:sp>
        <p:nvSpPr>
          <p:cNvPr id="6" name="Text 3"/>
          <p:cNvSpPr/>
          <p:nvPr/>
        </p:nvSpPr>
        <p:spPr>
          <a:xfrm>
            <a:off x="7524750" y="1257300"/>
            <a:ext cx="4746308"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PROPAGATION ACROSS THE NETWORK</a:t>
            </a:r>
            <a:endParaRPr lang="en-US" sz="1050" dirty="0"/>
          </a:p>
        </p:txBody>
      </p:sp>
      <p:sp>
        <p:nvSpPr>
          <p:cNvPr id="7" name="Text 4"/>
          <p:cNvSpPr/>
          <p:nvPr/>
        </p:nvSpPr>
        <p:spPr>
          <a:xfrm>
            <a:off x="7657009" y="1583928"/>
            <a:ext cx="192584" cy="314325"/>
          </a:xfrm>
          <a:prstGeom prst="rect">
            <a:avLst/>
          </a:prstGeom>
          <a:noFill/>
          <a:ln/>
        </p:spPr>
        <p:txBody>
          <a:bodyPr wrap="square" lIns="25400" tIns="25400" rIns="25400" bIns="25400" rtlCol="0" anchor="t">
            <a:normAutofit/>
          </a:bodyPr>
          <a:lstStyle/>
          <a:p>
            <a:pPr marL="0" indent="0" algn="l">
              <a:lnSpc>
                <a:spcPct val="103571"/>
              </a:lnSpc>
              <a:buNone/>
            </a:pPr>
            <a:r>
              <a:rPr lang="en-US" sz="1500" b="1" dirty="0">
                <a:solidFill>
                  <a:srgbClr val="1D93C9"/>
                </a:solidFill>
                <a:latin typeface="Arial Black" pitchFamily="34" charset="0"/>
                <a:ea typeface="Arial Black" pitchFamily="34" charset="-122"/>
                <a:cs typeface="Arial Black" pitchFamily="34" charset="-120"/>
              </a:rPr>
              <a:t>γ</a:t>
            </a:r>
            <a:endParaRPr lang="en-US" sz="1500" dirty="0"/>
          </a:p>
        </p:txBody>
      </p:sp>
      <p:sp>
        <p:nvSpPr>
          <p:cNvPr id="8" name="Shape 5"/>
          <p:cNvSpPr/>
          <p:nvPr/>
        </p:nvSpPr>
        <p:spPr>
          <a:xfrm>
            <a:off x="7696200" y="1917303"/>
            <a:ext cx="38100" cy="1740297"/>
          </a:xfrm>
          <a:prstGeom prst="rect">
            <a:avLst/>
          </a:prstGeom>
          <a:solidFill>
            <a:srgbClr val="1D93C9"/>
          </a:solidFill>
          <a:ln/>
        </p:spPr>
        <p:txBody>
          <a:bodyPr/>
          <a:lstStyle/>
          <a:p>
            <a:endParaRPr lang="fr-FR"/>
          </a:p>
        </p:txBody>
      </p:sp>
      <p:sp>
        <p:nvSpPr>
          <p:cNvPr id="9" name="Shape 6"/>
          <p:cNvSpPr/>
          <p:nvPr/>
        </p:nvSpPr>
        <p:spPr>
          <a:xfrm>
            <a:off x="7632700" y="3657600"/>
            <a:ext cx="165100" cy="120650"/>
          </a:xfrm>
          <a:prstGeom prst="rect">
            <a:avLst/>
          </a:prstGeom>
          <a:solidFill>
            <a:srgbClr val="1D93C9"/>
          </a:solidFill>
          <a:ln/>
        </p:spPr>
        <p:txBody>
          <a:bodyPr/>
          <a:lstStyle/>
          <a:p>
            <a:endParaRPr lang="fr-FR"/>
          </a:p>
        </p:txBody>
      </p:sp>
      <p:sp>
        <p:nvSpPr>
          <p:cNvPr id="10" name="Shape 7"/>
          <p:cNvSpPr/>
          <p:nvPr/>
        </p:nvSpPr>
        <p:spPr>
          <a:xfrm>
            <a:off x="8020050" y="1583928"/>
            <a:ext cx="3324225" cy="477143"/>
          </a:xfrm>
          <a:prstGeom prst="rect">
            <a:avLst/>
          </a:prstGeom>
          <a:solidFill>
            <a:srgbClr val="E9F5FB"/>
          </a:solidFill>
          <a:ln/>
        </p:spPr>
        <p:txBody>
          <a:bodyPr/>
          <a:lstStyle/>
          <a:p>
            <a:endParaRPr lang="fr-FR"/>
          </a:p>
        </p:txBody>
      </p:sp>
      <p:sp>
        <p:nvSpPr>
          <p:cNvPr id="11" name="Text 8"/>
          <p:cNvSpPr/>
          <p:nvPr/>
        </p:nvSpPr>
        <p:spPr>
          <a:xfrm>
            <a:off x="8162925" y="1698228"/>
            <a:ext cx="313820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Customer </a:t>
            </a:r>
            <a:r>
              <a:rPr lang="en-US" sz="1350" dirty="0">
                <a:solidFill>
                  <a:srgbClr val="063C67"/>
                </a:solidFill>
                <a:highlight>
                  <a:srgbClr val="E9F5FB"/>
                </a:highlight>
                <a:latin typeface="Calibri" pitchFamily="34" charset="0"/>
                <a:ea typeface="Calibri" pitchFamily="34" charset="-122"/>
                <a:cs typeface="Calibri" pitchFamily="34" charset="-120"/>
              </a:rPr>
              <a:t>· final assembly</a:t>
            </a:r>
            <a:endParaRPr lang="en-US" sz="1350" dirty="0"/>
          </a:p>
        </p:txBody>
      </p:sp>
      <p:sp>
        <p:nvSpPr>
          <p:cNvPr id="12" name="Shape 9"/>
          <p:cNvSpPr/>
          <p:nvPr/>
        </p:nvSpPr>
        <p:spPr>
          <a:xfrm>
            <a:off x="8020050" y="2156321"/>
            <a:ext cx="3324225" cy="477143"/>
          </a:xfrm>
          <a:prstGeom prst="rect">
            <a:avLst/>
          </a:prstGeom>
          <a:solidFill>
            <a:srgbClr val="F4F4F6"/>
          </a:solidFill>
          <a:ln/>
        </p:spPr>
        <p:txBody>
          <a:bodyPr/>
          <a:lstStyle/>
          <a:p>
            <a:endParaRPr lang="fr-FR"/>
          </a:p>
        </p:txBody>
      </p:sp>
      <p:sp>
        <p:nvSpPr>
          <p:cNvPr id="13" name="Text 10"/>
          <p:cNvSpPr/>
          <p:nvPr/>
        </p:nvSpPr>
        <p:spPr>
          <a:xfrm>
            <a:off x="8162925" y="2270621"/>
            <a:ext cx="313820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Tier 1 · systems</a:t>
            </a:r>
            <a:endParaRPr lang="en-US" sz="1350" dirty="0"/>
          </a:p>
        </p:txBody>
      </p:sp>
      <p:sp>
        <p:nvSpPr>
          <p:cNvPr id="14" name="Shape 11"/>
          <p:cNvSpPr/>
          <p:nvPr/>
        </p:nvSpPr>
        <p:spPr>
          <a:xfrm>
            <a:off x="8020050" y="2728714"/>
            <a:ext cx="3324225" cy="477143"/>
          </a:xfrm>
          <a:prstGeom prst="rect">
            <a:avLst/>
          </a:prstGeom>
          <a:solidFill>
            <a:srgbClr val="F4F4F6"/>
          </a:solidFill>
          <a:ln/>
        </p:spPr>
        <p:txBody>
          <a:bodyPr/>
          <a:lstStyle/>
          <a:p>
            <a:endParaRPr lang="fr-FR"/>
          </a:p>
        </p:txBody>
      </p:sp>
      <p:sp>
        <p:nvSpPr>
          <p:cNvPr id="15" name="Text 12"/>
          <p:cNvSpPr/>
          <p:nvPr/>
        </p:nvSpPr>
        <p:spPr>
          <a:xfrm>
            <a:off x="8162925" y="2843014"/>
            <a:ext cx="313820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Tier 2 · subassemblies</a:t>
            </a:r>
            <a:endParaRPr lang="en-US" sz="1350" dirty="0"/>
          </a:p>
        </p:txBody>
      </p:sp>
      <p:sp>
        <p:nvSpPr>
          <p:cNvPr id="16" name="Shape 13"/>
          <p:cNvSpPr/>
          <p:nvPr/>
        </p:nvSpPr>
        <p:spPr>
          <a:xfrm>
            <a:off x="8020050" y="3301107"/>
            <a:ext cx="3324225" cy="477143"/>
          </a:xfrm>
          <a:prstGeom prst="rect">
            <a:avLst/>
          </a:prstGeom>
          <a:solidFill>
            <a:srgbClr val="FFF6DA"/>
          </a:solidFill>
          <a:ln/>
        </p:spPr>
        <p:txBody>
          <a:bodyPr/>
          <a:lstStyle/>
          <a:p>
            <a:endParaRPr lang="fr-FR"/>
          </a:p>
        </p:txBody>
      </p:sp>
      <p:sp>
        <p:nvSpPr>
          <p:cNvPr id="17" name="Text 14"/>
          <p:cNvSpPr/>
          <p:nvPr/>
        </p:nvSpPr>
        <p:spPr>
          <a:xfrm>
            <a:off x="8162925" y="3415407"/>
            <a:ext cx="313820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Tier 3 </a:t>
            </a:r>
            <a:r>
              <a:rPr lang="en-US" sz="1350" dirty="0">
                <a:solidFill>
                  <a:srgbClr val="063C67"/>
                </a:solidFill>
                <a:highlight>
                  <a:srgbClr val="FFF6DA"/>
                </a:highlight>
                <a:latin typeface="Calibri" pitchFamily="34" charset="0"/>
                <a:ea typeface="Calibri" pitchFamily="34" charset="-122"/>
                <a:cs typeface="Calibri" pitchFamily="34" charset="-120"/>
              </a:rPr>
              <a:t>· raw material</a:t>
            </a:r>
            <a:endParaRPr lang="en-US" sz="1350" dirty="0"/>
          </a:p>
        </p:txBody>
      </p:sp>
      <p:sp>
        <p:nvSpPr>
          <p:cNvPr id="18" name="Shape 15"/>
          <p:cNvSpPr/>
          <p:nvPr/>
        </p:nvSpPr>
        <p:spPr>
          <a:xfrm>
            <a:off x="11566525" y="1583928"/>
            <a:ext cx="165100" cy="120650"/>
          </a:xfrm>
          <a:prstGeom prst="rect">
            <a:avLst/>
          </a:prstGeom>
          <a:solidFill>
            <a:srgbClr val="FFC800"/>
          </a:solidFill>
          <a:ln/>
        </p:spPr>
        <p:txBody>
          <a:bodyPr/>
          <a:lstStyle/>
          <a:p>
            <a:endParaRPr lang="fr-FR"/>
          </a:p>
        </p:txBody>
      </p:sp>
      <p:sp>
        <p:nvSpPr>
          <p:cNvPr id="19" name="Shape 16"/>
          <p:cNvSpPr/>
          <p:nvPr/>
        </p:nvSpPr>
        <p:spPr>
          <a:xfrm>
            <a:off x="11630025" y="1704578"/>
            <a:ext cx="38100" cy="1740297"/>
          </a:xfrm>
          <a:prstGeom prst="rect">
            <a:avLst/>
          </a:prstGeom>
          <a:solidFill>
            <a:srgbClr val="FFC800"/>
          </a:solidFill>
          <a:ln/>
        </p:spPr>
        <p:txBody>
          <a:bodyPr/>
          <a:lstStyle/>
          <a:p>
            <a:endParaRPr lang="fr-FR"/>
          </a:p>
        </p:txBody>
      </p:sp>
      <p:sp>
        <p:nvSpPr>
          <p:cNvPr id="20" name="Text 17"/>
          <p:cNvSpPr/>
          <p:nvPr/>
        </p:nvSpPr>
        <p:spPr>
          <a:xfrm>
            <a:off x="11587659" y="3502025"/>
            <a:ext cx="198934" cy="314325"/>
          </a:xfrm>
          <a:prstGeom prst="rect">
            <a:avLst/>
          </a:prstGeom>
          <a:noFill/>
          <a:ln/>
        </p:spPr>
        <p:txBody>
          <a:bodyPr wrap="square" lIns="25400" tIns="25400" rIns="25400" bIns="25400" rtlCol="0" anchor="t">
            <a:normAutofit/>
          </a:bodyPr>
          <a:lstStyle/>
          <a:p>
            <a:pPr marL="0" indent="0" algn="l">
              <a:lnSpc>
                <a:spcPct val="103571"/>
              </a:lnSpc>
              <a:buNone/>
            </a:pPr>
            <a:r>
              <a:rPr lang="en-US" sz="1500" b="1" dirty="0">
                <a:solidFill>
                  <a:srgbClr val="FFC800"/>
                </a:solidFill>
                <a:latin typeface="Arial Black" pitchFamily="34" charset="0"/>
                <a:ea typeface="Arial Black" pitchFamily="34" charset="-122"/>
                <a:cs typeface="Arial Black" pitchFamily="34" charset="-120"/>
              </a:rPr>
              <a:t>β</a:t>
            </a:r>
            <a:endParaRPr lang="en-US" sz="1500" dirty="0"/>
          </a:p>
        </p:txBody>
      </p:sp>
      <p:sp>
        <p:nvSpPr>
          <p:cNvPr id="21" name="Text 18"/>
          <p:cNvSpPr/>
          <p:nvPr/>
        </p:nvSpPr>
        <p:spPr>
          <a:xfrm>
            <a:off x="7524750" y="3930650"/>
            <a:ext cx="4444270" cy="458986"/>
          </a:xfrm>
          <a:prstGeom prst="rect">
            <a:avLst/>
          </a:prstGeom>
          <a:noFill/>
          <a:ln/>
        </p:spPr>
        <p:txBody>
          <a:bodyPr wrap="square" lIns="25400" tIns="25400" rIns="25400" bIns="25400" rtlCol="0" anchor="t">
            <a:normAutofit/>
          </a:bodyPr>
          <a:lstStyle/>
          <a:p>
            <a:pPr marL="0" indent="0" algn="l">
              <a:lnSpc>
                <a:spcPct val="106935"/>
              </a:lnSpc>
              <a:buNone/>
            </a:pPr>
            <a:r>
              <a:rPr lang="en-US" sz="1275" b="1" dirty="0">
                <a:solidFill>
                  <a:srgbClr val="1D93C9"/>
                </a:solidFill>
                <a:latin typeface="Calibri" pitchFamily="34" charset="0"/>
                <a:ea typeface="Calibri" pitchFamily="34" charset="-122"/>
                <a:cs typeface="Calibri" pitchFamily="34" charset="-120"/>
              </a:rPr>
              <a:t>γ </a:t>
            </a:r>
            <a:r>
              <a:rPr lang="en-US" sz="1275" dirty="0">
                <a:solidFill>
                  <a:srgbClr val="063C67"/>
                </a:solidFill>
                <a:latin typeface="Calibri" pitchFamily="34" charset="0"/>
                <a:ea typeface="Calibri" pitchFamily="34" charset="-122"/>
                <a:cs typeface="Calibri" pitchFamily="34" charset="-120"/>
              </a:rPr>
              <a:t>attenuates the declaration as it descends: demand pressure is what a customer transmits</a:t>
            </a:r>
            <a:endParaRPr lang="en-US" sz="1275" dirty="0"/>
          </a:p>
        </p:txBody>
      </p:sp>
      <p:sp>
        <p:nvSpPr>
          <p:cNvPr id="22" name="Text 19"/>
          <p:cNvSpPr/>
          <p:nvPr/>
        </p:nvSpPr>
        <p:spPr>
          <a:xfrm>
            <a:off x="7524750" y="4437261"/>
            <a:ext cx="4444270" cy="458986"/>
          </a:xfrm>
          <a:prstGeom prst="rect">
            <a:avLst/>
          </a:prstGeom>
          <a:noFill/>
          <a:ln/>
        </p:spPr>
        <p:txBody>
          <a:bodyPr wrap="square" lIns="25400" tIns="25400" rIns="25400" bIns="25400" rtlCol="0" anchor="t">
            <a:normAutofit/>
          </a:bodyPr>
          <a:lstStyle/>
          <a:p>
            <a:pPr marL="0" indent="0" algn="l">
              <a:lnSpc>
                <a:spcPct val="106935"/>
              </a:lnSpc>
              <a:buNone/>
            </a:pPr>
            <a:r>
              <a:rPr lang="en-US" sz="1275" b="1" dirty="0">
                <a:solidFill>
                  <a:srgbClr val="FFC800"/>
                </a:solidFill>
                <a:latin typeface="Calibri" pitchFamily="34" charset="0"/>
                <a:ea typeface="Calibri" pitchFamily="34" charset="-122"/>
                <a:cs typeface="Calibri" pitchFamily="34" charset="-120"/>
              </a:rPr>
              <a:t>β </a:t>
            </a:r>
            <a:r>
              <a:rPr lang="en-US" sz="1275" dirty="0">
                <a:solidFill>
                  <a:srgbClr val="063C67"/>
                </a:solidFill>
                <a:latin typeface="Calibri" pitchFamily="34" charset="0"/>
                <a:ea typeface="Calibri" pitchFamily="34" charset="-122"/>
                <a:cs typeface="Calibri" pitchFamily="34" charset="-120"/>
              </a:rPr>
              <a:t>amplifies computed risk as it ascends: physical risk is what a supplier transmits</a:t>
            </a:r>
            <a:endParaRPr lang="en-US" sz="1275" dirty="0"/>
          </a:p>
        </p:txBody>
      </p:sp>
      <p:pic>
        <p:nvPicPr>
          <p:cNvPr id="23" name="Image 1" descr="preencoded.png"/>
          <p:cNvPicPr>
            <a:picLocks noChangeAspect="1"/>
          </p:cNvPicPr>
          <p:nvPr/>
        </p:nvPicPr>
        <p:blipFill>
          <a:blip r:embed="rId4"/>
          <a:stretch>
            <a:fillRect/>
          </a:stretch>
        </p:blipFill>
        <p:spPr>
          <a:xfrm>
            <a:off x="11229975" y="6567488"/>
            <a:ext cx="714375" cy="7143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7946856"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SUPPLYSCORE: ARCHITECTURE</a:t>
            </a:r>
            <a:endParaRPr lang="en-US" sz="3225" dirty="0"/>
          </a:p>
        </p:txBody>
      </p:sp>
      <p:sp>
        <p:nvSpPr>
          <p:cNvPr id="4" name="Text 2"/>
          <p:cNvSpPr/>
          <p:nvPr/>
        </p:nvSpPr>
        <p:spPr>
          <a:xfrm>
            <a:off x="352425" y="666750"/>
            <a:ext cx="4313238"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The class model, and the pages it drives</a:t>
            </a:r>
            <a:endParaRPr lang="en-US" sz="1725" dirty="0"/>
          </a:p>
        </p:txBody>
      </p:sp>
      <p:sp>
        <p:nvSpPr>
          <p:cNvPr id="5" name="Text 3"/>
          <p:cNvSpPr/>
          <p:nvPr/>
        </p:nvSpPr>
        <p:spPr>
          <a:xfrm>
            <a:off x="352425" y="1047750"/>
            <a:ext cx="7334250"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26" dirty="0">
                <a:solidFill>
                  <a:srgbClr val="1D93C9"/>
                </a:solidFill>
                <a:latin typeface="Arial" pitchFamily="34" charset="0"/>
                <a:ea typeface="Arial" pitchFamily="34" charset="-122"/>
                <a:cs typeface="Arial" pitchFamily="34" charset="-120"/>
              </a:rPr>
              <a:t>THE CLASS MODEL</a:t>
            </a:r>
            <a:endParaRPr lang="en-US" sz="1050" dirty="0"/>
          </a:p>
        </p:txBody>
      </p:sp>
      <p:sp>
        <p:nvSpPr>
          <p:cNvPr id="6" name="Shape 4"/>
          <p:cNvSpPr/>
          <p:nvPr/>
        </p:nvSpPr>
        <p:spPr>
          <a:xfrm>
            <a:off x="352425" y="1238250"/>
            <a:ext cx="6680200" cy="3270250"/>
          </a:xfrm>
          <a:prstGeom prst="rect">
            <a:avLst/>
          </a:prstGeom>
          <a:ln w="6350">
            <a:solidFill>
              <a:srgbClr val="C0C0C8"/>
            </a:solidFill>
            <a:prstDash val="solid"/>
          </a:ln>
        </p:spPr>
        <p:txBody>
          <a:bodyPr/>
          <a:lstStyle/>
          <a:p>
            <a:endParaRPr lang="fr-FR"/>
          </a:p>
        </p:txBody>
      </p:sp>
      <p:pic>
        <p:nvPicPr>
          <p:cNvPr id="7" name="Image 0" descr="preencoded.png"/>
          <p:cNvPicPr>
            <a:picLocks noChangeAspect="1"/>
          </p:cNvPicPr>
          <p:nvPr/>
        </p:nvPicPr>
        <p:blipFill>
          <a:blip r:embed="rId3"/>
          <a:srcRect l="-49" r="-49"/>
          <a:stretch/>
        </p:blipFill>
        <p:spPr>
          <a:xfrm>
            <a:off x="352425" y="1238250"/>
            <a:ext cx="6680200" cy="3270250"/>
          </a:xfrm>
          <a:prstGeom prst="rect">
            <a:avLst/>
          </a:prstGeom>
        </p:spPr>
      </p:pic>
      <p:sp>
        <p:nvSpPr>
          <p:cNvPr id="8" name="Shape 5"/>
          <p:cNvSpPr/>
          <p:nvPr/>
        </p:nvSpPr>
        <p:spPr>
          <a:xfrm>
            <a:off x="352425" y="4667250"/>
            <a:ext cx="2165350" cy="566738"/>
          </a:xfrm>
          <a:prstGeom prst="rect">
            <a:avLst/>
          </a:prstGeom>
          <a:solidFill>
            <a:srgbClr val="063C67"/>
          </a:solidFill>
          <a:ln/>
        </p:spPr>
        <p:txBody>
          <a:bodyPr/>
          <a:lstStyle/>
          <a:p>
            <a:endParaRPr lang="fr-FR"/>
          </a:p>
        </p:txBody>
      </p:sp>
      <p:sp>
        <p:nvSpPr>
          <p:cNvPr id="9" name="Text 6"/>
          <p:cNvSpPr/>
          <p:nvPr/>
        </p:nvSpPr>
        <p:spPr>
          <a:xfrm>
            <a:off x="476250" y="4772025"/>
            <a:ext cx="1993900" cy="395288"/>
          </a:xfrm>
          <a:prstGeom prst="rect">
            <a:avLst/>
          </a:prstGeom>
          <a:noFill/>
          <a:ln/>
        </p:spPr>
        <p:txBody>
          <a:bodyPr wrap="square" lIns="25400" tIns="25400" rIns="25400" bIns="25400" rtlCol="0" anchor="t">
            <a:normAutofit/>
          </a:bodyPr>
          <a:lstStyle/>
          <a:p>
            <a:pPr marL="0" indent="0" algn="l">
              <a:lnSpc>
                <a:spcPct val="104167"/>
              </a:lnSpc>
              <a:buNone/>
            </a:pPr>
            <a:r>
              <a:rPr lang="en-US" sz="1125" b="1" dirty="0">
                <a:solidFill>
                  <a:srgbClr val="FFFFFF"/>
                </a:solidFill>
                <a:latin typeface="Calibri" pitchFamily="34" charset="0"/>
                <a:ea typeface="Calibri" pitchFamily="34" charset="-122"/>
                <a:cs typeface="Calibri" pitchFamily="34" charset="-120"/>
              </a:rPr>
              <a:t>Facade </a:t>
            </a:r>
            <a:r>
              <a:rPr lang="en-US" sz="1050" dirty="0">
                <a:solidFill>
                  <a:srgbClr val="FFFFFF"/>
                </a:solidFill>
                <a:latin typeface="Calibri" pitchFamily="34" charset="0"/>
                <a:ea typeface="Calibri" pitchFamily="34" charset="-122"/>
                <a:cs typeface="Calibri" pitchFamily="34" charset="-120"/>
              </a:rPr>
              <a:t>the only entry point</a:t>
            </a:r>
            <a:endParaRPr lang="en-US" sz="1125" dirty="0"/>
          </a:p>
        </p:txBody>
      </p:sp>
      <p:sp>
        <p:nvSpPr>
          <p:cNvPr id="10" name="Shape 7"/>
          <p:cNvSpPr/>
          <p:nvPr/>
        </p:nvSpPr>
        <p:spPr>
          <a:xfrm>
            <a:off x="2603500" y="4667250"/>
            <a:ext cx="2165350" cy="566738"/>
          </a:xfrm>
          <a:prstGeom prst="rect">
            <a:avLst/>
          </a:prstGeom>
          <a:solidFill>
            <a:srgbClr val="1D93C9"/>
          </a:solidFill>
          <a:ln/>
        </p:spPr>
        <p:txBody>
          <a:bodyPr/>
          <a:lstStyle/>
          <a:p>
            <a:endParaRPr lang="fr-FR"/>
          </a:p>
        </p:txBody>
      </p:sp>
      <p:sp>
        <p:nvSpPr>
          <p:cNvPr id="11" name="Text 8"/>
          <p:cNvSpPr/>
          <p:nvPr/>
        </p:nvSpPr>
        <p:spPr>
          <a:xfrm>
            <a:off x="2727325" y="4772025"/>
            <a:ext cx="1993900" cy="395288"/>
          </a:xfrm>
          <a:prstGeom prst="rect">
            <a:avLst/>
          </a:prstGeom>
          <a:noFill/>
          <a:ln/>
        </p:spPr>
        <p:txBody>
          <a:bodyPr wrap="square" lIns="25400" tIns="25400" rIns="25400" bIns="25400" rtlCol="0" anchor="t">
            <a:normAutofit/>
          </a:bodyPr>
          <a:lstStyle/>
          <a:p>
            <a:pPr marL="0" indent="0" algn="l">
              <a:lnSpc>
                <a:spcPct val="104167"/>
              </a:lnSpc>
              <a:buNone/>
            </a:pPr>
            <a:r>
              <a:rPr lang="en-US" sz="1125" b="1" dirty="0">
                <a:solidFill>
                  <a:srgbClr val="FFFFFF"/>
                </a:solidFill>
                <a:latin typeface="Calibri" pitchFamily="34" charset="0"/>
                <a:ea typeface="Calibri" pitchFamily="34" charset="-122"/>
                <a:cs typeface="Calibri" pitchFamily="34" charset="-120"/>
              </a:rPr>
              <a:t>Mutation service </a:t>
            </a:r>
            <a:r>
              <a:rPr lang="en-US" sz="1050" dirty="0">
                <a:solidFill>
                  <a:srgbClr val="FFFFFF"/>
                </a:solidFill>
                <a:latin typeface="Calibri" pitchFamily="34" charset="0"/>
                <a:ea typeface="Calibri" pitchFamily="34" charset="-122"/>
                <a:cs typeface="Calibri" pitchFamily="34" charset="-120"/>
              </a:rPr>
              <a:t>the audit trail is architectural</a:t>
            </a:r>
            <a:endParaRPr lang="en-US" sz="1125" dirty="0"/>
          </a:p>
        </p:txBody>
      </p:sp>
      <p:sp>
        <p:nvSpPr>
          <p:cNvPr id="12" name="Shape 9"/>
          <p:cNvSpPr/>
          <p:nvPr/>
        </p:nvSpPr>
        <p:spPr>
          <a:xfrm>
            <a:off x="4854575" y="4667250"/>
            <a:ext cx="2165350" cy="566738"/>
          </a:xfrm>
          <a:prstGeom prst="rect">
            <a:avLst/>
          </a:prstGeom>
          <a:solidFill>
            <a:srgbClr val="E9F5FB"/>
          </a:solidFill>
          <a:ln/>
        </p:spPr>
        <p:txBody>
          <a:bodyPr/>
          <a:lstStyle/>
          <a:p>
            <a:endParaRPr lang="fr-FR"/>
          </a:p>
        </p:txBody>
      </p:sp>
      <p:sp>
        <p:nvSpPr>
          <p:cNvPr id="13" name="Text 10"/>
          <p:cNvSpPr/>
          <p:nvPr/>
        </p:nvSpPr>
        <p:spPr>
          <a:xfrm>
            <a:off x="4978400" y="4772025"/>
            <a:ext cx="1993900" cy="395288"/>
          </a:xfrm>
          <a:prstGeom prst="rect">
            <a:avLst/>
          </a:prstGeom>
          <a:noFill/>
          <a:ln/>
        </p:spPr>
        <p:txBody>
          <a:bodyPr wrap="square" lIns="25400" tIns="25400" rIns="25400" bIns="25400" rtlCol="0" anchor="t">
            <a:normAutofit/>
          </a:bodyPr>
          <a:lstStyle/>
          <a:p>
            <a:pPr marL="0" indent="0" algn="l">
              <a:lnSpc>
                <a:spcPct val="104167"/>
              </a:lnSpc>
              <a:buNone/>
            </a:pPr>
            <a:r>
              <a:rPr lang="en-US" sz="1125" b="1" dirty="0">
                <a:solidFill>
                  <a:srgbClr val="063C67"/>
                </a:solidFill>
                <a:latin typeface="Calibri" pitchFamily="34" charset="0"/>
                <a:ea typeface="Calibri" pitchFamily="34" charset="-122"/>
                <a:cs typeface="Calibri" pitchFamily="34" charset="-120"/>
              </a:rPr>
              <a:t>One DB per node </a:t>
            </a:r>
            <a:r>
              <a:rPr lang="en-US" sz="1050" dirty="0">
                <a:solidFill>
                  <a:srgbClr val="063C67"/>
                </a:solidFill>
                <a:latin typeface="Calibri" pitchFamily="34" charset="0"/>
                <a:ea typeface="Calibri" pitchFamily="34" charset="-122"/>
                <a:cs typeface="Calibri" pitchFamily="34" charset="-120"/>
              </a:rPr>
              <a:t>isolation by storage layout</a:t>
            </a:r>
            <a:endParaRPr lang="en-US" sz="1125" dirty="0"/>
          </a:p>
        </p:txBody>
      </p:sp>
      <p:sp>
        <p:nvSpPr>
          <p:cNvPr id="14" name="Text 11"/>
          <p:cNvSpPr/>
          <p:nvPr/>
        </p:nvSpPr>
        <p:spPr>
          <a:xfrm>
            <a:off x="352425" y="5391150"/>
            <a:ext cx="6867525" cy="434181"/>
          </a:xfrm>
          <a:prstGeom prst="rect">
            <a:avLst/>
          </a:prstGeom>
          <a:noFill/>
          <a:ln/>
        </p:spPr>
        <p:txBody>
          <a:bodyPr wrap="square" lIns="25400" tIns="25400" rIns="25400" bIns="25400" rtlCol="0" anchor="t">
            <a:normAutofit lnSpcReduction="10000"/>
          </a:bodyPr>
          <a:lstStyle/>
          <a:p>
            <a:pPr marL="0" indent="0" algn="l">
              <a:lnSpc>
                <a:spcPct val="107586"/>
              </a:lnSpc>
              <a:buNone/>
            </a:pPr>
            <a:r>
              <a:rPr lang="en-US" sz="1200" dirty="0">
                <a:solidFill>
                  <a:srgbClr val="858591"/>
                </a:solidFill>
                <a:latin typeface="Calibri" pitchFamily="34" charset="0"/>
                <a:ea typeface="Calibri" pitchFamily="34" charset="-122"/>
                <a:cs typeface="Calibri" pitchFamily="34" charset="-120"/>
              </a:rPr>
              <a:t>Every arrow into the data crosses the facade, then the mutation service. Two graph repositories sit behind one interface, so the network can be held in memory or in Neo4j without the domain knowing which.</a:t>
            </a:r>
            <a:endParaRPr lang="en-US" sz="1200" dirty="0"/>
          </a:p>
        </p:txBody>
      </p:sp>
      <p:sp>
        <p:nvSpPr>
          <p:cNvPr id="15" name="Text 12"/>
          <p:cNvSpPr/>
          <p:nvPr/>
        </p:nvSpPr>
        <p:spPr>
          <a:xfrm>
            <a:off x="7239000" y="1047750"/>
            <a:ext cx="5060633"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26" dirty="0">
                <a:solidFill>
                  <a:srgbClr val="1D93C9"/>
                </a:solidFill>
                <a:latin typeface="Arial" pitchFamily="34" charset="0"/>
                <a:ea typeface="Arial" pitchFamily="34" charset="-122"/>
                <a:cs typeface="Arial" pitchFamily="34" charset="-120"/>
              </a:rPr>
              <a:t>THE APPLICATION, AS THE OPERATOR MEETS IT</a:t>
            </a:r>
            <a:endParaRPr lang="en-US" sz="1050" dirty="0"/>
          </a:p>
        </p:txBody>
      </p:sp>
      <p:sp>
        <p:nvSpPr>
          <p:cNvPr id="16" name="Shape 13"/>
          <p:cNvSpPr/>
          <p:nvPr/>
        </p:nvSpPr>
        <p:spPr>
          <a:xfrm>
            <a:off x="7239000" y="1238250"/>
            <a:ext cx="2260600" cy="1117600"/>
          </a:xfrm>
          <a:prstGeom prst="rect">
            <a:avLst/>
          </a:prstGeom>
          <a:ln w="6350">
            <a:solidFill>
              <a:srgbClr val="C0C0C8"/>
            </a:solidFill>
            <a:prstDash val="solid"/>
          </a:ln>
        </p:spPr>
        <p:txBody>
          <a:bodyPr/>
          <a:lstStyle/>
          <a:p>
            <a:endParaRPr lang="fr-FR"/>
          </a:p>
        </p:txBody>
      </p:sp>
      <p:pic>
        <p:nvPicPr>
          <p:cNvPr id="17" name="Image 1" descr="preencoded.png"/>
          <p:cNvPicPr>
            <a:picLocks noChangeAspect="1"/>
          </p:cNvPicPr>
          <p:nvPr/>
        </p:nvPicPr>
        <p:blipFill>
          <a:blip r:embed="rId4"/>
          <a:srcRect l="657" r="657"/>
          <a:stretch/>
        </p:blipFill>
        <p:spPr>
          <a:xfrm>
            <a:off x="7239000" y="1238250"/>
            <a:ext cx="2260600" cy="1117600"/>
          </a:xfrm>
          <a:prstGeom prst="rect">
            <a:avLst/>
          </a:prstGeom>
        </p:spPr>
      </p:pic>
      <p:sp>
        <p:nvSpPr>
          <p:cNvPr id="18" name="Text 14"/>
          <p:cNvSpPr/>
          <p:nvPr/>
        </p:nvSpPr>
        <p:spPr>
          <a:xfrm>
            <a:off x="7239000" y="2393950"/>
            <a:ext cx="2486660" cy="204787"/>
          </a:xfrm>
          <a:prstGeom prst="rect">
            <a:avLst/>
          </a:prstGeom>
          <a:noFill/>
          <a:ln/>
        </p:spPr>
        <p:txBody>
          <a:bodyPr wrap="square" lIns="25400" tIns="25400" rIns="25400" bIns="25400" rtlCol="0" anchor="t">
            <a:normAutofit lnSpcReduction="10000"/>
          </a:bodyPr>
          <a:lstStyle/>
          <a:p>
            <a:pPr marL="0" indent="0" algn="l">
              <a:lnSpc>
                <a:spcPct val="100962"/>
              </a:lnSpc>
              <a:buNone/>
            </a:pPr>
            <a:r>
              <a:rPr lang="en-US" sz="1050" b="1" dirty="0">
                <a:solidFill>
                  <a:srgbClr val="063C67"/>
                </a:solidFill>
                <a:latin typeface="Calibri" pitchFamily="34" charset="0"/>
                <a:ea typeface="Calibri" pitchFamily="34" charset="-122"/>
                <a:cs typeface="Calibri" pitchFamily="34" charset="-120"/>
              </a:rPr>
              <a:t>Weekly review </a:t>
            </a:r>
            <a:r>
              <a:rPr lang="en-US" sz="1050" dirty="0">
                <a:solidFill>
                  <a:srgbClr val="063C67"/>
                </a:solidFill>
                <a:latin typeface="Calibri" pitchFamily="34" charset="0"/>
                <a:ea typeface="Calibri" pitchFamily="34" charset="-122"/>
                <a:cs typeface="Calibri" pitchFamily="34" charset="-120"/>
              </a:rPr>
              <a:t>· one signed transaction</a:t>
            </a:r>
            <a:endParaRPr lang="en-US" sz="1050" dirty="0"/>
          </a:p>
        </p:txBody>
      </p:sp>
      <p:sp>
        <p:nvSpPr>
          <p:cNvPr id="19" name="Shape 15"/>
          <p:cNvSpPr/>
          <p:nvPr/>
        </p:nvSpPr>
        <p:spPr>
          <a:xfrm>
            <a:off x="9604375" y="1238250"/>
            <a:ext cx="2260600" cy="1117600"/>
          </a:xfrm>
          <a:prstGeom prst="rect">
            <a:avLst/>
          </a:prstGeom>
          <a:ln w="6350">
            <a:solidFill>
              <a:srgbClr val="C0C0C8"/>
            </a:solidFill>
            <a:prstDash val="solid"/>
          </a:ln>
        </p:spPr>
        <p:txBody>
          <a:bodyPr/>
          <a:lstStyle/>
          <a:p>
            <a:endParaRPr lang="fr-FR"/>
          </a:p>
        </p:txBody>
      </p:sp>
      <p:pic>
        <p:nvPicPr>
          <p:cNvPr id="20" name="Image 2" descr="preencoded.png"/>
          <p:cNvPicPr>
            <a:picLocks noChangeAspect="1"/>
          </p:cNvPicPr>
          <p:nvPr/>
        </p:nvPicPr>
        <p:blipFill>
          <a:blip r:embed="rId5"/>
          <a:srcRect t="10104" b="46028"/>
          <a:stretch/>
        </p:blipFill>
        <p:spPr>
          <a:xfrm>
            <a:off x="9604375" y="1238250"/>
            <a:ext cx="2260600" cy="1117600"/>
          </a:xfrm>
          <a:prstGeom prst="rect">
            <a:avLst/>
          </a:prstGeom>
        </p:spPr>
      </p:pic>
      <p:sp>
        <p:nvSpPr>
          <p:cNvPr id="21" name="Text 16"/>
          <p:cNvSpPr/>
          <p:nvPr/>
        </p:nvSpPr>
        <p:spPr>
          <a:xfrm>
            <a:off x="9604375" y="2393950"/>
            <a:ext cx="2486660" cy="204787"/>
          </a:xfrm>
          <a:prstGeom prst="rect">
            <a:avLst/>
          </a:prstGeom>
          <a:noFill/>
          <a:ln/>
        </p:spPr>
        <p:txBody>
          <a:bodyPr wrap="square" lIns="25400" tIns="25400" rIns="25400" bIns="25400" rtlCol="0" anchor="t">
            <a:normAutofit lnSpcReduction="10000"/>
          </a:bodyPr>
          <a:lstStyle/>
          <a:p>
            <a:pPr marL="0" indent="0" algn="l">
              <a:lnSpc>
                <a:spcPct val="100962"/>
              </a:lnSpc>
              <a:buNone/>
            </a:pPr>
            <a:r>
              <a:rPr lang="en-US" sz="1050" b="1" dirty="0">
                <a:solidFill>
                  <a:srgbClr val="063C67"/>
                </a:solidFill>
                <a:latin typeface="Calibri" pitchFamily="34" charset="0"/>
                <a:ea typeface="Calibri" pitchFamily="34" charset="-122"/>
                <a:cs typeface="Calibri" pitchFamily="34" charset="-120"/>
              </a:rPr>
              <a:t>Explainability </a:t>
            </a:r>
            <a:r>
              <a:rPr lang="en-US" sz="1050" dirty="0">
                <a:solidFill>
                  <a:srgbClr val="063C67"/>
                </a:solidFill>
                <a:latin typeface="Calibri" pitchFamily="34" charset="0"/>
                <a:ea typeface="Calibri" pitchFamily="34" charset="-122"/>
                <a:cs typeface="Calibri" pitchFamily="34" charset="-120"/>
              </a:rPr>
              <a:t>· term by term</a:t>
            </a:r>
            <a:endParaRPr lang="en-US" sz="1050" dirty="0"/>
          </a:p>
        </p:txBody>
      </p:sp>
      <p:sp>
        <p:nvSpPr>
          <p:cNvPr id="22" name="Shape 17"/>
          <p:cNvSpPr/>
          <p:nvPr/>
        </p:nvSpPr>
        <p:spPr>
          <a:xfrm>
            <a:off x="7239000" y="2665413"/>
            <a:ext cx="2260600" cy="1117600"/>
          </a:xfrm>
          <a:prstGeom prst="rect">
            <a:avLst/>
          </a:prstGeom>
          <a:ln w="6350">
            <a:solidFill>
              <a:srgbClr val="C0C0C8"/>
            </a:solidFill>
            <a:prstDash val="solid"/>
          </a:ln>
        </p:spPr>
        <p:txBody>
          <a:bodyPr/>
          <a:lstStyle/>
          <a:p>
            <a:endParaRPr lang="fr-FR"/>
          </a:p>
        </p:txBody>
      </p:sp>
      <p:pic>
        <p:nvPicPr>
          <p:cNvPr id="23" name="Image 3" descr="preencoded.png"/>
          <p:cNvPicPr>
            <a:picLocks noChangeAspect="1"/>
          </p:cNvPicPr>
          <p:nvPr/>
        </p:nvPicPr>
        <p:blipFill>
          <a:blip r:embed="rId6"/>
          <a:srcRect t="17360" b="40506"/>
          <a:stretch/>
        </p:blipFill>
        <p:spPr>
          <a:xfrm>
            <a:off x="7239000" y="2665413"/>
            <a:ext cx="2260600" cy="1117600"/>
          </a:xfrm>
          <a:prstGeom prst="rect">
            <a:avLst/>
          </a:prstGeom>
        </p:spPr>
      </p:pic>
      <p:sp>
        <p:nvSpPr>
          <p:cNvPr id="24" name="Text 18"/>
          <p:cNvSpPr/>
          <p:nvPr/>
        </p:nvSpPr>
        <p:spPr>
          <a:xfrm>
            <a:off x="7239000" y="3821113"/>
            <a:ext cx="2486660" cy="204787"/>
          </a:xfrm>
          <a:prstGeom prst="rect">
            <a:avLst/>
          </a:prstGeom>
          <a:noFill/>
          <a:ln/>
        </p:spPr>
        <p:txBody>
          <a:bodyPr wrap="square" lIns="25400" tIns="25400" rIns="25400" bIns="25400" rtlCol="0" anchor="t">
            <a:normAutofit lnSpcReduction="10000"/>
          </a:bodyPr>
          <a:lstStyle/>
          <a:p>
            <a:pPr marL="0" indent="0" algn="l">
              <a:lnSpc>
                <a:spcPct val="100962"/>
              </a:lnSpc>
              <a:buNone/>
            </a:pPr>
            <a:r>
              <a:rPr lang="en-US" sz="1050" b="1" dirty="0">
                <a:solidFill>
                  <a:srgbClr val="063C67"/>
                </a:solidFill>
                <a:latin typeface="Calibri" pitchFamily="34" charset="0"/>
                <a:ea typeface="Calibri" pitchFamily="34" charset="-122"/>
                <a:cs typeface="Calibri" pitchFamily="34" charset="-120"/>
              </a:rPr>
              <a:t>Network </a:t>
            </a:r>
            <a:r>
              <a:rPr lang="en-US" sz="1050" dirty="0">
                <a:solidFill>
                  <a:srgbClr val="063C67"/>
                </a:solidFill>
                <a:latin typeface="Calibri" pitchFamily="34" charset="0"/>
                <a:ea typeface="Calibri" pitchFamily="34" charset="-122"/>
                <a:cs typeface="Calibri" pitchFamily="34" charset="-120"/>
              </a:rPr>
              <a:t>· generated per project</a:t>
            </a:r>
            <a:endParaRPr lang="en-US" sz="1050" dirty="0"/>
          </a:p>
        </p:txBody>
      </p:sp>
      <p:sp>
        <p:nvSpPr>
          <p:cNvPr id="25" name="Shape 19"/>
          <p:cNvSpPr/>
          <p:nvPr/>
        </p:nvSpPr>
        <p:spPr>
          <a:xfrm>
            <a:off x="9604375" y="2665413"/>
            <a:ext cx="2260600" cy="1117600"/>
          </a:xfrm>
          <a:prstGeom prst="rect">
            <a:avLst/>
          </a:prstGeom>
          <a:ln w="6350">
            <a:solidFill>
              <a:srgbClr val="C0C0C8"/>
            </a:solidFill>
            <a:prstDash val="solid"/>
          </a:ln>
        </p:spPr>
        <p:txBody>
          <a:bodyPr/>
          <a:lstStyle/>
          <a:p>
            <a:endParaRPr lang="fr-FR"/>
          </a:p>
        </p:txBody>
      </p:sp>
      <p:pic>
        <p:nvPicPr>
          <p:cNvPr id="26" name="Image 4" descr="preencoded.png"/>
          <p:cNvPicPr>
            <a:picLocks noChangeAspect="1"/>
          </p:cNvPicPr>
          <p:nvPr/>
        </p:nvPicPr>
        <p:blipFill>
          <a:blip r:embed="rId7"/>
          <a:srcRect t="21236" b="49551"/>
          <a:stretch/>
        </p:blipFill>
        <p:spPr>
          <a:xfrm>
            <a:off x="9604375" y="2665413"/>
            <a:ext cx="2260600" cy="1117600"/>
          </a:xfrm>
          <a:prstGeom prst="rect">
            <a:avLst/>
          </a:prstGeom>
        </p:spPr>
      </p:pic>
      <p:sp>
        <p:nvSpPr>
          <p:cNvPr id="27" name="Text 20"/>
          <p:cNvSpPr/>
          <p:nvPr/>
        </p:nvSpPr>
        <p:spPr>
          <a:xfrm>
            <a:off x="9604375" y="3821113"/>
            <a:ext cx="2486660" cy="204787"/>
          </a:xfrm>
          <a:prstGeom prst="rect">
            <a:avLst/>
          </a:prstGeom>
          <a:noFill/>
          <a:ln/>
        </p:spPr>
        <p:txBody>
          <a:bodyPr wrap="square" lIns="25400" tIns="25400" rIns="25400" bIns="25400" rtlCol="0" anchor="t">
            <a:normAutofit lnSpcReduction="10000"/>
          </a:bodyPr>
          <a:lstStyle/>
          <a:p>
            <a:pPr marL="0" indent="0" algn="l">
              <a:lnSpc>
                <a:spcPct val="100962"/>
              </a:lnSpc>
              <a:buNone/>
            </a:pPr>
            <a:r>
              <a:rPr lang="en-US" sz="1050" b="1" dirty="0">
                <a:solidFill>
                  <a:srgbClr val="063C67"/>
                </a:solidFill>
                <a:latin typeface="Calibri" pitchFamily="34" charset="0"/>
                <a:ea typeface="Calibri" pitchFamily="34" charset="-122"/>
                <a:cs typeface="Calibri" pitchFamily="34" charset="-120"/>
              </a:rPr>
              <a:t>Criticality </a:t>
            </a:r>
            <a:r>
              <a:rPr lang="en-US" sz="1050" dirty="0">
                <a:solidFill>
                  <a:srgbClr val="063C67"/>
                </a:solidFill>
                <a:latin typeface="Calibri" pitchFamily="34" charset="0"/>
                <a:ea typeface="Calibri" pitchFamily="34" charset="-122"/>
                <a:cs typeface="Calibri" pitchFamily="34" charset="-120"/>
              </a:rPr>
              <a:t>· each node knocked out</a:t>
            </a:r>
            <a:endParaRPr lang="en-US" sz="1050" dirty="0"/>
          </a:p>
        </p:txBody>
      </p:sp>
      <p:sp>
        <p:nvSpPr>
          <p:cNvPr id="28" name="Text 21"/>
          <p:cNvSpPr/>
          <p:nvPr/>
        </p:nvSpPr>
        <p:spPr>
          <a:xfrm>
            <a:off x="7239000" y="4038600"/>
            <a:ext cx="5060633"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26" dirty="0">
                <a:solidFill>
                  <a:srgbClr val="1D93C9"/>
                </a:solidFill>
                <a:latin typeface="Arial" pitchFamily="34" charset="0"/>
                <a:ea typeface="Arial" pitchFamily="34" charset="-122"/>
                <a:cs typeface="Arial" pitchFamily="34" charset="-120"/>
              </a:rPr>
              <a:t>A NODE, AND WHAT IT CARRIES</a:t>
            </a:r>
            <a:endParaRPr lang="en-US" sz="1050" dirty="0"/>
          </a:p>
        </p:txBody>
      </p:sp>
      <p:sp>
        <p:nvSpPr>
          <p:cNvPr id="29" name="Shape 22"/>
          <p:cNvSpPr/>
          <p:nvPr/>
        </p:nvSpPr>
        <p:spPr>
          <a:xfrm>
            <a:off x="7239000" y="4229100"/>
            <a:ext cx="4613275" cy="2222500"/>
          </a:xfrm>
          <a:prstGeom prst="rect">
            <a:avLst/>
          </a:prstGeom>
          <a:ln w="6350">
            <a:solidFill>
              <a:srgbClr val="C0C0C8"/>
            </a:solidFill>
            <a:prstDash val="solid"/>
          </a:ln>
        </p:spPr>
        <p:txBody>
          <a:bodyPr/>
          <a:lstStyle/>
          <a:p>
            <a:endParaRPr lang="fr-FR"/>
          </a:p>
        </p:txBody>
      </p:sp>
      <p:pic>
        <p:nvPicPr>
          <p:cNvPr id="30" name="Image 5" descr="preencoded.png"/>
          <p:cNvPicPr>
            <a:picLocks noChangeAspect="1"/>
          </p:cNvPicPr>
          <p:nvPr/>
        </p:nvPicPr>
        <p:blipFill>
          <a:blip r:embed="rId8"/>
          <a:srcRect t="14146" b="56584"/>
          <a:stretch/>
        </p:blipFill>
        <p:spPr>
          <a:xfrm>
            <a:off x="7239000" y="4229100"/>
            <a:ext cx="4613275" cy="2222500"/>
          </a:xfrm>
          <a:prstGeom prst="rect">
            <a:avLst/>
          </a:prstGeom>
        </p:spPr>
      </p:pic>
      <p:pic>
        <p:nvPicPr>
          <p:cNvPr id="31" name="Image 6" descr="preencoded.png"/>
          <p:cNvPicPr>
            <a:picLocks noChangeAspect="1"/>
          </p:cNvPicPr>
          <p:nvPr/>
        </p:nvPicPr>
        <p:blipFill>
          <a:blip r:embed="rId9"/>
          <a:stretch>
            <a:fillRect/>
          </a:stretch>
        </p:blipFill>
        <p:spPr>
          <a:xfrm>
            <a:off x="11229975" y="6567488"/>
            <a:ext cx="714375" cy="7143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37817-8BBF-FF4F-3388-F99F11973E6F}"/>
            </a:ext>
          </a:extLst>
        </p:cNvPr>
        <p:cNvGrpSpPr/>
        <p:nvPr/>
      </p:nvGrpSpPr>
      <p:grpSpPr>
        <a:xfrm>
          <a:off x="0" y="0"/>
          <a:ext cx="0" cy="0"/>
          <a:chOff x="0" y="0"/>
          <a:chExt cx="0" cy="0"/>
        </a:xfrm>
      </p:grpSpPr>
      <p:sp>
        <p:nvSpPr>
          <p:cNvPr id="31" name="Shape 19">
            <a:extLst>
              <a:ext uri="{FF2B5EF4-FFF2-40B4-BE49-F238E27FC236}">
                <a16:creationId xmlns:a16="http://schemas.microsoft.com/office/drawing/2014/main" id="{2828DD8B-2945-ED97-F01B-96C60631C3EF}"/>
              </a:ext>
            </a:extLst>
          </p:cNvPr>
          <p:cNvSpPr/>
          <p:nvPr/>
        </p:nvSpPr>
        <p:spPr>
          <a:xfrm>
            <a:off x="352426" y="4083050"/>
            <a:ext cx="6286499" cy="704850"/>
          </a:xfrm>
          <a:prstGeom prst="rect">
            <a:avLst/>
          </a:prstGeom>
          <a:solidFill>
            <a:srgbClr val="FFDA65"/>
          </a:solidFill>
          <a:ln/>
        </p:spPr>
        <p:txBody>
          <a:bodyPr/>
          <a:lstStyle/>
          <a:p>
            <a:endParaRPr lang="fr-FR"/>
          </a:p>
        </p:txBody>
      </p:sp>
      <p:sp>
        <p:nvSpPr>
          <p:cNvPr id="2" name="Shape 0">
            <a:extLst>
              <a:ext uri="{FF2B5EF4-FFF2-40B4-BE49-F238E27FC236}">
                <a16:creationId xmlns:a16="http://schemas.microsoft.com/office/drawing/2014/main" id="{3A634611-44B1-8AFF-3900-930EE93289B0}"/>
              </a:ext>
            </a:extLst>
          </p:cNvPr>
          <p:cNvSpPr/>
          <p:nvPr/>
        </p:nvSpPr>
        <p:spPr>
          <a:xfrm>
            <a:off x="0" y="0"/>
            <a:ext cx="104775" cy="6858000"/>
          </a:xfrm>
          <a:prstGeom prst="rect">
            <a:avLst/>
          </a:prstGeom>
          <a:solidFill>
            <a:srgbClr val="063C67"/>
          </a:solidFill>
          <a:ln/>
        </p:spPr>
        <p:txBody>
          <a:bodyPr/>
          <a:lstStyle/>
          <a:p>
            <a:endParaRPr lang="fr-FR"/>
          </a:p>
        </p:txBody>
      </p:sp>
      <p:sp>
        <p:nvSpPr>
          <p:cNvPr id="3" name="Text 1">
            <a:extLst>
              <a:ext uri="{FF2B5EF4-FFF2-40B4-BE49-F238E27FC236}">
                <a16:creationId xmlns:a16="http://schemas.microsoft.com/office/drawing/2014/main" id="{9EF39D6B-E285-8E74-5325-ECAE439FDF37}"/>
              </a:ext>
            </a:extLst>
          </p:cNvPr>
          <p:cNvSpPr/>
          <p:nvPr/>
        </p:nvSpPr>
        <p:spPr>
          <a:xfrm>
            <a:off x="352425" y="171450"/>
            <a:ext cx="1351598"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PLAN</a:t>
            </a:r>
            <a:endParaRPr lang="en-US" sz="3225" dirty="0"/>
          </a:p>
        </p:txBody>
      </p:sp>
      <p:sp>
        <p:nvSpPr>
          <p:cNvPr id="4" name="Shape 2">
            <a:extLst>
              <a:ext uri="{FF2B5EF4-FFF2-40B4-BE49-F238E27FC236}">
                <a16:creationId xmlns:a16="http://schemas.microsoft.com/office/drawing/2014/main" id="{79F4D900-1DA9-7718-FCAF-0DFD2E2C4198}"/>
              </a:ext>
            </a:extLst>
          </p:cNvPr>
          <p:cNvSpPr/>
          <p:nvPr/>
        </p:nvSpPr>
        <p:spPr>
          <a:xfrm>
            <a:off x="352425" y="1504950"/>
            <a:ext cx="6286500" cy="723900"/>
          </a:xfrm>
          <a:prstGeom prst="rect">
            <a:avLst/>
          </a:prstGeom>
          <a:solidFill>
            <a:srgbClr val="F4F4F6"/>
          </a:solidFill>
          <a:ln/>
        </p:spPr>
        <p:txBody>
          <a:bodyPr/>
          <a:lstStyle/>
          <a:p>
            <a:endParaRPr lang="fr-FR"/>
          </a:p>
        </p:txBody>
      </p:sp>
      <p:pic>
        <p:nvPicPr>
          <p:cNvPr id="5" name="Image 0" descr="preencoded.png">
            <a:extLst>
              <a:ext uri="{FF2B5EF4-FFF2-40B4-BE49-F238E27FC236}">
                <a16:creationId xmlns:a16="http://schemas.microsoft.com/office/drawing/2014/main" id="{F9D0A43E-EA0A-9B61-7407-AA330F835D46}"/>
              </a:ext>
            </a:extLst>
          </p:cNvPr>
          <p:cNvPicPr>
            <a:picLocks noChangeAspect="1"/>
          </p:cNvPicPr>
          <p:nvPr/>
        </p:nvPicPr>
        <p:blipFill>
          <a:blip r:embed="rId3"/>
          <a:stretch>
            <a:fillRect/>
          </a:stretch>
        </p:blipFill>
        <p:spPr>
          <a:xfrm>
            <a:off x="542925" y="1657350"/>
            <a:ext cx="419100" cy="419100"/>
          </a:xfrm>
          <a:prstGeom prst="rect">
            <a:avLst/>
          </a:prstGeom>
        </p:spPr>
      </p:pic>
      <p:sp>
        <p:nvSpPr>
          <p:cNvPr id="6" name="Text 3">
            <a:extLst>
              <a:ext uri="{FF2B5EF4-FFF2-40B4-BE49-F238E27FC236}">
                <a16:creationId xmlns:a16="http://schemas.microsoft.com/office/drawing/2014/main" id="{9473DE52-48B7-18AE-30DA-0A77917F0FC8}"/>
              </a:ext>
            </a:extLst>
          </p:cNvPr>
          <p:cNvSpPr/>
          <p:nvPr/>
        </p:nvSpPr>
        <p:spPr>
          <a:xfrm>
            <a:off x="1135261" y="1694259"/>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1</a:t>
            </a:r>
            <a:endParaRPr lang="en-US" sz="1800" dirty="0"/>
          </a:p>
        </p:txBody>
      </p:sp>
      <p:sp>
        <p:nvSpPr>
          <p:cNvPr id="8" name="Shape 5">
            <a:extLst>
              <a:ext uri="{FF2B5EF4-FFF2-40B4-BE49-F238E27FC236}">
                <a16:creationId xmlns:a16="http://schemas.microsoft.com/office/drawing/2014/main" id="{1A03AE1C-9EB5-CCFB-437D-366E9D456C84}"/>
              </a:ext>
            </a:extLst>
          </p:cNvPr>
          <p:cNvSpPr/>
          <p:nvPr/>
        </p:nvSpPr>
        <p:spPr>
          <a:xfrm>
            <a:off x="352425" y="2362200"/>
            <a:ext cx="6286500" cy="723900"/>
          </a:xfrm>
          <a:prstGeom prst="rect">
            <a:avLst/>
          </a:prstGeom>
          <a:solidFill>
            <a:srgbClr val="F4F4F6"/>
          </a:solidFill>
          <a:ln/>
        </p:spPr>
        <p:txBody>
          <a:bodyPr/>
          <a:lstStyle/>
          <a:p>
            <a:endParaRPr lang="fr-FR"/>
          </a:p>
        </p:txBody>
      </p:sp>
      <p:pic>
        <p:nvPicPr>
          <p:cNvPr id="9" name="Image 1" descr="preencoded.png">
            <a:extLst>
              <a:ext uri="{FF2B5EF4-FFF2-40B4-BE49-F238E27FC236}">
                <a16:creationId xmlns:a16="http://schemas.microsoft.com/office/drawing/2014/main" id="{064C33BE-24C8-C928-CE6F-E53F48865E33}"/>
              </a:ext>
            </a:extLst>
          </p:cNvPr>
          <p:cNvPicPr>
            <a:picLocks noChangeAspect="1"/>
          </p:cNvPicPr>
          <p:nvPr/>
        </p:nvPicPr>
        <p:blipFill>
          <a:blip r:embed="rId4"/>
          <a:stretch>
            <a:fillRect/>
          </a:stretch>
        </p:blipFill>
        <p:spPr>
          <a:xfrm>
            <a:off x="542925" y="2514600"/>
            <a:ext cx="331887" cy="419100"/>
          </a:xfrm>
          <a:prstGeom prst="rect">
            <a:avLst/>
          </a:prstGeom>
        </p:spPr>
      </p:pic>
      <p:sp>
        <p:nvSpPr>
          <p:cNvPr id="10" name="Text 6">
            <a:extLst>
              <a:ext uri="{FF2B5EF4-FFF2-40B4-BE49-F238E27FC236}">
                <a16:creationId xmlns:a16="http://schemas.microsoft.com/office/drawing/2014/main" id="{BC1C3C34-9621-7016-BA6F-FFB3FE2BEB1E}"/>
              </a:ext>
            </a:extLst>
          </p:cNvPr>
          <p:cNvSpPr/>
          <p:nvPr/>
        </p:nvSpPr>
        <p:spPr>
          <a:xfrm>
            <a:off x="1135261" y="255324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2</a:t>
            </a:r>
            <a:endParaRPr lang="en-US" sz="1800" dirty="0"/>
          </a:p>
        </p:txBody>
      </p:sp>
      <p:sp>
        <p:nvSpPr>
          <p:cNvPr id="12" name="Shape 8">
            <a:extLst>
              <a:ext uri="{FF2B5EF4-FFF2-40B4-BE49-F238E27FC236}">
                <a16:creationId xmlns:a16="http://schemas.microsoft.com/office/drawing/2014/main" id="{B1A6C181-FE80-1AF5-93EA-FA9CF3FB18B9}"/>
              </a:ext>
            </a:extLst>
          </p:cNvPr>
          <p:cNvSpPr/>
          <p:nvPr/>
        </p:nvSpPr>
        <p:spPr>
          <a:xfrm>
            <a:off x="352425" y="3219450"/>
            <a:ext cx="6286500" cy="723900"/>
          </a:xfrm>
          <a:prstGeom prst="rect">
            <a:avLst/>
          </a:prstGeom>
          <a:solidFill>
            <a:srgbClr val="F4F4F6"/>
          </a:solidFill>
          <a:ln/>
        </p:spPr>
        <p:txBody>
          <a:bodyPr/>
          <a:lstStyle/>
          <a:p>
            <a:endParaRPr lang="fr-FR"/>
          </a:p>
        </p:txBody>
      </p:sp>
      <p:pic>
        <p:nvPicPr>
          <p:cNvPr id="13" name="Image 2" descr="preencoded.png">
            <a:extLst>
              <a:ext uri="{FF2B5EF4-FFF2-40B4-BE49-F238E27FC236}">
                <a16:creationId xmlns:a16="http://schemas.microsoft.com/office/drawing/2014/main" id="{6A9E140F-B9EC-3765-D6F9-F86D7E3FC332}"/>
              </a:ext>
            </a:extLst>
          </p:cNvPr>
          <p:cNvPicPr>
            <a:picLocks noChangeAspect="1"/>
          </p:cNvPicPr>
          <p:nvPr/>
        </p:nvPicPr>
        <p:blipFill>
          <a:blip r:embed="rId5"/>
          <a:stretch>
            <a:fillRect/>
          </a:stretch>
        </p:blipFill>
        <p:spPr>
          <a:xfrm>
            <a:off x="542925" y="3371850"/>
            <a:ext cx="419100" cy="419100"/>
          </a:xfrm>
          <a:prstGeom prst="rect">
            <a:avLst/>
          </a:prstGeom>
        </p:spPr>
      </p:pic>
      <p:sp>
        <p:nvSpPr>
          <p:cNvPr id="14" name="Text 9">
            <a:extLst>
              <a:ext uri="{FF2B5EF4-FFF2-40B4-BE49-F238E27FC236}">
                <a16:creationId xmlns:a16="http://schemas.microsoft.com/office/drawing/2014/main" id="{5706C955-823E-8D85-DA18-6CBBCFAEF7BF}"/>
              </a:ext>
            </a:extLst>
          </p:cNvPr>
          <p:cNvSpPr/>
          <p:nvPr/>
        </p:nvSpPr>
        <p:spPr>
          <a:xfrm>
            <a:off x="1135261" y="3412231"/>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3</a:t>
            </a:r>
            <a:endParaRPr lang="en-US" sz="1800" dirty="0"/>
          </a:p>
        </p:txBody>
      </p:sp>
      <p:pic>
        <p:nvPicPr>
          <p:cNvPr id="17" name="Image 3" descr="preencoded.png">
            <a:extLst>
              <a:ext uri="{FF2B5EF4-FFF2-40B4-BE49-F238E27FC236}">
                <a16:creationId xmlns:a16="http://schemas.microsoft.com/office/drawing/2014/main" id="{F4BA27B2-28F4-F5D7-C4BB-96E86292A461}"/>
              </a:ext>
            </a:extLst>
          </p:cNvPr>
          <p:cNvPicPr>
            <a:picLocks noChangeAspect="1"/>
          </p:cNvPicPr>
          <p:nvPr/>
        </p:nvPicPr>
        <p:blipFill>
          <a:blip r:embed="rId6"/>
          <a:stretch>
            <a:fillRect/>
          </a:stretch>
        </p:blipFill>
        <p:spPr>
          <a:xfrm>
            <a:off x="542925" y="4229100"/>
            <a:ext cx="471785" cy="419100"/>
          </a:xfrm>
          <a:prstGeom prst="rect">
            <a:avLst/>
          </a:prstGeom>
        </p:spPr>
      </p:pic>
      <p:sp>
        <p:nvSpPr>
          <p:cNvPr id="18" name="Text 12">
            <a:extLst>
              <a:ext uri="{FF2B5EF4-FFF2-40B4-BE49-F238E27FC236}">
                <a16:creationId xmlns:a16="http://schemas.microsoft.com/office/drawing/2014/main" id="{1C222FEA-6650-6350-B7D4-7E897EC28BAD}"/>
              </a:ext>
            </a:extLst>
          </p:cNvPr>
          <p:cNvSpPr/>
          <p:nvPr/>
        </p:nvSpPr>
        <p:spPr>
          <a:xfrm>
            <a:off x="1135261" y="4271217"/>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4</a:t>
            </a:r>
            <a:endParaRPr lang="en-US" sz="1800" dirty="0"/>
          </a:p>
        </p:txBody>
      </p:sp>
      <p:sp>
        <p:nvSpPr>
          <p:cNvPr id="20" name="Shape 14">
            <a:extLst>
              <a:ext uri="{FF2B5EF4-FFF2-40B4-BE49-F238E27FC236}">
                <a16:creationId xmlns:a16="http://schemas.microsoft.com/office/drawing/2014/main" id="{E4ACAAC7-41C4-739C-23A7-4D45F2154131}"/>
              </a:ext>
            </a:extLst>
          </p:cNvPr>
          <p:cNvSpPr/>
          <p:nvPr/>
        </p:nvSpPr>
        <p:spPr>
          <a:xfrm>
            <a:off x="352425" y="4933950"/>
            <a:ext cx="6286500" cy="723900"/>
          </a:xfrm>
          <a:prstGeom prst="rect">
            <a:avLst/>
          </a:prstGeom>
          <a:solidFill>
            <a:srgbClr val="F4F4F6"/>
          </a:solidFill>
          <a:ln/>
        </p:spPr>
        <p:txBody>
          <a:bodyPr/>
          <a:lstStyle/>
          <a:p>
            <a:endParaRPr lang="fr-FR" dirty="0"/>
          </a:p>
        </p:txBody>
      </p:sp>
      <p:pic>
        <p:nvPicPr>
          <p:cNvPr id="21" name="Image 4" descr="preencoded.png">
            <a:extLst>
              <a:ext uri="{FF2B5EF4-FFF2-40B4-BE49-F238E27FC236}">
                <a16:creationId xmlns:a16="http://schemas.microsoft.com/office/drawing/2014/main" id="{2D459D8F-28A4-0B97-A8F0-3BCEB39EF49E}"/>
              </a:ext>
            </a:extLst>
          </p:cNvPr>
          <p:cNvPicPr>
            <a:picLocks noChangeAspect="1"/>
          </p:cNvPicPr>
          <p:nvPr/>
        </p:nvPicPr>
        <p:blipFill>
          <a:blip r:embed="rId7"/>
          <a:stretch>
            <a:fillRect/>
          </a:stretch>
        </p:blipFill>
        <p:spPr>
          <a:xfrm>
            <a:off x="542925" y="5086350"/>
            <a:ext cx="469900" cy="419100"/>
          </a:xfrm>
          <a:prstGeom prst="rect">
            <a:avLst/>
          </a:prstGeom>
        </p:spPr>
      </p:pic>
      <p:sp>
        <p:nvSpPr>
          <p:cNvPr id="22" name="Text 15">
            <a:extLst>
              <a:ext uri="{FF2B5EF4-FFF2-40B4-BE49-F238E27FC236}">
                <a16:creationId xmlns:a16="http://schemas.microsoft.com/office/drawing/2014/main" id="{A8C23BE9-0F43-4906-22E1-033274AA07CC}"/>
              </a:ext>
            </a:extLst>
          </p:cNvPr>
          <p:cNvSpPr/>
          <p:nvPr/>
        </p:nvSpPr>
        <p:spPr>
          <a:xfrm>
            <a:off x="1135261" y="5130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5</a:t>
            </a:r>
            <a:endParaRPr lang="en-US" sz="1800" dirty="0"/>
          </a:p>
        </p:txBody>
      </p:sp>
      <p:grpSp>
        <p:nvGrpSpPr>
          <p:cNvPr id="27" name="Groupe 26">
            <a:extLst>
              <a:ext uri="{FF2B5EF4-FFF2-40B4-BE49-F238E27FC236}">
                <a16:creationId xmlns:a16="http://schemas.microsoft.com/office/drawing/2014/main" id="{C6663B91-BD07-7B0E-EDF8-7CFD27CF036E}"/>
              </a:ext>
            </a:extLst>
          </p:cNvPr>
          <p:cNvGrpSpPr/>
          <p:nvPr/>
        </p:nvGrpSpPr>
        <p:grpSpPr>
          <a:xfrm>
            <a:off x="1624310" y="1708051"/>
            <a:ext cx="4953000" cy="3784699"/>
            <a:chOff x="1624310" y="1708051"/>
            <a:chExt cx="4953000" cy="3784699"/>
          </a:xfrm>
        </p:grpSpPr>
        <p:sp>
          <p:nvSpPr>
            <p:cNvPr id="7" name="Text 4">
              <a:extLst>
                <a:ext uri="{FF2B5EF4-FFF2-40B4-BE49-F238E27FC236}">
                  <a16:creationId xmlns:a16="http://schemas.microsoft.com/office/drawing/2014/main" id="{1556AB6A-6C11-A84B-B8AA-A9ECDD0A9B7B}"/>
                </a:ext>
              </a:extLst>
            </p:cNvPr>
            <p:cNvSpPr/>
            <p:nvPr/>
          </p:nvSpPr>
          <p:spPr>
            <a:xfrm>
              <a:off x="1624310" y="1708051"/>
              <a:ext cx="405686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CONTEXT, PROBLEM, MISSION</a:t>
              </a:r>
              <a:endParaRPr lang="en-US" sz="1725" dirty="0"/>
            </a:p>
          </p:txBody>
        </p:sp>
        <p:sp>
          <p:nvSpPr>
            <p:cNvPr id="11" name="Text 7">
              <a:extLst>
                <a:ext uri="{FF2B5EF4-FFF2-40B4-BE49-F238E27FC236}">
                  <a16:creationId xmlns:a16="http://schemas.microsoft.com/office/drawing/2014/main" id="{DACBB3CF-B04A-0A59-1795-BA42546A2C3E}"/>
                </a:ext>
              </a:extLst>
            </p:cNvPr>
            <p:cNvSpPr/>
            <p:nvPr/>
          </p:nvSpPr>
          <p:spPr>
            <a:xfrm>
              <a:off x="1624310" y="2565301"/>
              <a:ext cx="395023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HOW THE PROJECT WAS RUN</a:t>
              </a:r>
              <a:endParaRPr lang="en-US" sz="1725" dirty="0"/>
            </a:p>
          </p:txBody>
        </p:sp>
        <p:sp>
          <p:nvSpPr>
            <p:cNvPr id="15" name="Text 10">
              <a:extLst>
                <a:ext uri="{FF2B5EF4-FFF2-40B4-BE49-F238E27FC236}">
                  <a16:creationId xmlns:a16="http://schemas.microsoft.com/office/drawing/2014/main" id="{DBC9CFDD-AF25-B2FB-735E-842196F0F288}"/>
                </a:ext>
              </a:extLst>
            </p:cNvPr>
            <p:cNvSpPr/>
            <p:nvPr/>
          </p:nvSpPr>
          <p:spPr>
            <a:xfrm>
              <a:off x="1624310" y="3422551"/>
              <a:ext cx="4953000" cy="355699"/>
            </a:xfrm>
            <a:prstGeom prst="rect">
              <a:avLst/>
            </a:prstGeom>
            <a:noFill/>
            <a:ln/>
          </p:spPr>
          <p:txBody>
            <a:bodyPr wrap="square" lIns="25400" tIns="25400" rIns="25400" bIns="25400" rtlCol="0" anchor="t">
              <a:normAutofit fontScale="92500"/>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LITERATURE, DESIGN AND REALISATION</a:t>
              </a:r>
              <a:endParaRPr lang="en-US" sz="1725" dirty="0"/>
            </a:p>
          </p:txBody>
        </p:sp>
        <p:sp>
          <p:nvSpPr>
            <p:cNvPr id="19" name="Text 13">
              <a:extLst>
                <a:ext uri="{FF2B5EF4-FFF2-40B4-BE49-F238E27FC236}">
                  <a16:creationId xmlns:a16="http://schemas.microsoft.com/office/drawing/2014/main" id="{6AFDC3EF-74EB-DC84-057A-C0AA1C5B0DF1}"/>
                </a:ext>
              </a:extLst>
            </p:cNvPr>
            <p:cNvSpPr/>
            <p:nvPr/>
          </p:nvSpPr>
          <p:spPr>
            <a:xfrm>
              <a:off x="1624310" y="4292501"/>
              <a:ext cx="3602077"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RESULTS AND VALIDATION</a:t>
              </a:r>
              <a:endParaRPr lang="en-US" sz="1725" dirty="0"/>
            </a:p>
          </p:txBody>
        </p:sp>
        <p:sp>
          <p:nvSpPr>
            <p:cNvPr id="23" name="Text 16">
              <a:extLst>
                <a:ext uri="{FF2B5EF4-FFF2-40B4-BE49-F238E27FC236}">
                  <a16:creationId xmlns:a16="http://schemas.microsoft.com/office/drawing/2014/main" id="{8CA2E40A-E321-F93E-48F7-E5491EAB7F2D}"/>
                </a:ext>
              </a:extLst>
            </p:cNvPr>
            <p:cNvSpPr/>
            <p:nvPr/>
          </p:nvSpPr>
          <p:spPr>
            <a:xfrm>
              <a:off x="1624310" y="5137051"/>
              <a:ext cx="461861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ASSESSMENT AND PERSPECTIVES</a:t>
              </a:r>
              <a:endParaRPr lang="en-US" sz="1725" dirty="0"/>
            </a:p>
          </p:txBody>
        </p:sp>
      </p:grpSp>
      <p:pic>
        <p:nvPicPr>
          <p:cNvPr id="24" name="Image 5" descr="preencoded.png">
            <a:extLst>
              <a:ext uri="{FF2B5EF4-FFF2-40B4-BE49-F238E27FC236}">
                <a16:creationId xmlns:a16="http://schemas.microsoft.com/office/drawing/2014/main" id="{ACC63C42-20E5-D054-6EFF-E459E5202AB0}"/>
              </a:ext>
            </a:extLst>
          </p:cNvPr>
          <p:cNvPicPr>
            <a:picLocks noChangeAspect="1"/>
          </p:cNvPicPr>
          <p:nvPr/>
        </p:nvPicPr>
        <p:blipFill>
          <a:blip r:embed="rId8"/>
          <a:srcRect l="26001" r="26001"/>
          <a:stretch/>
        </p:blipFill>
        <p:spPr>
          <a:xfrm>
            <a:off x="7239000" y="0"/>
            <a:ext cx="4953000" cy="6858000"/>
          </a:xfrm>
          <a:prstGeom prst="rect">
            <a:avLst/>
          </a:prstGeom>
        </p:spPr>
      </p:pic>
      <p:pic>
        <p:nvPicPr>
          <p:cNvPr id="25" name="Image 6" descr="preencoded.png">
            <a:extLst>
              <a:ext uri="{FF2B5EF4-FFF2-40B4-BE49-F238E27FC236}">
                <a16:creationId xmlns:a16="http://schemas.microsoft.com/office/drawing/2014/main" id="{FC908FB6-F81B-9351-69D1-2B955748ECC8}"/>
              </a:ext>
            </a:extLst>
          </p:cNvPr>
          <p:cNvPicPr>
            <a:picLocks noChangeAspect="1"/>
          </p:cNvPicPr>
          <p:nvPr/>
        </p:nvPicPr>
        <p:blipFill>
          <a:blip r:embed="rId9"/>
          <a:stretch>
            <a:fillRect/>
          </a:stretch>
        </p:blipFill>
        <p:spPr>
          <a:xfrm>
            <a:off x="11229975" y="6567488"/>
            <a:ext cx="714375" cy="71438"/>
          </a:xfrm>
          <a:prstGeom prst="rect">
            <a:avLst/>
          </a:prstGeom>
        </p:spPr>
      </p:pic>
    </p:spTree>
    <p:extLst>
      <p:ext uri="{BB962C8B-B14F-4D97-AF65-F5344CB8AC3E}">
        <p14:creationId xmlns:p14="http://schemas.microsoft.com/office/powerpoint/2010/main" val="1040023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6975832"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RESULT 1</a:t>
            </a:r>
            <a:endParaRPr lang="en-US" sz="3225" dirty="0"/>
          </a:p>
        </p:txBody>
      </p:sp>
      <p:sp>
        <p:nvSpPr>
          <p:cNvPr id="4" name="Text 2"/>
          <p:cNvSpPr/>
          <p:nvPr/>
        </p:nvSpPr>
        <p:spPr>
          <a:xfrm>
            <a:off x="352425" y="666750"/>
            <a:ext cx="8185111"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Nodes ranked by hidden risk above 0.10, against the nodes that later missed</a:t>
            </a:r>
            <a:endParaRPr lang="en-US" sz="1725" dirty="0"/>
          </a:p>
        </p:txBody>
      </p:sp>
      <p:sp>
        <p:nvSpPr>
          <p:cNvPr id="5" name="Text 3"/>
          <p:cNvSpPr/>
          <p:nvPr/>
        </p:nvSpPr>
        <p:spPr>
          <a:xfrm>
            <a:off x="352425" y="1390650"/>
            <a:ext cx="2933700" cy="638175"/>
          </a:xfrm>
          <a:prstGeom prst="rect">
            <a:avLst/>
          </a:prstGeom>
          <a:noFill/>
          <a:ln/>
        </p:spPr>
        <p:txBody>
          <a:bodyPr wrap="square" lIns="25400" tIns="25400" rIns="25400" bIns="25400" rtlCol="0" anchor="t">
            <a:normAutofit/>
          </a:bodyPr>
          <a:lstStyle/>
          <a:p>
            <a:pPr marL="0" indent="0" algn="l">
              <a:lnSpc>
                <a:spcPct val="63423"/>
              </a:lnSpc>
              <a:buNone/>
            </a:pPr>
            <a:r>
              <a:rPr lang="en-US" sz="5250" b="1" dirty="0">
                <a:solidFill>
                  <a:srgbClr val="043962"/>
                </a:solidFill>
                <a:latin typeface="Arial Black" pitchFamily="34" charset="0"/>
                <a:ea typeface="Arial Black" pitchFamily="34" charset="-122"/>
                <a:cs typeface="Arial Black" pitchFamily="34" charset="-120"/>
              </a:rPr>
              <a:t>1.00</a:t>
            </a:r>
            <a:endParaRPr lang="en-US" sz="5250" dirty="0"/>
          </a:p>
        </p:txBody>
      </p:sp>
      <p:sp>
        <p:nvSpPr>
          <p:cNvPr id="6" name="Text 4"/>
          <p:cNvSpPr/>
          <p:nvPr/>
        </p:nvSpPr>
        <p:spPr>
          <a:xfrm>
            <a:off x="352425" y="2085975"/>
            <a:ext cx="2933700"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PRECISION, TURNS 0–5</a:t>
            </a:r>
            <a:endParaRPr lang="en-US" sz="1125" dirty="0"/>
          </a:p>
        </p:txBody>
      </p:sp>
      <p:sp>
        <p:nvSpPr>
          <p:cNvPr id="7" name="Text 5"/>
          <p:cNvSpPr/>
          <p:nvPr/>
        </p:nvSpPr>
        <p:spPr>
          <a:xfrm>
            <a:off x="3228975" y="1390650"/>
            <a:ext cx="2933700" cy="638175"/>
          </a:xfrm>
          <a:prstGeom prst="rect">
            <a:avLst/>
          </a:prstGeom>
          <a:noFill/>
          <a:ln/>
        </p:spPr>
        <p:txBody>
          <a:bodyPr wrap="square" lIns="25400" tIns="25400" rIns="25400" bIns="25400" rtlCol="0" anchor="t">
            <a:normAutofit/>
          </a:bodyPr>
          <a:lstStyle/>
          <a:p>
            <a:pPr marL="0" indent="0" algn="l">
              <a:lnSpc>
                <a:spcPct val="63423"/>
              </a:lnSpc>
              <a:buNone/>
            </a:pPr>
            <a:r>
              <a:rPr lang="en-US" sz="5250" b="1" dirty="0">
                <a:solidFill>
                  <a:srgbClr val="043962"/>
                </a:solidFill>
                <a:latin typeface="Arial Black" pitchFamily="34" charset="0"/>
                <a:ea typeface="Arial Black" pitchFamily="34" charset="-122"/>
                <a:cs typeface="Arial Black" pitchFamily="34" charset="-120"/>
              </a:rPr>
              <a:t>3 / 4</a:t>
            </a:r>
            <a:endParaRPr lang="en-US" sz="5250" dirty="0"/>
          </a:p>
        </p:txBody>
      </p:sp>
      <p:sp>
        <p:nvSpPr>
          <p:cNvPr id="8" name="Text 6"/>
          <p:cNvSpPr/>
          <p:nvPr/>
        </p:nvSpPr>
        <p:spPr>
          <a:xfrm>
            <a:off x="3228975" y="2085975"/>
            <a:ext cx="2933700"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FUTURE FAILURES FLAGGED</a:t>
            </a:r>
            <a:endParaRPr lang="en-US" sz="1125" dirty="0"/>
          </a:p>
        </p:txBody>
      </p:sp>
      <p:sp>
        <p:nvSpPr>
          <p:cNvPr id="9" name="Text 7"/>
          <p:cNvSpPr/>
          <p:nvPr/>
        </p:nvSpPr>
        <p:spPr>
          <a:xfrm>
            <a:off x="6105525" y="1390650"/>
            <a:ext cx="2933700" cy="638175"/>
          </a:xfrm>
          <a:prstGeom prst="rect">
            <a:avLst/>
          </a:prstGeom>
          <a:noFill/>
          <a:ln/>
        </p:spPr>
        <p:txBody>
          <a:bodyPr wrap="square" lIns="25400" tIns="25400" rIns="25400" bIns="25400" rtlCol="0" anchor="t">
            <a:normAutofit/>
          </a:bodyPr>
          <a:lstStyle/>
          <a:p>
            <a:pPr marL="0" indent="0" algn="l">
              <a:lnSpc>
                <a:spcPct val="63423"/>
              </a:lnSpc>
              <a:buNone/>
            </a:pPr>
            <a:r>
              <a:rPr lang="en-US" sz="5250" b="1" dirty="0">
                <a:solidFill>
                  <a:srgbClr val="043962"/>
                </a:solidFill>
                <a:latin typeface="Arial Black" pitchFamily="34" charset="0"/>
                <a:ea typeface="Arial Black" pitchFamily="34" charset="-122"/>
                <a:cs typeface="Arial Black" pitchFamily="34" charset="-120"/>
              </a:rPr>
              <a:t>0</a:t>
            </a:r>
            <a:endParaRPr lang="en-US" sz="5250" dirty="0"/>
          </a:p>
        </p:txBody>
      </p:sp>
      <p:sp>
        <p:nvSpPr>
          <p:cNvPr id="10" name="Text 8"/>
          <p:cNvSpPr/>
          <p:nvPr/>
        </p:nvSpPr>
        <p:spPr>
          <a:xfrm>
            <a:off x="6105525" y="2085975"/>
            <a:ext cx="2933700"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FALSE ALARMS IN SIX TURNS</a:t>
            </a:r>
            <a:endParaRPr lang="en-US" sz="1125" dirty="0"/>
          </a:p>
        </p:txBody>
      </p:sp>
      <p:sp>
        <p:nvSpPr>
          <p:cNvPr id="11" name="Text 9"/>
          <p:cNvSpPr/>
          <p:nvPr/>
        </p:nvSpPr>
        <p:spPr>
          <a:xfrm>
            <a:off x="8982075" y="1390650"/>
            <a:ext cx="2933700" cy="638175"/>
          </a:xfrm>
          <a:prstGeom prst="rect">
            <a:avLst/>
          </a:prstGeom>
          <a:noFill/>
          <a:ln/>
        </p:spPr>
        <p:txBody>
          <a:bodyPr wrap="square" lIns="25400" tIns="25400" rIns="25400" bIns="25400" rtlCol="0" anchor="t">
            <a:normAutofit/>
          </a:bodyPr>
          <a:lstStyle/>
          <a:p>
            <a:pPr marL="0" indent="0" algn="l">
              <a:lnSpc>
                <a:spcPct val="63423"/>
              </a:lnSpc>
              <a:buNone/>
            </a:pPr>
            <a:r>
              <a:rPr lang="en-US" sz="5250" b="1" dirty="0">
                <a:solidFill>
                  <a:srgbClr val="FFC800"/>
                </a:solidFill>
                <a:latin typeface="Arial Black" pitchFamily="34" charset="0"/>
                <a:ea typeface="Arial Black" pitchFamily="34" charset="-122"/>
                <a:cs typeface="Arial Black" pitchFamily="34" charset="-120"/>
              </a:rPr>
              <a:t>8</a:t>
            </a:r>
            <a:endParaRPr lang="en-US" sz="5250" dirty="0"/>
          </a:p>
        </p:txBody>
      </p:sp>
      <p:sp>
        <p:nvSpPr>
          <p:cNvPr id="12" name="Text 10"/>
          <p:cNvSpPr/>
          <p:nvPr/>
        </p:nvSpPr>
        <p:spPr>
          <a:xfrm>
            <a:off x="8982075" y="2085975"/>
            <a:ext cx="2747010" cy="452438"/>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TURNS OF ADVANCE WARNING</a:t>
            </a:r>
            <a:endParaRPr lang="en-US" sz="1125" dirty="0"/>
          </a:p>
        </p:txBody>
      </p:sp>
      <p:sp>
        <p:nvSpPr>
          <p:cNvPr id="13" name="Shape 11"/>
          <p:cNvSpPr/>
          <p:nvPr/>
        </p:nvSpPr>
        <p:spPr>
          <a:xfrm>
            <a:off x="352425" y="3067050"/>
            <a:ext cx="3552329" cy="533400"/>
          </a:xfrm>
          <a:prstGeom prst="rect">
            <a:avLst/>
          </a:prstGeom>
          <a:solidFill>
            <a:srgbClr val="FFDA65"/>
          </a:solidFill>
          <a:ln/>
        </p:spPr>
        <p:txBody>
          <a:bodyPr/>
          <a:lstStyle/>
          <a:p>
            <a:endParaRPr lang="fr-FR"/>
          </a:p>
        </p:txBody>
      </p:sp>
      <p:sp>
        <p:nvSpPr>
          <p:cNvPr id="14" name="Text 12"/>
          <p:cNvSpPr/>
          <p:nvPr/>
        </p:nvSpPr>
        <p:spPr>
          <a:xfrm>
            <a:off x="299140" y="3067050"/>
            <a:ext cx="3658899" cy="571500"/>
          </a:xfrm>
          <a:prstGeom prst="rect">
            <a:avLst/>
          </a:prstGeom>
          <a:noFill/>
          <a:ln/>
        </p:spPr>
        <p:txBody>
          <a:bodyPr wrap="square" lIns="25400" tIns="25400" rIns="25400" bIns="25400" rtlCol="0" anchor="ctr">
            <a:normAutofit/>
          </a:bodyPr>
          <a:lstStyle/>
          <a:p>
            <a:pPr marL="0" indent="0" algn="ctr">
              <a:lnSpc>
                <a:spcPct val="119274"/>
              </a:lnSpc>
              <a:buNone/>
            </a:pPr>
            <a:r>
              <a:rPr lang="en-US" sz="1275" b="1" dirty="0">
                <a:solidFill>
                  <a:srgbClr val="063C67"/>
                </a:solidFill>
                <a:latin typeface="Calibri" pitchFamily="34" charset="0"/>
                <a:ea typeface="Calibri" pitchFamily="34" charset="-122"/>
                <a:cs typeface="Calibri" pitchFamily="34" charset="-120"/>
              </a:rPr>
              <a:t>T0 – T5 · signal sharp</a:t>
            </a:r>
            <a:endParaRPr lang="en-US" sz="1275" dirty="0"/>
          </a:p>
        </p:txBody>
      </p:sp>
      <p:sp>
        <p:nvSpPr>
          <p:cNvPr id="15" name="Shape 13"/>
          <p:cNvSpPr/>
          <p:nvPr/>
        </p:nvSpPr>
        <p:spPr>
          <a:xfrm>
            <a:off x="3952379" y="3257550"/>
            <a:ext cx="7696696" cy="342900"/>
          </a:xfrm>
          <a:prstGeom prst="rect">
            <a:avLst/>
          </a:prstGeom>
          <a:solidFill>
            <a:srgbClr val="E9E9ED"/>
          </a:solidFill>
          <a:ln/>
        </p:spPr>
        <p:txBody>
          <a:bodyPr/>
          <a:lstStyle/>
          <a:p>
            <a:endParaRPr lang="fr-FR"/>
          </a:p>
        </p:txBody>
      </p:sp>
      <p:sp>
        <p:nvSpPr>
          <p:cNvPr id="16" name="Text 14"/>
          <p:cNvSpPr/>
          <p:nvPr/>
        </p:nvSpPr>
        <p:spPr>
          <a:xfrm>
            <a:off x="3836929" y="3257550"/>
            <a:ext cx="7927597" cy="381000"/>
          </a:xfrm>
          <a:prstGeom prst="rect">
            <a:avLst/>
          </a:prstGeom>
          <a:noFill/>
          <a:ln/>
        </p:spPr>
        <p:txBody>
          <a:bodyPr wrap="square" lIns="25400" tIns="25400" rIns="25400" bIns="25400" rtlCol="0" anchor="ctr">
            <a:normAutofit/>
          </a:bodyPr>
          <a:lstStyle/>
          <a:p>
            <a:pPr marL="0" indent="0" algn="ctr">
              <a:lnSpc>
                <a:spcPct val="119274"/>
              </a:lnSpc>
              <a:buNone/>
            </a:pPr>
            <a:r>
              <a:rPr lang="en-US" sz="1275" dirty="0">
                <a:solidFill>
                  <a:srgbClr val="063C67"/>
                </a:solidFill>
                <a:latin typeface="Calibri" pitchFamily="34" charset="0"/>
                <a:ea typeface="Calibri" pitchFamily="34" charset="-122"/>
                <a:cs typeface="Calibri" pitchFamily="34" charset="-120"/>
              </a:rPr>
              <a:t>T6 – T18 · crisis public, the gap closes</a:t>
            </a:r>
            <a:endParaRPr lang="en-US" sz="1275" dirty="0"/>
          </a:p>
        </p:txBody>
      </p:sp>
      <p:pic>
        <p:nvPicPr>
          <p:cNvPr id="18" name="Image 0" descr="preencoded.png"/>
          <p:cNvPicPr>
            <a:picLocks noChangeAspect="1"/>
          </p:cNvPicPr>
          <p:nvPr/>
        </p:nvPicPr>
        <p:blipFill>
          <a:blip r:embed="rId3"/>
          <a:stretch>
            <a:fillRect/>
          </a:stretch>
        </p:blipFill>
        <p:spPr>
          <a:xfrm>
            <a:off x="381000" y="4219575"/>
            <a:ext cx="438150" cy="438150"/>
          </a:xfrm>
          <a:prstGeom prst="rect">
            <a:avLst/>
          </a:prstGeom>
        </p:spPr>
      </p:pic>
      <p:sp>
        <p:nvSpPr>
          <p:cNvPr id="19" name="Text 16"/>
          <p:cNvSpPr/>
          <p:nvPr/>
        </p:nvSpPr>
        <p:spPr>
          <a:xfrm>
            <a:off x="990600" y="4219575"/>
            <a:ext cx="6239637" cy="809625"/>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063C67"/>
                </a:solidFill>
                <a:latin typeface="Calibri" pitchFamily="34" charset="0"/>
                <a:ea typeface="Calibri" pitchFamily="34" charset="-122"/>
                <a:cs typeface="Calibri" pitchFamily="34" charset="-120"/>
              </a:rPr>
              <a:t>The worst-scoring node is the satellite prime. Flagged from turn 0, it misses at turn 8: </a:t>
            </a:r>
            <a:r>
              <a:rPr lang="en-US" sz="1500" b="1" dirty="0">
                <a:solidFill>
                  <a:srgbClr val="063C67"/>
                </a:solidFill>
                <a:latin typeface="Calibri" pitchFamily="34" charset="0"/>
                <a:ea typeface="Calibri" pitchFamily="34" charset="-122"/>
                <a:cs typeface="Calibri" pitchFamily="34" charset="-120"/>
              </a:rPr>
              <a:t>eight turns of warning, while its own manager declares an urgency of 0.001.</a:t>
            </a:r>
            <a:endParaRPr lang="en-US" sz="1500" dirty="0"/>
          </a:p>
        </p:txBody>
      </p:sp>
      <p:pic>
        <p:nvPicPr>
          <p:cNvPr id="20" name="Image 1" descr="preencoded.png"/>
          <p:cNvPicPr>
            <a:picLocks noChangeAspect="1"/>
          </p:cNvPicPr>
          <p:nvPr/>
        </p:nvPicPr>
        <p:blipFill>
          <a:blip r:embed="rId4"/>
          <a:stretch>
            <a:fillRect/>
          </a:stretch>
        </p:blipFill>
        <p:spPr>
          <a:xfrm>
            <a:off x="381000" y="5143500"/>
            <a:ext cx="409773" cy="438150"/>
          </a:xfrm>
          <a:prstGeom prst="rect">
            <a:avLst/>
          </a:prstGeom>
        </p:spPr>
      </p:pic>
      <p:sp>
        <p:nvSpPr>
          <p:cNvPr id="21" name="Text 17"/>
          <p:cNvSpPr/>
          <p:nvPr/>
        </p:nvSpPr>
        <p:spPr>
          <a:xfrm>
            <a:off x="962223" y="5143500"/>
            <a:ext cx="6268865" cy="809625"/>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063C67"/>
                </a:solidFill>
                <a:latin typeface="Calibri" pitchFamily="34" charset="0"/>
                <a:ea typeface="Calibri" pitchFamily="34" charset="-122"/>
                <a:cs typeface="Calibri" pitchFamily="34" charset="-120"/>
              </a:rPr>
              <a:t>The flag comes from an </a:t>
            </a:r>
            <a:r>
              <a:rPr lang="en-US" sz="1500" b="1" dirty="0">
                <a:solidFill>
                  <a:srgbClr val="063C67"/>
                </a:solidFill>
                <a:latin typeface="Calibri" pitchFamily="34" charset="0"/>
                <a:ea typeface="Calibri" pitchFamily="34" charset="-122"/>
                <a:cs typeface="Calibri" pitchFamily="34" charset="-120"/>
              </a:rPr>
              <a:t>optimistic declaration against a computed state that is not </a:t>
            </a:r>
            <a:r>
              <a:rPr lang="en-US" sz="1500" dirty="0">
                <a:solidFill>
                  <a:srgbClr val="063C67"/>
                </a:solidFill>
                <a:latin typeface="Calibri" pitchFamily="34" charset="0"/>
                <a:ea typeface="Calibri" pitchFamily="34" charset="-122"/>
                <a:cs typeface="Calibri" pitchFamily="34" charset="-120"/>
              </a:rPr>
              <a:t>. From turn 6 precision falls to 0.50 or below: the crisis becomes public, everyone raises their declaration, and a difference closes mechanically.</a:t>
            </a:r>
            <a:endParaRPr lang="en-US" sz="1500" dirty="0"/>
          </a:p>
        </p:txBody>
      </p:sp>
      <p:sp>
        <p:nvSpPr>
          <p:cNvPr id="22" name="Shape 18"/>
          <p:cNvSpPr/>
          <p:nvPr/>
        </p:nvSpPr>
        <p:spPr>
          <a:xfrm>
            <a:off x="381000" y="6200775"/>
            <a:ext cx="6667500" cy="489545"/>
          </a:xfrm>
          <a:prstGeom prst="rect">
            <a:avLst/>
          </a:prstGeom>
          <a:solidFill>
            <a:srgbClr val="FFDA65"/>
          </a:solidFill>
          <a:ln/>
        </p:spPr>
        <p:txBody>
          <a:bodyPr/>
          <a:lstStyle/>
          <a:p>
            <a:endParaRPr lang="fr-FR"/>
          </a:p>
        </p:txBody>
      </p:sp>
      <p:sp>
        <p:nvSpPr>
          <p:cNvPr id="23" name="Text 19"/>
          <p:cNvSpPr/>
          <p:nvPr/>
        </p:nvSpPr>
        <p:spPr>
          <a:xfrm>
            <a:off x="552450" y="6334125"/>
            <a:ext cx="6524625"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latin typeface="Calibri" pitchFamily="34" charset="0"/>
                <a:ea typeface="Calibri" pitchFamily="34" charset="-122"/>
                <a:cs typeface="Calibri" pitchFamily="34" charset="-120"/>
              </a:rPr>
              <a:t>Early warning, not crisis management. </a:t>
            </a:r>
            <a:endParaRPr lang="en-US" sz="1350" dirty="0"/>
          </a:p>
        </p:txBody>
      </p:sp>
      <p:sp>
        <p:nvSpPr>
          <p:cNvPr id="24" name="Text 20"/>
          <p:cNvSpPr/>
          <p:nvPr/>
        </p:nvSpPr>
        <p:spPr>
          <a:xfrm>
            <a:off x="7381875" y="4305300"/>
            <a:ext cx="4693920"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26" dirty="0">
                <a:solidFill>
                  <a:srgbClr val="1D93C9"/>
                </a:solidFill>
                <a:latin typeface="Arial" pitchFamily="34" charset="0"/>
                <a:ea typeface="Arial" pitchFamily="34" charset="-122"/>
                <a:cs typeface="Arial" pitchFamily="34" charset="-120"/>
              </a:rPr>
              <a:t>THE DASHBOARD THE COORDINATOR READS</a:t>
            </a:r>
            <a:endParaRPr lang="en-US" sz="1050" dirty="0"/>
          </a:p>
        </p:txBody>
      </p:sp>
      <p:sp>
        <p:nvSpPr>
          <p:cNvPr id="25" name="Shape 21"/>
          <p:cNvSpPr/>
          <p:nvPr/>
        </p:nvSpPr>
        <p:spPr>
          <a:xfrm>
            <a:off x="7381875" y="4574778"/>
            <a:ext cx="4279900" cy="1517650"/>
          </a:xfrm>
          <a:prstGeom prst="rect">
            <a:avLst/>
          </a:prstGeom>
          <a:ln w="6350">
            <a:solidFill>
              <a:srgbClr val="C0C0C8"/>
            </a:solidFill>
            <a:prstDash val="solid"/>
          </a:ln>
        </p:spPr>
        <p:txBody>
          <a:bodyPr/>
          <a:lstStyle/>
          <a:p>
            <a:endParaRPr lang="fr-FR"/>
          </a:p>
        </p:txBody>
      </p:sp>
      <p:pic>
        <p:nvPicPr>
          <p:cNvPr id="26" name="Image 2" descr="preencoded.png"/>
          <p:cNvPicPr>
            <a:picLocks noChangeAspect="1"/>
          </p:cNvPicPr>
          <p:nvPr/>
        </p:nvPicPr>
        <p:blipFill>
          <a:blip r:embed="rId5"/>
          <a:stretch>
            <a:fillRect/>
          </a:stretch>
        </p:blipFill>
        <p:spPr>
          <a:xfrm>
            <a:off x="7381875" y="4574778"/>
            <a:ext cx="4279900" cy="1819374"/>
          </a:xfrm>
          <a:prstGeom prst="rect">
            <a:avLst/>
          </a:prstGeom>
        </p:spPr>
      </p:pic>
      <p:pic>
        <p:nvPicPr>
          <p:cNvPr id="27" name="Image 3" descr="preencoded.png"/>
          <p:cNvPicPr>
            <a:picLocks noChangeAspect="1"/>
          </p:cNvPicPr>
          <p:nvPr/>
        </p:nvPicPr>
        <p:blipFill>
          <a:blip r:embed="rId6"/>
          <a:stretch>
            <a:fillRect/>
          </a:stretch>
        </p:blipFill>
        <p:spPr>
          <a:xfrm>
            <a:off x="11229975" y="6567488"/>
            <a:ext cx="714375" cy="7143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9380746"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RESULT 2</a:t>
            </a:r>
            <a:endParaRPr lang="en-US" sz="3225" dirty="0"/>
          </a:p>
        </p:txBody>
      </p:sp>
      <p:sp>
        <p:nvSpPr>
          <p:cNvPr id="4" name="Text 2"/>
          <p:cNvSpPr/>
          <p:nvPr/>
        </p:nvSpPr>
        <p:spPr>
          <a:xfrm>
            <a:off x="352425" y="666750"/>
            <a:ext cx="8961209"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Scored → Calibration → </a:t>
            </a:r>
            <a:r>
              <a:rPr lang="en-US" sz="1725" dirty="0" err="1">
                <a:solidFill>
                  <a:srgbClr val="1D93C9"/>
                </a:solidFill>
                <a:latin typeface="Arial" pitchFamily="34" charset="0"/>
                <a:ea typeface="Arial" pitchFamily="34" charset="-122"/>
                <a:cs typeface="Arial" pitchFamily="34" charset="-120"/>
              </a:rPr>
              <a:t>forcast</a:t>
            </a:r>
            <a:r>
              <a:rPr lang="en-US" sz="1725" dirty="0">
                <a:solidFill>
                  <a:srgbClr val="1D93C9"/>
                </a:solidFill>
                <a:latin typeface="Arial" pitchFamily="34" charset="0"/>
                <a:ea typeface="Arial" pitchFamily="34" charset="-122"/>
                <a:cs typeface="Arial" pitchFamily="34" charset="-120"/>
              </a:rPr>
              <a:t> → re-measured</a:t>
            </a:r>
            <a:endParaRPr lang="en-US" sz="1725" dirty="0"/>
          </a:p>
        </p:txBody>
      </p:sp>
      <p:pic>
        <p:nvPicPr>
          <p:cNvPr id="5" name="Image 0" descr="preencoded.png"/>
          <p:cNvPicPr>
            <a:picLocks noChangeAspect="1"/>
          </p:cNvPicPr>
          <p:nvPr/>
        </p:nvPicPr>
        <p:blipFill>
          <a:blip r:embed="rId3"/>
          <a:srcRect l="-6337" r="-6337"/>
          <a:stretch/>
        </p:blipFill>
        <p:spPr>
          <a:xfrm>
            <a:off x="276225" y="1143000"/>
            <a:ext cx="6172200" cy="4343400"/>
          </a:xfrm>
          <a:prstGeom prst="rect">
            <a:avLst/>
          </a:prstGeom>
        </p:spPr>
      </p:pic>
      <p:sp>
        <p:nvSpPr>
          <p:cNvPr id="10" name="Text 7"/>
          <p:cNvSpPr/>
          <p:nvPr/>
        </p:nvSpPr>
        <p:spPr>
          <a:xfrm>
            <a:off x="6600825" y="1143000"/>
            <a:ext cx="551116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BRIER SKILL, BEFORE → AFTER</a:t>
            </a:r>
            <a:endParaRPr lang="en-US" sz="1050" dirty="0"/>
          </a:p>
        </p:txBody>
      </p:sp>
      <p:sp>
        <p:nvSpPr>
          <p:cNvPr id="11" name="Text 8"/>
          <p:cNvSpPr/>
          <p:nvPr/>
        </p:nvSpPr>
        <p:spPr>
          <a:xfrm>
            <a:off x="6657975" y="1526778"/>
            <a:ext cx="876300" cy="286643"/>
          </a:xfrm>
          <a:prstGeom prst="rect">
            <a:avLst/>
          </a:prstGeom>
          <a:noFill/>
          <a:ln/>
        </p:spPr>
        <p:txBody>
          <a:bodyPr wrap="square" lIns="25400" tIns="25400" rIns="25400" bIns="25400" rtlCol="0" anchor="t">
            <a:normAutofit/>
          </a:bodyPr>
          <a:lstStyle/>
          <a:p>
            <a:pPr marL="0" indent="0" algn="l">
              <a:lnSpc>
                <a:spcPct val="117115"/>
              </a:lnSpc>
              <a:buNone/>
            </a:pPr>
            <a:r>
              <a:rPr lang="en-US" sz="1050" b="1" kern="0" spc="105" dirty="0">
                <a:solidFill>
                  <a:srgbClr val="858591"/>
                </a:solidFill>
                <a:latin typeface="Calibri" pitchFamily="34" charset="0"/>
                <a:ea typeface="Calibri" pitchFamily="34" charset="-122"/>
                <a:cs typeface="Calibri" pitchFamily="34" charset="-120"/>
              </a:rPr>
              <a:t>HORIZON</a:t>
            </a:r>
            <a:endParaRPr lang="en-US" sz="1050" dirty="0"/>
          </a:p>
        </p:txBody>
      </p:sp>
      <p:sp>
        <p:nvSpPr>
          <p:cNvPr id="12" name="Text 9"/>
          <p:cNvSpPr/>
          <p:nvPr/>
        </p:nvSpPr>
        <p:spPr>
          <a:xfrm>
            <a:off x="7534275" y="1526778"/>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858591"/>
                </a:solidFill>
                <a:latin typeface="Calibri" pitchFamily="34" charset="0"/>
                <a:ea typeface="Calibri" pitchFamily="34" charset="-122"/>
                <a:cs typeface="Calibri" pitchFamily="34" charset="-120"/>
              </a:rPr>
              <a:t>before</a:t>
            </a:r>
            <a:endParaRPr lang="en-US" sz="1350" dirty="0"/>
          </a:p>
        </p:txBody>
      </p:sp>
      <p:sp>
        <p:nvSpPr>
          <p:cNvPr id="13" name="Text 10"/>
          <p:cNvSpPr/>
          <p:nvPr/>
        </p:nvSpPr>
        <p:spPr>
          <a:xfrm>
            <a:off x="8899525" y="1526778"/>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858591"/>
                </a:solidFill>
                <a:latin typeface="Calibri" pitchFamily="34" charset="0"/>
                <a:ea typeface="Calibri" pitchFamily="34" charset="-122"/>
                <a:cs typeface="Calibri" pitchFamily="34" charset="-120"/>
              </a:rPr>
              <a:t>structure</a:t>
            </a:r>
            <a:endParaRPr lang="en-US" sz="1350" dirty="0"/>
          </a:p>
        </p:txBody>
      </p:sp>
      <p:sp>
        <p:nvSpPr>
          <p:cNvPr id="14" name="Text 11"/>
          <p:cNvSpPr/>
          <p:nvPr/>
        </p:nvSpPr>
        <p:spPr>
          <a:xfrm>
            <a:off x="10264776" y="1526778"/>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858591"/>
                </a:solidFill>
                <a:latin typeface="Calibri" pitchFamily="34" charset="0"/>
                <a:ea typeface="Calibri" pitchFamily="34" charset="-122"/>
                <a:cs typeface="Calibri" pitchFamily="34" charset="-120"/>
              </a:rPr>
              <a:t>+ uncert.</a:t>
            </a:r>
            <a:endParaRPr lang="en-US" sz="1350" dirty="0"/>
          </a:p>
        </p:txBody>
      </p:sp>
      <p:sp>
        <p:nvSpPr>
          <p:cNvPr id="15" name="Shape 12"/>
          <p:cNvSpPr/>
          <p:nvPr/>
        </p:nvSpPr>
        <p:spPr>
          <a:xfrm>
            <a:off x="6600825" y="1851521"/>
            <a:ext cx="914400" cy="9525"/>
          </a:xfrm>
          <a:prstGeom prst="rect">
            <a:avLst/>
          </a:prstGeom>
          <a:solidFill>
            <a:srgbClr val="C0C0C8"/>
          </a:solidFill>
          <a:ln/>
        </p:spPr>
        <p:txBody>
          <a:bodyPr/>
          <a:lstStyle/>
          <a:p>
            <a:endParaRPr lang="fr-FR"/>
          </a:p>
        </p:txBody>
      </p:sp>
      <p:sp>
        <p:nvSpPr>
          <p:cNvPr id="16" name="Text 13"/>
          <p:cNvSpPr/>
          <p:nvPr/>
        </p:nvSpPr>
        <p:spPr>
          <a:xfrm>
            <a:off x="6657975" y="1962646"/>
            <a:ext cx="87630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1 week</a:t>
            </a:r>
            <a:endParaRPr lang="en-US" sz="1350" dirty="0"/>
          </a:p>
        </p:txBody>
      </p:sp>
      <p:sp>
        <p:nvSpPr>
          <p:cNvPr id="17" name="Shape 14"/>
          <p:cNvSpPr/>
          <p:nvPr/>
        </p:nvSpPr>
        <p:spPr>
          <a:xfrm>
            <a:off x="7515225" y="1851521"/>
            <a:ext cx="1365250" cy="9525"/>
          </a:xfrm>
          <a:prstGeom prst="rect">
            <a:avLst/>
          </a:prstGeom>
          <a:solidFill>
            <a:srgbClr val="C0C0C8"/>
          </a:solidFill>
          <a:ln/>
        </p:spPr>
        <p:txBody>
          <a:bodyPr/>
          <a:lstStyle/>
          <a:p>
            <a:endParaRPr lang="fr-FR"/>
          </a:p>
        </p:txBody>
      </p:sp>
      <p:sp>
        <p:nvSpPr>
          <p:cNvPr id="18" name="Text 15"/>
          <p:cNvSpPr/>
          <p:nvPr/>
        </p:nvSpPr>
        <p:spPr>
          <a:xfrm>
            <a:off x="7534275" y="1962646"/>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−1.278</a:t>
            </a:r>
            <a:endParaRPr lang="en-US" sz="1350" dirty="0"/>
          </a:p>
        </p:txBody>
      </p:sp>
      <p:sp>
        <p:nvSpPr>
          <p:cNvPr id="19" name="Shape 16"/>
          <p:cNvSpPr/>
          <p:nvPr/>
        </p:nvSpPr>
        <p:spPr>
          <a:xfrm>
            <a:off x="8880475" y="1851521"/>
            <a:ext cx="1365250" cy="464443"/>
          </a:xfrm>
          <a:prstGeom prst="rect">
            <a:avLst/>
          </a:prstGeom>
          <a:solidFill>
            <a:srgbClr val="FFF6DA"/>
          </a:solidFill>
          <a:ln/>
        </p:spPr>
        <p:txBody>
          <a:bodyPr/>
          <a:lstStyle/>
          <a:p>
            <a:endParaRPr lang="fr-FR"/>
          </a:p>
        </p:txBody>
      </p:sp>
      <p:sp>
        <p:nvSpPr>
          <p:cNvPr id="20" name="Shape 17"/>
          <p:cNvSpPr/>
          <p:nvPr/>
        </p:nvSpPr>
        <p:spPr>
          <a:xfrm>
            <a:off x="8880475" y="1851521"/>
            <a:ext cx="1365250" cy="9525"/>
          </a:xfrm>
          <a:prstGeom prst="rect">
            <a:avLst/>
          </a:prstGeom>
          <a:solidFill>
            <a:srgbClr val="C0C0C8"/>
          </a:solidFill>
          <a:ln/>
        </p:spPr>
        <p:txBody>
          <a:bodyPr/>
          <a:lstStyle/>
          <a:p>
            <a:endParaRPr lang="fr-FR"/>
          </a:p>
        </p:txBody>
      </p:sp>
      <p:sp>
        <p:nvSpPr>
          <p:cNvPr id="21" name="Text 18"/>
          <p:cNvSpPr/>
          <p:nvPr/>
        </p:nvSpPr>
        <p:spPr>
          <a:xfrm>
            <a:off x="8899525" y="1962646"/>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063C67"/>
                </a:solidFill>
                <a:latin typeface="Calibri" pitchFamily="34" charset="0"/>
                <a:ea typeface="Calibri" pitchFamily="34" charset="-122"/>
                <a:cs typeface="Calibri" pitchFamily="34" charset="-120"/>
              </a:rPr>
              <a:t>−0.646</a:t>
            </a:r>
            <a:endParaRPr lang="en-US" sz="1350" dirty="0"/>
          </a:p>
        </p:txBody>
      </p:sp>
      <p:sp>
        <p:nvSpPr>
          <p:cNvPr id="22" name="Shape 19"/>
          <p:cNvSpPr/>
          <p:nvPr/>
        </p:nvSpPr>
        <p:spPr>
          <a:xfrm>
            <a:off x="10245726" y="1851521"/>
            <a:ext cx="1365250" cy="9525"/>
          </a:xfrm>
          <a:prstGeom prst="rect">
            <a:avLst/>
          </a:prstGeom>
          <a:solidFill>
            <a:srgbClr val="C0C0C8"/>
          </a:solidFill>
          <a:ln/>
        </p:spPr>
        <p:txBody>
          <a:bodyPr/>
          <a:lstStyle/>
          <a:p>
            <a:endParaRPr lang="fr-FR"/>
          </a:p>
        </p:txBody>
      </p:sp>
      <p:sp>
        <p:nvSpPr>
          <p:cNvPr id="23" name="Text 20"/>
          <p:cNvSpPr/>
          <p:nvPr/>
        </p:nvSpPr>
        <p:spPr>
          <a:xfrm>
            <a:off x="10264776" y="1962646"/>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−0.687</a:t>
            </a:r>
            <a:endParaRPr lang="en-US" sz="1350" dirty="0"/>
          </a:p>
        </p:txBody>
      </p:sp>
      <p:sp>
        <p:nvSpPr>
          <p:cNvPr id="24" name="Shape 21"/>
          <p:cNvSpPr/>
          <p:nvPr/>
        </p:nvSpPr>
        <p:spPr>
          <a:xfrm>
            <a:off x="6600825" y="2315964"/>
            <a:ext cx="914400" cy="9525"/>
          </a:xfrm>
          <a:prstGeom prst="rect">
            <a:avLst/>
          </a:prstGeom>
          <a:solidFill>
            <a:srgbClr val="C0C0C8"/>
          </a:solidFill>
          <a:ln/>
        </p:spPr>
        <p:txBody>
          <a:bodyPr/>
          <a:lstStyle/>
          <a:p>
            <a:endParaRPr lang="fr-FR"/>
          </a:p>
        </p:txBody>
      </p:sp>
      <p:sp>
        <p:nvSpPr>
          <p:cNvPr id="25" name="Text 22"/>
          <p:cNvSpPr/>
          <p:nvPr/>
        </p:nvSpPr>
        <p:spPr>
          <a:xfrm>
            <a:off x="6657975" y="2427089"/>
            <a:ext cx="87630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2 weeks</a:t>
            </a:r>
            <a:endParaRPr lang="en-US" sz="1350" dirty="0"/>
          </a:p>
        </p:txBody>
      </p:sp>
      <p:sp>
        <p:nvSpPr>
          <p:cNvPr id="26" name="Shape 23"/>
          <p:cNvSpPr/>
          <p:nvPr/>
        </p:nvSpPr>
        <p:spPr>
          <a:xfrm>
            <a:off x="7515225" y="2315964"/>
            <a:ext cx="1365250" cy="9525"/>
          </a:xfrm>
          <a:prstGeom prst="rect">
            <a:avLst/>
          </a:prstGeom>
          <a:solidFill>
            <a:srgbClr val="C0C0C8"/>
          </a:solidFill>
          <a:ln/>
        </p:spPr>
        <p:txBody>
          <a:bodyPr/>
          <a:lstStyle/>
          <a:p>
            <a:endParaRPr lang="fr-FR"/>
          </a:p>
        </p:txBody>
      </p:sp>
      <p:sp>
        <p:nvSpPr>
          <p:cNvPr id="27" name="Text 24"/>
          <p:cNvSpPr/>
          <p:nvPr/>
        </p:nvSpPr>
        <p:spPr>
          <a:xfrm>
            <a:off x="7534275" y="2427089"/>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−0.690</a:t>
            </a:r>
            <a:endParaRPr lang="en-US" sz="1350" dirty="0"/>
          </a:p>
        </p:txBody>
      </p:sp>
      <p:sp>
        <p:nvSpPr>
          <p:cNvPr id="28" name="Shape 25"/>
          <p:cNvSpPr/>
          <p:nvPr/>
        </p:nvSpPr>
        <p:spPr>
          <a:xfrm>
            <a:off x="8880475" y="2315964"/>
            <a:ext cx="1365250" cy="9525"/>
          </a:xfrm>
          <a:prstGeom prst="rect">
            <a:avLst/>
          </a:prstGeom>
          <a:solidFill>
            <a:srgbClr val="C0C0C8"/>
          </a:solidFill>
          <a:ln/>
        </p:spPr>
        <p:txBody>
          <a:bodyPr/>
          <a:lstStyle/>
          <a:p>
            <a:endParaRPr lang="fr-FR"/>
          </a:p>
        </p:txBody>
      </p:sp>
      <p:sp>
        <p:nvSpPr>
          <p:cNvPr id="29" name="Text 26"/>
          <p:cNvSpPr/>
          <p:nvPr/>
        </p:nvSpPr>
        <p:spPr>
          <a:xfrm>
            <a:off x="8899525" y="2427089"/>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−0.401</a:t>
            </a:r>
            <a:endParaRPr lang="en-US" sz="1350" dirty="0"/>
          </a:p>
        </p:txBody>
      </p:sp>
      <p:sp>
        <p:nvSpPr>
          <p:cNvPr id="30" name="Shape 27"/>
          <p:cNvSpPr/>
          <p:nvPr/>
        </p:nvSpPr>
        <p:spPr>
          <a:xfrm>
            <a:off x="10245726" y="2315964"/>
            <a:ext cx="1365250" cy="464443"/>
          </a:xfrm>
          <a:prstGeom prst="rect">
            <a:avLst/>
          </a:prstGeom>
          <a:solidFill>
            <a:srgbClr val="FFF6DA"/>
          </a:solidFill>
          <a:ln/>
        </p:spPr>
        <p:txBody>
          <a:bodyPr/>
          <a:lstStyle/>
          <a:p>
            <a:endParaRPr lang="fr-FR"/>
          </a:p>
        </p:txBody>
      </p:sp>
      <p:sp>
        <p:nvSpPr>
          <p:cNvPr id="31" name="Shape 28"/>
          <p:cNvSpPr/>
          <p:nvPr/>
        </p:nvSpPr>
        <p:spPr>
          <a:xfrm>
            <a:off x="10245726" y="2315964"/>
            <a:ext cx="1365250" cy="9525"/>
          </a:xfrm>
          <a:prstGeom prst="rect">
            <a:avLst/>
          </a:prstGeom>
          <a:solidFill>
            <a:srgbClr val="C0C0C8"/>
          </a:solidFill>
          <a:ln/>
        </p:spPr>
        <p:txBody>
          <a:bodyPr/>
          <a:lstStyle/>
          <a:p>
            <a:endParaRPr lang="fr-FR"/>
          </a:p>
        </p:txBody>
      </p:sp>
      <p:sp>
        <p:nvSpPr>
          <p:cNvPr id="32" name="Text 29"/>
          <p:cNvSpPr/>
          <p:nvPr/>
        </p:nvSpPr>
        <p:spPr>
          <a:xfrm>
            <a:off x="10264776" y="2427089"/>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063C67"/>
                </a:solidFill>
                <a:latin typeface="Calibri" pitchFamily="34" charset="0"/>
                <a:ea typeface="Calibri" pitchFamily="34" charset="-122"/>
                <a:cs typeface="Calibri" pitchFamily="34" charset="-120"/>
              </a:rPr>
              <a:t>−0.367</a:t>
            </a:r>
            <a:endParaRPr lang="en-US" sz="1350" dirty="0"/>
          </a:p>
        </p:txBody>
      </p:sp>
      <p:sp>
        <p:nvSpPr>
          <p:cNvPr id="33" name="Shape 30"/>
          <p:cNvSpPr/>
          <p:nvPr/>
        </p:nvSpPr>
        <p:spPr>
          <a:xfrm>
            <a:off x="6600825" y="2780407"/>
            <a:ext cx="914400" cy="9525"/>
          </a:xfrm>
          <a:prstGeom prst="rect">
            <a:avLst/>
          </a:prstGeom>
          <a:solidFill>
            <a:srgbClr val="C0C0C8"/>
          </a:solidFill>
          <a:ln/>
        </p:spPr>
        <p:txBody>
          <a:bodyPr/>
          <a:lstStyle/>
          <a:p>
            <a:endParaRPr lang="fr-FR"/>
          </a:p>
        </p:txBody>
      </p:sp>
      <p:sp>
        <p:nvSpPr>
          <p:cNvPr id="34" name="Text 31"/>
          <p:cNvSpPr/>
          <p:nvPr/>
        </p:nvSpPr>
        <p:spPr>
          <a:xfrm>
            <a:off x="6657975" y="2891532"/>
            <a:ext cx="87630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3 weeks</a:t>
            </a:r>
            <a:endParaRPr lang="en-US" sz="1350" dirty="0"/>
          </a:p>
        </p:txBody>
      </p:sp>
      <p:sp>
        <p:nvSpPr>
          <p:cNvPr id="35" name="Shape 32"/>
          <p:cNvSpPr/>
          <p:nvPr/>
        </p:nvSpPr>
        <p:spPr>
          <a:xfrm>
            <a:off x="7515225" y="2780407"/>
            <a:ext cx="1365250" cy="9525"/>
          </a:xfrm>
          <a:prstGeom prst="rect">
            <a:avLst/>
          </a:prstGeom>
          <a:solidFill>
            <a:srgbClr val="C0C0C8"/>
          </a:solidFill>
          <a:ln/>
        </p:spPr>
        <p:txBody>
          <a:bodyPr/>
          <a:lstStyle/>
          <a:p>
            <a:endParaRPr lang="fr-FR"/>
          </a:p>
        </p:txBody>
      </p:sp>
      <p:sp>
        <p:nvSpPr>
          <p:cNvPr id="36" name="Text 33"/>
          <p:cNvSpPr/>
          <p:nvPr/>
        </p:nvSpPr>
        <p:spPr>
          <a:xfrm>
            <a:off x="7534275" y="2891532"/>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−0.654</a:t>
            </a:r>
            <a:endParaRPr lang="en-US" sz="1350" dirty="0"/>
          </a:p>
        </p:txBody>
      </p:sp>
      <p:sp>
        <p:nvSpPr>
          <p:cNvPr id="37" name="Shape 34"/>
          <p:cNvSpPr/>
          <p:nvPr/>
        </p:nvSpPr>
        <p:spPr>
          <a:xfrm>
            <a:off x="8880475" y="2780407"/>
            <a:ext cx="1365250" cy="9525"/>
          </a:xfrm>
          <a:prstGeom prst="rect">
            <a:avLst/>
          </a:prstGeom>
          <a:solidFill>
            <a:srgbClr val="C0C0C8"/>
          </a:solidFill>
          <a:ln/>
        </p:spPr>
        <p:txBody>
          <a:bodyPr/>
          <a:lstStyle/>
          <a:p>
            <a:endParaRPr lang="fr-FR"/>
          </a:p>
        </p:txBody>
      </p:sp>
      <p:sp>
        <p:nvSpPr>
          <p:cNvPr id="38" name="Text 35"/>
          <p:cNvSpPr/>
          <p:nvPr/>
        </p:nvSpPr>
        <p:spPr>
          <a:xfrm>
            <a:off x="8899525" y="2891532"/>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−0.360</a:t>
            </a:r>
            <a:endParaRPr lang="en-US" sz="1350" dirty="0"/>
          </a:p>
        </p:txBody>
      </p:sp>
      <p:sp>
        <p:nvSpPr>
          <p:cNvPr id="39" name="Shape 36"/>
          <p:cNvSpPr/>
          <p:nvPr/>
        </p:nvSpPr>
        <p:spPr>
          <a:xfrm>
            <a:off x="10245726" y="2780407"/>
            <a:ext cx="1365250" cy="464443"/>
          </a:xfrm>
          <a:prstGeom prst="rect">
            <a:avLst/>
          </a:prstGeom>
          <a:solidFill>
            <a:srgbClr val="FFF6DA"/>
          </a:solidFill>
          <a:ln/>
        </p:spPr>
        <p:txBody>
          <a:bodyPr/>
          <a:lstStyle/>
          <a:p>
            <a:endParaRPr lang="fr-FR"/>
          </a:p>
        </p:txBody>
      </p:sp>
      <p:sp>
        <p:nvSpPr>
          <p:cNvPr id="40" name="Shape 37"/>
          <p:cNvSpPr/>
          <p:nvPr/>
        </p:nvSpPr>
        <p:spPr>
          <a:xfrm>
            <a:off x="10245726" y="2780407"/>
            <a:ext cx="1365250" cy="9525"/>
          </a:xfrm>
          <a:prstGeom prst="rect">
            <a:avLst/>
          </a:prstGeom>
          <a:solidFill>
            <a:srgbClr val="C0C0C8"/>
          </a:solidFill>
          <a:ln/>
        </p:spPr>
        <p:txBody>
          <a:bodyPr/>
          <a:lstStyle/>
          <a:p>
            <a:endParaRPr lang="fr-FR"/>
          </a:p>
        </p:txBody>
      </p:sp>
      <p:sp>
        <p:nvSpPr>
          <p:cNvPr id="41" name="Text 38"/>
          <p:cNvSpPr/>
          <p:nvPr/>
        </p:nvSpPr>
        <p:spPr>
          <a:xfrm>
            <a:off x="10264776" y="2891532"/>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063C67"/>
                </a:solidFill>
                <a:latin typeface="Calibri" pitchFamily="34" charset="0"/>
                <a:ea typeface="Calibri" pitchFamily="34" charset="-122"/>
                <a:cs typeface="Calibri" pitchFamily="34" charset="-120"/>
              </a:rPr>
              <a:t>−0.286</a:t>
            </a:r>
            <a:endParaRPr lang="en-US" sz="1350" dirty="0"/>
          </a:p>
        </p:txBody>
      </p:sp>
      <p:sp>
        <p:nvSpPr>
          <p:cNvPr id="42" name="Shape 39"/>
          <p:cNvSpPr/>
          <p:nvPr/>
        </p:nvSpPr>
        <p:spPr>
          <a:xfrm>
            <a:off x="6600825" y="3709293"/>
            <a:ext cx="914400" cy="9525"/>
          </a:xfrm>
          <a:prstGeom prst="rect">
            <a:avLst/>
          </a:prstGeom>
          <a:solidFill>
            <a:srgbClr val="C0C0C8"/>
          </a:solidFill>
          <a:ln/>
        </p:spPr>
        <p:txBody>
          <a:bodyPr/>
          <a:lstStyle/>
          <a:p>
            <a:endParaRPr lang="fr-FR"/>
          </a:p>
        </p:txBody>
      </p:sp>
      <p:sp>
        <p:nvSpPr>
          <p:cNvPr id="43" name="Shape 40"/>
          <p:cNvSpPr/>
          <p:nvPr/>
        </p:nvSpPr>
        <p:spPr>
          <a:xfrm>
            <a:off x="6600825" y="3244850"/>
            <a:ext cx="914400" cy="9525"/>
          </a:xfrm>
          <a:prstGeom prst="rect">
            <a:avLst/>
          </a:prstGeom>
          <a:solidFill>
            <a:srgbClr val="C0C0C8"/>
          </a:solidFill>
          <a:ln/>
        </p:spPr>
        <p:txBody>
          <a:bodyPr/>
          <a:lstStyle/>
          <a:p>
            <a:endParaRPr lang="fr-FR"/>
          </a:p>
        </p:txBody>
      </p:sp>
      <p:sp>
        <p:nvSpPr>
          <p:cNvPr id="44" name="Text 41"/>
          <p:cNvSpPr/>
          <p:nvPr/>
        </p:nvSpPr>
        <p:spPr>
          <a:xfrm>
            <a:off x="6657975" y="3355975"/>
            <a:ext cx="87630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4 weeks</a:t>
            </a:r>
            <a:endParaRPr lang="en-US" sz="1350" dirty="0"/>
          </a:p>
        </p:txBody>
      </p:sp>
      <p:sp>
        <p:nvSpPr>
          <p:cNvPr id="45" name="Shape 42"/>
          <p:cNvSpPr/>
          <p:nvPr/>
        </p:nvSpPr>
        <p:spPr>
          <a:xfrm>
            <a:off x="7515225" y="3709293"/>
            <a:ext cx="1365250" cy="9525"/>
          </a:xfrm>
          <a:prstGeom prst="rect">
            <a:avLst/>
          </a:prstGeom>
          <a:solidFill>
            <a:srgbClr val="C0C0C8"/>
          </a:solidFill>
          <a:ln/>
        </p:spPr>
        <p:txBody>
          <a:bodyPr/>
          <a:lstStyle/>
          <a:p>
            <a:endParaRPr lang="fr-FR"/>
          </a:p>
        </p:txBody>
      </p:sp>
      <p:sp>
        <p:nvSpPr>
          <p:cNvPr id="46" name="Shape 43"/>
          <p:cNvSpPr/>
          <p:nvPr/>
        </p:nvSpPr>
        <p:spPr>
          <a:xfrm>
            <a:off x="7515225" y="3244850"/>
            <a:ext cx="1365250" cy="9525"/>
          </a:xfrm>
          <a:prstGeom prst="rect">
            <a:avLst/>
          </a:prstGeom>
          <a:solidFill>
            <a:srgbClr val="C0C0C8"/>
          </a:solidFill>
          <a:ln/>
        </p:spPr>
        <p:txBody>
          <a:bodyPr/>
          <a:lstStyle/>
          <a:p>
            <a:endParaRPr lang="fr-FR"/>
          </a:p>
        </p:txBody>
      </p:sp>
      <p:sp>
        <p:nvSpPr>
          <p:cNvPr id="47" name="Text 44"/>
          <p:cNvSpPr/>
          <p:nvPr/>
        </p:nvSpPr>
        <p:spPr>
          <a:xfrm>
            <a:off x="7534275" y="3355975"/>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−0.553</a:t>
            </a:r>
            <a:endParaRPr lang="en-US" sz="1350" dirty="0"/>
          </a:p>
        </p:txBody>
      </p:sp>
      <p:sp>
        <p:nvSpPr>
          <p:cNvPr id="48" name="Shape 45"/>
          <p:cNvSpPr/>
          <p:nvPr/>
        </p:nvSpPr>
        <p:spPr>
          <a:xfrm>
            <a:off x="8880475" y="3709293"/>
            <a:ext cx="1365250" cy="9525"/>
          </a:xfrm>
          <a:prstGeom prst="rect">
            <a:avLst/>
          </a:prstGeom>
          <a:solidFill>
            <a:srgbClr val="C0C0C8"/>
          </a:solidFill>
          <a:ln/>
        </p:spPr>
        <p:txBody>
          <a:bodyPr/>
          <a:lstStyle/>
          <a:p>
            <a:endParaRPr lang="fr-FR"/>
          </a:p>
        </p:txBody>
      </p:sp>
      <p:sp>
        <p:nvSpPr>
          <p:cNvPr id="49" name="Shape 46"/>
          <p:cNvSpPr/>
          <p:nvPr/>
        </p:nvSpPr>
        <p:spPr>
          <a:xfrm>
            <a:off x="8880475" y="3244850"/>
            <a:ext cx="1365250" cy="9525"/>
          </a:xfrm>
          <a:prstGeom prst="rect">
            <a:avLst/>
          </a:prstGeom>
          <a:solidFill>
            <a:srgbClr val="C0C0C8"/>
          </a:solidFill>
          <a:ln/>
        </p:spPr>
        <p:txBody>
          <a:bodyPr/>
          <a:lstStyle/>
          <a:p>
            <a:endParaRPr lang="fr-FR"/>
          </a:p>
        </p:txBody>
      </p:sp>
      <p:sp>
        <p:nvSpPr>
          <p:cNvPr id="50" name="Text 47"/>
          <p:cNvSpPr/>
          <p:nvPr/>
        </p:nvSpPr>
        <p:spPr>
          <a:xfrm>
            <a:off x="8899525" y="3355975"/>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−0.272</a:t>
            </a:r>
            <a:endParaRPr lang="en-US" sz="1350" dirty="0"/>
          </a:p>
        </p:txBody>
      </p:sp>
      <p:sp>
        <p:nvSpPr>
          <p:cNvPr id="51" name="Shape 48"/>
          <p:cNvSpPr/>
          <p:nvPr/>
        </p:nvSpPr>
        <p:spPr>
          <a:xfrm>
            <a:off x="10245726" y="3244850"/>
            <a:ext cx="1365250" cy="470793"/>
          </a:xfrm>
          <a:prstGeom prst="rect">
            <a:avLst/>
          </a:prstGeom>
          <a:solidFill>
            <a:srgbClr val="FFF6DA"/>
          </a:solidFill>
          <a:ln/>
        </p:spPr>
        <p:txBody>
          <a:bodyPr/>
          <a:lstStyle/>
          <a:p>
            <a:endParaRPr lang="fr-FR"/>
          </a:p>
        </p:txBody>
      </p:sp>
      <p:sp>
        <p:nvSpPr>
          <p:cNvPr id="52" name="Shape 49"/>
          <p:cNvSpPr/>
          <p:nvPr/>
        </p:nvSpPr>
        <p:spPr>
          <a:xfrm>
            <a:off x="10245726" y="3709293"/>
            <a:ext cx="1365250" cy="9525"/>
          </a:xfrm>
          <a:prstGeom prst="rect">
            <a:avLst/>
          </a:prstGeom>
          <a:solidFill>
            <a:srgbClr val="C0C0C8"/>
          </a:solidFill>
          <a:ln/>
        </p:spPr>
        <p:txBody>
          <a:bodyPr/>
          <a:lstStyle/>
          <a:p>
            <a:endParaRPr lang="fr-FR"/>
          </a:p>
        </p:txBody>
      </p:sp>
      <p:sp>
        <p:nvSpPr>
          <p:cNvPr id="53" name="Shape 50"/>
          <p:cNvSpPr/>
          <p:nvPr/>
        </p:nvSpPr>
        <p:spPr>
          <a:xfrm>
            <a:off x="10245726" y="3244850"/>
            <a:ext cx="1365250" cy="9525"/>
          </a:xfrm>
          <a:prstGeom prst="rect">
            <a:avLst/>
          </a:prstGeom>
          <a:solidFill>
            <a:srgbClr val="C0C0C8"/>
          </a:solidFill>
          <a:ln/>
        </p:spPr>
        <p:txBody>
          <a:bodyPr/>
          <a:lstStyle/>
          <a:p>
            <a:endParaRPr lang="fr-FR"/>
          </a:p>
        </p:txBody>
      </p:sp>
      <p:sp>
        <p:nvSpPr>
          <p:cNvPr id="54" name="Text 51"/>
          <p:cNvSpPr/>
          <p:nvPr/>
        </p:nvSpPr>
        <p:spPr>
          <a:xfrm>
            <a:off x="10264776" y="3355975"/>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063C67"/>
                </a:solidFill>
                <a:latin typeface="Calibri" pitchFamily="34" charset="0"/>
                <a:ea typeface="Calibri" pitchFamily="34" charset="-122"/>
                <a:cs typeface="Calibri" pitchFamily="34" charset="-120"/>
              </a:rPr>
              <a:t>−0.216</a:t>
            </a:r>
            <a:endParaRPr lang="en-US" sz="1350" dirty="0"/>
          </a:p>
        </p:txBody>
      </p:sp>
      <p:sp>
        <p:nvSpPr>
          <p:cNvPr id="55" name="Text 52"/>
          <p:cNvSpPr/>
          <p:nvPr/>
        </p:nvSpPr>
        <p:spPr>
          <a:xfrm>
            <a:off x="6600825" y="3868043"/>
            <a:ext cx="5160455"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The calibration deficit roughly halved at every horizon. </a:t>
            </a:r>
            <a:r>
              <a:rPr lang="en-US" sz="1425" b="1" dirty="0">
                <a:solidFill>
                  <a:srgbClr val="063C67"/>
                </a:solidFill>
                <a:latin typeface="Calibri" pitchFamily="34" charset="0"/>
                <a:ea typeface="Calibri" pitchFamily="34" charset="-122"/>
                <a:cs typeface="Calibri" pitchFamily="34" charset="-120"/>
              </a:rPr>
              <a:t>AUC movement is not interpretable at this sample size </a:t>
            </a:r>
            <a:r>
              <a:rPr lang="en-US" sz="1425" dirty="0">
                <a:solidFill>
                  <a:srgbClr val="063C67"/>
                </a:solidFill>
                <a:latin typeface="Calibri" pitchFamily="34" charset="0"/>
                <a:ea typeface="Calibri" pitchFamily="34" charset="-122"/>
                <a:cs typeface="Calibri" pitchFamily="34" charset="-120"/>
              </a:rPr>
              <a:t>: with twenty-six positives the four-week interval runs from 0.21 to 0.87.</a:t>
            </a:r>
            <a:endParaRPr lang="en-US" sz="1425" dirty="0"/>
          </a:p>
        </p:txBody>
      </p:sp>
      <p:pic>
        <p:nvPicPr>
          <p:cNvPr id="65" name="Image 4" descr="preencoded.png"/>
          <p:cNvPicPr>
            <a:picLocks noChangeAspect="1"/>
          </p:cNvPicPr>
          <p:nvPr/>
        </p:nvPicPr>
        <p:blipFill>
          <a:blip r:embed="rId4"/>
          <a:stretch>
            <a:fillRect/>
          </a:stretch>
        </p:blipFill>
        <p:spPr>
          <a:xfrm>
            <a:off x="11229975" y="6567488"/>
            <a:ext cx="714375" cy="7143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9607759"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RESULT 3</a:t>
            </a:r>
            <a:endParaRPr lang="en-US" sz="3225" dirty="0"/>
          </a:p>
        </p:txBody>
      </p:sp>
      <p:sp>
        <p:nvSpPr>
          <p:cNvPr id="4" name="Text 2"/>
          <p:cNvSpPr/>
          <p:nvPr/>
        </p:nvSpPr>
        <p:spPr>
          <a:xfrm>
            <a:off x="352425" y="666750"/>
            <a:ext cx="8091686"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A second chain</a:t>
            </a:r>
            <a:endParaRPr lang="en-US" sz="1725" dirty="0"/>
          </a:p>
        </p:txBody>
      </p:sp>
      <p:sp>
        <p:nvSpPr>
          <p:cNvPr id="5" name="Text 3"/>
          <p:cNvSpPr/>
          <p:nvPr/>
        </p:nvSpPr>
        <p:spPr>
          <a:xfrm>
            <a:off x="352425" y="1428750"/>
            <a:ext cx="6244590"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WHICH RANKING FINDS THE THREE FAILING SUPPLIERS?</a:t>
            </a:r>
            <a:endParaRPr lang="en-US" sz="1050" dirty="0"/>
          </a:p>
        </p:txBody>
      </p:sp>
      <p:sp>
        <p:nvSpPr>
          <p:cNvPr id="6" name="Shape 4"/>
          <p:cNvSpPr/>
          <p:nvPr/>
        </p:nvSpPr>
        <p:spPr>
          <a:xfrm>
            <a:off x="352425" y="1736328"/>
            <a:ext cx="4552950" cy="9525"/>
          </a:xfrm>
          <a:prstGeom prst="rect">
            <a:avLst/>
          </a:prstGeom>
          <a:solidFill>
            <a:srgbClr val="C0C0C8"/>
          </a:solidFill>
          <a:ln/>
        </p:spPr>
        <p:txBody>
          <a:bodyPr/>
          <a:lstStyle/>
          <a:p>
            <a:endParaRPr lang="fr-FR"/>
          </a:p>
        </p:txBody>
      </p:sp>
      <p:sp>
        <p:nvSpPr>
          <p:cNvPr id="7" name="Text 5"/>
          <p:cNvSpPr/>
          <p:nvPr/>
        </p:nvSpPr>
        <p:spPr>
          <a:xfrm>
            <a:off x="390525" y="1866503"/>
            <a:ext cx="4613339"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Adequacy score</a:t>
            </a:r>
            <a:endParaRPr lang="en-US" sz="1425" dirty="0"/>
          </a:p>
        </p:txBody>
      </p:sp>
      <p:sp>
        <p:nvSpPr>
          <p:cNvPr id="8" name="Shape 6"/>
          <p:cNvSpPr/>
          <p:nvPr/>
        </p:nvSpPr>
        <p:spPr>
          <a:xfrm>
            <a:off x="4905375" y="1736328"/>
            <a:ext cx="1123950" cy="9525"/>
          </a:xfrm>
          <a:prstGeom prst="rect">
            <a:avLst/>
          </a:prstGeom>
          <a:solidFill>
            <a:srgbClr val="C0C0C8"/>
          </a:solidFill>
          <a:ln/>
        </p:spPr>
        <p:txBody>
          <a:bodyPr/>
          <a:lstStyle/>
          <a:p>
            <a:endParaRPr lang="fr-FR"/>
          </a:p>
        </p:txBody>
      </p:sp>
      <p:sp>
        <p:nvSpPr>
          <p:cNvPr id="9" name="Text 7"/>
          <p:cNvSpPr/>
          <p:nvPr/>
        </p:nvSpPr>
        <p:spPr>
          <a:xfrm>
            <a:off x="4867275" y="1866503"/>
            <a:ext cx="1123950" cy="300434"/>
          </a:xfrm>
          <a:prstGeom prst="rect">
            <a:avLst/>
          </a:prstGeom>
          <a:noFill/>
          <a:ln/>
        </p:spPr>
        <p:txBody>
          <a:bodyPr wrap="square" lIns="25400" tIns="25400" rIns="25400" bIns="25400" rtlCol="0" anchor="t">
            <a:normAutofit/>
          </a:bodyPr>
          <a:lstStyle/>
          <a:p>
            <a:pPr marL="0" indent="0" algn="r">
              <a:lnSpc>
                <a:spcPct val="118071"/>
              </a:lnSpc>
              <a:buNone/>
            </a:pPr>
            <a:r>
              <a:rPr lang="en-US" sz="1425" b="1" dirty="0">
                <a:solidFill>
                  <a:srgbClr val="063C67"/>
                </a:solidFill>
                <a:latin typeface="Calibri" pitchFamily="34" charset="0"/>
                <a:ea typeface="Calibri" pitchFamily="34" charset="-122"/>
                <a:cs typeface="Calibri" pitchFamily="34" charset="-120"/>
              </a:rPr>
              <a:t>0.00</a:t>
            </a:r>
            <a:endParaRPr lang="en-US" sz="1425" dirty="0"/>
          </a:p>
        </p:txBody>
      </p:sp>
      <p:sp>
        <p:nvSpPr>
          <p:cNvPr id="10" name="Shape 8"/>
          <p:cNvSpPr/>
          <p:nvPr/>
        </p:nvSpPr>
        <p:spPr>
          <a:xfrm>
            <a:off x="352425" y="2252663"/>
            <a:ext cx="4552950" cy="9525"/>
          </a:xfrm>
          <a:prstGeom prst="rect">
            <a:avLst/>
          </a:prstGeom>
          <a:solidFill>
            <a:srgbClr val="C0C0C8"/>
          </a:solidFill>
          <a:ln/>
        </p:spPr>
        <p:txBody>
          <a:bodyPr/>
          <a:lstStyle/>
          <a:p>
            <a:endParaRPr lang="fr-FR"/>
          </a:p>
        </p:txBody>
      </p:sp>
      <p:sp>
        <p:nvSpPr>
          <p:cNvPr id="11" name="Text 9"/>
          <p:cNvSpPr/>
          <p:nvPr/>
        </p:nvSpPr>
        <p:spPr>
          <a:xfrm>
            <a:off x="390525" y="2382838"/>
            <a:ext cx="4613339"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Hidden risk</a:t>
            </a:r>
            <a:endParaRPr lang="en-US" sz="1425" dirty="0"/>
          </a:p>
        </p:txBody>
      </p:sp>
      <p:sp>
        <p:nvSpPr>
          <p:cNvPr id="12" name="Shape 10"/>
          <p:cNvSpPr/>
          <p:nvPr/>
        </p:nvSpPr>
        <p:spPr>
          <a:xfrm>
            <a:off x="4905375" y="2252663"/>
            <a:ext cx="1123950" cy="9525"/>
          </a:xfrm>
          <a:prstGeom prst="rect">
            <a:avLst/>
          </a:prstGeom>
          <a:solidFill>
            <a:srgbClr val="C0C0C8"/>
          </a:solidFill>
          <a:ln/>
        </p:spPr>
        <p:txBody>
          <a:bodyPr/>
          <a:lstStyle/>
          <a:p>
            <a:endParaRPr lang="fr-FR"/>
          </a:p>
        </p:txBody>
      </p:sp>
      <p:sp>
        <p:nvSpPr>
          <p:cNvPr id="13" name="Text 11"/>
          <p:cNvSpPr/>
          <p:nvPr/>
        </p:nvSpPr>
        <p:spPr>
          <a:xfrm>
            <a:off x="4867275" y="2382838"/>
            <a:ext cx="1123950" cy="300434"/>
          </a:xfrm>
          <a:prstGeom prst="rect">
            <a:avLst/>
          </a:prstGeom>
          <a:noFill/>
          <a:ln/>
        </p:spPr>
        <p:txBody>
          <a:bodyPr wrap="square" lIns="25400" tIns="25400" rIns="25400" bIns="25400" rtlCol="0" anchor="t">
            <a:normAutofit/>
          </a:bodyPr>
          <a:lstStyle/>
          <a:p>
            <a:pPr marL="0" indent="0" algn="r">
              <a:lnSpc>
                <a:spcPct val="118071"/>
              </a:lnSpc>
              <a:buNone/>
            </a:pPr>
            <a:r>
              <a:rPr lang="en-US" sz="1425" b="1" dirty="0">
                <a:solidFill>
                  <a:srgbClr val="063C67"/>
                </a:solidFill>
                <a:latin typeface="Calibri" pitchFamily="34" charset="0"/>
                <a:ea typeface="Calibri" pitchFamily="34" charset="-122"/>
                <a:cs typeface="Calibri" pitchFamily="34" charset="-120"/>
              </a:rPr>
              <a:t>0.00</a:t>
            </a:r>
            <a:endParaRPr lang="en-US" sz="1425" dirty="0"/>
          </a:p>
        </p:txBody>
      </p:sp>
      <p:sp>
        <p:nvSpPr>
          <p:cNvPr id="14" name="Shape 12"/>
          <p:cNvSpPr/>
          <p:nvPr/>
        </p:nvSpPr>
        <p:spPr>
          <a:xfrm>
            <a:off x="352425" y="2768997"/>
            <a:ext cx="4552950" cy="516334"/>
          </a:xfrm>
          <a:prstGeom prst="rect">
            <a:avLst/>
          </a:prstGeom>
          <a:solidFill>
            <a:srgbClr val="FFF6DA"/>
          </a:solidFill>
          <a:ln/>
        </p:spPr>
        <p:txBody>
          <a:bodyPr/>
          <a:lstStyle/>
          <a:p>
            <a:endParaRPr lang="fr-FR"/>
          </a:p>
        </p:txBody>
      </p:sp>
      <p:sp>
        <p:nvSpPr>
          <p:cNvPr id="15" name="Shape 13"/>
          <p:cNvSpPr/>
          <p:nvPr/>
        </p:nvSpPr>
        <p:spPr>
          <a:xfrm>
            <a:off x="352425" y="2768997"/>
            <a:ext cx="4552950" cy="9525"/>
          </a:xfrm>
          <a:prstGeom prst="rect">
            <a:avLst/>
          </a:prstGeom>
          <a:solidFill>
            <a:srgbClr val="C0C0C8"/>
          </a:solidFill>
          <a:ln/>
        </p:spPr>
        <p:txBody>
          <a:bodyPr/>
          <a:lstStyle/>
          <a:p>
            <a:endParaRPr lang="fr-FR"/>
          </a:p>
        </p:txBody>
      </p:sp>
      <p:sp>
        <p:nvSpPr>
          <p:cNvPr id="16" name="Text 14"/>
          <p:cNvSpPr/>
          <p:nvPr/>
        </p:nvSpPr>
        <p:spPr>
          <a:xfrm>
            <a:off x="390525" y="2899172"/>
            <a:ext cx="4613339"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Forecast probability</a:t>
            </a:r>
            <a:endParaRPr lang="en-US" sz="1425" dirty="0"/>
          </a:p>
        </p:txBody>
      </p:sp>
      <p:sp>
        <p:nvSpPr>
          <p:cNvPr id="17" name="Shape 15"/>
          <p:cNvSpPr/>
          <p:nvPr/>
        </p:nvSpPr>
        <p:spPr>
          <a:xfrm>
            <a:off x="4905375" y="2768997"/>
            <a:ext cx="1123950" cy="516334"/>
          </a:xfrm>
          <a:prstGeom prst="rect">
            <a:avLst/>
          </a:prstGeom>
          <a:solidFill>
            <a:srgbClr val="FFF6DA"/>
          </a:solidFill>
          <a:ln/>
        </p:spPr>
        <p:txBody>
          <a:bodyPr/>
          <a:lstStyle/>
          <a:p>
            <a:endParaRPr lang="fr-FR"/>
          </a:p>
        </p:txBody>
      </p:sp>
      <p:sp>
        <p:nvSpPr>
          <p:cNvPr id="18" name="Shape 16"/>
          <p:cNvSpPr/>
          <p:nvPr/>
        </p:nvSpPr>
        <p:spPr>
          <a:xfrm>
            <a:off x="4905375" y="2768997"/>
            <a:ext cx="1123950" cy="9525"/>
          </a:xfrm>
          <a:prstGeom prst="rect">
            <a:avLst/>
          </a:prstGeom>
          <a:solidFill>
            <a:srgbClr val="C0C0C8"/>
          </a:solidFill>
          <a:ln/>
        </p:spPr>
        <p:txBody>
          <a:bodyPr/>
          <a:lstStyle/>
          <a:p>
            <a:endParaRPr lang="fr-FR"/>
          </a:p>
        </p:txBody>
      </p:sp>
      <p:sp>
        <p:nvSpPr>
          <p:cNvPr id="19" name="Text 17"/>
          <p:cNvSpPr/>
          <p:nvPr/>
        </p:nvSpPr>
        <p:spPr>
          <a:xfrm>
            <a:off x="4867275" y="2899172"/>
            <a:ext cx="1123950" cy="300434"/>
          </a:xfrm>
          <a:prstGeom prst="rect">
            <a:avLst/>
          </a:prstGeom>
          <a:noFill/>
          <a:ln/>
        </p:spPr>
        <p:txBody>
          <a:bodyPr wrap="square" lIns="25400" tIns="25400" rIns="25400" bIns="25400" rtlCol="0" anchor="t">
            <a:normAutofit/>
          </a:bodyPr>
          <a:lstStyle/>
          <a:p>
            <a:pPr marL="0" indent="0" algn="r">
              <a:lnSpc>
                <a:spcPct val="118071"/>
              </a:lnSpc>
              <a:buNone/>
            </a:pPr>
            <a:r>
              <a:rPr lang="en-US" sz="1425" b="1" dirty="0">
                <a:solidFill>
                  <a:srgbClr val="063C67"/>
                </a:solidFill>
                <a:latin typeface="Calibri" pitchFamily="34" charset="0"/>
                <a:ea typeface="Calibri" pitchFamily="34" charset="-122"/>
                <a:cs typeface="Calibri" pitchFamily="34" charset="-120"/>
              </a:rPr>
              <a:t>0.56</a:t>
            </a:r>
            <a:endParaRPr lang="en-US" sz="1425" dirty="0"/>
          </a:p>
        </p:txBody>
      </p:sp>
      <p:sp>
        <p:nvSpPr>
          <p:cNvPr id="20" name="Shape 18"/>
          <p:cNvSpPr/>
          <p:nvPr/>
        </p:nvSpPr>
        <p:spPr>
          <a:xfrm>
            <a:off x="352425" y="3801666"/>
            <a:ext cx="4552950" cy="9525"/>
          </a:xfrm>
          <a:prstGeom prst="rect">
            <a:avLst/>
          </a:prstGeom>
          <a:solidFill>
            <a:srgbClr val="C0C0C8"/>
          </a:solidFill>
          <a:ln/>
        </p:spPr>
        <p:txBody>
          <a:bodyPr/>
          <a:lstStyle/>
          <a:p>
            <a:endParaRPr lang="fr-FR"/>
          </a:p>
        </p:txBody>
      </p:sp>
      <p:sp>
        <p:nvSpPr>
          <p:cNvPr id="21" name="Shape 19"/>
          <p:cNvSpPr/>
          <p:nvPr/>
        </p:nvSpPr>
        <p:spPr>
          <a:xfrm>
            <a:off x="352425" y="3285331"/>
            <a:ext cx="4552950" cy="9525"/>
          </a:xfrm>
          <a:prstGeom prst="rect">
            <a:avLst/>
          </a:prstGeom>
          <a:solidFill>
            <a:srgbClr val="C0C0C8"/>
          </a:solidFill>
          <a:ln/>
        </p:spPr>
        <p:txBody>
          <a:bodyPr/>
          <a:lstStyle/>
          <a:p>
            <a:endParaRPr lang="fr-FR"/>
          </a:p>
        </p:txBody>
      </p:sp>
      <p:sp>
        <p:nvSpPr>
          <p:cNvPr id="22" name="Text 20"/>
          <p:cNvSpPr/>
          <p:nvPr/>
        </p:nvSpPr>
        <p:spPr>
          <a:xfrm>
            <a:off x="390525" y="3415506"/>
            <a:ext cx="4613339"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858591"/>
                </a:solidFill>
                <a:latin typeface="Calibri" pitchFamily="34" charset="0"/>
                <a:ea typeface="Calibri" pitchFamily="34" charset="-122"/>
                <a:cs typeface="Calibri" pitchFamily="34" charset="-120"/>
              </a:rPr>
              <a:t>Base rate · 3 of 15</a:t>
            </a:r>
            <a:endParaRPr lang="en-US" sz="1425" dirty="0"/>
          </a:p>
        </p:txBody>
      </p:sp>
      <p:sp>
        <p:nvSpPr>
          <p:cNvPr id="23" name="Shape 21"/>
          <p:cNvSpPr/>
          <p:nvPr/>
        </p:nvSpPr>
        <p:spPr>
          <a:xfrm>
            <a:off x="4905375" y="3801666"/>
            <a:ext cx="1123950" cy="9525"/>
          </a:xfrm>
          <a:prstGeom prst="rect">
            <a:avLst/>
          </a:prstGeom>
          <a:solidFill>
            <a:srgbClr val="C0C0C8"/>
          </a:solidFill>
          <a:ln/>
        </p:spPr>
        <p:txBody>
          <a:bodyPr/>
          <a:lstStyle/>
          <a:p>
            <a:endParaRPr lang="fr-FR"/>
          </a:p>
        </p:txBody>
      </p:sp>
      <p:sp>
        <p:nvSpPr>
          <p:cNvPr id="24" name="Shape 22"/>
          <p:cNvSpPr/>
          <p:nvPr/>
        </p:nvSpPr>
        <p:spPr>
          <a:xfrm>
            <a:off x="4905375" y="3285331"/>
            <a:ext cx="1123950" cy="9525"/>
          </a:xfrm>
          <a:prstGeom prst="rect">
            <a:avLst/>
          </a:prstGeom>
          <a:solidFill>
            <a:srgbClr val="C0C0C8"/>
          </a:solidFill>
          <a:ln/>
        </p:spPr>
        <p:txBody>
          <a:bodyPr/>
          <a:lstStyle/>
          <a:p>
            <a:endParaRPr lang="fr-FR"/>
          </a:p>
        </p:txBody>
      </p:sp>
      <p:sp>
        <p:nvSpPr>
          <p:cNvPr id="25" name="Text 23"/>
          <p:cNvSpPr/>
          <p:nvPr/>
        </p:nvSpPr>
        <p:spPr>
          <a:xfrm>
            <a:off x="4867275" y="3415506"/>
            <a:ext cx="1123950" cy="300434"/>
          </a:xfrm>
          <a:prstGeom prst="rect">
            <a:avLst/>
          </a:prstGeom>
          <a:noFill/>
          <a:ln/>
        </p:spPr>
        <p:txBody>
          <a:bodyPr wrap="square" lIns="25400" tIns="25400" rIns="25400" bIns="25400" rtlCol="0" anchor="t">
            <a:normAutofit/>
          </a:bodyPr>
          <a:lstStyle/>
          <a:p>
            <a:pPr marL="0" indent="0" algn="r">
              <a:lnSpc>
                <a:spcPct val="118071"/>
              </a:lnSpc>
              <a:buNone/>
            </a:pPr>
            <a:r>
              <a:rPr lang="en-US" sz="1425" dirty="0">
                <a:solidFill>
                  <a:srgbClr val="858591"/>
                </a:solidFill>
                <a:latin typeface="Calibri" pitchFamily="34" charset="0"/>
                <a:ea typeface="Calibri" pitchFamily="34" charset="-122"/>
                <a:cs typeface="Calibri" pitchFamily="34" charset="-120"/>
              </a:rPr>
              <a:t>0.20</a:t>
            </a:r>
            <a:endParaRPr lang="en-US" sz="1425" dirty="0"/>
          </a:p>
        </p:txBody>
      </p:sp>
      <p:sp>
        <p:nvSpPr>
          <p:cNvPr id="27" name="Shape 25"/>
          <p:cNvSpPr/>
          <p:nvPr/>
        </p:nvSpPr>
        <p:spPr>
          <a:xfrm>
            <a:off x="352425" y="5157787"/>
            <a:ext cx="5676900" cy="1410594"/>
          </a:xfrm>
          <a:prstGeom prst="rect">
            <a:avLst/>
          </a:prstGeom>
          <a:solidFill>
            <a:srgbClr val="063C67"/>
          </a:solidFill>
          <a:ln/>
        </p:spPr>
        <p:txBody>
          <a:bodyPr/>
          <a:lstStyle/>
          <a:p>
            <a:endParaRPr lang="fr-FR"/>
          </a:p>
        </p:txBody>
      </p:sp>
      <p:sp>
        <p:nvSpPr>
          <p:cNvPr id="30" name="Text 28"/>
          <p:cNvSpPr/>
          <p:nvPr/>
        </p:nvSpPr>
        <p:spPr>
          <a:xfrm>
            <a:off x="561975" y="3937596"/>
            <a:ext cx="5165973" cy="1220191"/>
          </a:xfrm>
          <a:prstGeom prst="rect">
            <a:avLst/>
          </a:prstGeom>
          <a:noFill/>
          <a:ln/>
        </p:spPr>
        <p:txBody>
          <a:bodyPr wrap="square" lIns="0" tIns="0" rIns="0" bIns="0" rtlCol="0" anchor="t">
            <a:normAutofit/>
          </a:bodyPr>
          <a:lstStyle/>
          <a:p>
            <a:pPr marL="0" indent="0" algn="l">
              <a:lnSpc>
                <a:spcPct val="109929"/>
              </a:lnSpc>
              <a:buNone/>
            </a:pPr>
            <a:endParaRPr lang="en-US" sz="1425" dirty="0"/>
          </a:p>
        </p:txBody>
      </p:sp>
      <p:sp>
        <p:nvSpPr>
          <p:cNvPr id="32" name="Text 30"/>
          <p:cNvSpPr/>
          <p:nvPr/>
        </p:nvSpPr>
        <p:spPr>
          <a:xfrm>
            <a:off x="547361" y="4729857"/>
            <a:ext cx="5180587" cy="748903"/>
          </a:xfrm>
          <a:prstGeom prst="rect">
            <a:avLst/>
          </a:prstGeom>
          <a:noFill/>
          <a:ln/>
        </p:spPr>
        <p:txBody>
          <a:bodyPr wrap="square" lIns="0" tIns="0" rIns="0" bIns="0" rtlCol="0" anchor="t">
            <a:normAutofit/>
          </a:bodyPr>
          <a:lstStyle/>
          <a:p>
            <a:pPr marL="0" indent="0" algn="l">
              <a:lnSpc>
                <a:spcPct val="109929"/>
              </a:lnSpc>
              <a:buNone/>
            </a:pPr>
            <a:endParaRPr lang="en-US" sz="1425" dirty="0"/>
          </a:p>
        </p:txBody>
      </p:sp>
      <p:sp>
        <p:nvSpPr>
          <p:cNvPr id="33" name="Text 31"/>
          <p:cNvSpPr/>
          <p:nvPr/>
        </p:nvSpPr>
        <p:spPr>
          <a:xfrm>
            <a:off x="561975" y="5285979"/>
            <a:ext cx="5783580" cy="320973"/>
          </a:xfrm>
          <a:prstGeom prst="rect">
            <a:avLst/>
          </a:prstGeom>
          <a:noFill/>
          <a:ln/>
        </p:spPr>
        <p:txBody>
          <a:bodyPr wrap="square" lIns="25400" tIns="25400" rIns="25400" bIns="25400" rtlCol="0" anchor="t">
            <a:normAutofit/>
          </a:bodyPr>
          <a:lstStyle/>
          <a:p>
            <a:pPr marL="0" indent="0" algn="l">
              <a:lnSpc>
                <a:spcPct val="96848"/>
              </a:lnSpc>
              <a:buNone/>
            </a:pPr>
            <a:r>
              <a:rPr lang="en-US" sz="1650" b="1" dirty="0">
                <a:solidFill>
                  <a:srgbClr val="FFDA65"/>
                </a:solidFill>
                <a:latin typeface="Arial Black" pitchFamily="34" charset="0"/>
                <a:ea typeface="Arial Black" pitchFamily="34" charset="-122"/>
                <a:cs typeface="Arial Black" pitchFamily="34" charset="-120"/>
              </a:rPr>
              <a:t>THE MISPERCEPTION BOUNDARY</a:t>
            </a:r>
            <a:endParaRPr lang="en-US" sz="1650" dirty="0"/>
          </a:p>
        </p:txBody>
      </p:sp>
      <p:sp>
        <p:nvSpPr>
          <p:cNvPr id="34" name="Text 32"/>
          <p:cNvSpPr/>
          <p:nvPr/>
        </p:nvSpPr>
        <p:spPr>
          <a:xfrm>
            <a:off x="561975" y="5645051"/>
            <a:ext cx="5415534"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FFFFFF"/>
                </a:solidFill>
                <a:latin typeface="Calibri" pitchFamily="34" charset="0"/>
                <a:ea typeface="Calibri" pitchFamily="34" charset="-122"/>
                <a:cs typeface="Calibri" pitchFamily="34" charset="-120"/>
              </a:rPr>
              <a:t>The tool measures </a:t>
            </a:r>
            <a:r>
              <a:rPr lang="en-US" sz="1425" b="1" dirty="0">
                <a:solidFill>
                  <a:srgbClr val="FFFFFF"/>
                </a:solidFill>
                <a:latin typeface="Calibri" pitchFamily="34" charset="0"/>
                <a:ea typeface="Calibri" pitchFamily="34" charset="-122"/>
                <a:cs typeface="Calibri" pitchFamily="34" charset="-120"/>
              </a:rPr>
              <a:t>misperception</a:t>
            </a:r>
            <a:r>
              <a:rPr lang="en-US" sz="1425" dirty="0">
                <a:solidFill>
                  <a:srgbClr val="FFFFFF"/>
                </a:solidFill>
                <a:latin typeface="Calibri" pitchFamily="34" charset="0"/>
                <a:ea typeface="Calibri" pitchFamily="34" charset="-122"/>
                <a:cs typeface="Calibri" pitchFamily="34" charset="-120"/>
              </a:rPr>
              <a:t>, not </a:t>
            </a:r>
            <a:r>
              <a:rPr lang="en-US" sz="1425" b="1" dirty="0">
                <a:solidFill>
                  <a:srgbClr val="FFFFFF"/>
                </a:solidFill>
                <a:latin typeface="Calibri" pitchFamily="34" charset="0"/>
                <a:ea typeface="Calibri" pitchFamily="34" charset="-122"/>
                <a:cs typeface="Calibri" pitchFamily="34" charset="-120"/>
              </a:rPr>
              <a:t>non-disclosure </a:t>
            </a:r>
            <a:r>
              <a:rPr lang="en-US" sz="1425" dirty="0">
                <a:solidFill>
                  <a:srgbClr val="FFFFFF"/>
                </a:solidFill>
                <a:latin typeface="Calibri" pitchFamily="34" charset="0"/>
                <a:ea typeface="Calibri" pitchFamily="34" charset="-122"/>
                <a:cs typeface="Calibri" pitchFamily="34" charset="-120"/>
              </a:rPr>
              <a:t>. Precision 1.00 on chain 1 and 0.00 on chain 2 do not contradict: they name the domain.</a:t>
            </a:r>
            <a:endParaRPr lang="en-US" sz="1425" dirty="0"/>
          </a:p>
        </p:txBody>
      </p:sp>
      <p:sp>
        <p:nvSpPr>
          <p:cNvPr id="35" name="Text 33"/>
          <p:cNvSpPr/>
          <p:nvPr/>
        </p:nvSpPr>
        <p:spPr>
          <a:xfrm>
            <a:off x="6334125" y="1428750"/>
            <a:ext cx="584644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500 MONTE CARLO TRAJECTORIES VS. A TWO-NUMBER RATIO</a:t>
            </a:r>
            <a:endParaRPr lang="en-US" sz="1050" dirty="0"/>
          </a:p>
        </p:txBody>
      </p:sp>
      <p:sp>
        <p:nvSpPr>
          <p:cNvPr id="36" name="Shape 34"/>
          <p:cNvSpPr/>
          <p:nvPr/>
        </p:nvSpPr>
        <p:spPr>
          <a:xfrm>
            <a:off x="6334125" y="1755378"/>
            <a:ext cx="2581275" cy="1952625"/>
          </a:xfrm>
          <a:prstGeom prst="rect">
            <a:avLst/>
          </a:prstGeom>
          <a:solidFill>
            <a:srgbClr val="FFDA65"/>
          </a:solidFill>
          <a:ln/>
        </p:spPr>
        <p:txBody>
          <a:bodyPr/>
          <a:lstStyle/>
          <a:p>
            <a:endParaRPr lang="fr-FR"/>
          </a:p>
        </p:txBody>
      </p:sp>
      <p:pic>
        <p:nvPicPr>
          <p:cNvPr id="37" name="Image 0" descr="preencoded.png"/>
          <p:cNvPicPr>
            <a:picLocks noChangeAspect="1"/>
          </p:cNvPicPr>
          <p:nvPr/>
        </p:nvPicPr>
        <p:blipFill>
          <a:blip r:embed="rId3"/>
          <a:stretch>
            <a:fillRect/>
          </a:stretch>
        </p:blipFill>
        <p:spPr>
          <a:xfrm>
            <a:off x="6543675" y="1926828"/>
            <a:ext cx="232470" cy="323850"/>
          </a:xfrm>
          <a:prstGeom prst="rect">
            <a:avLst/>
          </a:prstGeom>
        </p:spPr>
      </p:pic>
      <p:sp>
        <p:nvSpPr>
          <p:cNvPr id="38" name="Text 35"/>
          <p:cNvSpPr/>
          <p:nvPr/>
        </p:nvSpPr>
        <p:spPr>
          <a:xfrm>
            <a:off x="6543675" y="2370038"/>
            <a:ext cx="2378393" cy="415230"/>
          </a:xfrm>
          <a:prstGeom prst="rect">
            <a:avLst/>
          </a:prstGeom>
          <a:noFill/>
          <a:ln/>
        </p:spPr>
        <p:txBody>
          <a:bodyPr wrap="square" lIns="25400" tIns="25400" rIns="25400" bIns="25400" rtlCol="0" anchor="t">
            <a:normAutofit/>
          </a:bodyPr>
          <a:lstStyle/>
          <a:p>
            <a:pPr marL="0" indent="0" algn="l">
              <a:lnSpc>
                <a:spcPct val="63871"/>
              </a:lnSpc>
              <a:buNone/>
            </a:pPr>
            <a:r>
              <a:rPr lang="en-US" sz="3300" b="1" dirty="0">
                <a:solidFill>
                  <a:srgbClr val="063C67"/>
                </a:solidFill>
                <a:latin typeface="Arial Black" pitchFamily="34" charset="0"/>
                <a:ea typeface="Arial Black" pitchFamily="34" charset="-122"/>
                <a:cs typeface="Arial Black" pitchFamily="34" charset="-120"/>
              </a:rPr>
              <a:t>6 / 8</a:t>
            </a:r>
            <a:endParaRPr lang="en-US" sz="3300" dirty="0"/>
          </a:p>
        </p:txBody>
      </p:sp>
      <p:sp>
        <p:nvSpPr>
          <p:cNvPr id="39" name="Text 36"/>
          <p:cNvSpPr/>
          <p:nvPr/>
        </p:nvSpPr>
        <p:spPr>
          <a:xfrm>
            <a:off x="6543675" y="2842419"/>
            <a:ext cx="2238375" cy="732234"/>
          </a:xfrm>
          <a:prstGeom prst="rect">
            <a:avLst/>
          </a:prstGeom>
          <a:noFill/>
          <a:ln/>
        </p:spPr>
        <p:txBody>
          <a:bodyPr wrap="square" lIns="25400" tIns="25400" rIns="25400" bIns="25400" rtlCol="0" anchor="t">
            <a:normAutofit/>
          </a:bodyPr>
          <a:lstStyle/>
          <a:p>
            <a:pPr marL="0" indent="0" algn="l">
              <a:lnSpc>
                <a:spcPct val="110455"/>
              </a:lnSpc>
              <a:buNone/>
            </a:pPr>
            <a:r>
              <a:rPr lang="en-US" sz="1350" dirty="0">
                <a:solidFill>
                  <a:srgbClr val="063C67"/>
                </a:solidFill>
                <a:latin typeface="Calibri" pitchFamily="34" charset="0"/>
                <a:ea typeface="Calibri" pitchFamily="34" charset="-122"/>
                <a:cs typeface="Calibri" pitchFamily="34" charset="-120"/>
              </a:rPr>
              <a:t>horizons where the </a:t>
            </a:r>
            <a:r>
              <a:rPr lang="en-US" sz="1350" b="1" dirty="0">
                <a:solidFill>
                  <a:srgbClr val="063C67"/>
                </a:solidFill>
                <a:latin typeface="Calibri" pitchFamily="34" charset="0"/>
                <a:ea typeface="Calibri" pitchFamily="34" charset="-122"/>
                <a:cs typeface="Calibri" pitchFamily="34" charset="-120"/>
              </a:rPr>
              <a:t>baseline ranks better </a:t>
            </a:r>
            <a:r>
              <a:rPr lang="en-US" sz="1350" dirty="0">
                <a:solidFill>
                  <a:srgbClr val="063C67"/>
                </a:solidFill>
                <a:latin typeface="Calibri" pitchFamily="34" charset="0"/>
                <a:ea typeface="Calibri" pitchFamily="34" charset="-122"/>
                <a:cs typeface="Calibri" pitchFamily="34" charset="-120"/>
              </a:rPr>
              <a:t>, by 0.082 of AUC at one week</a:t>
            </a:r>
            <a:endParaRPr lang="en-US" sz="1350" dirty="0"/>
          </a:p>
        </p:txBody>
      </p:sp>
      <p:sp>
        <p:nvSpPr>
          <p:cNvPr id="40" name="Shape 37"/>
          <p:cNvSpPr/>
          <p:nvPr/>
        </p:nvSpPr>
        <p:spPr>
          <a:xfrm>
            <a:off x="9067800" y="1755378"/>
            <a:ext cx="2581275" cy="1952625"/>
          </a:xfrm>
          <a:prstGeom prst="rect">
            <a:avLst/>
          </a:prstGeom>
          <a:solidFill>
            <a:srgbClr val="F4F4F6"/>
          </a:solidFill>
          <a:ln/>
        </p:spPr>
        <p:txBody>
          <a:bodyPr/>
          <a:lstStyle/>
          <a:p>
            <a:endParaRPr lang="fr-FR"/>
          </a:p>
        </p:txBody>
      </p:sp>
      <p:pic>
        <p:nvPicPr>
          <p:cNvPr id="41" name="Image 1" descr="preencoded.png"/>
          <p:cNvPicPr>
            <a:picLocks noChangeAspect="1"/>
          </p:cNvPicPr>
          <p:nvPr/>
        </p:nvPicPr>
        <p:blipFill>
          <a:blip r:embed="rId4"/>
          <a:stretch>
            <a:fillRect/>
          </a:stretch>
        </p:blipFill>
        <p:spPr>
          <a:xfrm>
            <a:off x="9277350" y="1926828"/>
            <a:ext cx="364034" cy="323850"/>
          </a:xfrm>
          <a:prstGeom prst="rect">
            <a:avLst/>
          </a:prstGeom>
        </p:spPr>
      </p:pic>
      <p:sp>
        <p:nvSpPr>
          <p:cNvPr id="42" name="Text 38"/>
          <p:cNvSpPr/>
          <p:nvPr/>
        </p:nvSpPr>
        <p:spPr>
          <a:xfrm>
            <a:off x="9277350" y="2370038"/>
            <a:ext cx="2378393" cy="415230"/>
          </a:xfrm>
          <a:prstGeom prst="rect">
            <a:avLst/>
          </a:prstGeom>
          <a:noFill/>
          <a:ln/>
        </p:spPr>
        <p:txBody>
          <a:bodyPr wrap="square" lIns="25400" tIns="25400" rIns="25400" bIns="25400" rtlCol="0" anchor="t">
            <a:normAutofit/>
          </a:bodyPr>
          <a:lstStyle/>
          <a:p>
            <a:pPr marL="0" indent="0" algn="l">
              <a:lnSpc>
                <a:spcPct val="63871"/>
              </a:lnSpc>
              <a:buNone/>
            </a:pPr>
            <a:r>
              <a:rPr lang="en-US" sz="3300" b="1" dirty="0">
                <a:solidFill>
                  <a:srgbClr val="043962"/>
                </a:solidFill>
                <a:latin typeface="Arial Black" pitchFamily="34" charset="0"/>
                <a:ea typeface="Arial Black" pitchFamily="34" charset="-122"/>
                <a:cs typeface="Arial Black" pitchFamily="34" charset="-120"/>
              </a:rPr>
              <a:t>−1.60</a:t>
            </a:r>
            <a:endParaRPr lang="en-US" sz="3300" dirty="0"/>
          </a:p>
        </p:txBody>
      </p:sp>
      <p:sp>
        <p:nvSpPr>
          <p:cNvPr id="43" name="Text 39"/>
          <p:cNvSpPr/>
          <p:nvPr/>
        </p:nvSpPr>
        <p:spPr>
          <a:xfrm>
            <a:off x="9277350" y="2842419"/>
            <a:ext cx="2238375" cy="732234"/>
          </a:xfrm>
          <a:prstGeom prst="rect">
            <a:avLst/>
          </a:prstGeom>
          <a:noFill/>
          <a:ln/>
        </p:spPr>
        <p:txBody>
          <a:bodyPr wrap="square" lIns="25400" tIns="25400" rIns="25400" bIns="25400" rtlCol="0" anchor="t">
            <a:normAutofit/>
          </a:bodyPr>
          <a:lstStyle/>
          <a:p>
            <a:pPr marL="0" indent="0" algn="l">
              <a:lnSpc>
                <a:spcPct val="110455"/>
              </a:lnSpc>
              <a:buNone/>
            </a:pPr>
            <a:r>
              <a:rPr lang="en-US" sz="1350" dirty="0">
                <a:solidFill>
                  <a:srgbClr val="063C67"/>
                </a:solidFill>
                <a:latin typeface="Calibri" pitchFamily="34" charset="0"/>
                <a:ea typeface="Calibri" pitchFamily="34" charset="-122"/>
                <a:cs typeface="Calibri" pitchFamily="34" charset="-120"/>
              </a:rPr>
              <a:t>simulation Brier skill vs. </a:t>
            </a:r>
            <a:r>
              <a:rPr lang="en-US" sz="1350" b="1" dirty="0">
                <a:solidFill>
                  <a:srgbClr val="063C67"/>
                </a:solidFill>
                <a:latin typeface="Calibri" pitchFamily="34" charset="0"/>
                <a:ea typeface="Calibri" pitchFamily="34" charset="-122"/>
                <a:cs typeface="Calibri" pitchFamily="34" charset="-120"/>
              </a:rPr>
              <a:t>−4.85 </a:t>
            </a:r>
            <a:r>
              <a:rPr lang="en-US" sz="1350" dirty="0">
                <a:solidFill>
                  <a:srgbClr val="063C67"/>
                </a:solidFill>
                <a:latin typeface="Calibri" pitchFamily="34" charset="0"/>
                <a:ea typeface="Calibri" pitchFamily="34" charset="-122"/>
                <a:cs typeface="Calibri" pitchFamily="34" charset="-120"/>
              </a:rPr>
              <a:t>for the baseline. The trajectories buy calibration</a:t>
            </a:r>
            <a:endParaRPr lang="en-US" sz="1350" dirty="0"/>
          </a:p>
        </p:txBody>
      </p:sp>
      <p:sp>
        <p:nvSpPr>
          <p:cNvPr id="44" name="Shape 40"/>
          <p:cNvSpPr/>
          <p:nvPr/>
        </p:nvSpPr>
        <p:spPr>
          <a:xfrm>
            <a:off x="6334125" y="4003675"/>
            <a:ext cx="1532037" cy="477143"/>
          </a:xfrm>
          <a:prstGeom prst="rect">
            <a:avLst/>
          </a:prstGeom>
          <a:solidFill>
            <a:srgbClr val="F4F4F6"/>
          </a:solidFill>
          <a:ln/>
        </p:spPr>
        <p:txBody>
          <a:bodyPr/>
          <a:lstStyle/>
          <a:p>
            <a:endParaRPr lang="fr-FR"/>
          </a:p>
        </p:txBody>
      </p:sp>
      <p:sp>
        <p:nvSpPr>
          <p:cNvPr id="45" name="Text 41"/>
          <p:cNvSpPr/>
          <p:nvPr/>
        </p:nvSpPr>
        <p:spPr>
          <a:xfrm>
            <a:off x="6477000" y="4117975"/>
            <a:ext cx="1322487"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six urgency blocks</a:t>
            </a:r>
            <a:endParaRPr lang="en-US" sz="1350" dirty="0"/>
          </a:p>
        </p:txBody>
      </p:sp>
      <p:sp>
        <p:nvSpPr>
          <p:cNvPr id="46" name="Shape 42"/>
          <p:cNvSpPr/>
          <p:nvPr/>
        </p:nvSpPr>
        <p:spPr>
          <a:xfrm>
            <a:off x="7999512" y="4159746"/>
            <a:ext cx="120650" cy="165100"/>
          </a:xfrm>
          <a:prstGeom prst="rect">
            <a:avLst/>
          </a:prstGeom>
          <a:solidFill>
            <a:srgbClr val="1D93C9"/>
          </a:solidFill>
          <a:ln/>
        </p:spPr>
        <p:txBody>
          <a:bodyPr/>
          <a:lstStyle/>
          <a:p>
            <a:endParaRPr lang="fr-FR"/>
          </a:p>
        </p:txBody>
      </p:sp>
      <p:sp>
        <p:nvSpPr>
          <p:cNvPr id="47" name="Shape 43"/>
          <p:cNvSpPr/>
          <p:nvPr/>
        </p:nvSpPr>
        <p:spPr>
          <a:xfrm>
            <a:off x="8253512" y="4003675"/>
            <a:ext cx="1049635" cy="477143"/>
          </a:xfrm>
          <a:prstGeom prst="rect">
            <a:avLst/>
          </a:prstGeom>
          <a:solidFill>
            <a:srgbClr val="F4F4F6"/>
          </a:solidFill>
          <a:ln/>
        </p:spPr>
        <p:txBody>
          <a:bodyPr/>
          <a:lstStyle/>
          <a:p>
            <a:endParaRPr lang="fr-FR"/>
          </a:p>
        </p:txBody>
      </p:sp>
      <p:sp>
        <p:nvSpPr>
          <p:cNvPr id="48" name="Text 44"/>
          <p:cNvSpPr/>
          <p:nvPr/>
        </p:nvSpPr>
        <p:spPr>
          <a:xfrm>
            <a:off x="8396387" y="4117975"/>
            <a:ext cx="84008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AR(1) state</a:t>
            </a:r>
            <a:endParaRPr lang="en-US" sz="1350" dirty="0"/>
          </a:p>
        </p:txBody>
      </p:sp>
      <p:sp>
        <p:nvSpPr>
          <p:cNvPr id="49" name="Shape 45"/>
          <p:cNvSpPr/>
          <p:nvPr/>
        </p:nvSpPr>
        <p:spPr>
          <a:xfrm>
            <a:off x="9436497" y="4159746"/>
            <a:ext cx="120650" cy="165100"/>
          </a:xfrm>
          <a:prstGeom prst="rect">
            <a:avLst/>
          </a:prstGeom>
          <a:solidFill>
            <a:srgbClr val="1D93C9"/>
          </a:solidFill>
          <a:ln/>
        </p:spPr>
        <p:txBody>
          <a:bodyPr/>
          <a:lstStyle/>
          <a:p>
            <a:endParaRPr lang="fr-FR"/>
          </a:p>
        </p:txBody>
      </p:sp>
      <p:sp>
        <p:nvSpPr>
          <p:cNvPr id="50" name="Shape 46"/>
          <p:cNvSpPr/>
          <p:nvPr/>
        </p:nvSpPr>
        <p:spPr>
          <a:xfrm>
            <a:off x="9690497" y="3879453"/>
            <a:ext cx="1782167" cy="725686"/>
          </a:xfrm>
          <a:prstGeom prst="rect">
            <a:avLst/>
          </a:prstGeom>
          <a:solidFill>
            <a:srgbClr val="E9F5FB"/>
          </a:solidFill>
          <a:ln/>
        </p:spPr>
        <p:txBody>
          <a:bodyPr/>
          <a:lstStyle/>
          <a:p>
            <a:endParaRPr lang="fr-FR"/>
          </a:p>
        </p:txBody>
      </p:sp>
      <p:sp>
        <p:nvSpPr>
          <p:cNvPr id="51" name="Text 47"/>
          <p:cNvSpPr/>
          <p:nvPr/>
        </p:nvSpPr>
        <p:spPr>
          <a:xfrm>
            <a:off x="9833372" y="3993753"/>
            <a:ext cx="1572617" cy="535186"/>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highlight>
                  <a:srgbClr val="E9F5FB"/>
                </a:highlight>
                <a:latin typeface="Calibri" pitchFamily="34" charset="0"/>
                <a:ea typeface="Calibri" pitchFamily="34" charset="-122"/>
                <a:cs typeface="Calibri" pitchFamily="34" charset="-120"/>
              </a:rPr>
              <a:t>client-impact channel </a:t>
            </a:r>
            <a:r>
              <a:rPr lang="en-US" sz="1200" dirty="0">
                <a:solidFill>
                  <a:srgbClr val="858591"/>
                </a:solidFill>
                <a:latin typeface="Calibri" pitchFamily="34" charset="0"/>
                <a:ea typeface="Calibri" pitchFamily="34" charset="-122"/>
                <a:cs typeface="Calibri" pitchFamily="34" charset="-120"/>
              </a:rPr>
              <a:t>displayed, never scored</a:t>
            </a:r>
            <a:endParaRPr lang="en-US" sz="1350" dirty="0"/>
          </a:p>
        </p:txBody>
      </p:sp>
      <p:sp>
        <p:nvSpPr>
          <p:cNvPr id="52" name="Shape 48"/>
          <p:cNvSpPr/>
          <p:nvPr/>
        </p:nvSpPr>
        <p:spPr>
          <a:xfrm>
            <a:off x="6334125" y="4719439"/>
            <a:ext cx="1341537" cy="477143"/>
          </a:xfrm>
          <a:prstGeom prst="rect">
            <a:avLst/>
          </a:prstGeom>
          <a:solidFill>
            <a:srgbClr val="F4F4F6"/>
          </a:solidFill>
          <a:ln/>
        </p:spPr>
        <p:txBody>
          <a:bodyPr/>
          <a:lstStyle/>
          <a:p>
            <a:endParaRPr lang="fr-FR"/>
          </a:p>
        </p:txBody>
      </p:sp>
      <p:sp>
        <p:nvSpPr>
          <p:cNvPr id="53" name="Text 49"/>
          <p:cNvSpPr/>
          <p:nvPr/>
        </p:nvSpPr>
        <p:spPr>
          <a:xfrm>
            <a:off x="6477000" y="4833739"/>
            <a:ext cx="1131987"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lead-time draw</a:t>
            </a:r>
            <a:endParaRPr lang="en-US" sz="1350" dirty="0"/>
          </a:p>
        </p:txBody>
      </p:sp>
      <p:sp>
        <p:nvSpPr>
          <p:cNvPr id="54" name="Shape 50"/>
          <p:cNvSpPr/>
          <p:nvPr/>
        </p:nvSpPr>
        <p:spPr>
          <a:xfrm>
            <a:off x="7809012" y="4875411"/>
            <a:ext cx="120650" cy="165100"/>
          </a:xfrm>
          <a:prstGeom prst="rect">
            <a:avLst/>
          </a:prstGeom>
          <a:solidFill>
            <a:srgbClr val="1D93C9"/>
          </a:solidFill>
          <a:ln/>
        </p:spPr>
        <p:txBody>
          <a:bodyPr/>
          <a:lstStyle/>
          <a:p>
            <a:endParaRPr lang="fr-FR"/>
          </a:p>
        </p:txBody>
      </p:sp>
      <p:sp>
        <p:nvSpPr>
          <p:cNvPr id="55" name="Shape 51"/>
          <p:cNvSpPr/>
          <p:nvPr/>
        </p:nvSpPr>
        <p:spPr>
          <a:xfrm>
            <a:off x="8063012" y="4719439"/>
            <a:ext cx="1349871" cy="477143"/>
          </a:xfrm>
          <a:prstGeom prst="rect">
            <a:avLst/>
          </a:prstGeom>
          <a:solidFill>
            <a:srgbClr val="F4F4F6"/>
          </a:solidFill>
          <a:ln/>
        </p:spPr>
        <p:txBody>
          <a:bodyPr/>
          <a:lstStyle/>
          <a:p>
            <a:endParaRPr lang="fr-FR"/>
          </a:p>
        </p:txBody>
      </p:sp>
      <p:sp>
        <p:nvSpPr>
          <p:cNvPr id="56" name="Text 52"/>
          <p:cNvSpPr/>
          <p:nvPr/>
        </p:nvSpPr>
        <p:spPr>
          <a:xfrm>
            <a:off x="8205887" y="4833739"/>
            <a:ext cx="1140321"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milestone term</a:t>
            </a:r>
            <a:endParaRPr lang="en-US" sz="1350" dirty="0"/>
          </a:p>
        </p:txBody>
      </p:sp>
      <p:sp>
        <p:nvSpPr>
          <p:cNvPr id="57" name="Shape 53"/>
          <p:cNvSpPr/>
          <p:nvPr/>
        </p:nvSpPr>
        <p:spPr>
          <a:xfrm>
            <a:off x="9546233" y="4875411"/>
            <a:ext cx="120650" cy="165100"/>
          </a:xfrm>
          <a:prstGeom prst="rect">
            <a:avLst/>
          </a:prstGeom>
          <a:solidFill>
            <a:srgbClr val="1D93C9"/>
          </a:solidFill>
          <a:ln/>
        </p:spPr>
        <p:txBody>
          <a:bodyPr/>
          <a:lstStyle/>
          <a:p>
            <a:endParaRPr lang="fr-FR"/>
          </a:p>
        </p:txBody>
      </p:sp>
      <p:sp>
        <p:nvSpPr>
          <p:cNvPr id="58" name="Shape 54"/>
          <p:cNvSpPr/>
          <p:nvPr/>
        </p:nvSpPr>
        <p:spPr>
          <a:xfrm>
            <a:off x="9710243" y="4690417"/>
            <a:ext cx="1762421" cy="477143"/>
          </a:xfrm>
          <a:prstGeom prst="rect">
            <a:avLst/>
          </a:prstGeom>
          <a:solidFill>
            <a:srgbClr val="FFDA65"/>
          </a:solidFill>
          <a:ln/>
        </p:spPr>
        <p:txBody>
          <a:bodyPr/>
          <a:lstStyle/>
          <a:p>
            <a:endParaRPr lang="fr-FR"/>
          </a:p>
        </p:txBody>
      </p:sp>
      <p:sp>
        <p:nvSpPr>
          <p:cNvPr id="59" name="Text 55"/>
          <p:cNvSpPr/>
          <p:nvPr/>
        </p:nvSpPr>
        <p:spPr>
          <a:xfrm>
            <a:off x="9853117" y="4804717"/>
            <a:ext cx="1594347" cy="286643"/>
          </a:xfrm>
          <a:prstGeom prst="rect">
            <a:avLst/>
          </a:prstGeom>
          <a:noFill/>
          <a:ln/>
        </p:spPr>
        <p:txBody>
          <a:bodyPr wrap="square" lIns="25400" tIns="25400" rIns="25400" bIns="25400" rtlCol="0" anchor="t">
            <a:normAutofit fontScale="85000" lnSpcReduction="10000"/>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the quantity that is scored</a:t>
            </a:r>
            <a:endParaRPr lang="en-US" sz="1350" dirty="0"/>
          </a:p>
        </p:txBody>
      </p:sp>
      <p:sp>
        <p:nvSpPr>
          <p:cNvPr id="60" name="Shape 56"/>
          <p:cNvSpPr/>
          <p:nvPr/>
        </p:nvSpPr>
        <p:spPr>
          <a:xfrm>
            <a:off x="6347918" y="5416054"/>
            <a:ext cx="5314950" cy="1037630"/>
          </a:xfrm>
          <a:prstGeom prst="rect">
            <a:avLst/>
          </a:prstGeom>
          <a:solidFill>
            <a:srgbClr val="F4F4F6"/>
          </a:solidFill>
          <a:ln/>
        </p:spPr>
        <p:txBody>
          <a:bodyPr/>
          <a:lstStyle/>
          <a:p>
            <a:endParaRPr lang="fr-FR"/>
          </a:p>
        </p:txBody>
      </p:sp>
      <p:sp>
        <p:nvSpPr>
          <p:cNvPr id="61" name="Shape 57"/>
          <p:cNvSpPr/>
          <p:nvPr/>
        </p:nvSpPr>
        <p:spPr>
          <a:xfrm>
            <a:off x="6371236" y="5404148"/>
            <a:ext cx="57150" cy="1037630"/>
          </a:xfrm>
          <a:prstGeom prst="rect">
            <a:avLst/>
          </a:prstGeom>
          <a:solidFill>
            <a:srgbClr val="1D93C9"/>
          </a:solidFill>
          <a:ln/>
        </p:spPr>
        <p:txBody>
          <a:bodyPr/>
          <a:lstStyle/>
          <a:p>
            <a:endParaRPr lang="fr-FR"/>
          </a:p>
        </p:txBody>
      </p:sp>
      <p:sp>
        <p:nvSpPr>
          <p:cNvPr id="62" name="Text 58"/>
          <p:cNvSpPr/>
          <p:nvPr/>
        </p:nvSpPr>
        <p:spPr>
          <a:xfrm>
            <a:off x="6595568" y="5568454"/>
            <a:ext cx="5036249"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highlight>
                  <a:srgbClr val="F4F4F6"/>
                </a:highlight>
                <a:latin typeface="Calibri" pitchFamily="34" charset="0"/>
                <a:ea typeface="Calibri" pitchFamily="34" charset="-122"/>
                <a:cs typeface="Calibri" pitchFamily="34" charset="-120"/>
              </a:rPr>
              <a:t>On this chain the forecast layer is a </a:t>
            </a:r>
            <a:r>
              <a:rPr lang="en-US" sz="1425" b="1" dirty="0">
                <a:solidFill>
                  <a:srgbClr val="063C67"/>
                </a:solidFill>
                <a:latin typeface="Calibri" pitchFamily="34" charset="0"/>
                <a:ea typeface="Calibri" pitchFamily="34" charset="-122"/>
                <a:cs typeface="Calibri" pitchFamily="34" charset="-120"/>
              </a:rPr>
              <a:t>calibration wrapper around a lead-time ratio </a:t>
            </a:r>
            <a:r>
              <a:rPr lang="en-US" sz="1425" dirty="0">
                <a:solidFill>
                  <a:srgbClr val="063C67"/>
                </a:solidFill>
                <a:highlight>
                  <a:srgbClr val="F4F4F6"/>
                </a:highlight>
                <a:latin typeface="Calibri" pitchFamily="34" charset="0"/>
                <a:ea typeface="Calibri" pitchFamily="34" charset="-122"/>
                <a:cs typeface="Calibri" pitchFamily="34" charset="-120"/>
              </a:rPr>
              <a:t>. Defensible, but not what the interface presents. The fix is one line: the AR state must reach the milestone term.</a:t>
            </a:r>
            <a:endParaRPr lang="en-US" sz="1425" dirty="0"/>
          </a:p>
        </p:txBody>
      </p:sp>
      <p:pic>
        <p:nvPicPr>
          <p:cNvPr id="63" name="Image 2" descr="preencoded.png"/>
          <p:cNvPicPr>
            <a:picLocks noChangeAspect="1"/>
          </p:cNvPicPr>
          <p:nvPr/>
        </p:nvPicPr>
        <p:blipFill>
          <a:blip r:embed="rId5"/>
          <a:stretch>
            <a:fillRect/>
          </a:stretch>
        </p:blipFill>
        <p:spPr>
          <a:xfrm>
            <a:off x="11229975" y="6567488"/>
            <a:ext cx="714375" cy="7143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230F9-E046-44E9-D642-A5E85570CA27}"/>
            </a:ext>
          </a:extLst>
        </p:cNvPr>
        <p:cNvGrpSpPr/>
        <p:nvPr/>
      </p:nvGrpSpPr>
      <p:grpSpPr>
        <a:xfrm>
          <a:off x="0" y="0"/>
          <a:ext cx="0" cy="0"/>
          <a:chOff x="0" y="0"/>
          <a:chExt cx="0" cy="0"/>
        </a:xfrm>
      </p:grpSpPr>
      <p:sp>
        <p:nvSpPr>
          <p:cNvPr id="20" name="Shape 14">
            <a:extLst>
              <a:ext uri="{FF2B5EF4-FFF2-40B4-BE49-F238E27FC236}">
                <a16:creationId xmlns:a16="http://schemas.microsoft.com/office/drawing/2014/main" id="{1735764E-1B70-B3D7-EFD9-91AD0E42BF5B}"/>
              </a:ext>
            </a:extLst>
          </p:cNvPr>
          <p:cNvSpPr/>
          <p:nvPr/>
        </p:nvSpPr>
        <p:spPr>
          <a:xfrm>
            <a:off x="352426" y="4076700"/>
            <a:ext cx="6286500" cy="723900"/>
          </a:xfrm>
          <a:prstGeom prst="rect">
            <a:avLst/>
          </a:prstGeom>
          <a:solidFill>
            <a:srgbClr val="F4F4F6"/>
          </a:solidFill>
          <a:ln/>
        </p:spPr>
        <p:txBody>
          <a:bodyPr/>
          <a:lstStyle/>
          <a:p>
            <a:endParaRPr lang="fr-FR" dirty="0"/>
          </a:p>
        </p:txBody>
      </p:sp>
      <p:sp>
        <p:nvSpPr>
          <p:cNvPr id="31" name="Shape 19">
            <a:extLst>
              <a:ext uri="{FF2B5EF4-FFF2-40B4-BE49-F238E27FC236}">
                <a16:creationId xmlns:a16="http://schemas.microsoft.com/office/drawing/2014/main" id="{2C2A9509-E802-50B6-2AE3-A2D4E055606A}"/>
              </a:ext>
            </a:extLst>
          </p:cNvPr>
          <p:cNvSpPr/>
          <p:nvPr/>
        </p:nvSpPr>
        <p:spPr>
          <a:xfrm>
            <a:off x="352426" y="4926458"/>
            <a:ext cx="6286499" cy="704850"/>
          </a:xfrm>
          <a:prstGeom prst="rect">
            <a:avLst/>
          </a:prstGeom>
          <a:solidFill>
            <a:srgbClr val="FFDA65"/>
          </a:solidFill>
          <a:ln/>
        </p:spPr>
        <p:txBody>
          <a:bodyPr/>
          <a:lstStyle/>
          <a:p>
            <a:endParaRPr lang="fr-FR"/>
          </a:p>
        </p:txBody>
      </p:sp>
      <p:sp>
        <p:nvSpPr>
          <p:cNvPr id="2" name="Shape 0">
            <a:extLst>
              <a:ext uri="{FF2B5EF4-FFF2-40B4-BE49-F238E27FC236}">
                <a16:creationId xmlns:a16="http://schemas.microsoft.com/office/drawing/2014/main" id="{985B772C-E63E-A5C5-1C13-0D6C572D5314}"/>
              </a:ext>
            </a:extLst>
          </p:cNvPr>
          <p:cNvSpPr/>
          <p:nvPr/>
        </p:nvSpPr>
        <p:spPr>
          <a:xfrm>
            <a:off x="0" y="0"/>
            <a:ext cx="104775" cy="6858000"/>
          </a:xfrm>
          <a:prstGeom prst="rect">
            <a:avLst/>
          </a:prstGeom>
          <a:solidFill>
            <a:srgbClr val="063C67"/>
          </a:solidFill>
          <a:ln/>
        </p:spPr>
        <p:txBody>
          <a:bodyPr/>
          <a:lstStyle/>
          <a:p>
            <a:endParaRPr lang="fr-FR"/>
          </a:p>
        </p:txBody>
      </p:sp>
      <p:sp>
        <p:nvSpPr>
          <p:cNvPr id="3" name="Text 1">
            <a:extLst>
              <a:ext uri="{FF2B5EF4-FFF2-40B4-BE49-F238E27FC236}">
                <a16:creationId xmlns:a16="http://schemas.microsoft.com/office/drawing/2014/main" id="{CEB98F44-E73A-9B10-DCDA-6F6888BA65BD}"/>
              </a:ext>
            </a:extLst>
          </p:cNvPr>
          <p:cNvSpPr/>
          <p:nvPr/>
        </p:nvSpPr>
        <p:spPr>
          <a:xfrm>
            <a:off x="352425" y="171450"/>
            <a:ext cx="1351598"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PLAN</a:t>
            </a:r>
            <a:endParaRPr lang="en-US" sz="3225" dirty="0"/>
          </a:p>
        </p:txBody>
      </p:sp>
      <p:sp>
        <p:nvSpPr>
          <p:cNvPr id="4" name="Shape 2">
            <a:extLst>
              <a:ext uri="{FF2B5EF4-FFF2-40B4-BE49-F238E27FC236}">
                <a16:creationId xmlns:a16="http://schemas.microsoft.com/office/drawing/2014/main" id="{0AD42978-E88A-D334-C183-A4D8F7132716}"/>
              </a:ext>
            </a:extLst>
          </p:cNvPr>
          <p:cNvSpPr/>
          <p:nvPr/>
        </p:nvSpPr>
        <p:spPr>
          <a:xfrm>
            <a:off x="352425" y="1504950"/>
            <a:ext cx="6286500" cy="723900"/>
          </a:xfrm>
          <a:prstGeom prst="rect">
            <a:avLst/>
          </a:prstGeom>
          <a:solidFill>
            <a:srgbClr val="F4F4F6"/>
          </a:solidFill>
          <a:ln/>
        </p:spPr>
        <p:txBody>
          <a:bodyPr/>
          <a:lstStyle/>
          <a:p>
            <a:endParaRPr lang="fr-FR"/>
          </a:p>
        </p:txBody>
      </p:sp>
      <p:pic>
        <p:nvPicPr>
          <p:cNvPr id="5" name="Image 0" descr="preencoded.png">
            <a:extLst>
              <a:ext uri="{FF2B5EF4-FFF2-40B4-BE49-F238E27FC236}">
                <a16:creationId xmlns:a16="http://schemas.microsoft.com/office/drawing/2014/main" id="{3676765D-524E-68A2-986A-D7D0B9833C7A}"/>
              </a:ext>
            </a:extLst>
          </p:cNvPr>
          <p:cNvPicPr>
            <a:picLocks noChangeAspect="1"/>
          </p:cNvPicPr>
          <p:nvPr/>
        </p:nvPicPr>
        <p:blipFill>
          <a:blip r:embed="rId3"/>
          <a:stretch>
            <a:fillRect/>
          </a:stretch>
        </p:blipFill>
        <p:spPr>
          <a:xfrm>
            <a:off x="542925" y="1657350"/>
            <a:ext cx="419100" cy="419100"/>
          </a:xfrm>
          <a:prstGeom prst="rect">
            <a:avLst/>
          </a:prstGeom>
        </p:spPr>
      </p:pic>
      <p:sp>
        <p:nvSpPr>
          <p:cNvPr id="6" name="Text 3">
            <a:extLst>
              <a:ext uri="{FF2B5EF4-FFF2-40B4-BE49-F238E27FC236}">
                <a16:creationId xmlns:a16="http://schemas.microsoft.com/office/drawing/2014/main" id="{15BB279B-AAD2-734E-955D-2FEDCA47DDB4}"/>
              </a:ext>
            </a:extLst>
          </p:cNvPr>
          <p:cNvSpPr/>
          <p:nvPr/>
        </p:nvSpPr>
        <p:spPr>
          <a:xfrm>
            <a:off x="1135261" y="1694259"/>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1</a:t>
            </a:r>
            <a:endParaRPr lang="en-US" sz="1800" dirty="0"/>
          </a:p>
        </p:txBody>
      </p:sp>
      <p:sp>
        <p:nvSpPr>
          <p:cNvPr id="8" name="Shape 5">
            <a:extLst>
              <a:ext uri="{FF2B5EF4-FFF2-40B4-BE49-F238E27FC236}">
                <a16:creationId xmlns:a16="http://schemas.microsoft.com/office/drawing/2014/main" id="{99421874-CB17-B9DA-BA21-D9C0102ED8A1}"/>
              </a:ext>
            </a:extLst>
          </p:cNvPr>
          <p:cNvSpPr/>
          <p:nvPr/>
        </p:nvSpPr>
        <p:spPr>
          <a:xfrm>
            <a:off x="352425" y="2362200"/>
            <a:ext cx="6286500" cy="723900"/>
          </a:xfrm>
          <a:prstGeom prst="rect">
            <a:avLst/>
          </a:prstGeom>
          <a:solidFill>
            <a:srgbClr val="F4F4F6"/>
          </a:solidFill>
          <a:ln/>
        </p:spPr>
        <p:txBody>
          <a:bodyPr/>
          <a:lstStyle/>
          <a:p>
            <a:endParaRPr lang="fr-FR"/>
          </a:p>
        </p:txBody>
      </p:sp>
      <p:pic>
        <p:nvPicPr>
          <p:cNvPr id="9" name="Image 1" descr="preencoded.png">
            <a:extLst>
              <a:ext uri="{FF2B5EF4-FFF2-40B4-BE49-F238E27FC236}">
                <a16:creationId xmlns:a16="http://schemas.microsoft.com/office/drawing/2014/main" id="{F0ECB1E6-2920-9F0E-5D1E-BA1529F17E62}"/>
              </a:ext>
            </a:extLst>
          </p:cNvPr>
          <p:cNvPicPr>
            <a:picLocks noChangeAspect="1"/>
          </p:cNvPicPr>
          <p:nvPr/>
        </p:nvPicPr>
        <p:blipFill>
          <a:blip r:embed="rId4"/>
          <a:stretch>
            <a:fillRect/>
          </a:stretch>
        </p:blipFill>
        <p:spPr>
          <a:xfrm>
            <a:off x="542925" y="2514600"/>
            <a:ext cx="331887" cy="419100"/>
          </a:xfrm>
          <a:prstGeom prst="rect">
            <a:avLst/>
          </a:prstGeom>
        </p:spPr>
      </p:pic>
      <p:sp>
        <p:nvSpPr>
          <p:cNvPr id="10" name="Text 6">
            <a:extLst>
              <a:ext uri="{FF2B5EF4-FFF2-40B4-BE49-F238E27FC236}">
                <a16:creationId xmlns:a16="http://schemas.microsoft.com/office/drawing/2014/main" id="{7411CA76-6E5D-71C3-A48F-6C0D91D0DE88}"/>
              </a:ext>
            </a:extLst>
          </p:cNvPr>
          <p:cNvSpPr/>
          <p:nvPr/>
        </p:nvSpPr>
        <p:spPr>
          <a:xfrm>
            <a:off x="1135261" y="255324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2</a:t>
            </a:r>
            <a:endParaRPr lang="en-US" sz="1800" dirty="0"/>
          </a:p>
        </p:txBody>
      </p:sp>
      <p:sp>
        <p:nvSpPr>
          <p:cNvPr id="12" name="Shape 8">
            <a:extLst>
              <a:ext uri="{FF2B5EF4-FFF2-40B4-BE49-F238E27FC236}">
                <a16:creationId xmlns:a16="http://schemas.microsoft.com/office/drawing/2014/main" id="{3086FF43-2E05-5162-6B64-36C86A472AD3}"/>
              </a:ext>
            </a:extLst>
          </p:cNvPr>
          <p:cNvSpPr/>
          <p:nvPr/>
        </p:nvSpPr>
        <p:spPr>
          <a:xfrm>
            <a:off x="352425" y="3219450"/>
            <a:ext cx="6286500" cy="723900"/>
          </a:xfrm>
          <a:prstGeom prst="rect">
            <a:avLst/>
          </a:prstGeom>
          <a:solidFill>
            <a:srgbClr val="F4F4F6"/>
          </a:solidFill>
          <a:ln/>
        </p:spPr>
        <p:txBody>
          <a:bodyPr/>
          <a:lstStyle/>
          <a:p>
            <a:endParaRPr lang="fr-FR"/>
          </a:p>
        </p:txBody>
      </p:sp>
      <p:pic>
        <p:nvPicPr>
          <p:cNvPr id="13" name="Image 2" descr="preencoded.png">
            <a:extLst>
              <a:ext uri="{FF2B5EF4-FFF2-40B4-BE49-F238E27FC236}">
                <a16:creationId xmlns:a16="http://schemas.microsoft.com/office/drawing/2014/main" id="{815E48F1-5933-6FFE-2C37-79F7FF87581A}"/>
              </a:ext>
            </a:extLst>
          </p:cNvPr>
          <p:cNvPicPr>
            <a:picLocks noChangeAspect="1"/>
          </p:cNvPicPr>
          <p:nvPr/>
        </p:nvPicPr>
        <p:blipFill>
          <a:blip r:embed="rId5"/>
          <a:stretch>
            <a:fillRect/>
          </a:stretch>
        </p:blipFill>
        <p:spPr>
          <a:xfrm>
            <a:off x="542925" y="3371850"/>
            <a:ext cx="419100" cy="419100"/>
          </a:xfrm>
          <a:prstGeom prst="rect">
            <a:avLst/>
          </a:prstGeom>
        </p:spPr>
      </p:pic>
      <p:sp>
        <p:nvSpPr>
          <p:cNvPr id="14" name="Text 9">
            <a:extLst>
              <a:ext uri="{FF2B5EF4-FFF2-40B4-BE49-F238E27FC236}">
                <a16:creationId xmlns:a16="http://schemas.microsoft.com/office/drawing/2014/main" id="{13541FB8-84DB-8203-FFE0-1DA1CE056FF3}"/>
              </a:ext>
            </a:extLst>
          </p:cNvPr>
          <p:cNvSpPr/>
          <p:nvPr/>
        </p:nvSpPr>
        <p:spPr>
          <a:xfrm>
            <a:off x="1135261" y="3412231"/>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3</a:t>
            </a:r>
            <a:endParaRPr lang="en-US" sz="1800" dirty="0"/>
          </a:p>
        </p:txBody>
      </p:sp>
      <p:pic>
        <p:nvPicPr>
          <p:cNvPr id="17" name="Image 3" descr="preencoded.png">
            <a:extLst>
              <a:ext uri="{FF2B5EF4-FFF2-40B4-BE49-F238E27FC236}">
                <a16:creationId xmlns:a16="http://schemas.microsoft.com/office/drawing/2014/main" id="{41234A38-BB13-C126-2E46-0E6AA090DB2A}"/>
              </a:ext>
            </a:extLst>
          </p:cNvPr>
          <p:cNvPicPr>
            <a:picLocks noChangeAspect="1"/>
          </p:cNvPicPr>
          <p:nvPr/>
        </p:nvPicPr>
        <p:blipFill>
          <a:blip r:embed="rId6"/>
          <a:stretch>
            <a:fillRect/>
          </a:stretch>
        </p:blipFill>
        <p:spPr>
          <a:xfrm>
            <a:off x="542925" y="4229100"/>
            <a:ext cx="471785" cy="419100"/>
          </a:xfrm>
          <a:prstGeom prst="rect">
            <a:avLst/>
          </a:prstGeom>
        </p:spPr>
      </p:pic>
      <p:sp>
        <p:nvSpPr>
          <p:cNvPr id="18" name="Text 12">
            <a:extLst>
              <a:ext uri="{FF2B5EF4-FFF2-40B4-BE49-F238E27FC236}">
                <a16:creationId xmlns:a16="http://schemas.microsoft.com/office/drawing/2014/main" id="{4D70C0F0-449A-34B0-02A3-326D04E2C928}"/>
              </a:ext>
            </a:extLst>
          </p:cNvPr>
          <p:cNvSpPr/>
          <p:nvPr/>
        </p:nvSpPr>
        <p:spPr>
          <a:xfrm>
            <a:off x="1135261" y="4271217"/>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4</a:t>
            </a:r>
            <a:endParaRPr lang="en-US" sz="1800" dirty="0"/>
          </a:p>
        </p:txBody>
      </p:sp>
      <p:pic>
        <p:nvPicPr>
          <p:cNvPr id="21" name="Image 4" descr="preencoded.png">
            <a:extLst>
              <a:ext uri="{FF2B5EF4-FFF2-40B4-BE49-F238E27FC236}">
                <a16:creationId xmlns:a16="http://schemas.microsoft.com/office/drawing/2014/main" id="{705C2B86-4424-F663-1296-788689BFCDF8}"/>
              </a:ext>
            </a:extLst>
          </p:cNvPr>
          <p:cNvPicPr>
            <a:picLocks noChangeAspect="1"/>
          </p:cNvPicPr>
          <p:nvPr/>
        </p:nvPicPr>
        <p:blipFill>
          <a:blip r:embed="rId7"/>
          <a:stretch>
            <a:fillRect/>
          </a:stretch>
        </p:blipFill>
        <p:spPr>
          <a:xfrm>
            <a:off x="542925" y="5086350"/>
            <a:ext cx="469900" cy="419100"/>
          </a:xfrm>
          <a:prstGeom prst="rect">
            <a:avLst/>
          </a:prstGeom>
        </p:spPr>
      </p:pic>
      <p:sp>
        <p:nvSpPr>
          <p:cNvPr id="22" name="Text 15">
            <a:extLst>
              <a:ext uri="{FF2B5EF4-FFF2-40B4-BE49-F238E27FC236}">
                <a16:creationId xmlns:a16="http://schemas.microsoft.com/office/drawing/2014/main" id="{5A96901F-23C7-86CC-23C7-630F176A105D}"/>
              </a:ext>
            </a:extLst>
          </p:cNvPr>
          <p:cNvSpPr/>
          <p:nvPr/>
        </p:nvSpPr>
        <p:spPr>
          <a:xfrm>
            <a:off x="1135261" y="5130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5</a:t>
            </a:r>
            <a:endParaRPr lang="en-US" sz="1800" dirty="0"/>
          </a:p>
        </p:txBody>
      </p:sp>
      <p:grpSp>
        <p:nvGrpSpPr>
          <p:cNvPr id="27" name="Groupe 26">
            <a:extLst>
              <a:ext uri="{FF2B5EF4-FFF2-40B4-BE49-F238E27FC236}">
                <a16:creationId xmlns:a16="http://schemas.microsoft.com/office/drawing/2014/main" id="{05B081F9-7FFE-186E-06A7-0FCF4192A72E}"/>
              </a:ext>
            </a:extLst>
          </p:cNvPr>
          <p:cNvGrpSpPr/>
          <p:nvPr/>
        </p:nvGrpSpPr>
        <p:grpSpPr>
          <a:xfrm>
            <a:off x="1624310" y="1708051"/>
            <a:ext cx="4953000" cy="3784699"/>
            <a:chOff x="1624310" y="1708051"/>
            <a:chExt cx="4953000" cy="3784699"/>
          </a:xfrm>
        </p:grpSpPr>
        <p:sp>
          <p:nvSpPr>
            <p:cNvPr id="7" name="Text 4">
              <a:extLst>
                <a:ext uri="{FF2B5EF4-FFF2-40B4-BE49-F238E27FC236}">
                  <a16:creationId xmlns:a16="http://schemas.microsoft.com/office/drawing/2014/main" id="{2A9E8A91-48DE-07FC-DB7A-F7CCC6CA561F}"/>
                </a:ext>
              </a:extLst>
            </p:cNvPr>
            <p:cNvSpPr/>
            <p:nvPr/>
          </p:nvSpPr>
          <p:spPr>
            <a:xfrm>
              <a:off x="1624310" y="1708051"/>
              <a:ext cx="405686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CONTEXT, PROBLEM, MISSION</a:t>
              </a:r>
              <a:endParaRPr lang="en-US" sz="1725" dirty="0"/>
            </a:p>
          </p:txBody>
        </p:sp>
        <p:sp>
          <p:nvSpPr>
            <p:cNvPr id="11" name="Text 7">
              <a:extLst>
                <a:ext uri="{FF2B5EF4-FFF2-40B4-BE49-F238E27FC236}">
                  <a16:creationId xmlns:a16="http://schemas.microsoft.com/office/drawing/2014/main" id="{AD0831C2-7242-9098-6CDA-A7708A99A5E2}"/>
                </a:ext>
              </a:extLst>
            </p:cNvPr>
            <p:cNvSpPr/>
            <p:nvPr/>
          </p:nvSpPr>
          <p:spPr>
            <a:xfrm>
              <a:off x="1624310" y="2565301"/>
              <a:ext cx="395023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HOW THE PROJECT WAS RUN</a:t>
              </a:r>
              <a:endParaRPr lang="en-US" sz="1725" dirty="0"/>
            </a:p>
          </p:txBody>
        </p:sp>
        <p:sp>
          <p:nvSpPr>
            <p:cNvPr id="15" name="Text 10">
              <a:extLst>
                <a:ext uri="{FF2B5EF4-FFF2-40B4-BE49-F238E27FC236}">
                  <a16:creationId xmlns:a16="http://schemas.microsoft.com/office/drawing/2014/main" id="{AC98E3AC-CC46-81E6-D0C0-CE10BC6B7828}"/>
                </a:ext>
              </a:extLst>
            </p:cNvPr>
            <p:cNvSpPr/>
            <p:nvPr/>
          </p:nvSpPr>
          <p:spPr>
            <a:xfrm>
              <a:off x="1624310" y="3422551"/>
              <a:ext cx="4953000" cy="355699"/>
            </a:xfrm>
            <a:prstGeom prst="rect">
              <a:avLst/>
            </a:prstGeom>
            <a:noFill/>
            <a:ln/>
          </p:spPr>
          <p:txBody>
            <a:bodyPr wrap="square" lIns="25400" tIns="25400" rIns="25400" bIns="25400" rtlCol="0" anchor="t">
              <a:normAutofit fontScale="92500"/>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LITERATURE, DESIGN AND REALISATION</a:t>
              </a:r>
              <a:endParaRPr lang="en-US" sz="1725" dirty="0"/>
            </a:p>
          </p:txBody>
        </p:sp>
        <p:sp>
          <p:nvSpPr>
            <p:cNvPr id="19" name="Text 13">
              <a:extLst>
                <a:ext uri="{FF2B5EF4-FFF2-40B4-BE49-F238E27FC236}">
                  <a16:creationId xmlns:a16="http://schemas.microsoft.com/office/drawing/2014/main" id="{DAE36D5B-B085-7CE4-5EAA-5DB262029B9F}"/>
                </a:ext>
              </a:extLst>
            </p:cNvPr>
            <p:cNvSpPr/>
            <p:nvPr/>
          </p:nvSpPr>
          <p:spPr>
            <a:xfrm>
              <a:off x="1624310" y="4292501"/>
              <a:ext cx="3602077"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RESULTS AND VALIDATION</a:t>
              </a:r>
              <a:endParaRPr lang="en-US" sz="1725" dirty="0"/>
            </a:p>
          </p:txBody>
        </p:sp>
        <p:sp>
          <p:nvSpPr>
            <p:cNvPr id="23" name="Text 16">
              <a:extLst>
                <a:ext uri="{FF2B5EF4-FFF2-40B4-BE49-F238E27FC236}">
                  <a16:creationId xmlns:a16="http://schemas.microsoft.com/office/drawing/2014/main" id="{CB204981-6449-931E-D4BF-1648511177FB}"/>
                </a:ext>
              </a:extLst>
            </p:cNvPr>
            <p:cNvSpPr/>
            <p:nvPr/>
          </p:nvSpPr>
          <p:spPr>
            <a:xfrm>
              <a:off x="1624310" y="5137051"/>
              <a:ext cx="461861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ASSESSMENT AND PERSPECTIVES</a:t>
              </a:r>
              <a:endParaRPr lang="en-US" sz="1725" dirty="0"/>
            </a:p>
          </p:txBody>
        </p:sp>
      </p:grpSp>
      <p:pic>
        <p:nvPicPr>
          <p:cNvPr id="24" name="Image 5" descr="preencoded.png">
            <a:extLst>
              <a:ext uri="{FF2B5EF4-FFF2-40B4-BE49-F238E27FC236}">
                <a16:creationId xmlns:a16="http://schemas.microsoft.com/office/drawing/2014/main" id="{A8F840E2-8B0E-51B6-3B3C-B8D06AADDB2B}"/>
              </a:ext>
            </a:extLst>
          </p:cNvPr>
          <p:cNvPicPr>
            <a:picLocks noChangeAspect="1"/>
          </p:cNvPicPr>
          <p:nvPr/>
        </p:nvPicPr>
        <p:blipFill>
          <a:blip r:embed="rId8"/>
          <a:srcRect l="26001" r="26001"/>
          <a:stretch/>
        </p:blipFill>
        <p:spPr>
          <a:xfrm>
            <a:off x="7239000" y="0"/>
            <a:ext cx="4953000" cy="6858000"/>
          </a:xfrm>
          <a:prstGeom prst="rect">
            <a:avLst/>
          </a:prstGeom>
        </p:spPr>
      </p:pic>
      <p:pic>
        <p:nvPicPr>
          <p:cNvPr id="25" name="Image 6" descr="preencoded.png">
            <a:extLst>
              <a:ext uri="{FF2B5EF4-FFF2-40B4-BE49-F238E27FC236}">
                <a16:creationId xmlns:a16="http://schemas.microsoft.com/office/drawing/2014/main" id="{7640D898-F519-D808-F874-AD23D60A461B}"/>
              </a:ext>
            </a:extLst>
          </p:cNvPr>
          <p:cNvPicPr>
            <a:picLocks noChangeAspect="1"/>
          </p:cNvPicPr>
          <p:nvPr/>
        </p:nvPicPr>
        <p:blipFill>
          <a:blip r:embed="rId9"/>
          <a:stretch>
            <a:fillRect/>
          </a:stretch>
        </p:blipFill>
        <p:spPr>
          <a:xfrm>
            <a:off x="11229975" y="6567488"/>
            <a:ext cx="714375" cy="71438"/>
          </a:xfrm>
          <a:prstGeom prst="rect">
            <a:avLst/>
          </a:prstGeom>
        </p:spPr>
      </p:pic>
    </p:spTree>
    <p:extLst>
      <p:ext uri="{BB962C8B-B14F-4D97-AF65-F5344CB8AC3E}">
        <p14:creationId xmlns:p14="http://schemas.microsoft.com/office/powerpoint/2010/main" val="23967865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7192476"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OBJECTIVES VS. OUTCOMES</a:t>
            </a:r>
            <a:endParaRPr lang="en-US" sz="3225" dirty="0"/>
          </a:p>
        </p:txBody>
      </p:sp>
      <p:sp>
        <p:nvSpPr>
          <p:cNvPr id="4" name="Text 2"/>
          <p:cNvSpPr/>
          <p:nvPr/>
        </p:nvSpPr>
        <p:spPr>
          <a:xfrm>
            <a:off x="352425" y="666750"/>
            <a:ext cx="7367429"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2 campaigns · 2 chains · 23 nodes · 33 milestones · 510 declarations</a:t>
            </a:r>
            <a:endParaRPr lang="en-US" sz="1725" dirty="0"/>
          </a:p>
        </p:txBody>
      </p:sp>
      <p:sp>
        <p:nvSpPr>
          <p:cNvPr id="5" name="Shape 3"/>
          <p:cNvSpPr/>
          <p:nvPr/>
        </p:nvSpPr>
        <p:spPr>
          <a:xfrm>
            <a:off x="352425" y="1428750"/>
            <a:ext cx="438150" cy="9525"/>
          </a:xfrm>
          <a:prstGeom prst="rect">
            <a:avLst/>
          </a:prstGeom>
          <a:solidFill>
            <a:srgbClr val="C0C0C8"/>
          </a:solidFill>
          <a:ln/>
        </p:spPr>
        <p:txBody>
          <a:bodyPr/>
          <a:lstStyle/>
          <a:p>
            <a:endParaRPr lang="fr-FR"/>
          </a:p>
        </p:txBody>
      </p:sp>
      <p:sp>
        <p:nvSpPr>
          <p:cNvPr id="6" name="Text 4"/>
          <p:cNvSpPr/>
          <p:nvPr/>
        </p:nvSpPr>
        <p:spPr>
          <a:xfrm>
            <a:off x="352425" y="156845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O1</a:t>
            </a:r>
            <a:endParaRPr lang="en-US" sz="1500" dirty="0"/>
          </a:p>
        </p:txBody>
      </p:sp>
      <p:sp>
        <p:nvSpPr>
          <p:cNvPr id="7" name="Shape 5"/>
          <p:cNvSpPr/>
          <p:nvPr/>
        </p:nvSpPr>
        <p:spPr>
          <a:xfrm>
            <a:off x="981075" y="1428750"/>
            <a:ext cx="2381250" cy="9525"/>
          </a:xfrm>
          <a:prstGeom prst="rect">
            <a:avLst/>
          </a:prstGeom>
          <a:solidFill>
            <a:srgbClr val="C0C0C8"/>
          </a:solidFill>
          <a:ln/>
        </p:spPr>
        <p:txBody>
          <a:bodyPr/>
          <a:lstStyle/>
          <a:p>
            <a:endParaRPr lang="fr-FR"/>
          </a:p>
        </p:txBody>
      </p:sp>
      <p:sp>
        <p:nvSpPr>
          <p:cNvPr id="8" name="Shape 6"/>
          <p:cNvSpPr/>
          <p:nvPr/>
        </p:nvSpPr>
        <p:spPr>
          <a:xfrm>
            <a:off x="981075" y="1565275"/>
            <a:ext cx="506710" cy="254000"/>
          </a:xfrm>
          <a:prstGeom prst="rect">
            <a:avLst/>
          </a:prstGeom>
          <a:solidFill>
            <a:srgbClr val="E9F5FB"/>
          </a:solidFill>
          <a:ln/>
        </p:spPr>
        <p:txBody>
          <a:bodyPr/>
          <a:lstStyle/>
          <a:p>
            <a:endParaRPr lang="fr-FR"/>
          </a:p>
        </p:txBody>
      </p:sp>
      <p:sp>
        <p:nvSpPr>
          <p:cNvPr id="9" name="Text 7"/>
          <p:cNvSpPr/>
          <p:nvPr/>
        </p:nvSpPr>
        <p:spPr>
          <a:xfrm>
            <a:off x="1095375" y="1593850"/>
            <a:ext cx="32878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a:t>
            </a:r>
            <a:endParaRPr lang="en-US" sz="1275" dirty="0"/>
          </a:p>
        </p:txBody>
      </p:sp>
      <p:sp>
        <p:nvSpPr>
          <p:cNvPr id="10" name="Shape 8"/>
          <p:cNvSpPr/>
          <p:nvPr/>
        </p:nvSpPr>
        <p:spPr>
          <a:xfrm>
            <a:off x="3552825" y="1428750"/>
            <a:ext cx="8096250" cy="9525"/>
          </a:xfrm>
          <a:prstGeom prst="rect">
            <a:avLst/>
          </a:prstGeom>
          <a:solidFill>
            <a:srgbClr val="C0C0C8"/>
          </a:solidFill>
          <a:ln/>
        </p:spPr>
        <p:txBody>
          <a:bodyPr/>
          <a:lstStyle/>
          <a:p>
            <a:endParaRPr lang="fr-FR"/>
          </a:p>
        </p:txBody>
      </p:sp>
      <p:sp>
        <p:nvSpPr>
          <p:cNvPr id="11" name="Text 9"/>
          <p:cNvSpPr/>
          <p:nvPr/>
        </p:nvSpPr>
        <p:spPr>
          <a:xfrm>
            <a:off x="3552825" y="1568450"/>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Six blocks, bidirectional propagation, asymmetric score — every term decomposable</a:t>
            </a:r>
            <a:endParaRPr lang="en-US" sz="1425" dirty="0"/>
          </a:p>
        </p:txBody>
      </p:sp>
      <p:sp>
        <p:nvSpPr>
          <p:cNvPr id="12" name="Shape 10"/>
          <p:cNvSpPr/>
          <p:nvPr/>
        </p:nvSpPr>
        <p:spPr>
          <a:xfrm>
            <a:off x="352425" y="1949450"/>
            <a:ext cx="438150" cy="9525"/>
          </a:xfrm>
          <a:prstGeom prst="rect">
            <a:avLst/>
          </a:prstGeom>
          <a:solidFill>
            <a:srgbClr val="C0C0C8"/>
          </a:solidFill>
          <a:ln/>
        </p:spPr>
        <p:txBody>
          <a:bodyPr/>
          <a:lstStyle/>
          <a:p>
            <a:endParaRPr lang="fr-FR"/>
          </a:p>
        </p:txBody>
      </p:sp>
      <p:sp>
        <p:nvSpPr>
          <p:cNvPr id="13" name="Text 11"/>
          <p:cNvSpPr/>
          <p:nvPr/>
        </p:nvSpPr>
        <p:spPr>
          <a:xfrm>
            <a:off x="352425" y="208915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O2</a:t>
            </a:r>
            <a:endParaRPr lang="en-US" sz="1500" dirty="0"/>
          </a:p>
        </p:txBody>
      </p:sp>
      <p:sp>
        <p:nvSpPr>
          <p:cNvPr id="14" name="Shape 12"/>
          <p:cNvSpPr/>
          <p:nvPr/>
        </p:nvSpPr>
        <p:spPr>
          <a:xfrm>
            <a:off x="981075" y="1949450"/>
            <a:ext cx="2381250" cy="9525"/>
          </a:xfrm>
          <a:prstGeom prst="rect">
            <a:avLst/>
          </a:prstGeom>
          <a:solidFill>
            <a:srgbClr val="C0C0C8"/>
          </a:solidFill>
          <a:ln/>
        </p:spPr>
        <p:txBody>
          <a:bodyPr/>
          <a:lstStyle/>
          <a:p>
            <a:endParaRPr lang="fr-FR"/>
          </a:p>
        </p:txBody>
      </p:sp>
      <p:sp>
        <p:nvSpPr>
          <p:cNvPr id="15" name="Shape 13"/>
          <p:cNvSpPr/>
          <p:nvPr/>
        </p:nvSpPr>
        <p:spPr>
          <a:xfrm>
            <a:off x="981075" y="2085975"/>
            <a:ext cx="506710" cy="254000"/>
          </a:xfrm>
          <a:prstGeom prst="rect">
            <a:avLst/>
          </a:prstGeom>
          <a:solidFill>
            <a:srgbClr val="E9F5FB"/>
          </a:solidFill>
          <a:ln/>
        </p:spPr>
        <p:txBody>
          <a:bodyPr/>
          <a:lstStyle/>
          <a:p>
            <a:endParaRPr lang="fr-FR"/>
          </a:p>
        </p:txBody>
      </p:sp>
      <p:sp>
        <p:nvSpPr>
          <p:cNvPr id="16" name="Text 14"/>
          <p:cNvSpPr/>
          <p:nvPr/>
        </p:nvSpPr>
        <p:spPr>
          <a:xfrm>
            <a:off x="1095375" y="2114550"/>
            <a:ext cx="32878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a:t>
            </a:r>
            <a:endParaRPr lang="en-US" sz="1275" dirty="0"/>
          </a:p>
        </p:txBody>
      </p:sp>
      <p:sp>
        <p:nvSpPr>
          <p:cNvPr id="17" name="Shape 15"/>
          <p:cNvSpPr/>
          <p:nvPr/>
        </p:nvSpPr>
        <p:spPr>
          <a:xfrm>
            <a:off x="3552825" y="1949450"/>
            <a:ext cx="8096250" cy="9525"/>
          </a:xfrm>
          <a:prstGeom prst="rect">
            <a:avLst/>
          </a:prstGeom>
          <a:solidFill>
            <a:srgbClr val="C0C0C8"/>
          </a:solidFill>
          <a:ln/>
        </p:spPr>
        <p:txBody>
          <a:bodyPr/>
          <a:lstStyle/>
          <a:p>
            <a:endParaRPr lang="fr-FR"/>
          </a:p>
        </p:txBody>
      </p:sp>
      <p:sp>
        <p:nvSpPr>
          <p:cNvPr id="18" name="Text 16"/>
          <p:cNvSpPr/>
          <p:nvPr/>
        </p:nvSpPr>
        <p:spPr>
          <a:xfrm>
            <a:off x="3552825" y="2089150"/>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SupplyScore delivered: multi-tenant, every write audited, tested, documented</a:t>
            </a:r>
            <a:endParaRPr lang="en-US" sz="1425" dirty="0"/>
          </a:p>
        </p:txBody>
      </p:sp>
      <p:sp>
        <p:nvSpPr>
          <p:cNvPr id="19" name="Shape 17"/>
          <p:cNvSpPr/>
          <p:nvPr/>
        </p:nvSpPr>
        <p:spPr>
          <a:xfrm>
            <a:off x="352425" y="2470150"/>
            <a:ext cx="438150" cy="9525"/>
          </a:xfrm>
          <a:prstGeom prst="rect">
            <a:avLst/>
          </a:prstGeom>
          <a:solidFill>
            <a:srgbClr val="C0C0C8"/>
          </a:solidFill>
          <a:ln/>
        </p:spPr>
        <p:txBody>
          <a:bodyPr/>
          <a:lstStyle/>
          <a:p>
            <a:endParaRPr lang="fr-FR"/>
          </a:p>
        </p:txBody>
      </p:sp>
      <p:sp>
        <p:nvSpPr>
          <p:cNvPr id="20" name="Text 18"/>
          <p:cNvSpPr/>
          <p:nvPr/>
        </p:nvSpPr>
        <p:spPr>
          <a:xfrm>
            <a:off x="352425" y="260985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O3</a:t>
            </a:r>
            <a:endParaRPr lang="en-US" sz="1500" dirty="0"/>
          </a:p>
        </p:txBody>
      </p:sp>
      <p:sp>
        <p:nvSpPr>
          <p:cNvPr id="21" name="Shape 19"/>
          <p:cNvSpPr/>
          <p:nvPr/>
        </p:nvSpPr>
        <p:spPr>
          <a:xfrm>
            <a:off x="981075" y="2470150"/>
            <a:ext cx="2381250" cy="9525"/>
          </a:xfrm>
          <a:prstGeom prst="rect">
            <a:avLst/>
          </a:prstGeom>
          <a:solidFill>
            <a:srgbClr val="C0C0C8"/>
          </a:solidFill>
          <a:ln/>
        </p:spPr>
        <p:txBody>
          <a:bodyPr/>
          <a:lstStyle/>
          <a:p>
            <a:endParaRPr lang="fr-FR"/>
          </a:p>
        </p:txBody>
      </p:sp>
      <p:sp>
        <p:nvSpPr>
          <p:cNvPr id="22" name="Shape 20"/>
          <p:cNvSpPr/>
          <p:nvPr/>
        </p:nvSpPr>
        <p:spPr>
          <a:xfrm>
            <a:off x="981075" y="2606675"/>
            <a:ext cx="506710" cy="254000"/>
          </a:xfrm>
          <a:prstGeom prst="rect">
            <a:avLst/>
          </a:prstGeom>
          <a:solidFill>
            <a:srgbClr val="E9F5FB"/>
          </a:solidFill>
          <a:ln/>
        </p:spPr>
        <p:txBody>
          <a:bodyPr/>
          <a:lstStyle/>
          <a:p>
            <a:endParaRPr lang="fr-FR"/>
          </a:p>
        </p:txBody>
      </p:sp>
      <p:sp>
        <p:nvSpPr>
          <p:cNvPr id="23" name="Text 21"/>
          <p:cNvSpPr/>
          <p:nvPr/>
        </p:nvSpPr>
        <p:spPr>
          <a:xfrm>
            <a:off x="1095375" y="2635250"/>
            <a:ext cx="32878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a:t>
            </a:r>
            <a:endParaRPr lang="en-US" sz="1275" dirty="0"/>
          </a:p>
        </p:txBody>
      </p:sp>
      <p:sp>
        <p:nvSpPr>
          <p:cNvPr id="24" name="Shape 22"/>
          <p:cNvSpPr/>
          <p:nvPr/>
        </p:nvSpPr>
        <p:spPr>
          <a:xfrm>
            <a:off x="3552825" y="2470150"/>
            <a:ext cx="8096250" cy="9525"/>
          </a:xfrm>
          <a:prstGeom prst="rect">
            <a:avLst/>
          </a:prstGeom>
          <a:solidFill>
            <a:srgbClr val="C0C0C8"/>
          </a:solidFill>
          <a:ln/>
        </p:spPr>
        <p:txBody>
          <a:bodyPr/>
          <a:lstStyle/>
          <a:p>
            <a:endParaRPr lang="fr-FR"/>
          </a:p>
        </p:txBody>
      </p:sp>
      <p:sp>
        <p:nvSpPr>
          <p:cNvPr id="25" name="Text 23"/>
          <p:cNvSpPr/>
          <p:nvPr/>
        </p:nvSpPr>
        <p:spPr>
          <a:xfrm>
            <a:off x="3552825" y="2609850"/>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Propagation and criticality operational; the saturation collapse found and repaired</a:t>
            </a:r>
            <a:endParaRPr lang="en-US" sz="1425" dirty="0"/>
          </a:p>
        </p:txBody>
      </p:sp>
      <p:sp>
        <p:nvSpPr>
          <p:cNvPr id="26" name="Shape 24"/>
          <p:cNvSpPr/>
          <p:nvPr/>
        </p:nvSpPr>
        <p:spPr>
          <a:xfrm>
            <a:off x="352425" y="2990850"/>
            <a:ext cx="438150" cy="743545"/>
          </a:xfrm>
          <a:prstGeom prst="rect">
            <a:avLst/>
          </a:prstGeom>
          <a:solidFill>
            <a:srgbClr val="063C67"/>
          </a:solidFill>
          <a:ln/>
        </p:spPr>
        <p:txBody>
          <a:bodyPr/>
          <a:lstStyle/>
          <a:p>
            <a:endParaRPr lang="fr-FR"/>
          </a:p>
        </p:txBody>
      </p:sp>
      <p:sp>
        <p:nvSpPr>
          <p:cNvPr id="27" name="Shape 25"/>
          <p:cNvSpPr/>
          <p:nvPr/>
        </p:nvSpPr>
        <p:spPr>
          <a:xfrm>
            <a:off x="352425" y="2990850"/>
            <a:ext cx="438150" cy="9525"/>
          </a:xfrm>
          <a:prstGeom prst="rect">
            <a:avLst/>
          </a:prstGeom>
          <a:solidFill>
            <a:srgbClr val="C0C0C8"/>
          </a:solidFill>
          <a:ln/>
        </p:spPr>
        <p:txBody>
          <a:bodyPr/>
          <a:lstStyle/>
          <a:p>
            <a:endParaRPr lang="fr-FR"/>
          </a:p>
        </p:txBody>
      </p:sp>
      <p:sp>
        <p:nvSpPr>
          <p:cNvPr id="28" name="Text 26"/>
          <p:cNvSpPr/>
          <p:nvPr/>
        </p:nvSpPr>
        <p:spPr>
          <a:xfrm>
            <a:off x="314325" y="3130550"/>
            <a:ext cx="514350" cy="508595"/>
          </a:xfrm>
          <a:prstGeom prst="rect">
            <a:avLst/>
          </a:prstGeom>
          <a:noFill/>
          <a:ln/>
        </p:spPr>
        <p:txBody>
          <a:bodyPr wrap="square" lIns="25400" tIns="25400" rIns="25400" bIns="25400" rtlCol="0" anchor="t">
            <a:normAutofit/>
          </a:bodyPr>
          <a:lstStyle/>
          <a:p>
            <a:pPr marL="0" indent="0" algn="ctr">
              <a:lnSpc>
                <a:spcPct val="92857"/>
              </a:lnSpc>
              <a:buNone/>
            </a:pPr>
            <a:r>
              <a:rPr lang="en-US" sz="1500" b="1" dirty="0">
                <a:solidFill>
                  <a:srgbClr val="FFC800"/>
                </a:solidFill>
                <a:latin typeface="Arial Black" pitchFamily="34" charset="0"/>
                <a:ea typeface="Arial Black" pitchFamily="34" charset="-122"/>
                <a:cs typeface="Arial Black" pitchFamily="34" charset="-120"/>
              </a:rPr>
              <a:t>O4</a:t>
            </a:r>
            <a:endParaRPr lang="en-US" sz="1500" dirty="0"/>
          </a:p>
        </p:txBody>
      </p:sp>
      <p:sp>
        <p:nvSpPr>
          <p:cNvPr id="29" name="Shape 27"/>
          <p:cNvSpPr/>
          <p:nvPr/>
        </p:nvSpPr>
        <p:spPr>
          <a:xfrm>
            <a:off x="981075" y="2990850"/>
            <a:ext cx="2381250" cy="743545"/>
          </a:xfrm>
          <a:prstGeom prst="rect">
            <a:avLst/>
          </a:prstGeom>
          <a:solidFill>
            <a:srgbClr val="FFF6DA"/>
          </a:solidFill>
          <a:ln/>
        </p:spPr>
        <p:txBody>
          <a:bodyPr/>
          <a:lstStyle/>
          <a:p>
            <a:endParaRPr lang="fr-FR"/>
          </a:p>
        </p:txBody>
      </p:sp>
      <p:sp>
        <p:nvSpPr>
          <p:cNvPr id="30" name="Shape 28"/>
          <p:cNvSpPr/>
          <p:nvPr/>
        </p:nvSpPr>
        <p:spPr>
          <a:xfrm>
            <a:off x="981075" y="2990850"/>
            <a:ext cx="2381250" cy="9525"/>
          </a:xfrm>
          <a:prstGeom prst="rect">
            <a:avLst/>
          </a:prstGeom>
          <a:solidFill>
            <a:srgbClr val="C0C0C8"/>
          </a:solidFill>
          <a:ln/>
        </p:spPr>
        <p:txBody>
          <a:bodyPr/>
          <a:lstStyle/>
          <a:p>
            <a:endParaRPr lang="fr-FR"/>
          </a:p>
        </p:txBody>
      </p:sp>
      <p:sp>
        <p:nvSpPr>
          <p:cNvPr id="31" name="Shape 29"/>
          <p:cNvSpPr/>
          <p:nvPr/>
        </p:nvSpPr>
        <p:spPr>
          <a:xfrm>
            <a:off x="981075" y="3127375"/>
            <a:ext cx="1899047" cy="254000"/>
          </a:xfrm>
          <a:prstGeom prst="rect">
            <a:avLst/>
          </a:prstGeom>
          <a:solidFill>
            <a:srgbClr val="FFDA65"/>
          </a:solidFill>
          <a:ln/>
        </p:spPr>
        <p:txBody>
          <a:bodyPr/>
          <a:lstStyle/>
          <a:p>
            <a:endParaRPr lang="fr-FR"/>
          </a:p>
        </p:txBody>
      </p:sp>
      <p:sp>
        <p:nvSpPr>
          <p:cNvPr id="32" name="Text 30"/>
          <p:cNvSpPr/>
          <p:nvPr/>
        </p:nvSpPr>
        <p:spPr>
          <a:xfrm>
            <a:off x="1095375" y="3155950"/>
            <a:ext cx="1860352"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 domain established</a:t>
            </a:r>
            <a:endParaRPr lang="en-US" sz="1275" dirty="0"/>
          </a:p>
        </p:txBody>
      </p:sp>
      <p:sp>
        <p:nvSpPr>
          <p:cNvPr id="33" name="Shape 31"/>
          <p:cNvSpPr/>
          <p:nvPr/>
        </p:nvSpPr>
        <p:spPr>
          <a:xfrm>
            <a:off x="3552825" y="2990850"/>
            <a:ext cx="8096250" cy="743545"/>
          </a:xfrm>
          <a:prstGeom prst="rect">
            <a:avLst/>
          </a:prstGeom>
          <a:solidFill>
            <a:srgbClr val="FFF6DA"/>
          </a:solidFill>
          <a:ln/>
        </p:spPr>
        <p:txBody>
          <a:bodyPr/>
          <a:lstStyle/>
          <a:p>
            <a:endParaRPr lang="fr-FR"/>
          </a:p>
        </p:txBody>
      </p:sp>
      <p:sp>
        <p:nvSpPr>
          <p:cNvPr id="34" name="Shape 32"/>
          <p:cNvSpPr/>
          <p:nvPr/>
        </p:nvSpPr>
        <p:spPr>
          <a:xfrm>
            <a:off x="3552825" y="2990850"/>
            <a:ext cx="8096250" cy="9525"/>
          </a:xfrm>
          <a:prstGeom prst="rect">
            <a:avLst/>
          </a:prstGeom>
          <a:solidFill>
            <a:srgbClr val="C0C0C8"/>
          </a:solidFill>
          <a:ln/>
        </p:spPr>
        <p:txBody>
          <a:bodyPr/>
          <a:lstStyle/>
          <a:p>
            <a:endParaRPr lang="fr-FR"/>
          </a:p>
        </p:txBody>
      </p:sp>
      <p:sp>
        <p:nvSpPr>
          <p:cNvPr id="35" name="Text 33"/>
          <p:cNvSpPr/>
          <p:nvPr/>
        </p:nvSpPr>
        <p:spPr>
          <a:xfrm>
            <a:off x="3552825" y="3130550"/>
            <a:ext cx="8339137" cy="508595"/>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Right at node level on chain 1; scored, located, repaired, re-measured; then bounded by chain 2 and the baseline</a:t>
            </a:r>
            <a:endParaRPr lang="en-US" sz="1425" dirty="0"/>
          </a:p>
        </p:txBody>
      </p:sp>
      <p:sp>
        <p:nvSpPr>
          <p:cNvPr id="36" name="Shape 34"/>
          <p:cNvSpPr/>
          <p:nvPr/>
        </p:nvSpPr>
        <p:spPr>
          <a:xfrm>
            <a:off x="352425" y="3734395"/>
            <a:ext cx="438150" cy="9525"/>
          </a:xfrm>
          <a:prstGeom prst="rect">
            <a:avLst/>
          </a:prstGeom>
          <a:solidFill>
            <a:srgbClr val="C0C0C8"/>
          </a:solidFill>
          <a:ln/>
        </p:spPr>
        <p:txBody>
          <a:bodyPr/>
          <a:lstStyle/>
          <a:p>
            <a:endParaRPr lang="fr-FR"/>
          </a:p>
        </p:txBody>
      </p:sp>
      <p:sp>
        <p:nvSpPr>
          <p:cNvPr id="38" name="Shape 36"/>
          <p:cNvSpPr/>
          <p:nvPr/>
        </p:nvSpPr>
        <p:spPr>
          <a:xfrm>
            <a:off x="981075" y="3734395"/>
            <a:ext cx="2381250" cy="9525"/>
          </a:xfrm>
          <a:prstGeom prst="rect">
            <a:avLst/>
          </a:prstGeom>
          <a:solidFill>
            <a:srgbClr val="C0C0C8"/>
          </a:solidFill>
          <a:ln/>
        </p:spPr>
        <p:txBody>
          <a:bodyPr/>
          <a:lstStyle/>
          <a:p>
            <a:endParaRPr lang="fr-FR"/>
          </a:p>
        </p:txBody>
      </p:sp>
      <p:sp>
        <p:nvSpPr>
          <p:cNvPr id="41" name="Shape 39"/>
          <p:cNvSpPr/>
          <p:nvPr/>
        </p:nvSpPr>
        <p:spPr>
          <a:xfrm>
            <a:off x="3552825" y="3734395"/>
            <a:ext cx="8096250" cy="9525"/>
          </a:xfrm>
          <a:prstGeom prst="rect">
            <a:avLst/>
          </a:prstGeom>
          <a:solidFill>
            <a:srgbClr val="C0C0C8"/>
          </a:solidFill>
          <a:ln/>
        </p:spPr>
        <p:txBody>
          <a:bodyPr/>
          <a:lstStyle/>
          <a:p>
            <a:endParaRPr lang="fr-FR"/>
          </a:p>
        </p:txBody>
      </p:sp>
      <p:sp>
        <p:nvSpPr>
          <p:cNvPr id="43" name="Shape 41"/>
          <p:cNvSpPr/>
          <p:nvPr/>
        </p:nvSpPr>
        <p:spPr>
          <a:xfrm>
            <a:off x="352425" y="4255891"/>
            <a:ext cx="438150" cy="9525"/>
          </a:xfrm>
          <a:prstGeom prst="rect">
            <a:avLst/>
          </a:prstGeom>
          <a:solidFill>
            <a:srgbClr val="C0C0C8"/>
          </a:solidFill>
          <a:ln/>
        </p:spPr>
        <p:txBody>
          <a:bodyPr/>
          <a:lstStyle/>
          <a:p>
            <a:endParaRPr lang="fr-FR"/>
          </a:p>
        </p:txBody>
      </p:sp>
      <p:sp>
        <p:nvSpPr>
          <p:cNvPr id="44" name="Shape 42"/>
          <p:cNvSpPr/>
          <p:nvPr/>
        </p:nvSpPr>
        <p:spPr>
          <a:xfrm>
            <a:off x="352425" y="3735191"/>
            <a:ext cx="438150" cy="9525"/>
          </a:xfrm>
          <a:prstGeom prst="rect">
            <a:avLst/>
          </a:prstGeom>
          <a:solidFill>
            <a:srgbClr val="C0C0C8"/>
          </a:solidFill>
          <a:ln/>
        </p:spPr>
        <p:txBody>
          <a:bodyPr/>
          <a:lstStyle/>
          <a:p>
            <a:endParaRPr lang="fr-FR"/>
          </a:p>
        </p:txBody>
      </p:sp>
      <p:sp>
        <p:nvSpPr>
          <p:cNvPr id="45" name="Text 43"/>
          <p:cNvSpPr/>
          <p:nvPr/>
        </p:nvSpPr>
        <p:spPr>
          <a:xfrm>
            <a:off x="352425" y="3874891"/>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O6</a:t>
            </a:r>
            <a:endParaRPr lang="en-US" sz="1500" dirty="0"/>
          </a:p>
        </p:txBody>
      </p:sp>
      <p:sp>
        <p:nvSpPr>
          <p:cNvPr id="46" name="Shape 44"/>
          <p:cNvSpPr/>
          <p:nvPr/>
        </p:nvSpPr>
        <p:spPr>
          <a:xfrm>
            <a:off x="981075" y="4255891"/>
            <a:ext cx="2381250" cy="9525"/>
          </a:xfrm>
          <a:prstGeom prst="rect">
            <a:avLst/>
          </a:prstGeom>
          <a:solidFill>
            <a:srgbClr val="C0C0C8"/>
          </a:solidFill>
          <a:ln/>
        </p:spPr>
        <p:txBody>
          <a:bodyPr/>
          <a:lstStyle/>
          <a:p>
            <a:endParaRPr lang="fr-FR"/>
          </a:p>
        </p:txBody>
      </p:sp>
      <p:sp>
        <p:nvSpPr>
          <p:cNvPr id="47" name="Shape 45"/>
          <p:cNvSpPr/>
          <p:nvPr/>
        </p:nvSpPr>
        <p:spPr>
          <a:xfrm>
            <a:off x="981075" y="3735191"/>
            <a:ext cx="2381250" cy="9525"/>
          </a:xfrm>
          <a:prstGeom prst="rect">
            <a:avLst/>
          </a:prstGeom>
          <a:solidFill>
            <a:srgbClr val="C0C0C8"/>
          </a:solidFill>
          <a:ln/>
        </p:spPr>
        <p:txBody>
          <a:bodyPr/>
          <a:lstStyle/>
          <a:p>
            <a:endParaRPr lang="fr-FR"/>
          </a:p>
        </p:txBody>
      </p:sp>
      <p:sp>
        <p:nvSpPr>
          <p:cNvPr id="48" name="Shape 46"/>
          <p:cNvSpPr/>
          <p:nvPr/>
        </p:nvSpPr>
        <p:spPr>
          <a:xfrm>
            <a:off x="981075" y="3871715"/>
            <a:ext cx="1206401" cy="254000"/>
          </a:xfrm>
          <a:prstGeom prst="rect">
            <a:avLst/>
          </a:prstGeom>
          <a:solidFill>
            <a:srgbClr val="FFDA65"/>
          </a:solidFill>
          <a:ln/>
        </p:spPr>
        <p:txBody>
          <a:bodyPr/>
          <a:lstStyle/>
          <a:p>
            <a:endParaRPr lang="fr-FR"/>
          </a:p>
        </p:txBody>
      </p:sp>
      <p:sp>
        <p:nvSpPr>
          <p:cNvPr id="49" name="Text 47"/>
          <p:cNvSpPr/>
          <p:nvPr/>
        </p:nvSpPr>
        <p:spPr>
          <a:xfrm>
            <a:off x="1095375" y="3900290"/>
            <a:ext cx="109844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 ongoing</a:t>
            </a:r>
            <a:endParaRPr lang="en-US" sz="1275" dirty="0"/>
          </a:p>
        </p:txBody>
      </p:sp>
      <p:sp>
        <p:nvSpPr>
          <p:cNvPr id="50" name="Shape 48"/>
          <p:cNvSpPr/>
          <p:nvPr/>
        </p:nvSpPr>
        <p:spPr>
          <a:xfrm>
            <a:off x="3552825" y="4255891"/>
            <a:ext cx="8096250" cy="9525"/>
          </a:xfrm>
          <a:prstGeom prst="rect">
            <a:avLst/>
          </a:prstGeom>
          <a:solidFill>
            <a:srgbClr val="C0C0C8"/>
          </a:solidFill>
          <a:ln/>
        </p:spPr>
        <p:txBody>
          <a:bodyPr/>
          <a:lstStyle/>
          <a:p>
            <a:endParaRPr lang="fr-FR"/>
          </a:p>
        </p:txBody>
      </p:sp>
      <p:sp>
        <p:nvSpPr>
          <p:cNvPr id="51" name="Shape 49"/>
          <p:cNvSpPr/>
          <p:nvPr/>
        </p:nvSpPr>
        <p:spPr>
          <a:xfrm>
            <a:off x="3552825" y="3735191"/>
            <a:ext cx="8096250" cy="9525"/>
          </a:xfrm>
          <a:prstGeom prst="rect">
            <a:avLst/>
          </a:prstGeom>
          <a:solidFill>
            <a:srgbClr val="C0C0C8"/>
          </a:solidFill>
          <a:ln/>
        </p:spPr>
        <p:txBody>
          <a:bodyPr/>
          <a:lstStyle/>
          <a:p>
            <a:endParaRPr lang="fr-FR"/>
          </a:p>
        </p:txBody>
      </p:sp>
      <p:sp>
        <p:nvSpPr>
          <p:cNvPr id="52" name="Text 50"/>
          <p:cNvSpPr/>
          <p:nvPr/>
        </p:nvSpPr>
        <p:spPr>
          <a:xfrm>
            <a:off x="3552825" y="3874891"/>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Segmentation model is ongoing but show interesting </a:t>
            </a:r>
            <a:r>
              <a:rPr lang="en-US" sz="1425" dirty="0" err="1">
                <a:solidFill>
                  <a:srgbClr val="063C67"/>
                </a:solidFill>
                <a:latin typeface="Calibri" pitchFamily="34" charset="0"/>
                <a:ea typeface="Calibri" pitchFamily="34" charset="-122"/>
                <a:cs typeface="Calibri" pitchFamily="34" charset="-120"/>
              </a:rPr>
              <a:t>reults</a:t>
            </a:r>
            <a:endParaRPr lang="en-US" sz="1425" dirty="0"/>
          </a:p>
        </p:txBody>
      </p:sp>
      <p:sp>
        <p:nvSpPr>
          <p:cNvPr id="53" name="Shape 51"/>
          <p:cNvSpPr/>
          <p:nvPr/>
        </p:nvSpPr>
        <p:spPr>
          <a:xfrm>
            <a:off x="314325" y="4953000"/>
            <a:ext cx="11334750" cy="1298178"/>
          </a:xfrm>
          <a:prstGeom prst="rect">
            <a:avLst/>
          </a:prstGeom>
          <a:solidFill>
            <a:srgbClr val="063C67"/>
          </a:solidFill>
          <a:ln/>
        </p:spPr>
        <p:txBody>
          <a:bodyPr/>
          <a:lstStyle/>
          <a:p>
            <a:endParaRPr lang="fr-FR"/>
          </a:p>
        </p:txBody>
      </p:sp>
      <p:sp>
        <p:nvSpPr>
          <p:cNvPr id="54" name="Text 52"/>
          <p:cNvSpPr/>
          <p:nvPr/>
        </p:nvSpPr>
        <p:spPr>
          <a:xfrm>
            <a:off x="619125" y="5181600"/>
            <a:ext cx="1242631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FFDA65"/>
                </a:solidFill>
                <a:latin typeface="Arial" pitchFamily="34" charset="0"/>
                <a:ea typeface="Arial" pitchFamily="34" charset="-122"/>
                <a:cs typeface="Arial" pitchFamily="34" charset="-120"/>
              </a:rPr>
              <a:t>WHAT THE PROGRAMME CAN NOW SAY ABOUT THE INSTRUMENT</a:t>
            </a:r>
            <a:endParaRPr lang="en-US" sz="1050" dirty="0"/>
          </a:p>
        </p:txBody>
      </p:sp>
      <p:pic>
        <p:nvPicPr>
          <p:cNvPr id="55" name="Image 0" descr="preencoded.png"/>
          <p:cNvPicPr>
            <a:picLocks noChangeAspect="1"/>
          </p:cNvPicPr>
          <p:nvPr/>
        </p:nvPicPr>
        <p:blipFill>
          <a:blip r:embed="rId3"/>
          <a:stretch>
            <a:fillRect/>
          </a:stretch>
        </p:blipFill>
        <p:spPr>
          <a:xfrm>
            <a:off x="619125" y="5555853"/>
            <a:ext cx="402332" cy="419100"/>
          </a:xfrm>
          <a:prstGeom prst="rect">
            <a:avLst/>
          </a:prstGeom>
        </p:spPr>
      </p:pic>
      <p:sp>
        <p:nvSpPr>
          <p:cNvPr id="56" name="Text 53"/>
          <p:cNvSpPr/>
          <p:nvPr/>
        </p:nvSpPr>
        <p:spPr>
          <a:xfrm>
            <a:off x="1173857" y="5636816"/>
            <a:ext cx="3217466" cy="295275"/>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FFFFFF"/>
                </a:solidFill>
                <a:latin typeface="Calibri" pitchFamily="34" charset="0"/>
                <a:ea typeface="Calibri" pitchFamily="34" charset="-122"/>
                <a:cs typeface="Calibri" pitchFamily="34" charset="-120"/>
              </a:rPr>
              <a:t>Detects </a:t>
            </a:r>
            <a:r>
              <a:rPr lang="en-US" sz="1500" b="1" dirty="0">
                <a:solidFill>
                  <a:srgbClr val="FFFFFF"/>
                </a:solidFill>
                <a:latin typeface="Calibri" pitchFamily="34" charset="0"/>
                <a:ea typeface="Calibri" pitchFamily="34" charset="-122"/>
                <a:cs typeface="Calibri" pitchFamily="34" charset="-120"/>
              </a:rPr>
              <a:t>misperception</a:t>
            </a:r>
            <a:r>
              <a:rPr lang="en-US" sz="1500" dirty="0">
                <a:solidFill>
                  <a:srgbClr val="FFFFFF"/>
                </a:solidFill>
                <a:latin typeface="Calibri" pitchFamily="34" charset="0"/>
                <a:ea typeface="Calibri" pitchFamily="34" charset="-122"/>
                <a:cs typeface="Calibri" pitchFamily="34" charset="-120"/>
              </a:rPr>
              <a:t>, not discretion</a:t>
            </a:r>
            <a:endParaRPr lang="en-US" sz="1500" dirty="0"/>
          </a:p>
        </p:txBody>
      </p:sp>
      <p:pic>
        <p:nvPicPr>
          <p:cNvPr id="57" name="Image 1" descr="preencoded.png"/>
          <p:cNvPicPr>
            <a:picLocks noChangeAspect="1"/>
          </p:cNvPicPr>
          <p:nvPr/>
        </p:nvPicPr>
        <p:blipFill>
          <a:blip r:embed="rId4"/>
          <a:stretch>
            <a:fillRect/>
          </a:stretch>
        </p:blipFill>
        <p:spPr>
          <a:xfrm>
            <a:off x="4460875" y="5555853"/>
            <a:ext cx="331093" cy="419100"/>
          </a:xfrm>
          <a:prstGeom prst="rect">
            <a:avLst/>
          </a:prstGeom>
        </p:spPr>
      </p:pic>
      <p:sp>
        <p:nvSpPr>
          <p:cNvPr id="58" name="Text 54"/>
          <p:cNvSpPr/>
          <p:nvPr/>
        </p:nvSpPr>
        <p:spPr>
          <a:xfrm>
            <a:off x="4944368" y="5508228"/>
            <a:ext cx="3223547" cy="552450"/>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FFFFFF"/>
                </a:solidFill>
                <a:latin typeface="Calibri" pitchFamily="34" charset="0"/>
                <a:ea typeface="Calibri" pitchFamily="34" charset="-122"/>
                <a:cs typeface="Calibri" pitchFamily="34" charset="-120"/>
              </a:rPr>
              <a:t>An </a:t>
            </a:r>
            <a:r>
              <a:rPr lang="en-US" sz="1500" b="1" dirty="0">
                <a:solidFill>
                  <a:srgbClr val="FFFFFF"/>
                </a:solidFill>
                <a:latin typeface="Calibri" pitchFamily="34" charset="0"/>
                <a:ea typeface="Calibri" pitchFamily="34" charset="-122"/>
                <a:cs typeface="Calibri" pitchFamily="34" charset="-120"/>
              </a:rPr>
              <a:t>early-warning </a:t>
            </a:r>
            <a:r>
              <a:rPr lang="en-US" sz="1500" dirty="0">
                <a:solidFill>
                  <a:srgbClr val="FFFFFF"/>
                </a:solidFill>
                <a:latin typeface="Calibri" pitchFamily="34" charset="0"/>
                <a:ea typeface="Calibri" pitchFamily="34" charset="-122"/>
                <a:cs typeface="Calibri" pitchFamily="34" charset="-120"/>
              </a:rPr>
              <a:t>instrument that closes once a crisis is public</a:t>
            </a:r>
            <a:endParaRPr lang="en-US" sz="1500" dirty="0"/>
          </a:p>
        </p:txBody>
      </p:sp>
      <p:pic>
        <p:nvPicPr>
          <p:cNvPr id="59" name="Image 2" descr="preencoded.png"/>
          <p:cNvPicPr>
            <a:picLocks noChangeAspect="1"/>
          </p:cNvPicPr>
          <p:nvPr/>
        </p:nvPicPr>
        <p:blipFill>
          <a:blip r:embed="rId5"/>
          <a:stretch>
            <a:fillRect/>
          </a:stretch>
        </p:blipFill>
        <p:spPr>
          <a:xfrm>
            <a:off x="8302625" y="5555853"/>
            <a:ext cx="419100" cy="419100"/>
          </a:xfrm>
          <a:prstGeom prst="rect">
            <a:avLst/>
          </a:prstGeom>
        </p:spPr>
      </p:pic>
      <p:sp>
        <p:nvSpPr>
          <p:cNvPr id="60" name="Text 55"/>
          <p:cNvSpPr/>
          <p:nvPr/>
        </p:nvSpPr>
        <p:spPr>
          <a:xfrm>
            <a:off x="8874125" y="5508228"/>
            <a:ext cx="2844502" cy="552450"/>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FFFFFF"/>
                </a:solidFill>
                <a:latin typeface="Calibri" pitchFamily="34" charset="0"/>
                <a:ea typeface="Calibri" pitchFamily="34" charset="-122"/>
                <a:cs typeface="Calibri" pitchFamily="34" charset="-120"/>
              </a:rPr>
              <a:t>Its forecast buys </a:t>
            </a:r>
            <a:r>
              <a:rPr lang="en-US" sz="1500" b="1" dirty="0">
                <a:solidFill>
                  <a:srgbClr val="FFFFFF"/>
                </a:solidFill>
                <a:latin typeface="Calibri" pitchFamily="34" charset="0"/>
                <a:ea typeface="Calibri" pitchFamily="34" charset="-122"/>
                <a:cs typeface="Calibri" pitchFamily="34" charset="-120"/>
              </a:rPr>
              <a:t>calibration </a:t>
            </a:r>
            <a:r>
              <a:rPr lang="en-US" sz="1500" dirty="0">
                <a:solidFill>
                  <a:srgbClr val="FFFFFF"/>
                </a:solidFill>
                <a:latin typeface="Calibri" pitchFamily="34" charset="0"/>
                <a:ea typeface="Calibri" pitchFamily="34" charset="-122"/>
                <a:cs typeface="Calibri" pitchFamily="34" charset="-120"/>
              </a:rPr>
              <a:t>, not short-horizon discrimination</a:t>
            </a:r>
            <a:endParaRPr lang="en-US" sz="1500" dirty="0"/>
          </a:p>
        </p:txBody>
      </p:sp>
      <p:pic>
        <p:nvPicPr>
          <p:cNvPr id="61" name="Image 3" descr="preencoded.png"/>
          <p:cNvPicPr>
            <a:picLocks noChangeAspect="1"/>
          </p:cNvPicPr>
          <p:nvPr/>
        </p:nvPicPr>
        <p:blipFill>
          <a:blip r:embed="rId6"/>
          <a:stretch>
            <a:fillRect/>
          </a:stretch>
        </p:blipFill>
        <p:spPr>
          <a:xfrm>
            <a:off x="11229975" y="6567488"/>
            <a:ext cx="714375" cy="7143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729747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LIMITS · NEXT · WHAT I TAKE</a:t>
            </a:r>
            <a:endParaRPr lang="en-US" sz="3225" dirty="0"/>
          </a:p>
        </p:txBody>
      </p:sp>
      <p:sp>
        <p:nvSpPr>
          <p:cNvPr id="4" name="Text 2"/>
          <p:cNvSpPr/>
          <p:nvPr/>
        </p:nvSpPr>
        <p:spPr>
          <a:xfrm>
            <a:off x="352425" y="666750"/>
            <a:ext cx="8063637"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Three limits of sample, one of method, and a list produced by measurement</a:t>
            </a:r>
            <a:endParaRPr lang="en-US" sz="1725" dirty="0"/>
          </a:p>
        </p:txBody>
      </p:sp>
      <p:sp>
        <p:nvSpPr>
          <p:cNvPr id="5" name="Text 3"/>
          <p:cNvSpPr/>
          <p:nvPr/>
        </p:nvSpPr>
        <p:spPr>
          <a:xfrm>
            <a:off x="352425" y="1466850"/>
            <a:ext cx="3708464"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LIMITS</a:t>
            </a:r>
            <a:endParaRPr lang="en-US" sz="1050" dirty="0"/>
          </a:p>
        </p:txBody>
      </p:sp>
      <p:sp>
        <p:nvSpPr>
          <p:cNvPr id="6" name="Shape 4"/>
          <p:cNvSpPr/>
          <p:nvPr/>
        </p:nvSpPr>
        <p:spPr>
          <a:xfrm>
            <a:off x="352425" y="1774428"/>
            <a:ext cx="3600450" cy="552450"/>
          </a:xfrm>
          <a:prstGeom prst="rect">
            <a:avLst/>
          </a:prstGeom>
          <a:solidFill>
            <a:srgbClr val="F4F4F6"/>
          </a:solidFill>
          <a:ln/>
        </p:spPr>
        <p:txBody>
          <a:bodyPr/>
          <a:lstStyle/>
          <a:p>
            <a:endParaRPr lang="fr-FR"/>
          </a:p>
        </p:txBody>
      </p:sp>
      <p:pic>
        <p:nvPicPr>
          <p:cNvPr id="7" name="Image 0" descr="preencoded.png"/>
          <p:cNvPicPr>
            <a:picLocks noChangeAspect="1"/>
          </p:cNvPicPr>
          <p:nvPr/>
        </p:nvPicPr>
        <p:blipFill>
          <a:blip r:embed="rId3"/>
          <a:stretch>
            <a:fillRect/>
          </a:stretch>
        </p:blipFill>
        <p:spPr>
          <a:xfrm>
            <a:off x="504825" y="1888728"/>
            <a:ext cx="336947" cy="323850"/>
          </a:xfrm>
          <a:prstGeom prst="rect">
            <a:avLst/>
          </a:prstGeom>
        </p:spPr>
      </p:pic>
      <p:sp>
        <p:nvSpPr>
          <p:cNvPr id="8" name="Text 5"/>
          <p:cNvSpPr/>
          <p:nvPr/>
        </p:nvSpPr>
        <p:spPr>
          <a:xfrm>
            <a:off x="975122" y="1938536"/>
            <a:ext cx="2357835" cy="260350"/>
          </a:xfrm>
          <a:prstGeom prst="rect">
            <a:avLst/>
          </a:prstGeom>
          <a:noFill/>
          <a:ln/>
        </p:spPr>
        <p:txBody>
          <a:bodyPr wrap="square" lIns="0" tIns="0" rIns="0" bIns="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Agents, not human consultants</a:t>
            </a:r>
            <a:endParaRPr lang="en-US" sz="1425" dirty="0"/>
          </a:p>
        </p:txBody>
      </p:sp>
      <p:sp>
        <p:nvSpPr>
          <p:cNvPr id="9" name="Shape 6"/>
          <p:cNvSpPr/>
          <p:nvPr/>
        </p:nvSpPr>
        <p:spPr>
          <a:xfrm>
            <a:off x="352425" y="2431653"/>
            <a:ext cx="3600450" cy="552450"/>
          </a:xfrm>
          <a:prstGeom prst="rect">
            <a:avLst/>
          </a:prstGeom>
          <a:solidFill>
            <a:srgbClr val="F4F4F6"/>
          </a:solidFill>
          <a:ln/>
        </p:spPr>
        <p:txBody>
          <a:bodyPr/>
          <a:lstStyle/>
          <a:p>
            <a:endParaRPr lang="fr-FR"/>
          </a:p>
        </p:txBody>
      </p:sp>
      <p:pic>
        <p:nvPicPr>
          <p:cNvPr id="10" name="Image 1" descr="preencoded.png"/>
          <p:cNvPicPr>
            <a:picLocks noChangeAspect="1"/>
          </p:cNvPicPr>
          <p:nvPr/>
        </p:nvPicPr>
        <p:blipFill>
          <a:blip r:embed="rId4"/>
          <a:stretch>
            <a:fillRect/>
          </a:stretch>
        </p:blipFill>
        <p:spPr>
          <a:xfrm>
            <a:off x="504825" y="2545953"/>
            <a:ext cx="323850" cy="323850"/>
          </a:xfrm>
          <a:prstGeom prst="rect">
            <a:avLst/>
          </a:prstGeom>
        </p:spPr>
      </p:pic>
      <p:sp>
        <p:nvSpPr>
          <p:cNvPr id="11" name="Text 7"/>
          <p:cNvSpPr/>
          <p:nvPr/>
        </p:nvSpPr>
        <p:spPr>
          <a:xfrm>
            <a:off x="962025" y="2595761"/>
            <a:ext cx="2574528" cy="260350"/>
          </a:xfrm>
          <a:prstGeom prst="rect">
            <a:avLst/>
          </a:prstGeom>
          <a:noFill/>
          <a:ln/>
        </p:spPr>
        <p:txBody>
          <a:bodyPr wrap="square" lIns="0" tIns="0" rIns="0" bIns="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Small positive class: 4 of 8, 3 of 15</a:t>
            </a:r>
            <a:endParaRPr lang="en-US" sz="1425" dirty="0"/>
          </a:p>
        </p:txBody>
      </p:sp>
      <p:sp>
        <p:nvSpPr>
          <p:cNvPr id="12" name="Shape 8"/>
          <p:cNvSpPr/>
          <p:nvPr/>
        </p:nvSpPr>
        <p:spPr>
          <a:xfrm>
            <a:off x="352425" y="3088878"/>
            <a:ext cx="3600450" cy="753269"/>
          </a:xfrm>
          <a:prstGeom prst="rect">
            <a:avLst/>
          </a:prstGeom>
          <a:solidFill>
            <a:srgbClr val="F4F4F6"/>
          </a:solidFill>
          <a:ln/>
        </p:spPr>
        <p:txBody>
          <a:bodyPr/>
          <a:lstStyle/>
          <a:p>
            <a:endParaRPr lang="fr-FR"/>
          </a:p>
        </p:txBody>
      </p:sp>
      <p:pic>
        <p:nvPicPr>
          <p:cNvPr id="13" name="Image 2" descr="preencoded.png"/>
          <p:cNvPicPr>
            <a:picLocks noChangeAspect="1"/>
          </p:cNvPicPr>
          <p:nvPr/>
        </p:nvPicPr>
        <p:blipFill>
          <a:blip r:embed="rId5"/>
          <a:stretch>
            <a:fillRect/>
          </a:stretch>
        </p:blipFill>
        <p:spPr>
          <a:xfrm>
            <a:off x="504825" y="3303588"/>
            <a:ext cx="323850" cy="323850"/>
          </a:xfrm>
          <a:prstGeom prst="rect">
            <a:avLst/>
          </a:prstGeom>
        </p:spPr>
      </p:pic>
      <p:sp>
        <p:nvSpPr>
          <p:cNvPr id="14" name="Text 9"/>
          <p:cNvSpPr/>
          <p:nvPr/>
        </p:nvSpPr>
        <p:spPr>
          <a:xfrm>
            <a:off x="962025" y="3203178"/>
            <a:ext cx="2923604" cy="562769"/>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Carbon block least exercised, for want of node-level data</a:t>
            </a:r>
            <a:endParaRPr lang="en-US" sz="1425" dirty="0"/>
          </a:p>
        </p:txBody>
      </p:sp>
      <p:sp>
        <p:nvSpPr>
          <p:cNvPr id="15" name="Shape 10"/>
          <p:cNvSpPr/>
          <p:nvPr/>
        </p:nvSpPr>
        <p:spPr>
          <a:xfrm>
            <a:off x="352425" y="3946922"/>
            <a:ext cx="3600450" cy="999530"/>
          </a:xfrm>
          <a:prstGeom prst="rect">
            <a:avLst/>
          </a:prstGeom>
          <a:solidFill>
            <a:srgbClr val="FFDA65"/>
          </a:solidFill>
          <a:ln/>
        </p:spPr>
        <p:txBody>
          <a:bodyPr/>
          <a:lstStyle/>
          <a:p>
            <a:endParaRPr lang="fr-FR"/>
          </a:p>
        </p:txBody>
      </p:sp>
      <p:sp>
        <p:nvSpPr>
          <p:cNvPr id="16" name="Text 11"/>
          <p:cNvSpPr/>
          <p:nvPr/>
        </p:nvSpPr>
        <p:spPr>
          <a:xfrm>
            <a:off x="504825" y="4080272"/>
            <a:ext cx="3403664"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063C67"/>
                </a:solidFill>
                <a:latin typeface="Calibri" pitchFamily="34" charset="0"/>
                <a:ea typeface="Calibri" pitchFamily="34" charset="-122"/>
                <a:cs typeface="Calibri" pitchFamily="34" charset="-120"/>
              </a:rPr>
              <a:t>Methodological, and it does not dissolve with data: </a:t>
            </a:r>
            <a:r>
              <a:rPr lang="en-US" sz="1425" dirty="0">
                <a:solidFill>
                  <a:srgbClr val="063C67"/>
                </a:solidFill>
                <a:highlight>
                  <a:srgbClr val="FFDA65"/>
                </a:highlight>
                <a:latin typeface="Calibri" pitchFamily="34" charset="0"/>
                <a:ea typeface="Calibri" pitchFamily="34" charset="-122"/>
                <a:cs typeface="Calibri" pitchFamily="34" charset="-120"/>
              </a:rPr>
              <a:t>no number holds without its outcome definition</a:t>
            </a:r>
            <a:endParaRPr lang="en-US" sz="1425" dirty="0"/>
          </a:p>
        </p:txBody>
      </p:sp>
      <p:sp>
        <p:nvSpPr>
          <p:cNvPr id="17" name="Text 12"/>
          <p:cNvSpPr/>
          <p:nvPr/>
        </p:nvSpPr>
        <p:spPr>
          <a:xfrm>
            <a:off x="4276725" y="1466850"/>
            <a:ext cx="3708464"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FOR ALTEN, IN ORDER</a:t>
            </a:r>
            <a:endParaRPr lang="en-US" sz="1050" dirty="0"/>
          </a:p>
        </p:txBody>
      </p:sp>
      <p:sp>
        <p:nvSpPr>
          <p:cNvPr id="18" name="Shape 13"/>
          <p:cNvSpPr/>
          <p:nvPr/>
        </p:nvSpPr>
        <p:spPr>
          <a:xfrm>
            <a:off x="4276725" y="1774428"/>
            <a:ext cx="3600450" cy="999530"/>
          </a:xfrm>
          <a:prstGeom prst="rect">
            <a:avLst/>
          </a:prstGeom>
          <a:solidFill>
            <a:srgbClr val="F4F4F6"/>
          </a:solidFill>
          <a:ln/>
        </p:spPr>
        <p:txBody>
          <a:bodyPr/>
          <a:lstStyle/>
          <a:p>
            <a:endParaRPr lang="fr-FR"/>
          </a:p>
        </p:txBody>
      </p:sp>
      <p:sp>
        <p:nvSpPr>
          <p:cNvPr id="19" name="Text 14"/>
          <p:cNvSpPr/>
          <p:nvPr/>
        </p:nvSpPr>
        <p:spPr>
          <a:xfrm>
            <a:off x="4429125" y="1907778"/>
            <a:ext cx="167977"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1D93C9"/>
                </a:solidFill>
                <a:latin typeface="Calibri" pitchFamily="34" charset="0"/>
                <a:ea typeface="Calibri" pitchFamily="34" charset="-122"/>
                <a:cs typeface="Calibri" pitchFamily="34" charset="-120"/>
              </a:rPr>
              <a:t>1</a:t>
            </a:r>
            <a:endParaRPr lang="en-US" sz="1425" dirty="0"/>
          </a:p>
        </p:txBody>
      </p:sp>
      <p:pic>
        <p:nvPicPr>
          <p:cNvPr id="20" name="Image 3" descr="preencoded.png"/>
          <p:cNvPicPr>
            <a:picLocks noChangeAspect="1"/>
          </p:cNvPicPr>
          <p:nvPr/>
        </p:nvPicPr>
        <p:blipFill>
          <a:blip r:embed="rId6"/>
          <a:stretch>
            <a:fillRect/>
          </a:stretch>
        </p:blipFill>
        <p:spPr>
          <a:xfrm>
            <a:off x="4654253" y="1907778"/>
            <a:ext cx="348853" cy="285750"/>
          </a:xfrm>
          <a:prstGeom prst="rect">
            <a:avLst/>
          </a:prstGeom>
        </p:spPr>
      </p:pic>
      <p:sp>
        <p:nvSpPr>
          <p:cNvPr id="21" name="Text 15"/>
          <p:cNvSpPr/>
          <p:nvPr/>
        </p:nvSpPr>
        <p:spPr>
          <a:xfrm>
            <a:off x="5136456" y="1907778"/>
            <a:ext cx="2665969"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Connect computed urgency to the forecast quantity. </a:t>
            </a:r>
            <a:r>
              <a:rPr lang="en-US" sz="1425" b="1" dirty="0">
                <a:solidFill>
                  <a:srgbClr val="063C67"/>
                </a:solidFill>
                <a:latin typeface="Calibri" pitchFamily="34" charset="0"/>
                <a:ea typeface="Calibri" pitchFamily="34" charset="-122"/>
                <a:cs typeface="Calibri" pitchFamily="34" charset="-120"/>
              </a:rPr>
              <a:t>One afternoon of work.</a:t>
            </a:r>
            <a:endParaRPr lang="en-US" sz="1425" dirty="0"/>
          </a:p>
        </p:txBody>
      </p:sp>
      <p:sp>
        <p:nvSpPr>
          <p:cNvPr id="22" name="Shape 16"/>
          <p:cNvSpPr/>
          <p:nvPr/>
        </p:nvSpPr>
        <p:spPr>
          <a:xfrm>
            <a:off x="4276725" y="2878733"/>
            <a:ext cx="3600450" cy="755253"/>
          </a:xfrm>
          <a:prstGeom prst="rect">
            <a:avLst/>
          </a:prstGeom>
          <a:solidFill>
            <a:srgbClr val="F4F4F6"/>
          </a:solidFill>
          <a:ln/>
        </p:spPr>
        <p:txBody>
          <a:bodyPr/>
          <a:lstStyle/>
          <a:p>
            <a:endParaRPr lang="fr-FR"/>
          </a:p>
        </p:txBody>
      </p:sp>
      <p:sp>
        <p:nvSpPr>
          <p:cNvPr id="23" name="Text 17"/>
          <p:cNvSpPr/>
          <p:nvPr/>
        </p:nvSpPr>
        <p:spPr>
          <a:xfrm>
            <a:off x="4429125" y="3012083"/>
            <a:ext cx="167977"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1D93C9"/>
                </a:solidFill>
                <a:latin typeface="Calibri" pitchFamily="34" charset="0"/>
                <a:ea typeface="Calibri" pitchFamily="34" charset="-122"/>
                <a:cs typeface="Calibri" pitchFamily="34" charset="-120"/>
              </a:rPr>
              <a:t>2</a:t>
            </a:r>
            <a:endParaRPr lang="en-US" sz="1425" dirty="0"/>
          </a:p>
        </p:txBody>
      </p:sp>
      <p:pic>
        <p:nvPicPr>
          <p:cNvPr id="24" name="Image 4" descr="preencoded.png"/>
          <p:cNvPicPr>
            <a:picLocks noChangeAspect="1"/>
          </p:cNvPicPr>
          <p:nvPr/>
        </p:nvPicPr>
        <p:blipFill>
          <a:blip r:embed="rId7"/>
          <a:stretch>
            <a:fillRect/>
          </a:stretch>
        </p:blipFill>
        <p:spPr>
          <a:xfrm>
            <a:off x="4654253" y="3012083"/>
            <a:ext cx="443805" cy="285750"/>
          </a:xfrm>
          <a:prstGeom prst="rect">
            <a:avLst/>
          </a:prstGeom>
        </p:spPr>
      </p:pic>
      <p:sp>
        <p:nvSpPr>
          <p:cNvPr id="25" name="Text 18"/>
          <p:cNvSpPr/>
          <p:nvPr/>
        </p:nvSpPr>
        <p:spPr>
          <a:xfrm>
            <a:off x="5231408" y="3012083"/>
            <a:ext cx="2569567"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Fill the indicators before calibrating anything</a:t>
            </a:r>
            <a:endParaRPr lang="en-US" sz="1425" dirty="0"/>
          </a:p>
        </p:txBody>
      </p:sp>
      <p:sp>
        <p:nvSpPr>
          <p:cNvPr id="26" name="Shape 19"/>
          <p:cNvSpPr/>
          <p:nvPr/>
        </p:nvSpPr>
        <p:spPr>
          <a:xfrm>
            <a:off x="4276725" y="3738761"/>
            <a:ext cx="3600450" cy="755253"/>
          </a:xfrm>
          <a:prstGeom prst="rect">
            <a:avLst/>
          </a:prstGeom>
          <a:solidFill>
            <a:srgbClr val="F4F4F6"/>
          </a:solidFill>
          <a:ln/>
        </p:spPr>
        <p:txBody>
          <a:bodyPr/>
          <a:lstStyle/>
          <a:p>
            <a:endParaRPr lang="fr-FR"/>
          </a:p>
        </p:txBody>
      </p:sp>
      <p:sp>
        <p:nvSpPr>
          <p:cNvPr id="27" name="Text 20"/>
          <p:cNvSpPr/>
          <p:nvPr/>
        </p:nvSpPr>
        <p:spPr>
          <a:xfrm>
            <a:off x="4429125" y="3872111"/>
            <a:ext cx="167977"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1D93C9"/>
                </a:solidFill>
                <a:latin typeface="Calibri" pitchFamily="34" charset="0"/>
                <a:ea typeface="Calibri" pitchFamily="34" charset="-122"/>
                <a:cs typeface="Calibri" pitchFamily="34" charset="-120"/>
              </a:rPr>
              <a:t>3</a:t>
            </a:r>
            <a:endParaRPr lang="en-US" sz="1425" dirty="0"/>
          </a:p>
        </p:txBody>
      </p:sp>
      <p:pic>
        <p:nvPicPr>
          <p:cNvPr id="28" name="Image 5" descr="preencoded.png"/>
          <p:cNvPicPr>
            <a:picLocks noChangeAspect="1"/>
          </p:cNvPicPr>
          <p:nvPr/>
        </p:nvPicPr>
        <p:blipFill>
          <a:blip r:embed="rId8"/>
          <a:stretch>
            <a:fillRect/>
          </a:stretch>
        </p:blipFill>
        <p:spPr>
          <a:xfrm>
            <a:off x="4654253" y="3872111"/>
            <a:ext cx="225723" cy="285750"/>
          </a:xfrm>
          <a:prstGeom prst="rect">
            <a:avLst/>
          </a:prstGeom>
        </p:spPr>
      </p:pic>
      <p:sp>
        <p:nvSpPr>
          <p:cNvPr id="29" name="Text 21"/>
          <p:cNvSpPr/>
          <p:nvPr/>
        </p:nvSpPr>
        <p:spPr>
          <a:xfrm>
            <a:off x="5013325" y="3872111"/>
            <a:ext cx="2792794"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Make the forecast state its own ignorance; smooth the alarm</a:t>
            </a:r>
            <a:endParaRPr lang="en-US" sz="1425" dirty="0"/>
          </a:p>
        </p:txBody>
      </p:sp>
      <p:sp>
        <p:nvSpPr>
          <p:cNvPr id="30" name="Shape 22"/>
          <p:cNvSpPr/>
          <p:nvPr/>
        </p:nvSpPr>
        <p:spPr>
          <a:xfrm>
            <a:off x="4276725" y="4598789"/>
            <a:ext cx="3600450" cy="755253"/>
          </a:xfrm>
          <a:prstGeom prst="rect">
            <a:avLst/>
          </a:prstGeom>
          <a:solidFill>
            <a:srgbClr val="F4F4F6"/>
          </a:solidFill>
          <a:ln/>
        </p:spPr>
        <p:txBody>
          <a:bodyPr/>
          <a:lstStyle/>
          <a:p>
            <a:endParaRPr lang="fr-FR"/>
          </a:p>
        </p:txBody>
      </p:sp>
      <p:sp>
        <p:nvSpPr>
          <p:cNvPr id="31" name="Text 23"/>
          <p:cNvSpPr/>
          <p:nvPr/>
        </p:nvSpPr>
        <p:spPr>
          <a:xfrm>
            <a:off x="4429125" y="4732139"/>
            <a:ext cx="167977"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1D93C9"/>
                </a:solidFill>
                <a:latin typeface="Calibri" pitchFamily="34" charset="0"/>
                <a:ea typeface="Calibri" pitchFamily="34" charset="-122"/>
                <a:cs typeface="Calibri" pitchFamily="34" charset="-120"/>
              </a:rPr>
              <a:t>4</a:t>
            </a:r>
            <a:endParaRPr lang="en-US" sz="1425" dirty="0"/>
          </a:p>
        </p:txBody>
      </p:sp>
      <p:pic>
        <p:nvPicPr>
          <p:cNvPr id="32" name="Image 6" descr="preencoded.png"/>
          <p:cNvPicPr>
            <a:picLocks noChangeAspect="1"/>
          </p:cNvPicPr>
          <p:nvPr/>
        </p:nvPicPr>
        <p:blipFill>
          <a:blip r:embed="rId3"/>
          <a:stretch>
            <a:fillRect/>
          </a:stretch>
        </p:blipFill>
        <p:spPr>
          <a:xfrm>
            <a:off x="4654253" y="4732139"/>
            <a:ext cx="297259" cy="285750"/>
          </a:xfrm>
          <a:prstGeom prst="rect">
            <a:avLst/>
          </a:prstGeom>
        </p:spPr>
      </p:pic>
      <p:sp>
        <p:nvSpPr>
          <p:cNvPr id="33" name="Text 24"/>
          <p:cNvSpPr/>
          <p:nvPr/>
        </p:nvSpPr>
        <p:spPr>
          <a:xfrm>
            <a:off x="5084862" y="4732139"/>
            <a:ext cx="2719111"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Run the campaign with humans, the only run that decides</a:t>
            </a:r>
            <a:endParaRPr lang="en-US" sz="1425" dirty="0"/>
          </a:p>
        </p:txBody>
      </p:sp>
      <p:sp>
        <p:nvSpPr>
          <p:cNvPr id="34" name="Shape 25"/>
          <p:cNvSpPr/>
          <p:nvPr/>
        </p:nvSpPr>
        <p:spPr>
          <a:xfrm>
            <a:off x="8201025" y="1466850"/>
            <a:ext cx="3448050" cy="2728417"/>
          </a:xfrm>
          <a:prstGeom prst="rect">
            <a:avLst/>
          </a:prstGeom>
          <a:solidFill>
            <a:srgbClr val="063C67"/>
          </a:solidFill>
          <a:ln/>
        </p:spPr>
        <p:txBody>
          <a:bodyPr/>
          <a:lstStyle/>
          <a:p>
            <a:endParaRPr lang="fr-FR"/>
          </a:p>
        </p:txBody>
      </p:sp>
      <p:sp>
        <p:nvSpPr>
          <p:cNvPr id="35" name="Text 26"/>
          <p:cNvSpPr/>
          <p:nvPr/>
        </p:nvSpPr>
        <p:spPr>
          <a:xfrm>
            <a:off x="8429625" y="1676400"/>
            <a:ext cx="328993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FFDA65"/>
                </a:solidFill>
                <a:latin typeface="Arial" pitchFamily="34" charset="0"/>
                <a:ea typeface="Arial" pitchFamily="34" charset="-122"/>
                <a:cs typeface="Arial" pitchFamily="34" charset="-120"/>
              </a:rPr>
              <a:t>THE LESSON I KEEP</a:t>
            </a:r>
            <a:endParaRPr lang="en-US" sz="1050" dirty="0"/>
          </a:p>
        </p:txBody>
      </p:sp>
      <p:sp>
        <p:nvSpPr>
          <p:cNvPr id="36" name="Text 27"/>
          <p:cNvSpPr/>
          <p:nvPr/>
        </p:nvSpPr>
        <p:spPr>
          <a:xfrm>
            <a:off x="8429625" y="1983978"/>
            <a:ext cx="3080576" cy="798016"/>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Each time it looked like a modelling defect; each time it was </a:t>
            </a:r>
            <a:r>
              <a:rPr lang="en-US" sz="1425" b="1" dirty="0">
                <a:solidFill>
                  <a:srgbClr val="FFFFFF"/>
                </a:solidFill>
                <a:latin typeface="Calibri" pitchFamily="34" charset="0"/>
                <a:ea typeface="Calibri" pitchFamily="34" charset="-122"/>
                <a:cs typeface="Calibri" pitchFamily="34" charset="-120"/>
              </a:rPr>
              <a:t>circularity</a:t>
            </a:r>
            <a:r>
              <a:rPr lang="en-US" sz="1425" dirty="0">
                <a:solidFill>
                  <a:srgbClr val="FFFFFF"/>
                </a:solidFill>
                <a:latin typeface="Calibri" pitchFamily="34" charset="0"/>
                <a:ea typeface="Calibri" pitchFamily="34" charset="-122"/>
                <a:cs typeface="Calibri" pitchFamily="34" charset="-120"/>
              </a:rPr>
              <a:t>.</a:t>
            </a:r>
            <a:endParaRPr lang="en-US" sz="1425" dirty="0"/>
          </a:p>
        </p:txBody>
      </p:sp>
      <p:sp>
        <p:nvSpPr>
          <p:cNvPr id="37" name="Text 28"/>
          <p:cNvSpPr/>
          <p:nvPr/>
        </p:nvSpPr>
        <p:spPr>
          <a:xfrm>
            <a:off x="8429625" y="2730698"/>
            <a:ext cx="3080576" cy="544711"/>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I would now design the independence of two signals </a:t>
            </a:r>
            <a:r>
              <a:rPr lang="en-US" sz="1425" b="1" dirty="0">
                <a:solidFill>
                  <a:srgbClr val="FFFFFF"/>
                </a:solidFill>
                <a:latin typeface="Calibri" pitchFamily="34" charset="0"/>
                <a:ea typeface="Calibri" pitchFamily="34" charset="-122"/>
                <a:cs typeface="Calibri" pitchFamily="34" charset="-120"/>
              </a:rPr>
              <a:t>before </a:t>
            </a:r>
            <a:r>
              <a:rPr lang="en-US" sz="1425" dirty="0">
                <a:solidFill>
                  <a:srgbClr val="FFFFFF"/>
                </a:solidFill>
                <a:latin typeface="Calibri" pitchFamily="34" charset="0"/>
                <a:ea typeface="Calibri" pitchFamily="34" charset="-122"/>
                <a:cs typeface="Calibri" pitchFamily="34" charset="-120"/>
              </a:rPr>
              <a:t>designing either.</a:t>
            </a:r>
            <a:endParaRPr lang="en-US" sz="1425" dirty="0"/>
          </a:p>
        </p:txBody>
      </p:sp>
      <p:sp>
        <p:nvSpPr>
          <p:cNvPr id="38" name="Text 29"/>
          <p:cNvSpPr/>
          <p:nvPr/>
        </p:nvSpPr>
        <p:spPr>
          <a:xfrm>
            <a:off x="8429625" y="3479106"/>
            <a:ext cx="3080576" cy="544711"/>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And: before trusting a component, write the cheapest thing that could replace it.</a:t>
            </a:r>
            <a:endParaRPr lang="en-US" sz="1425" dirty="0"/>
          </a:p>
        </p:txBody>
      </p:sp>
      <p:sp>
        <p:nvSpPr>
          <p:cNvPr id="39" name="Text 30"/>
          <p:cNvSpPr/>
          <p:nvPr/>
        </p:nvSpPr>
        <p:spPr>
          <a:xfrm>
            <a:off x="8201025" y="4366717"/>
            <a:ext cx="379285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ESTIA COMPETENCY FRAMEWORK</a:t>
            </a:r>
            <a:endParaRPr lang="en-US" sz="1050" dirty="0"/>
          </a:p>
        </p:txBody>
      </p:sp>
      <p:sp>
        <p:nvSpPr>
          <p:cNvPr id="40" name="Shape 31"/>
          <p:cNvSpPr/>
          <p:nvPr/>
        </p:nvSpPr>
        <p:spPr>
          <a:xfrm>
            <a:off x="8201025" y="4664770"/>
            <a:ext cx="458688" cy="368102"/>
          </a:xfrm>
          <a:prstGeom prst="rect">
            <a:avLst/>
          </a:prstGeom>
          <a:solidFill>
            <a:srgbClr val="E9F5FB"/>
          </a:solidFill>
          <a:ln/>
        </p:spPr>
        <p:txBody>
          <a:bodyPr/>
          <a:lstStyle/>
          <a:p>
            <a:endParaRPr lang="fr-FR"/>
          </a:p>
        </p:txBody>
      </p:sp>
      <p:sp>
        <p:nvSpPr>
          <p:cNvPr id="41" name="Text 32"/>
          <p:cNvSpPr/>
          <p:nvPr/>
        </p:nvSpPr>
        <p:spPr>
          <a:xfrm>
            <a:off x="8324850" y="4731445"/>
            <a:ext cx="287238"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CI1</a:t>
            </a:r>
            <a:endParaRPr lang="en-US" sz="1275" dirty="0"/>
          </a:p>
        </p:txBody>
      </p:sp>
      <p:sp>
        <p:nvSpPr>
          <p:cNvPr id="42" name="Shape 33"/>
          <p:cNvSpPr/>
          <p:nvPr/>
        </p:nvSpPr>
        <p:spPr>
          <a:xfrm>
            <a:off x="8735913" y="4664770"/>
            <a:ext cx="458688" cy="368102"/>
          </a:xfrm>
          <a:prstGeom prst="rect">
            <a:avLst/>
          </a:prstGeom>
          <a:solidFill>
            <a:srgbClr val="E9F5FB"/>
          </a:solidFill>
          <a:ln/>
        </p:spPr>
        <p:txBody>
          <a:bodyPr/>
          <a:lstStyle/>
          <a:p>
            <a:endParaRPr lang="fr-FR"/>
          </a:p>
        </p:txBody>
      </p:sp>
      <p:sp>
        <p:nvSpPr>
          <p:cNvPr id="43" name="Text 34"/>
          <p:cNvSpPr/>
          <p:nvPr/>
        </p:nvSpPr>
        <p:spPr>
          <a:xfrm>
            <a:off x="8859738" y="4731445"/>
            <a:ext cx="287238"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CI3</a:t>
            </a:r>
            <a:endParaRPr lang="en-US" sz="1275" dirty="0"/>
          </a:p>
        </p:txBody>
      </p:sp>
      <p:sp>
        <p:nvSpPr>
          <p:cNvPr id="44" name="Shape 35"/>
          <p:cNvSpPr/>
          <p:nvPr/>
        </p:nvSpPr>
        <p:spPr>
          <a:xfrm>
            <a:off x="9270802" y="4664770"/>
            <a:ext cx="458688" cy="368102"/>
          </a:xfrm>
          <a:prstGeom prst="rect">
            <a:avLst/>
          </a:prstGeom>
          <a:solidFill>
            <a:srgbClr val="E9F5FB"/>
          </a:solidFill>
          <a:ln/>
        </p:spPr>
        <p:txBody>
          <a:bodyPr/>
          <a:lstStyle/>
          <a:p>
            <a:endParaRPr lang="fr-FR"/>
          </a:p>
        </p:txBody>
      </p:sp>
      <p:sp>
        <p:nvSpPr>
          <p:cNvPr id="45" name="Text 36"/>
          <p:cNvSpPr/>
          <p:nvPr/>
        </p:nvSpPr>
        <p:spPr>
          <a:xfrm>
            <a:off x="9394627" y="4731445"/>
            <a:ext cx="287238"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CI5</a:t>
            </a:r>
            <a:endParaRPr lang="en-US" sz="1275" dirty="0"/>
          </a:p>
        </p:txBody>
      </p:sp>
      <p:sp>
        <p:nvSpPr>
          <p:cNvPr id="46" name="Shape 37"/>
          <p:cNvSpPr/>
          <p:nvPr/>
        </p:nvSpPr>
        <p:spPr>
          <a:xfrm>
            <a:off x="9805690" y="4664770"/>
            <a:ext cx="494506" cy="368102"/>
          </a:xfrm>
          <a:prstGeom prst="rect">
            <a:avLst/>
          </a:prstGeom>
          <a:solidFill>
            <a:srgbClr val="E9F5FB"/>
          </a:solidFill>
          <a:ln/>
        </p:spPr>
        <p:txBody>
          <a:bodyPr/>
          <a:lstStyle/>
          <a:p>
            <a:endParaRPr lang="fr-FR"/>
          </a:p>
        </p:txBody>
      </p:sp>
      <p:sp>
        <p:nvSpPr>
          <p:cNvPr id="47" name="Text 38"/>
          <p:cNvSpPr/>
          <p:nvPr/>
        </p:nvSpPr>
        <p:spPr>
          <a:xfrm>
            <a:off x="9929515" y="4731445"/>
            <a:ext cx="323056"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CE3</a:t>
            </a:r>
            <a:endParaRPr lang="en-US" sz="1275" dirty="0"/>
          </a:p>
        </p:txBody>
      </p:sp>
      <p:sp>
        <p:nvSpPr>
          <p:cNvPr id="48" name="Shape 39"/>
          <p:cNvSpPr/>
          <p:nvPr/>
        </p:nvSpPr>
        <p:spPr>
          <a:xfrm>
            <a:off x="10376397" y="4664770"/>
            <a:ext cx="494506" cy="368102"/>
          </a:xfrm>
          <a:prstGeom prst="rect">
            <a:avLst/>
          </a:prstGeom>
          <a:solidFill>
            <a:srgbClr val="E9F5FB"/>
          </a:solidFill>
          <a:ln/>
        </p:spPr>
        <p:txBody>
          <a:bodyPr/>
          <a:lstStyle/>
          <a:p>
            <a:endParaRPr lang="fr-FR"/>
          </a:p>
        </p:txBody>
      </p:sp>
      <p:sp>
        <p:nvSpPr>
          <p:cNvPr id="49" name="Text 40"/>
          <p:cNvSpPr/>
          <p:nvPr/>
        </p:nvSpPr>
        <p:spPr>
          <a:xfrm>
            <a:off x="10500222" y="4731445"/>
            <a:ext cx="323056"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CE4</a:t>
            </a:r>
            <a:endParaRPr lang="en-US" sz="1275" dirty="0"/>
          </a:p>
        </p:txBody>
      </p:sp>
      <p:sp>
        <p:nvSpPr>
          <p:cNvPr id="50" name="Shape 41"/>
          <p:cNvSpPr/>
          <p:nvPr/>
        </p:nvSpPr>
        <p:spPr>
          <a:xfrm>
            <a:off x="10947103" y="4664770"/>
            <a:ext cx="494506" cy="368102"/>
          </a:xfrm>
          <a:prstGeom prst="rect">
            <a:avLst/>
          </a:prstGeom>
          <a:solidFill>
            <a:srgbClr val="E9F5FB"/>
          </a:solidFill>
          <a:ln/>
        </p:spPr>
        <p:txBody>
          <a:bodyPr/>
          <a:lstStyle/>
          <a:p>
            <a:endParaRPr lang="fr-FR"/>
          </a:p>
        </p:txBody>
      </p:sp>
      <p:sp>
        <p:nvSpPr>
          <p:cNvPr id="51" name="Text 42"/>
          <p:cNvSpPr/>
          <p:nvPr/>
        </p:nvSpPr>
        <p:spPr>
          <a:xfrm>
            <a:off x="11070928" y="4731445"/>
            <a:ext cx="323056"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CE5</a:t>
            </a:r>
            <a:endParaRPr lang="en-US" sz="1275" dirty="0"/>
          </a:p>
        </p:txBody>
      </p:sp>
      <p:sp>
        <p:nvSpPr>
          <p:cNvPr id="52" name="Shape 43"/>
          <p:cNvSpPr/>
          <p:nvPr/>
        </p:nvSpPr>
        <p:spPr>
          <a:xfrm>
            <a:off x="8201025" y="5109071"/>
            <a:ext cx="570607" cy="368102"/>
          </a:xfrm>
          <a:prstGeom prst="rect">
            <a:avLst/>
          </a:prstGeom>
          <a:solidFill>
            <a:srgbClr val="E9F5FB"/>
          </a:solidFill>
          <a:ln/>
        </p:spPr>
        <p:txBody>
          <a:bodyPr/>
          <a:lstStyle/>
          <a:p>
            <a:endParaRPr lang="fr-FR"/>
          </a:p>
        </p:txBody>
      </p:sp>
      <p:sp>
        <p:nvSpPr>
          <p:cNvPr id="53" name="Text 44"/>
          <p:cNvSpPr/>
          <p:nvPr/>
        </p:nvSpPr>
        <p:spPr>
          <a:xfrm>
            <a:off x="8324850" y="5175746"/>
            <a:ext cx="399157"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CST1</a:t>
            </a:r>
            <a:endParaRPr lang="en-US" sz="1275" dirty="0"/>
          </a:p>
        </p:txBody>
      </p:sp>
      <p:sp>
        <p:nvSpPr>
          <p:cNvPr id="54" name="Shape 45"/>
          <p:cNvSpPr/>
          <p:nvPr/>
        </p:nvSpPr>
        <p:spPr>
          <a:xfrm>
            <a:off x="8847832" y="5109071"/>
            <a:ext cx="570607" cy="368102"/>
          </a:xfrm>
          <a:prstGeom prst="rect">
            <a:avLst/>
          </a:prstGeom>
          <a:solidFill>
            <a:srgbClr val="E9F5FB"/>
          </a:solidFill>
          <a:ln/>
        </p:spPr>
        <p:txBody>
          <a:bodyPr/>
          <a:lstStyle/>
          <a:p>
            <a:endParaRPr lang="fr-FR"/>
          </a:p>
        </p:txBody>
      </p:sp>
      <p:sp>
        <p:nvSpPr>
          <p:cNvPr id="55" name="Text 46"/>
          <p:cNvSpPr/>
          <p:nvPr/>
        </p:nvSpPr>
        <p:spPr>
          <a:xfrm>
            <a:off x="8971657" y="5175746"/>
            <a:ext cx="399157"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CST2</a:t>
            </a:r>
            <a:endParaRPr lang="en-US" sz="1275" dirty="0"/>
          </a:p>
        </p:txBody>
      </p:sp>
      <p:sp>
        <p:nvSpPr>
          <p:cNvPr id="56" name="Shape 47"/>
          <p:cNvSpPr/>
          <p:nvPr/>
        </p:nvSpPr>
        <p:spPr>
          <a:xfrm>
            <a:off x="9494639" y="5109071"/>
            <a:ext cx="570607" cy="368102"/>
          </a:xfrm>
          <a:prstGeom prst="rect">
            <a:avLst/>
          </a:prstGeom>
          <a:solidFill>
            <a:srgbClr val="E9F5FB"/>
          </a:solidFill>
          <a:ln/>
        </p:spPr>
        <p:txBody>
          <a:bodyPr/>
          <a:lstStyle/>
          <a:p>
            <a:endParaRPr lang="fr-FR"/>
          </a:p>
        </p:txBody>
      </p:sp>
      <p:sp>
        <p:nvSpPr>
          <p:cNvPr id="57" name="Text 48"/>
          <p:cNvSpPr/>
          <p:nvPr/>
        </p:nvSpPr>
        <p:spPr>
          <a:xfrm>
            <a:off x="9618464" y="5175746"/>
            <a:ext cx="399157"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CST7</a:t>
            </a:r>
            <a:endParaRPr lang="en-US" sz="1275" dirty="0"/>
          </a:p>
        </p:txBody>
      </p:sp>
      <p:pic>
        <p:nvPicPr>
          <p:cNvPr id="59" name="Image 7" descr="preencoded.png"/>
          <p:cNvPicPr>
            <a:picLocks noChangeAspect="1"/>
          </p:cNvPicPr>
          <p:nvPr/>
        </p:nvPicPr>
        <p:blipFill>
          <a:blip r:embed="rId9"/>
          <a:stretch>
            <a:fillRect/>
          </a:stretch>
        </p:blipFill>
        <p:spPr>
          <a:xfrm>
            <a:off x="11229975" y="6567488"/>
            <a:ext cx="714375" cy="7143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063C6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5970" r="597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63C67">
                  <a:alpha val="95000"/>
                </a:srgbClr>
              </a:gs>
              <a:gs pos="48000">
                <a:srgbClr val="063C67">
                  <a:alpha val="88000"/>
                </a:srgbClr>
              </a:gs>
              <a:gs pos="100000">
                <a:srgbClr val="063C67">
                  <a:alpha val="58000"/>
                </a:srgbClr>
              </a:gs>
            </a:gsLst>
            <a:lin ang="0" scaled="0"/>
          </a:gradFill>
          <a:ln/>
        </p:spPr>
        <p:txBody>
          <a:bodyPr/>
          <a:lstStyle/>
          <a:p>
            <a:endParaRPr lang="fr-FR"/>
          </a:p>
        </p:txBody>
      </p:sp>
      <p:sp>
        <p:nvSpPr>
          <p:cNvPr id="4" name="Shape 1"/>
          <p:cNvSpPr/>
          <p:nvPr/>
        </p:nvSpPr>
        <p:spPr>
          <a:xfrm>
            <a:off x="0" y="6772275"/>
            <a:ext cx="12192000" cy="85725"/>
          </a:xfrm>
          <a:prstGeom prst="rect">
            <a:avLst/>
          </a:prstGeom>
          <a:gradFill rotWithShape="1">
            <a:gsLst>
              <a:gs pos="0">
                <a:srgbClr val="063C67">
                  <a:alpha val="100000"/>
                </a:srgbClr>
              </a:gs>
              <a:gs pos="67000">
                <a:srgbClr val="1D93C9">
                  <a:alpha val="100000"/>
                </a:srgbClr>
              </a:gs>
              <a:gs pos="100000">
                <a:srgbClr val="FFDA65">
                  <a:alpha val="100000"/>
                </a:srgbClr>
              </a:gs>
            </a:gsLst>
            <a:lin ang="0" scaled="0"/>
          </a:gradFill>
          <a:ln/>
        </p:spPr>
        <p:txBody>
          <a:bodyPr/>
          <a:lstStyle/>
          <a:p>
            <a:endParaRPr lang="fr-FR"/>
          </a:p>
        </p:txBody>
      </p:sp>
      <p:sp>
        <p:nvSpPr>
          <p:cNvPr id="5" name="Shape 2"/>
          <p:cNvSpPr/>
          <p:nvPr/>
        </p:nvSpPr>
        <p:spPr>
          <a:xfrm>
            <a:off x="0" y="0"/>
            <a:ext cx="104775" cy="6858000"/>
          </a:xfrm>
          <a:prstGeom prst="rect">
            <a:avLst/>
          </a:prstGeom>
          <a:solidFill>
            <a:srgbClr val="FFFFFF"/>
          </a:solidFill>
          <a:ln/>
        </p:spPr>
        <p:txBody>
          <a:bodyPr/>
          <a:lstStyle/>
          <a:p>
            <a:endParaRPr lang="fr-FR"/>
          </a:p>
        </p:txBody>
      </p:sp>
      <p:sp>
        <p:nvSpPr>
          <p:cNvPr id="6" name="Text 3"/>
          <p:cNvSpPr/>
          <p:nvPr/>
        </p:nvSpPr>
        <p:spPr>
          <a:xfrm>
            <a:off x="352425" y="2305050"/>
            <a:ext cx="7962900" cy="575270"/>
          </a:xfrm>
          <a:prstGeom prst="rect">
            <a:avLst/>
          </a:prstGeom>
          <a:noFill/>
          <a:ln/>
        </p:spPr>
        <p:txBody>
          <a:bodyPr wrap="square" lIns="25400" tIns="25400" rIns="25400" bIns="25400" rtlCol="0" anchor="t">
            <a:normAutofit/>
          </a:bodyPr>
          <a:lstStyle/>
          <a:p>
            <a:pPr marL="0" indent="0" algn="l">
              <a:lnSpc>
                <a:spcPct val="66614"/>
              </a:lnSpc>
              <a:buNone/>
            </a:pPr>
            <a:r>
              <a:rPr lang="en-US" sz="4500" b="1" dirty="0">
                <a:solidFill>
                  <a:srgbClr val="FFFFFF"/>
                </a:solidFill>
                <a:latin typeface="Arial Black" pitchFamily="34" charset="0"/>
                <a:ea typeface="Arial Black" pitchFamily="34" charset="-122"/>
                <a:cs typeface="Arial Black" pitchFamily="34" charset="-120"/>
              </a:rPr>
              <a:t>THANK YOU</a:t>
            </a:r>
            <a:endParaRPr lang="en-US" sz="4500" dirty="0"/>
          </a:p>
        </p:txBody>
      </p:sp>
      <p:sp>
        <p:nvSpPr>
          <p:cNvPr id="7" name="Text 4"/>
          <p:cNvSpPr/>
          <p:nvPr/>
        </p:nvSpPr>
        <p:spPr>
          <a:xfrm>
            <a:off x="352425" y="3108920"/>
            <a:ext cx="7962900" cy="369491"/>
          </a:xfrm>
          <a:prstGeom prst="rect">
            <a:avLst/>
          </a:prstGeom>
          <a:noFill/>
          <a:ln/>
        </p:spPr>
        <p:txBody>
          <a:bodyPr wrap="square" lIns="25400" tIns="25400" rIns="25400" bIns="25400" rtlCol="0" anchor="t">
            <a:normAutofit/>
          </a:bodyPr>
          <a:lstStyle/>
          <a:p>
            <a:pPr marL="0" indent="0" algn="l">
              <a:lnSpc>
                <a:spcPct val="124286"/>
              </a:lnSpc>
              <a:buNone/>
            </a:pPr>
            <a:r>
              <a:rPr lang="en-US" sz="1800" kern="0" spc="270" dirty="0">
                <a:solidFill>
                  <a:srgbClr val="7ECBEE"/>
                </a:solidFill>
                <a:latin typeface="Arial" pitchFamily="34" charset="0"/>
                <a:ea typeface="Arial" pitchFamily="34" charset="-122"/>
                <a:cs typeface="Arial" pitchFamily="34" charset="-120"/>
              </a:rPr>
              <a:t>QUESTIONS</a:t>
            </a:r>
            <a:endParaRPr lang="en-US" sz="1800" dirty="0"/>
          </a:p>
        </p:txBody>
      </p:sp>
      <p:sp>
        <p:nvSpPr>
          <p:cNvPr id="8" name="Shape 5"/>
          <p:cNvSpPr/>
          <p:nvPr/>
        </p:nvSpPr>
        <p:spPr>
          <a:xfrm>
            <a:off x="352425" y="3745111"/>
            <a:ext cx="7239000" cy="9525"/>
          </a:xfrm>
          <a:prstGeom prst="rect">
            <a:avLst/>
          </a:prstGeom>
          <a:solidFill>
            <a:srgbClr val="FFFFFF">
              <a:alpha val="35000"/>
            </a:srgbClr>
          </a:solidFill>
          <a:ln/>
        </p:spPr>
        <p:txBody>
          <a:bodyPr/>
          <a:lstStyle/>
          <a:p>
            <a:endParaRPr lang="fr-FR"/>
          </a:p>
        </p:txBody>
      </p:sp>
      <p:sp>
        <p:nvSpPr>
          <p:cNvPr id="9" name="Text 6"/>
          <p:cNvSpPr/>
          <p:nvPr/>
        </p:nvSpPr>
        <p:spPr>
          <a:xfrm>
            <a:off x="352425" y="3961011"/>
            <a:ext cx="7456170" cy="852488"/>
          </a:xfrm>
          <a:prstGeom prst="rect">
            <a:avLst/>
          </a:prstGeom>
          <a:noFill/>
          <a:ln/>
        </p:spPr>
        <p:txBody>
          <a:bodyPr wrap="square" lIns="25400" tIns="25400" rIns="25400" bIns="25400" rtlCol="0" anchor="t">
            <a:normAutofit/>
          </a:bodyPr>
          <a:lstStyle/>
          <a:p>
            <a:pPr marL="0" indent="0" algn="l">
              <a:lnSpc>
                <a:spcPct val="122143"/>
              </a:lnSpc>
              <a:buNone/>
            </a:pPr>
            <a:r>
              <a:rPr lang="en-US" sz="1425" dirty="0">
                <a:solidFill>
                  <a:srgbClr val="FFFFFF"/>
                </a:solidFill>
                <a:latin typeface="Calibri" pitchFamily="34" charset="0"/>
                <a:ea typeface="Calibri" pitchFamily="34" charset="-122"/>
                <a:cs typeface="Calibri" pitchFamily="34" charset="-120"/>
              </a:rPr>
              <a:t>HOARAU John · Promotion 2026 ALTEN Sud-Ouest · Direction de l’Innovation · Lab de Toulouse 13 April → 16 October 2026</a:t>
            </a:r>
            <a:endParaRPr lang="en-US" sz="1425" dirty="0"/>
          </a:p>
        </p:txBody>
      </p:sp>
      <p:pic>
        <p:nvPicPr>
          <p:cNvPr id="10" name="Image 1" descr="preencoded.png"/>
          <p:cNvPicPr>
            <a:picLocks noChangeAspect="1"/>
          </p:cNvPicPr>
          <p:nvPr/>
        </p:nvPicPr>
        <p:blipFill>
          <a:blip r:embed="rId4"/>
          <a:stretch>
            <a:fillRect/>
          </a:stretch>
        </p:blipFill>
        <p:spPr>
          <a:xfrm>
            <a:off x="10327284" y="2381250"/>
            <a:ext cx="1121767" cy="1866900"/>
          </a:xfrm>
          <a:prstGeom prst="rect">
            <a:avLst/>
          </a:prstGeom>
        </p:spPr>
      </p:pic>
      <p:sp>
        <p:nvSpPr>
          <p:cNvPr id="11" name="Shape 7"/>
          <p:cNvSpPr/>
          <p:nvPr/>
        </p:nvSpPr>
        <p:spPr>
          <a:xfrm>
            <a:off x="9953725" y="4686300"/>
            <a:ext cx="1495326" cy="723900"/>
          </a:xfrm>
          <a:prstGeom prst="rect">
            <a:avLst/>
          </a:prstGeom>
          <a:solidFill>
            <a:srgbClr val="FFFFFF"/>
          </a:solidFill>
          <a:ln/>
        </p:spPr>
        <p:txBody>
          <a:bodyPr/>
          <a:lstStyle/>
          <a:p>
            <a:endParaRPr lang="fr-FR"/>
          </a:p>
        </p:txBody>
      </p:sp>
      <p:pic>
        <p:nvPicPr>
          <p:cNvPr id="12" name="Image 2" descr="preencoded.png"/>
          <p:cNvPicPr>
            <a:picLocks noChangeAspect="1"/>
          </p:cNvPicPr>
          <p:nvPr/>
        </p:nvPicPr>
        <p:blipFill>
          <a:blip r:embed="rId5"/>
          <a:stretch>
            <a:fillRect/>
          </a:stretch>
        </p:blipFill>
        <p:spPr>
          <a:xfrm>
            <a:off x="9953725" y="4686300"/>
            <a:ext cx="1495326" cy="723900"/>
          </a:xfrm>
          <a:prstGeom prst="rect">
            <a:avLst/>
          </a:prstGeom>
        </p:spPr>
      </p:pic>
      <p:pic>
        <p:nvPicPr>
          <p:cNvPr id="13" name="Image 3" descr="preencoded.png"/>
          <p:cNvPicPr>
            <a:picLocks noChangeAspect="1"/>
          </p:cNvPicPr>
          <p:nvPr/>
        </p:nvPicPr>
        <p:blipFill>
          <a:blip r:embed="rId6"/>
          <a:stretch>
            <a:fillRect/>
          </a:stretch>
        </p:blipFill>
        <p:spPr>
          <a:xfrm>
            <a:off x="11229975" y="6567488"/>
            <a:ext cx="714375" cy="71438"/>
          </a:xfrm>
          <a:prstGeom prst="rect">
            <a:avLst/>
          </a:prstGeom>
        </p:spPr>
      </p:pic>
      <p:pic>
        <p:nvPicPr>
          <p:cNvPr id="16" name="Image 15">
            <a:extLst>
              <a:ext uri="{FF2B5EF4-FFF2-40B4-BE49-F238E27FC236}">
                <a16:creationId xmlns:a16="http://schemas.microsoft.com/office/drawing/2014/main" id="{F9D98A4C-9759-916B-D002-B247BEE188F3}"/>
              </a:ext>
            </a:extLst>
          </p:cNvPr>
          <p:cNvPicPr>
            <a:picLocks noChangeAspect="1"/>
          </p:cNvPicPr>
          <p:nvPr/>
        </p:nvPicPr>
        <p:blipFill>
          <a:blip r:embed="rId7"/>
          <a:stretch>
            <a:fillRect/>
          </a:stretch>
        </p:blipFill>
        <p:spPr>
          <a:xfrm>
            <a:off x="8922902" y="4667825"/>
            <a:ext cx="742949" cy="7423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5b0e46e-af26-40f8-bc06-c0e471e18c78}" enabled="1" method="Privileged" siteId="{9bc3d1cd-55ca-4e13-b5a2-a9e9deaeba3f}" contentBits="0" removed="0"/>
</clbl:labelList>
</file>

<file path=docProps/app.xml><?xml version="1.0" encoding="utf-8"?>
<Properties xmlns="http://schemas.openxmlformats.org/officeDocument/2006/extended-properties" xmlns:vt="http://schemas.openxmlformats.org/officeDocument/2006/docPropsVTypes">
  <TotalTime>434</TotalTime>
  <Words>4875</Words>
  <Application>Microsoft Office PowerPoint</Application>
  <PresentationFormat>Grand écran</PresentationFormat>
  <Paragraphs>599</Paragraphs>
  <Slides>23</Slides>
  <Notes>23</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23</vt:i4>
      </vt:variant>
    </vt:vector>
  </HeadingPairs>
  <TitlesOfParts>
    <vt:vector size="29" baseType="lpstr">
      <vt:lpstr>Aptos</vt:lpstr>
      <vt:lpstr>Arial</vt:lpstr>
      <vt:lpstr>Arial Black</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John HOARAU</cp:lastModifiedBy>
  <cp:revision>14</cp:revision>
  <dcterms:created xsi:type="dcterms:W3CDTF">2026-08-21T15:08:16Z</dcterms:created>
  <dcterms:modified xsi:type="dcterms:W3CDTF">2026-08-26T15:25:46Z</dcterms:modified>
</cp:coreProperties>
</file>