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1914" y="10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3479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id="{EBB9B281-64F0-E2D3-0FF0-BCF4CBCA8079}"/>
              </a:ext>
            </a:extLst>
          </p:cNvPr>
          <p:cNvSpPr txBox="1"/>
          <p:nvPr userDrawn="1">
            <p:extLst>
              <p:ext uri="{1162E1C5-73C7-4A58-AE30-91384D911F3F}">
                <p184:classification xmlns:p184="http://schemas.microsoft.com/office/powerpoint/2018/4/main" val="ftr"/>
              </p:ext>
            </p:extLst>
          </p:nvPr>
        </p:nvSpPr>
        <p:spPr>
          <a:xfrm>
            <a:off x="63500" y="6642100"/>
            <a:ext cx="1268413" cy="152400"/>
          </a:xfrm>
          <a:prstGeom prst="rect">
            <a:avLst/>
          </a:prstGeom>
        </p:spPr>
        <p:txBody>
          <a:bodyPr horzOverflow="overflow" lIns="0" tIns="0" rIns="0" bIns="0">
            <a:spAutoFit/>
          </a:bodyPr>
          <a:lstStyle/>
          <a:p>
            <a:pPr algn="l"/>
            <a:r>
              <a:rPr lang="fr-FR" sz="1000">
                <a:solidFill>
                  <a:srgbClr val="000000">
                    <a:alpha val="50000"/>
                  </a:srgbClr>
                </a:solidFill>
                <a:latin typeface="Aptos" panose="020B0004020202020204" pitchFamily="34" charset="0"/>
              </a:rPr>
              <a:t>Sensitivity: C1-Internal</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1.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 Id="rId11"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2.png"/><Relationship Id="rId4" Type="http://schemas.openxmlformats.org/officeDocument/2006/relationships/image" Target="../media/image25.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6.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image" Target="../media/image37.png"/><Relationship Id="rId6" Type="http://schemas.openxmlformats.org/officeDocument/2006/relationships/image" Target="../media/image22.png"/><Relationship Id="rId7"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33.png"/><Relationship Id="rId5" Type="http://schemas.openxmlformats.org/officeDocument/2006/relationships/image" Target="../media/image38.png"/><Relationship Id="rId6" Type="http://schemas.openxmlformats.org/officeDocument/2006/relationships/image" Target="../media/image39.png"/><Relationship Id="rId7" Type="http://schemas.openxmlformats.org/officeDocument/2006/relationships/image" Target="../media/image40.png"/><Relationship Id="rId8" Type="http://schemas.openxmlformats.org/officeDocument/2006/relationships/image" Target="../media/image16.png"/><Relationship Id="rId9"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1.png"/><Relationship Id="rId4" Type="http://schemas.openxmlformats.org/officeDocument/2006/relationships/image" Target="../media/image7.png"/><Relationship Id="rId5" Type="http://schemas.openxmlformats.org/officeDocument/2006/relationships/image" Target="../media/image28.png"/><Relationship Id="rId6" Type="http://schemas.openxmlformats.org/officeDocument/2006/relationships/image" Target="../media/image34.png"/><Relationship Id="rId7"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2.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19.png"/><Relationship Id="rId10" Type="http://schemas.openxmlformats.org/officeDocument/2006/relationships/image" Target="../media/image4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0.png"/><Relationship Id="rId4" Type="http://schemas.openxmlformats.org/officeDocument/2006/relationships/image" Target="../media/image31.png"/><Relationship Id="rId5" Type="http://schemas.openxmlformats.org/officeDocument/2006/relationships/image" Target="../media/image51.png"/><Relationship Id="rId6"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6.png"/><Relationship Id="rId4" Type="http://schemas.openxmlformats.org/officeDocument/2006/relationships/image" Target="../media/image29.png"/><Relationship Id="rId5" Type="http://schemas.openxmlformats.org/officeDocument/2006/relationships/image" Target="../media/image1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7.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1.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0.png"/><Relationship Id="rId4" Type="http://schemas.openxmlformats.org/officeDocument/2006/relationships/image" Target="../media/image59.png"/><Relationship Id="rId5" Type="http://schemas.openxmlformats.org/officeDocument/2006/relationships/image" Target="../media/image16.png"/><Relationship Id="rId6" Type="http://schemas.openxmlformats.org/officeDocument/2006/relationships/image" Target="../media/image24.png"/><Relationship Id="rId7" Type="http://schemas.openxmlformats.org/officeDocument/2006/relationships/image" Target="../media/image54.png"/><Relationship Id="rId8" Type="http://schemas.openxmlformats.org/officeDocument/2006/relationships/image" Target="../media/image58.png"/><Relationship Id="rId9"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3.png"/><Relationship Id="rId6"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t="13230" b="13230"/>
          <a:stretch/>
        </p:blipFill>
        <p:spPr>
          <a:xfrm>
            <a:off x="0" y="0"/>
            <a:ext cx="12192000" cy="5048250"/>
          </a:xfrm>
          <a:prstGeom prst="rect">
            <a:avLst/>
          </a:prstGeom>
        </p:spPr>
      </p:pic>
      <p:sp>
        <p:nvSpPr>
          <p:cNvPr id="3" name="Shape 0"/>
          <p:cNvSpPr/>
          <p:nvPr/>
        </p:nvSpPr>
        <p:spPr>
          <a:xfrm>
            <a:off x="0" y="0"/>
            <a:ext cx="12192000" cy="5048250"/>
          </a:xfrm>
          <a:prstGeom prst="rect">
            <a:avLst/>
          </a:prstGeom>
          <a:gradFill rotWithShape="1">
            <a:gsLst>
              <a:gs pos="0">
                <a:srgbClr val="063C67">
                  <a:alpha val="30000"/>
                </a:srgbClr>
              </a:gs>
              <a:gs pos="58000">
                <a:srgbClr val="063C67">
                  <a:alpha val="76000"/>
                </a:srgbClr>
              </a:gs>
              <a:gs pos="100000">
                <a:srgbClr val="063C67">
                  <a:alpha val="94000"/>
                </a:srgbClr>
              </a:gs>
            </a:gsLst>
            <a:lin ang="5400000" scaled="0"/>
          </a:gradFill>
          <a:ln/>
        </p:spPr>
        <p:txBody>
          <a:bodyPr/>
          <a:lstStyle/>
          <a:p>
            <a:endParaRPr lang="fr-FR"/>
          </a:p>
        </p:txBody>
      </p:sp>
      <p:sp>
        <p:nvSpPr>
          <p:cNvPr id="4" name="Text 1"/>
          <p:cNvSpPr/>
          <p:nvPr/>
        </p:nvSpPr>
        <p:spPr>
          <a:xfrm>
            <a:off x="419100" y="1123950"/>
            <a:ext cx="11001375" cy="286643"/>
          </a:xfrm>
          <a:prstGeom prst="rect">
            <a:avLst/>
          </a:prstGeom>
          <a:noFill/>
          <a:ln/>
        </p:spPr>
        <p:txBody>
          <a:bodyPr wrap="square" lIns="25400" tIns="25400" rIns="25400" bIns="25400" rtlCol="0" anchor="t">
            <a:normAutofit lnSpcReduction="10000"/>
          </a:bodyPr>
          <a:lstStyle/>
          <a:p>
            <a:pPr marL="0" indent="0" algn="l">
              <a:lnSpc>
                <a:spcPct val="126290"/>
              </a:lnSpc>
              <a:buNone/>
            </a:pPr>
            <a:r>
              <a:rPr lang="en-US" sz="1350" b="1" kern="0" spc="243" dirty="0">
                <a:solidFill>
                  <a:srgbClr val="7ECBEE"/>
                </a:solidFill>
                <a:latin typeface="Arial" pitchFamily="34" charset="0"/>
                <a:ea typeface="Arial" pitchFamily="34" charset="-122"/>
                <a:cs typeface="Arial" pitchFamily="34" charset="-120"/>
              </a:rPr>
              <a:t>INTERNSHIP AT ALTEN</a:t>
            </a:r>
            <a:endParaRPr lang="en-US" sz="1350" dirty="0"/>
          </a:p>
        </p:txBody>
      </p:sp>
      <p:sp>
        <p:nvSpPr>
          <p:cNvPr id="5" name="Text 2"/>
          <p:cNvSpPr/>
          <p:nvPr/>
        </p:nvSpPr>
        <p:spPr>
          <a:xfrm>
            <a:off x="419100" y="1620143"/>
            <a:ext cx="10301288" cy="984448"/>
          </a:xfrm>
          <a:prstGeom prst="rect">
            <a:avLst/>
          </a:prstGeom>
          <a:noFill/>
          <a:ln/>
        </p:spPr>
        <p:txBody>
          <a:bodyPr wrap="square" lIns="25400" tIns="25400" rIns="25400" bIns="25400" rtlCol="0" anchor="t">
            <a:normAutofit/>
          </a:bodyPr>
          <a:lstStyle/>
          <a:p>
            <a:pPr marL="0" indent="0" algn="l">
              <a:lnSpc>
                <a:spcPct val="65368"/>
              </a:lnSpc>
              <a:buNone/>
            </a:pPr>
            <a:r>
              <a:rPr lang="en-US" sz="4050" b="1" dirty="0">
                <a:solidFill>
                  <a:srgbClr val="FFFFFF"/>
                </a:solidFill>
                <a:latin typeface="Arial Black" pitchFamily="34" charset="0"/>
                <a:ea typeface="Arial Black" pitchFamily="34" charset="-122"/>
                <a:cs typeface="Arial Black" pitchFamily="34" charset="-120"/>
              </a:rPr>
              <a:t>R&amp;D : Urgency in the Digital Twin Smart Green Supply Chain</a:t>
            </a:r>
            <a:endParaRPr lang="en-US" sz="4050" dirty="0"/>
          </a:p>
        </p:txBody>
      </p:sp>
      <p:sp>
        <p:nvSpPr>
          <p:cNvPr id="6" name="Text 3"/>
          <p:cNvSpPr/>
          <p:nvPr/>
        </p:nvSpPr>
        <p:spPr>
          <a:xfrm>
            <a:off x="419100" y="2776042"/>
            <a:ext cx="11001375" cy="369491"/>
          </a:xfrm>
          <a:prstGeom prst="rect">
            <a:avLst/>
          </a:prstGeom>
          <a:noFill/>
          <a:ln/>
        </p:spPr>
        <p:txBody>
          <a:bodyPr wrap="square" lIns="25400" tIns="25400" rIns="25400" bIns="25400" rtlCol="0" anchor="t">
            <a:normAutofit/>
          </a:bodyPr>
          <a:lstStyle/>
          <a:p>
            <a:pPr marL="0" indent="0" algn="l">
              <a:lnSpc>
                <a:spcPct val="124286"/>
              </a:lnSpc>
              <a:buNone/>
            </a:pPr>
            <a:r>
              <a:rPr lang="en-US" sz="1800" dirty="0">
                <a:solidFill>
                  <a:srgbClr val="B1DFF4"/>
                </a:solidFill>
                <a:latin typeface="Arial" pitchFamily="34" charset="0"/>
                <a:ea typeface="Arial" pitchFamily="34" charset="-122"/>
                <a:cs typeface="Arial" pitchFamily="34" charset="-120"/>
              </a:rPr>
              <a:t>Measuring declared against real urgency in a supply chain digital twin, so that it can be acted upon</a:t>
            </a:r>
            <a:endParaRPr lang="en-US" sz="1800" dirty="0"/>
          </a:p>
        </p:txBody>
      </p:sp>
      <p:sp>
        <p:nvSpPr>
          <p:cNvPr id="7" name="Text 4"/>
          <p:cNvSpPr/>
          <p:nvPr/>
        </p:nvSpPr>
        <p:spPr>
          <a:xfrm>
            <a:off x="419100" y="3924300"/>
            <a:ext cx="2595037" cy="480020"/>
          </a:xfrm>
          <a:prstGeom prst="rect">
            <a:avLst/>
          </a:prstGeom>
          <a:noFill/>
          <a:ln/>
        </p:spPr>
        <p:txBody>
          <a:bodyPr wrap="square" lIns="25400" tIns="25400" rIns="25400" bIns="25400" rtlCol="0" anchor="t">
            <a:normAutofit/>
          </a:bodyPr>
          <a:lstStyle/>
          <a:p>
            <a:pPr marL="0" indent="0" algn="l">
              <a:lnSpc>
                <a:spcPct val="102353"/>
              </a:lnSpc>
              <a:buNone/>
            </a:pPr>
            <a:r>
              <a:rPr lang="en-US" sz="2400" b="1" dirty="0">
                <a:solidFill>
                  <a:srgbClr val="FFFFFF"/>
                </a:solidFill>
                <a:latin typeface="Arial Black" pitchFamily="34" charset="0"/>
                <a:ea typeface="Arial Black" pitchFamily="34" charset="-122"/>
                <a:cs typeface="Arial Black" pitchFamily="34" charset="-120"/>
              </a:rPr>
              <a:t>HOARAU John</a:t>
            </a:r>
            <a:endParaRPr lang="en-US" sz="2400" dirty="0"/>
          </a:p>
        </p:txBody>
      </p:sp>
      <p:sp>
        <p:nvSpPr>
          <p:cNvPr id="8" name="Text 5"/>
          <p:cNvSpPr/>
          <p:nvPr/>
        </p:nvSpPr>
        <p:spPr>
          <a:xfrm>
            <a:off x="419100" y="4423370"/>
            <a:ext cx="2595037"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dirty="0">
                <a:solidFill>
                  <a:srgbClr val="B1DFF4"/>
                </a:solidFill>
                <a:latin typeface="Calibri" pitchFamily="34" charset="0"/>
                <a:ea typeface="Calibri" pitchFamily="34" charset="-122"/>
                <a:cs typeface="Calibri" pitchFamily="34" charset="-120"/>
              </a:rPr>
              <a:t>Cohort 2026 DED</a:t>
            </a:r>
            <a:endParaRPr lang="en-US" sz="1425" dirty="0"/>
          </a:p>
        </p:txBody>
      </p:sp>
      <p:sp>
        <p:nvSpPr>
          <p:cNvPr id="9" name="Text 6"/>
          <p:cNvSpPr/>
          <p:nvPr/>
        </p:nvSpPr>
        <p:spPr>
          <a:xfrm>
            <a:off x="419100" y="5391150"/>
            <a:ext cx="3069580" cy="211435"/>
          </a:xfrm>
          <a:prstGeom prst="rect">
            <a:avLst/>
          </a:prstGeom>
          <a:noFill/>
          <a:ln/>
        </p:spPr>
        <p:txBody>
          <a:bodyPr wrap="square" lIns="25400" tIns="25400" rIns="25400" bIns="25400" rtlCol="0" anchor="t">
            <a:normAutofit lnSpcReduction="10000"/>
          </a:bodyPr>
          <a:lstStyle/>
          <a:p>
            <a:pPr marL="0" indent="0" algn="l">
              <a:lnSpc>
                <a:spcPct val="118696"/>
              </a:lnSpc>
              <a:buNone/>
            </a:pPr>
            <a:r>
              <a:rPr lang="en-US" sz="975" b="1" kern="0" spc="137" dirty="0">
                <a:solidFill>
                  <a:srgbClr val="1D93C9"/>
                </a:solidFill>
                <a:latin typeface="Arial" pitchFamily="34" charset="0"/>
                <a:ea typeface="Arial" pitchFamily="34" charset="-122"/>
                <a:cs typeface="Arial" pitchFamily="34" charset="-120"/>
              </a:rPr>
              <a:t>COMPANY</a:t>
            </a:r>
            <a:endParaRPr lang="en-US" sz="975" dirty="0"/>
          </a:p>
        </p:txBody>
      </p:sp>
      <p:sp>
        <p:nvSpPr>
          <p:cNvPr id="10" name="Text 7"/>
          <p:cNvSpPr/>
          <p:nvPr/>
        </p:nvSpPr>
        <p:spPr>
          <a:xfrm>
            <a:off x="419100" y="5634335"/>
            <a:ext cx="1207988"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ALTEN Sud-Ouest</a:t>
            </a:r>
            <a:endParaRPr lang="en-US" sz="1275" dirty="0"/>
          </a:p>
        </p:txBody>
      </p:sp>
      <p:sp>
        <p:nvSpPr>
          <p:cNvPr id="11" name="Text 8"/>
          <p:cNvSpPr/>
          <p:nvPr/>
        </p:nvSpPr>
        <p:spPr>
          <a:xfrm>
            <a:off x="419100" y="5860951"/>
            <a:ext cx="2874243"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Direction de l’Innovation · Lab de Toulouse</a:t>
            </a:r>
            <a:endParaRPr lang="en-US" sz="1275" dirty="0"/>
          </a:p>
        </p:txBody>
      </p:sp>
      <p:sp>
        <p:nvSpPr>
          <p:cNvPr id="12" name="Text 9"/>
          <p:cNvSpPr/>
          <p:nvPr/>
        </p:nvSpPr>
        <p:spPr>
          <a:xfrm>
            <a:off x="3666827" y="5391150"/>
            <a:ext cx="2014736" cy="211435"/>
          </a:xfrm>
          <a:prstGeom prst="rect">
            <a:avLst/>
          </a:prstGeom>
          <a:noFill/>
          <a:ln/>
        </p:spPr>
        <p:txBody>
          <a:bodyPr wrap="square" lIns="25400" tIns="25400" rIns="25400" bIns="25400" rtlCol="0" anchor="t">
            <a:normAutofit lnSpcReduction="10000"/>
          </a:bodyPr>
          <a:lstStyle/>
          <a:p>
            <a:pPr marL="0" indent="0" algn="l">
              <a:lnSpc>
                <a:spcPct val="118696"/>
              </a:lnSpc>
              <a:buNone/>
            </a:pPr>
            <a:r>
              <a:rPr lang="en-US" sz="975" b="1" kern="0" spc="137" dirty="0">
                <a:solidFill>
                  <a:srgbClr val="1D93C9"/>
                </a:solidFill>
                <a:latin typeface="Arial" pitchFamily="34" charset="0"/>
                <a:ea typeface="Arial" pitchFamily="34" charset="-122"/>
                <a:cs typeface="Arial" pitchFamily="34" charset="-120"/>
              </a:rPr>
              <a:t>PERIOD</a:t>
            </a:r>
            <a:endParaRPr lang="en-US" sz="975" dirty="0"/>
          </a:p>
        </p:txBody>
      </p:sp>
      <p:sp>
        <p:nvSpPr>
          <p:cNvPr id="13" name="Text 10"/>
          <p:cNvSpPr/>
          <p:nvPr/>
        </p:nvSpPr>
        <p:spPr>
          <a:xfrm>
            <a:off x="3666827" y="5634335"/>
            <a:ext cx="1907778"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13 April → 16 October 2026</a:t>
            </a:r>
            <a:endParaRPr lang="en-US" sz="1275" dirty="0"/>
          </a:p>
        </p:txBody>
      </p:sp>
      <p:sp>
        <p:nvSpPr>
          <p:cNvPr id="14" name="Text 11"/>
          <p:cNvSpPr/>
          <p:nvPr/>
        </p:nvSpPr>
        <p:spPr>
          <a:xfrm>
            <a:off x="3666827" y="5860951"/>
            <a:ext cx="1182688"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Confidential: YES</a:t>
            </a:r>
            <a:endParaRPr lang="en-US" sz="1275" dirty="0"/>
          </a:p>
        </p:txBody>
      </p:sp>
      <p:sp>
        <p:nvSpPr>
          <p:cNvPr id="15" name="Text 12"/>
          <p:cNvSpPr/>
          <p:nvPr/>
        </p:nvSpPr>
        <p:spPr>
          <a:xfrm>
            <a:off x="5955606" y="5391150"/>
            <a:ext cx="3127861" cy="211435"/>
          </a:xfrm>
          <a:prstGeom prst="rect">
            <a:avLst/>
          </a:prstGeom>
          <a:noFill/>
          <a:ln/>
        </p:spPr>
        <p:txBody>
          <a:bodyPr wrap="square" lIns="25400" tIns="25400" rIns="25400" bIns="25400" rtlCol="0" anchor="t">
            <a:normAutofit lnSpcReduction="10000"/>
          </a:bodyPr>
          <a:lstStyle/>
          <a:p>
            <a:pPr marL="0" indent="0" algn="l">
              <a:lnSpc>
                <a:spcPct val="118696"/>
              </a:lnSpc>
              <a:buNone/>
            </a:pPr>
            <a:r>
              <a:rPr lang="en-US" sz="975" b="1" kern="0" spc="137" dirty="0">
                <a:solidFill>
                  <a:srgbClr val="1D93C9"/>
                </a:solidFill>
                <a:latin typeface="Arial" pitchFamily="34" charset="0"/>
                <a:ea typeface="Arial" pitchFamily="34" charset="-122"/>
                <a:cs typeface="Arial" pitchFamily="34" charset="-120"/>
              </a:rPr>
              <a:t>TUTORS</a:t>
            </a:r>
            <a:endParaRPr lang="en-US" sz="975" dirty="0"/>
          </a:p>
        </p:txBody>
      </p:sp>
      <p:sp>
        <p:nvSpPr>
          <p:cNvPr id="16" name="Text 13"/>
          <p:cNvSpPr/>
          <p:nvPr/>
        </p:nvSpPr>
        <p:spPr>
          <a:xfrm>
            <a:off x="5955606" y="5634335"/>
            <a:ext cx="2174776"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S. Perthuisot and F. Jules, ALTEN</a:t>
            </a:r>
            <a:endParaRPr lang="en-US" sz="1275" dirty="0"/>
          </a:p>
        </p:txBody>
      </p:sp>
      <p:sp>
        <p:nvSpPr>
          <p:cNvPr id="17" name="Text 14"/>
          <p:cNvSpPr/>
          <p:nvPr/>
        </p:nvSpPr>
        <p:spPr>
          <a:xfrm>
            <a:off x="5955606" y="5860951"/>
            <a:ext cx="2928815" cy="234950"/>
          </a:xfrm>
          <a:prstGeom prst="rect">
            <a:avLst/>
          </a:prstGeom>
          <a:noFill/>
          <a:ln/>
        </p:spPr>
        <p:txBody>
          <a:bodyPr wrap="square" lIns="0" tIns="0" rIns="0" bIns="0" rtlCol="0" anchor="t">
            <a:normAutofit/>
          </a:bodyPr>
          <a:lstStyle/>
          <a:p>
            <a:pPr marL="0" indent="0" algn="l">
              <a:lnSpc>
                <a:spcPct val="115161"/>
              </a:lnSpc>
              <a:buNone/>
            </a:pPr>
            <a:r>
              <a:rPr lang="en-US" sz="1275" dirty="0">
                <a:solidFill>
                  <a:srgbClr val="063C67"/>
                </a:solidFill>
                <a:latin typeface="Calibri" pitchFamily="34" charset="0"/>
                <a:ea typeface="Calibri" pitchFamily="34" charset="-122"/>
                <a:cs typeface="Calibri" pitchFamily="34" charset="-120"/>
              </a:rPr>
              <a:t>Dr. D. Gomez, ESTIA · Dr. P. Sherar, Cranfield</a:t>
            </a:r>
            <a:endParaRPr lang="en-US" sz="1275" dirty="0"/>
          </a:p>
        </p:txBody>
      </p:sp>
      <p:pic>
        <p:nvPicPr>
          <p:cNvPr id="18" name="Image 1" descr="preencoded.png"/>
          <p:cNvPicPr>
            <a:picLocks noChangeAspect="1"/>
          </p:cNvPicPr>
          <p:nvPr/>
        </p:nvPicPr>
        <p:blipFill>
          <a:blip r:embed="rId4"/>
          <a:stretch>
            <a:fillRect/>
          </a:stretch>
        </p:blipFill>
        <p:spPr>
          <a:xfrm>
            <a:off x="11209734" y="5448300"/>
            <a:ext cx="525066" cy="742950"/>
          </a:xfrm>
          <a:prstGeom prst="rect">
            <a:avLst/>
          </a:prstGeom>
        </p:spPr>
      </p:pic>
      <p:pic>
        <p:nvPicPr>
          <p:cNvPr id="19" name="Image 2" descr="preencoded.png"/>
          <p:cNvPicPr>
            <a:picLocks noChangeAspect="1"/>
          </p:cNvPicPr>
          <p:nvPr/>
        </p:nvPicPr>
        <p:blipFill>
          <a:blip r:embed="rId5"/>
          <a:stretch>
            <a:fillRect/>
          </a:stretch>
        </p:blipFill>
        <p:spPr>
          <a:xfrm>
            <a:off x="9254728" y="5562600"/>
            <a:ext cx="1184672" cy="5143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1351598"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PLAN</a:t>
            </a:r>
            <a:endParaRPr lang="en-US" sz="3225" dirty="0"/>
          </a:p>
        </p:txBody>
      </p:sp>
      <p:sp>
        <p:nvSpPr>
          <p:cNvPr id="4" name="Shape 2"/>
          <p:cNvSpPr/>
          <p:nvPr/>
        </p:nvSpPr>
        <p:spPr>
          <a:xfrm>
            <a:off x="352425" y="1504950"/>
            <a:ext cx="6286500" cy="723900"/>
          </a:xfrm>
          <a:prstGeom prst="rect">
            <a:avLst/>
          </a:prstGeom>
          <a:solidFill>
            <a:srgbClr val="F4F4F6"/>
          </a:solidFill>
          <a:ln/>
        </p:spPr>
        <p:txBody>
          <a:bodyPr/>
          <a:lstStyle/>
          <a:p>
            <a:endParaRPr lang="fr-FR"/>
          </a:p>
        </p:txBody>
      </p:sp>
      <p:pic>
        <p:nvPicPr>
          <p:cNvPr id="5" name="Image 0" descr="preencoded.png"/>
          <p:cNvPicPr>
            <a:picLocks noChangeAspect="1"/>
          </p:cNvPicPr>
          <p:nvPr/>
        </p:nvPicPr>
        <p:blipFill>
          <a:blip r:embed="rId3"/>
          <a:stretch>
            <a:fillRect/>
          </a:stretch>
        </p:blipFill>
        <p:spPr>
          <a:xfrm>
            <a:off x="542925" y="1657350"/>
            <a:ext cx="419100" cy="419100"/>
          </a:xfrm>
          <a:prstGeom prst="rect">
            <a:avLst/>
          </a:prstGeom>
        </p:spPr>
      </p:pic>
      <p:sp>
        <p:nvSpPr>
          <p:cNvPr id="6" name="Text 3"/>
          <p:cNvSpPr/>
          <p:nvPr/>
        </p:nvSpPr>
        <p:spPr>
          <a:xfrm>
            <a:off x="1152525" y="170120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1</a:t>
            </a:r>
            <a:endParaRPr lang="en-US" sz="1800" dirty="0"/>
          </a:p>
        </p:txBody>
      </p:sp>
      <p:sp>
        <p:nvSpPr>
          <p:cNvPr id="7" name="Text 4"/>
          <p:cNvSpPr/>
          <p:nvPr/>
        </p:nvSpPr>
        <p:spPr>
          <a:xfrm>
            <a:off x="1685925" y="1708051"/>
            <a:ext cx="405686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CONTEXT, PROBLEM, MISSION</a:t>
            </a:r>
            <a:endParaRPr lang="en-US" sz="1725" dirty="0"/>
          </a:p>
        </p:txBody>
      </p:sp>
      <p:sp>
        <p:nvSpPr>
          <p:cNvPr id="8" name="Shape 5"/>
          <p:cNvSpPr/>
          <p:nvPr/>
        </p:nvSpPr>
        <p:spPr>
          <a:xfrm>
            <a:off x="352425" y="2362200"/>
            <a:ext cx="6286500" cy="723900"/>
          </a:xfrm>
          <a:prstGeom prst="rect">
            <a:avLst/>
          </a:prstGeom>
          <a:solidFill>
            <a:srgbClr val="F4F4F6"/>
          </a:solidFill>
          <a:ln/>
        </p:spPr>
        <p:txBody>
          <a:bodyPr/>
          <a:lstStyle/>
          <a:p>
            <a:endParaRPr lang="fr-FR"/>
          </a:p>
        </p:txBody>
      </p:sp>
      <p:pic>
        <p:nvPicPr>
          <p:cNvPr id="9" name="Image 1" descr="preencoded.png"/>
          <p:cNvPicPr>
            <a:picLocks noChangeAspect="1"/>
          </p:cNvPicPr>
          <p:nvPr/>
        </p:nvPicPr>
        <p:blipFill>
          <a:blip r:embed="rId4"/>
          <a:stretch>
            <a:fillRect/>
          </a:stretch>
        </p:blipFill>
        <p:spPr>
          <a:xfrm>
            <a:off x="542925" y="2514600"/>
            <a:ext cx="331887" cy="419100"/>
          </a:xfrm>
          <a:prstGeom prst="rect">
            <a:avLst/>
          </a:prstGeom>
        </p:spPr>
      </p:pic>
      <p:sp>
        <p:nvSpPr>
          <p:cNvPr id="10" name="Text 6"/>
          <p:cNvSpPr/>
          <p:nvPr/>
        </p:nvSpPr>
        <p:spPr>
          <a:xfrm>
            <a:off x="1065312" y="255845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2</a:t>
            </a:r>
            <a:endParaRPr lang="en-US" sz="1800" dirty="0"/>
          </a:p>
        </p:txBody>
      </p:sp>
      <p:sp>
        <p:nvSpPr>
          <p:cNvPr id="11" name="Text 7"/>
          <p:cNvSpPr/>
          <p:nvPr/>
        </p:nvSpPr>
        <p:spPr>
          <a:xfrm>
            <a:off x="1598712" y="2565301"/>
            <a:ext cx="3950236"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HOW THE PROJECT WAS RUN</a:t>
            </a:r>
            <a:endParaRPr lang="en-US" sz="1725" dirty="0"/>
          </a:p>
        </p:txBody>
      </p:sp>
      <p:sp>
        <p:nvSpPr>
          <p:cNvPr id="12" name="Shape 8"/>
          <p:cNvSpPr/>
          <p:nvPr/>
        </p:nvSpPr>
        <p:spPr>
          <a:xfrm>
            <a:off x="352425" y="3219450"/>
            <a:ext cx="6286500" cy="723900"/>
          </a:xfrm>
          <a:prstGeom prst="rect">
            <a:avLst/>
          </a:prstGeom>
          <a:solidFill>
            <a:srgbClr val="F4F4F6"/>
          </a:solidFill>
          <a:ln/>
        </p:spPr>
        <p:txBody>
          <a:bodyPr/>
          <a:lstStyle/>
          <a:p>
            <a:endParaRPr lang="fr-FR"/>
          </a:p>
        </p:txBody>
      </p:sp>
      <p:pic>
        <p:nvPicPr>
          <p:cNvPr id="13" name="Image 2" descr="preencoded.png"/>
          <p:cNvPicPr>
            <a:picLocks noChangeAspect="1"/>
          </p:cNvPicPr>
          <p:nvPr/>
        </p:nvPicPr>
        <p:blipFill>
          <a:blip r:embed="rId5"/>
          <a:stretch>
            <a:fillRect/>
          </a:stretch>
        </p:blipFill>
        <p:spPr>
          <a:xfrm>
            <a:off x="542925" y="3371850"/>
            <a:ext cx="419100" cy="419100"/>
          </a:xfrm>
          <a:prstGeom prst="rect">
            <a:avLst/>
          </a:prstGeom>
        </p:spPr>
      </p:pic>
      <p:sp>
        <p:nvSpPr>
          <p:cNvPr id="14" name="Text 9"/>
          <p:cNvSpPr/>
          <p:nvPr/>
        </p:nvSpPr>
        <p:spPr>
          <a:xfrm>
            <a:off x="1152525" y="341570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3</a:t>
            </a:r>
            <a:endParaRPr lang="en-US" sz="1800" dirty="0"/>
          </a:p>
        </p:txBody>
      </p:sp>
      <p:sp>
        <p:nvSpPr>
          <p:cNvPr id="15" name="Text 10"/>
          <p:cNvSpPr/>
          <p:nvPr/>
        </p:nvSpPr>
        <p:spPr>
          <a:xfrm>
            <a:off x="1685925" y="3422551"/>
            <a:ext cx="3584833"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DESIGN AND REALISATION</a:t>
            </a:r>
            <a:endParaRPr lang="en-US" sz="1725" dirty="0"/>
          </a:p>
        </p:txBody>
      </p:sp>
      <p:sp>
        <p:nvSpPr>
          <p:cNvPr id="16" name="Shape 11"/>
          <p:cNvSpPr/>
          <p:nvPr/>
        </p:nvSpPr>
        <p:spPr>
          <a:xfrm>
            <a:off x="352425" y="4076700"/>
            <a:ext cx="6286500" cy="723900"/>
          </a:xfrm>
          <a:prstGeom prst="rect">
            <a:avLst/>
          </a:prstGeom>
          <a:solidFill>
            <a:srgbClr val="F4F4F6"/>
          </a:solidFill>
          <a:ln/>
        </p:spPr>
        <p:txBody>
          <a:bodyPr/>
          <a:lstStyle/>
          <a:p>
            <a:endParaRPr lang="fr-FR"/>
          </a:p>
        </p:txBody>
      </p:sp>
      <p:pic>
        <p:nvPicPr>
          <p:cNvPr id="17" name="Image 3" descr="preencoded.png"/>
          <p:cNvPicPr>
            <a:picLocks noChangeAspect="1"/>
          </p:cNvPicPr>
          <p:nvPr/>
        </p:nvPicPr>
        <p:blipFill>
          <a:blip r:embed="rId6"/>
          <a:stretch>
            <a:fillRect/>
          </a:stretch>
        </p:blipFill>
        <p:spPr>
          <a:xfrm>
            <a:off x="542925" y="4229100"/>
            <a:ext cx="471785" cy="419100"/>
          </a:xfrm>
          <a:prstGeom prst="rect">
            <a:avLst/>
          </a:prstGeom>
        </p:spPr>
      </p:pic>
      <p:sp>
        <p:nvSpPr>
          <p:cNvPr id="18" name="Text 12"/>
          <p:cNvSpPr/>
          <p:nvPr/>
        </p:nvSpPr>
        <p:spPr>
          <a:xfrm>
            <a:off x="1205210" y="427295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4</a:t>
            </a:r>
            <a:endParaRPr lang="en-US" sz="1800" dirty="0"/>
          </a:p>
        </p:txBody>
      </p:sp>
      <p:sp>
        <p:nvSpPr>
          <p:cNvPr id="19" name="Text 13"/>
          <p:cNvSpPr/>
          <p:nvPr/>
        </p:nvSpPr>
        <p:spPr>
          <a:xfrm>
            <a:off x="1738610" y="4279801"/>
            <a:ext cx="3602077"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RESULTS AND VALIDATION</a:t>
            </a:r>
            <a:endParaRPr lang="en-US" sz="1725" dirty="0"/>
          </a:p>
        </p:txBody>
      </p:sp>
      <p:sp>
        <p:nvSpPr>
          <p:cNvPr id="20" name="Shape 14"/>
          <p:cNvSpPr/>
          <p:nvPr/>
        </p:nvSpPr>
        <p:spPr>
          <a:xfrm>
            <a:off x="352425" y="4933950"/>
            <a:ext cx="6286500" cy="723900"/>
          </a:xfrm>
          <a:prstGeom prst="rect">
            <a:avLst/>
          </a:prstGeom>
          <a:solidFill>
            <a:srgbClr val="F4F4F6"/>
          </a:solidFill>
          <a:ln/>
        </p:spPr>
        <p:txBody>
          <a:bodyPr/>
          <a:lstStyle/>
          <a:p>
            <a:endParaRPr lang="fr-FR"/>
          </a:p>
        </p:txBody>
      </p:sp>
      <p:pic>
        <p:nvPicPr>
          <p:cNvPr id="21" name="Image 4" descr="preencoded.png"/>
          <p:cNvPicPr>
            <a:picLocks noChangeAspect="1"/>
          </p:cNvPicPr>
          <p:nvPr/>
        </p:nvPicPr>
        <p:blipFill>
          <a:blip r:embed="rId7"/>
          <a:stretch>
            <a:fillRect/>
          </a:stretch>
        </p:blipFill>
        <p:spPr>
          <a:xfrm>
            <a:off x="542925" y="5086350"/>
            <a:ext cx="469900" cy="419100"/>
          </a:xfrm>
          <a:prstGeom prst="rect">
            <a:avLst/>
          </a:prstGeom>
        </p:spPr>
      </p:pic>
      <p:sp>
        <p:nvSpPr>
          <p:cNvPr id="22" name="Text 15"/>
          <p:cNvSpPr/>
          <p:nvPr/>
        </p:nvSpPr>
        <p:spPr>
          <a:xfrm>
            <a:off x="1203325" y="5130205"/>
            <a:ext cx="41910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1D93C9"/>
                </a:solidFill>
                <a:latin typeface="Arial Black" pitchFamily="34" charset="0"/>
                <a:ea typeface="Arial Black" pitchFamily="34" charset="-122"/>
                <a:cs typeface="Arial Black" pitchFamily="34" charset="-120"/>
              </a:rPr>
              <a:t>5</a:t>
            </a:r>
            <a:endParaRPr lang="en-US" sz="1800" dirty="0"/>
          </a:p>
        </p:txBody>
      </p:sp>
      <p:sp>
        <p:nvSpPr>
          <p:cNvPr id="23" name="Text 16"/>
          <p:cNvSpPr/>
          <p:nvPr/>
        </p:nvSpPr>
        <p:spPr>
          <a:xfrm>
            <a:off x="1736725" y="5137051"/>
            <a:ext cx="4618613" cy="355699"/>
          </a:xfrm>
          <a:prstGeom prst="rect">
            <a:avLst/>
          </a:prstGeom>
          <a:noFill/>
          <a:ln/>
        </p:spPr>
        <p:txBody>
          <a:bodyPr wrap="square" lIns="25400" tIns="25400" rIns="25400" bIns="25400" rtlCol="0" anchor="t">
            <a:normAutofit/>
          </a:bodyPr>
          <a:lstStyle/>
          <a:p>
            <a:pPr marL="0" indent="0" algn="l">
              <a:lnSpc>
                <a:spcPct val="102092"/>
              </a:lnSpc>
              <a:buNone/>
            </a:pPr>
            <a:r>
              <a:rPr lang="en-US" sz="1725" b="1" dirty="0">
                <a:solidFill>
                  <a:srgbClr val="043962"/>
                </a:solidFill>
                <a:latin typeface="Arial Black" pitchFamily="34" charset="0"/>
                <a:ea typeface="Arial Black" pitchFamily="34" charset="-122"/>
                <a:cs typeface="Arial Black" pitchFamily="34" charset="-120"/>
              </a:rPr>
              <a:t>ASSESSMENT AND PERSPECTIVES</a:t>
            </a:r>
            <a:endParaRPr lang="en-US" sz="1725" dirty="0"/>
          </a:p>
        </p:txBody>
      </p:sp>
      <p:pic>
        <p:nvPicPr>
          <p:cNvPr id="24" name="Image 5" descr="preencoded.png"/>
          <p:cNvPicPr>
            <a:picLocks noChangeAspect="1"/>
          </p:cNvPicPr>
          <p:nvPr/>
        </p:nvPicPr>
        <p:blipFill>
          <a:blip r:embed="rId8"/>
          <a:srcRect l="26001" r="26001"/>
          <a:stretch/>
        </p:blipFill>
        <p:spPr>
          <a:xfrm>
            <a:off x="7239000" y="0"/>
            <a:ext cx="4953000" cy="6858000"/>
          </a:xfrm>
          <a:prstGeom prst="rect">
            <a:avLst/>
          </a:prstGeom>
        </p:spPr>
      </p:pic>
      <p:pic>
        <p:nvPicPr>
          <p:cNvPr id="25" name="Image 6" descr="preencoded.png"/>
          <p:cNvPicPr>
            <a:picLocks noChangeAspect="1"/>
          </p:cNvPicPr>
          <p:nvPr/>
        </p:nvPicPr>
        <p:blipFill>
          <a:blip r:embed="rId9"/>
          <a:stretch>
            <a:fillRect/>
          </a:stretch>
        </p:blipFill>
        <p:spPr>
          <a:xfrm>
            <a:off x="11229975" y="6567488"/>
            <a:ext cx="714375" cy="71438"/>
          </a:xfrm>
          <a:prstGeom prst="rect">
            <a:avLst/>
          </a:prstGeom>
        </p:spPr>
      </p:pic>
      <p:sp>
        <p:nvSpPr>
          <p:cNvPr id="26" name="Text 17"/>
          <p:cNvSpPr/>
          <p:nvPr/>
        </p:nvSpPr>
        <p:spPr>
          <a:xfrm>
            <a:off x="10582870" y="6465590"/>
            <a:ext cx="447080"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7ECBEE"/>
                </a:solidFill>
                <a:latin typeface="Calibri" pitchFamily="34" charset="0"/>
                <a:ea typeface="Calibri" pitchFamily="34" charset="-122"/>
                <a:cs typeface="Calibri" pitchFamily="34" charset="-120"/>
              </a:rPr>
              <a:t>2 | 20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9538891"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THE COMPANY AND THE PROGRAMME</a:t>
            </a:r>
            <a:endParaRPr lang="en-US" sz="3225" dirty="0"/>
          </a:p>
        </p:txBody>
      </p:sp>
      <p:sp>
        <p:nvSpPr>
          <p:cNvPr id="4" name="Text 2"/>
          <p:cNvSpPr/>
          <p:nvPr/>
        </p:nvSpPr>
        <p:spPr>
          <a:xfrm>
            <a:off x="352425" y="666750"/>
            <a:ext cx="5188436"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ALTEN · Direction de l’Innovation · Toulouse Lab</a:t>
            </a:r>
            <a:endParaRPr lang="en-US" sz="1725" dirty="0"/>
          </a:p>
        </p:txBody>
      </p:sp>
      <p:pic>
        <p:nvPicPr>
          <p:cNvPr id="5" name="Image 0" descr="preencoded.png"/>
          <p:cNvPicPr>
            <a:picLocks noChangeAspect="1"/>
          </p:cNvPicPr>
          <p:nvPr/>
        </p:nvPicPr>
        <p:blipFill>
          <a:blip r:embed="rId3"/>
          <a:stretch>
            <a:fillRect/>
          </a:stretch>
        </p:blipFill>
        <p:spPr>
          <a:xfrm>
            <a:off x="304800" y="1493937"/>
            <a:ext cx="438150" cy="438150"/>
          </a:xfrm>
          <a:prstGeom prst="rect">
            <a:avLst/>
          </a:prstGeom>
        </p:spPr>
      </p:pic>
      <p:sp>
        <p:nvSpPr>
          <p:cNvPr id="6" name="Text 3"/>
          <p:cNvSpPr/>
          <p:nvPr/>
        </p:nvSpPr>
        <p:spPr>
          <a:xfrm>
            <a:off x="895350" y="1390650"/>
            <a:ext cx="1245195" cy="432395"/>
          </a:xfrm>
          <a:prstGeom prst="rect">
            <a:avLst/>
          </a:prstGeom>
          <a:noFill/>
          <a:ln/>
        </p:spPr>
        <p:txBody>
          <a:bodyPr wrap="square" lIns="25400" tIns="25400" rIns="25400" bIns="25400" rtlCol="0" anchor="t">
            <a:normAutofit/>
          </a:bodyPr>
          <a:lstStyle/>
          <a:p>
            <a:pPr marL="0" indent="0" algn="l">
              <a:lnSpc>
                <a:spcPct val="64021"/>
              </a:lnSpc>
              <a:buNone/>
            </a:pPr>
            <a:r>
              <a:rPr lang="en-US" sz="3450" b="1" dirty="0">
                <a:solidFill>
                  <a:srgbClr val="043962"/>
                </a:solidFill>
                <a:latin typeface="Arial Black" pitchFamily="34" charset="0"/>
                <a:ea typeface="Arial Black" pitchFamily="34" charset="-122"/>
                <a:cs typeface="Arial Black" pitchFamily="34" charset="-120"/>
              </a:rPr>
              <a:t>1988</a:t>
            </a:r>
            <a:endParaRPr lang="en-US" sz="3450" dirty="0"/>
          </a:p>
        </p:txBody>
      </p:sp>
      <p:sp>
        <p:nvSpPr>
          <p:cNvPr id="7" name="Text 4"/>
          <p:cNvSpPr/>
          <p:nvPr/>
        </p:nvSpPr>
        <p:spPr>
          <a:xfrm>
            <a:off x="895350" y="1842095"/>
            <a:ext cx="124519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FOUNDED</a:t>
            </a:r>
            <a:endParaRPr lang="en-US" sz="1050" dirty="0"/>
          </a:p>
        </p:txBody>
      </p:sp>
      <p:pic>
        <p:nvPicPr>
          <p:cNvPr id="8" name="Image 1" descr="preencoded.png"/>
          <p:cNvPicPr>
            <a:picLocks noChangeAspect="1"/>
          </p:cNvPicPr>
          <p:nvPr/>
        </p:nvPicPr>
        <p:blipFill>
          <a:blip r:embed="rId4"/>
          <a:stretch>
            <a:fillRect/>
          </a:stretch>
        </p:blipFill>
        <p:spPr>
          <a:xfrm>
            <a:off x="3190875" y="1493937"/>
            <a:ext cx="438150" cy="438150"/>
          </a:xfrm>
          <a:prstGeom prst="rect">
            <a:avLst/>
          </a:prstGeom>
        </p:spPr>
      </p:pic>
      <p:sp>
        <p:nvSpPr>
          <p:cNvPr id="9" name="Text 5"/>
          <p:cNvSpPr/>
          <p:nvPr/>
        </p:nvSpPr>
        <p:spPr>
          <a:xfrm>
            <a:off x="3781425" y="1390650"/>
            <a:ext cx="1029593" cy="432395"/>
          </a:xfrm>
          <a:prstGeom prst="rect">
            <a:avLst/>
          </a:prstGeom>
          <a:noFill/>
          <a:ln/>
        </p:spPr>
        <p:txBody>
          <a:bodyPr wrap="square" lIns="25400" tIns="25400" rIns="25400" bIns="25400" rtlCol="0" anchor="t">
            <a:normAutofit/>
          </a:bodyPr>
          <a:lstStyle/>
          <a:p>
            <a:pPr marL="0" indent="0" algn="l">
              <a:lnSpc>
                <a:spcPct val="64021"/>
              </a:lnSpc>
              <a:buNone/>
            </a:pPr>
            <a:r>
              <a:rPr lang="en-US" sz="3450" b="1" dirty="0">
                <a:solidFill>
                  <a:srgbClr val="043962"/>
                </a:solidFill>
                <a:latin typeface="Arial Black" pitchFamily="34" charset="0"/>
                <a:ea typeface="Arial Black" pitchFamily="34" charset="-122"/>
                <a:cs typeface="Arial Black" pitchFamily="34" charset="-120"/>
              </a:rPr>
              <a:t>+30</a:t>
            </a:r>
            <a:endParaRPr lang="en-US" sz="3450" dirty="0"/>
          </a:p>
        </p:txBody>
      </p:sp>
      <p:sp>
        <p:nvSpPr>
          <p:cNvPr id="10" name="Text 6"/>
          <p:cNvSpPr/>
          <p:nvPr/>
        </p:nvSpPr>
        <p:spPr>
          <a:xfrm>
            <a:off x="3781425" y="1842095"/>
            <a:ext cx="1029593"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COUNTRIES</a:t>
            </a:r>
            <a:endParaRPr lang="en-US" sz="1050" dirty="0"/>
          </a:p>
        </p:txBody>
      </p:sp>
      <p:pic>
        <p:nvPicPr>
          <p:cNvPr id="11" name="Image 2" descr="preencoded.png"/>
          <p:cNvPicPr>
            <a:picLocks noChangeAspect="1"/>
          </p:cNvPicPr>
          <p:nvPr/>
        </p:nvPicPr>
        <p:blipFill>
          <a:blip r:embed="rId5"/>
          <a:stretch>
            <a:fillRect/>
          </a:stretch>
        </p:blipFill>
        <p:spPr>
          <a:xfrm>
            <a:off x="6076950" y="1493937"/>
            <a:ext cx="368300" cy="438150"/>
          </a:xfrm>
          <a:prstGeom prst="rect">
            <a:avLst/>
          </a:prstGeom>
        </p:spPr>
      </p:pic>
      <p:sp>
        <p:nvSpPr>
          <p:cNvPr id="12" name="Text 7"/>
          <p:cNvSpPr/>
          <p:nvPr/>
        </p:nvSpPr>
        <p:spPr>
          <a:xfrm>
            <a:off x="6597650" y="1390650"/>
            <a:ext cx="1097558" cy="432395"/>
          </a:xfrm>
          <a:prstGeom prst="rect">
            <a:avLst/>
          </a:prstGeom>
          <a:noFill/>
          <a:ln/>
        </p:spPr>
        <p:txBody>
          <a:bodyPr wrap="square" lIns="25400" tIns="25400" rIns="25400" bIns="25400" rtlCol="0" anchor="t">
            <a:normAutofit/>
          </a:bodyPr>
          <a:lstStyle/>
          <a:p>
            <a:pPr marL="0" indent="0" algn="l">
              <a:lnSpc>
                <a:spcPct val="64021"/>
              </a:lnSpc>
              <a:buNone/>
            </a:pPr>
            <a:r>
              <a:rPr lang="en-US" sz="3450" b="1" dirty="0">
                <a:solidFill>
                  <a:srgbClr val="043962"/>
                </a:solidFill>
                <a:latin typeface="Arial Black" pitchFamily="34" charset="0"/>
                <a:ea typeface="Arial Black" pitchFamily="34" charset="-122"/>
                <a:cs typeface="Arial Black" pitchFamily="34" charset="-120"/>
              </a:rPr>
              <a:t>11</a:t>
            </a:r>
            <a:endParaRPr lang="en-US" sz="3450" dirty="0"/>
          </a:p>
        </p:txBody>
      </p:sp>
      <p:sp>
        <p:nvSpPr>
          <p:cNvPr id="13" name="Text 8"/>
          <p:cNvSpPr/>
          <p:nvPr/>
        </p:nvSpPr>
        <p:spPr>
          <a:xfrm>
            <a:off x="6597650" y="1842095"/>
            <a:ext cx="1097558"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ALTEN LABS</a:t>
            </a:r>
            <a:endParaRPr lang="en-US" sz="1050" dirty="0"/>
          </a:p>
        </p:txBody>
      </p:sp>
      <p:pic>
        <p:nvPicPr>
          <p:cNvPr id="14" name="Image 3" descr="preencoded.png"/>
          <p:cNvPicPr>
            <a:picLocks noChangeAspect="1"/>
          </p:cNvPicPr>
          <p:nvPr/>
        </p:nvPicPr>
        <p:blipFill>
          <a:blip r:embed="rId6"/>
          <a:stretch>
            <a:fillRect/>
          </a:stretch>
        </p:blipFill>
        <p:spPr>
          <a:xfrm>
            <a:off x="8963025" y="1493937"/>
            <a:ext cx="413147" cy="438150"/>
          </a:xfrm>
          <a:prstGeom prst="rect">
            <a:avLst/>
          </a:prstGeom>
        </p:spPr>
      </p:pic>
      <p:sp>
        <p:nvSpPr>
          <p:cNvPr id="15" name="Text 9"/>
          <p:cNvSpPr/>
          <p:nvPr/>
        </p:nvSpPr>
        <p:spPr>
          <a:xfrm>
            <a:off x="9528572" y="1390650"/>
            <a:ext cx="2072908" cy="432395"/>
          </a:xfrm>
          <a:prstGeom prst="rect">
            <a:avLst/>
          </a:prstGeom>
          <a:noFill/>
          <a:ln/>
        </p:spPr>
        <p:txBody>
          <a:bodyPr wrap="square" lIns="25400" tIns="25400" rIns="25400" bIns="25400" rtlCol="0" anchor="t">
            <a:normAutofit/>
          </a:bodyPr>
          <a:lstStyle/>
          <a:p>
            <a:pPr marL="0" indent="0" algn="l">
              <a:lnSpc>
                <a:spcPct val="64021"/>
              </a:lnSpc>
              <a:buNone/>
            </a:pPr>
            <a:r>
              <a:rPr lang="en-US" sz="3450" b="1" dirty="0">
                <a:solidFill>
                  <a:srgbClr val="043962"/>
                </a:solidFill>
                <a:latin typeface="Arial Black" pitchFamily="34" charset="0"/>
                <a:ea typeface="Arial Black" pitchFamily="34" charset="-122"/>
                <a:cs typeface="Arial Black" pitchFamily="34" charset="-120"/>
              </a:rPr>
              <a:t>31 %</a:t>
            </a:r>
            <a:endParaRPr lang="en-US" sz="3450" dirty="0"/>
          </a:p>
        </p:txBody>
      </p:sp>
      <p:sp>
        <p:nvSpPr>
          <p:cNvPr id="16" name="Text 10"/>
          <p:cNvSpPr/>
          <p:nvPr/>
        </p:nvSpPr>
        <p:spPr>
          <a:xfrm>
            <a:off x="9528572" y="1842095"/>
            <a:ext cx="2072908"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R&amp;D ON ENVIRONMENT</a:t>
            </a:r>
            <a:endParaRPr lang="en-US" sz="1050" dirty="0"/>
          </a:p>
        </p:txBody>
      </p:sp>
      <p:sp>
        <p:nvSpPr>
          <p:cNvPr id="17" name="Shape 11"/>
          <p:cNvSpPr/>
          <p:nvPr/>
        </p:nvSpPr>
        <p:spPr>
          <a:xfrm>
            <a:off x="304800" y="2381250"/>
            <a:ext cx="11334750" cy="9525"/>
          </a:xfrm>
          <a:prstGeom prst="rect">
            <a:avLst/>
          </a:prstGeom>
          <a:solidFill>
            <a:srgbClr val="C0C0C8"/>
          </a:solidFill>
          <a:ln/>
        </p:spPr>
        <p:txBody>
          <a:bodyPr/>
          <a:lstStyle/>
          <a:p>
            <a:endParaRPr lang="fr-FR"/>
          </a:p>
        </p:txBody>
      </p:sp>
      <p:sp>
        <p:nvSpPr>
          <p:cNvPr id="18" name="Text 12"/>
          <p:cNvSpPr/>
          <p:nvPr/>
        </p:nvSpPr>
        <p:spPr>
          <a:xfrm>
            <a:off x="304800" y="2647950"/>
            <a:ext cx="5118805"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SMART GREEN SUPPLY CHAIN: THREE AIMS AT ONCE</a:t>
            </a:r>
            <a:endParaRPr lang="en-US" sz="1125" dirty="0"/>
          </a:p>
        </p:txBody>
      </p:sp>
      <p:sp>
        <p:nvSpPr>
          <p:cNvPr id="19" name="Shape 13"/>
          <p:cNvSpPr/>
          <p:nvPr/>
        </p:nvSpPr>
        <p:spPr>
          <a:xfrm>
            <a:off x="304800" y="2971800"/>
            <a:ext cx="5848350" cy="793353"/>
          </a:xfrm>
          <a:prstGeom prst="rect">
            <a:avLst/>
          </a:prstGeom>
          <a:solidFill>
            <a:srgbClr val="F4F4F6"/>
          </a:solidFill>
          <a:ln/>
        </p:spPr>
        <p:txBody>
          <a:bodyPr/>
          <a:lstStyle/>
          <a:p>
            <a:endParaRPr lang="fr-FR"/>
          </a:p>
        </p:txBody>
      </p:sp>
      <p:pic>
        <p:nvPicPr>
          <p:cNvPr id="20" name="Image 4" descr="preencoded.png"/>
          <p:cNvPicPr>
            <a:picLocks noChangeAspect="1"/>
          </p:cNvPicPr>
          <p:nvPr/>
        </p:nvPicPr>
        <p:blipFill>
          <a:blip r:embed="rId7"/>
          <a:stretch>
            <a:fillRect/>
          </a:stretch>
        </p:blipFill>
        <p:spPr>
          <a:xfrm>
            <a:off x="476250" y="3158927"/>
            <a:ext cx="419100" cy="419100"/>
          </a:xfrm>
          <a:prstGeom prst="rect">
            <a:avLst/>
          </a:prstGeom>
        </p:spPr>
      </p:pic>
      <p:sp>
        <p:nvSpPr>
          <p:cNvPr id="21" name="Text 14"/>
          <p:cNvSpPr/>
          <p:nvPr/>
        </p:nvSpPr>
        <p:spPr>
          <a:xfrm>
            <a:off x="1047750" y="3105150"/>
            <a:ext cx="1839347" cy="341908"/>
          </a:xfrm>
          <a:prstGeom prst="rect">
            <a:avLst/>
          </a:prstGeom>
          <a:noFill/>
          <a:ln/>
        </p:spPr>
        <p:txBody>
          <a:bodyPr wrap="square" lIns="25400" tIns="25400" rIns="25400" bIns="25400" rtlCol="0" anchor="t">
            <a:normAutofit/>
          </a:bodyPr>
          <a:lstStyle/>
          <a:p>
            <a:pPr marL="0" indent="0" algn="l">
              <a:lnSpc>
                <a:spcPct val="104022"/>
              </a:lnSpc>
              <a:buNone/>
            </a:pPr>
            <a:r>
              <a:rPr lang="en-US" sz="1650" b="1" dirty="0">
                <a:solidFill>
                  <a:srgbClr val="043962"/>
                </a:solidFill>
                <a:latin typeface="Arial Black" pitchFamily="34" charset="0"/>
                <a:ea typeface="Arial Black" pitchFamily="34" charset="-122"/>
                <a:cs typeface="Arial Black" pitchFamily="34" charset="-120"/>
              </a:rPr>
              <a:t>LEAN</a:t>
            </a:r>
            <a:endParaRPr lang="en-US" sz="1650" dirty="0"/>
          </a:p>
        </p:txBody>
      </p:sp>
      <p:sp>
        <p:nvSpPr>
          <p:cNvPr id="22" name="Text 15"/>
          <p:cNvSpPr/>
          <p:nvPr/>
        </p:nvSpPr>
        <p:spPr>
          <a:xfrm>
            <a:off x="1047750" y="3408958"/>
            <a:ext cx="1839347"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Cost, delay, excess stock</a:t>
            </a:r>
            <a:endParaRPr lang="en-US" sz="1350" dirty="0"/>
          </a:p>
        </p:txBody>
      </p:sp>
      <p:sp>
        <p:nvSpPr>
          <p:cNvPr id="23" name="Shape 16"/>
          <p:cNvSpPr/>
          <p:nvPr/>
        </p:nvSpPr>
        <p:spPr>
          <a:xfrm>
            <a:off x="304800" y="3879453"/>
            <a:ext cx="5848350" cy="793353"/>
          </a:xfrm>
          <a:prstGeom prst="rect">
            <a:avLst/>
          </a:prstGeom>
          <a:solidFill>
            <a:srgbClr val="F4F4F6"/>
          </a:solidFill>
          <a:ln/>
        </p:spPr>
        <p:txBody>
          <a:bodyPr/>
          <a:lstStyle/>
          <a:p>
            <a:endParaRPr lang="fr-FR"/>
          </a:p>
        </p:txBody>
      </p:sp>
      <p:pic>
        <p:nvPicPr>
          <p:cNvPr id="24" name="Image 5" descr="preencoded.png"/>
          <p:cNvPicPr>
            <a:picLocks noChangeAspect="1"/>
          </p:cNvPicPr>
          <p:nvPr/>
        </p:nvPicPr>
        <p:blipFill>
          <a:blip r:embed="rId8"/>
          <a:stretch>
            <a:fillRect/>
          </a:stretch>
        </p:blipFill>
        <p:spPr>
          <a:xfrm>
            <a:off x="476250" y="4066580"/>
            <a:ext cx="419100" cy="419100"/>
          </a:xfrm>
          <a:prstGeom prst="rect">
            <a:avLst/>
          </a:prstGeom>
        </p:spPr>
      </p:pic>
      <p:sp>
        <p:nvSpPr>
          <p:cNvPr id="25" name="Text 17"/>
          <p:cNvSpPr/>
          <p:nvPr/>
        </p:nvSpPr>
        <p:spPr>
          <a:xfrm>
            <a:off x="1047750" y="4012803"/>
            <a:ext cx="4086443" cy="341908"/>
          </a:xfrm>
          <a:prstGeom prst="rect">
            <a:avLst/>
          </a:prstGeom>
          <a:noFill/>
          <a:ln/>
        </p:spPr>
        <p:txBody>
          <a:bodyPr wrap="square" lIns="25400" tIns="25400" rIns="25400" bIns="25400" rtlCol="0" anchor="t">
            <a:normAutofit/>
          </a:bodyPr>
          <a:lstStyle/>
          <a:p>
            <a:pPr marL="0" indent="0" algn="l">
              <a:lnSpc>
                <a:spcPct val="104022"/>
              </a:lnSpc>
              <a:buNone/>
            </a:pPr>
            <a:r>
              <a:rPr lang="en-US" sz="1650" b="1" dirty="0">
                <a:solidFill>
                  <a:srgbClr val="043962"/>
                </a:solidFill>
                <a:latin typeface="Arial Black" pitchFamily="34" charset="0"/>
                <a:ea typeface="Arial Black" pitchFamily="34" charset="-122"/>
                <a:cs typeface="Arial Black" pitchFamily="34" charset="-120"/>
              </a:rPr>
              <a:t>GREEN</a:t>
            </a:r>
            <a:endParaRPr lang="en-US" sz="1650" dirty="0"/>
          </a:p>
        </p:txBody>
      </p:sp>
      <p:sp>
        <p:nvSpPr>
          <p:cNvPr id="26" name="Text 18"/>
          <p:cNvSpPr/>
          <p:nvPr/>
        </p:nvSpPr>
        <p:spPr>
          <a:xfrm>
            <a:off x="1047750" y="4316611"/>
            <a:ext cx="4086443"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Carbon per transport leg, to GLEC v3.2 and ISO 14083</a:t>
            </a:r>
            <a:endParaRPr lang="en-US" sz="1350" dirty="0"/>
          </a:p>
        </p:txBody>
      </p:sp>
      <p:sp>
        <p:nvSpPr>
          <p:cNvPr id="27" name="Shape 19"/>
          <p:cNvSpPr/>
          <p:nvPr/>
        </p:nvSpPr>
        <p:spPr>
          <a:xfrm>
            <a:off x="304800" y="4787106"/>
            <a:ext cx="5848350" cy="793353"/>
          </a:xfrm>
          <a:prstGeom prst="rect">
            <a:avLst/>
          </a:prstGeom>
          <a:solidFill>
            <a:srgbClr val="FFDA65"/>
          </a:solidFill>
          <a:ln/>
        </p:spPr>
        <p:txBody>
          <a:bodyPr/>
          <a:lstStyle/>
          <a:p>
            <a:endParaRPr lang="fr-FR"/>
          </a:p>
        </p:txBody>
      </p:sp>
      <p:pic>
        <p:nvPicPr>
          <p:cNvPr id="28" name="Image 6" descr="preencoded.png"/>
          <p:cNvPicPr>
            <a:picLocks noChangeAspect="1"/>
          </p:cNvPicPr>
          <p:nvPr/>
        </p:nvPicPr>
        <p:blipFill>
          <a:blip r:embed="rId9"/>
          <a:stretch>
            <a:fillRect/>
          </a:stretch>
        </p:blipFill>
        <p:spPr>
          <a:xfrm>
            <a:off x="476250" y="4974233"/>
            <a:ext cx="419100" cy="419100"/>
          </a:xfrm>
          <a:prstGeom prst="rect">
            <a:avLst/>
          </a:prstGeom>
        </p:spPr>
      </p:pic>
      <p:sp>
        <p:nvSpPr>
          <p:cNvPr id="29" name="Text 20"/>
          <p:cNvSpPr/>
          <p:nvPr/>
        </p:nvSpPr>
        <p:spPr>
          <a:xfrm>
            <a:off x="1047750" y="4920457"/>
            <a:ext cx="3551873" cy="341908"/>
          </a:xfrm>
          <a:prstGeom prst="rect">
            <a:avLst/>
          </a:prstGeom>
          <a:noFill/>
          <a:ln/>
        </p:spPr>
        <p:txBody>
          <a:bodyPr wrap="square" lIns="25400" tIns="25400" rIns="25400" bIns="25400" rtlCol="0" anchor="t">
            <a:normAutofit/>
          </a:bodyPr>
          <a:lstStyle/>
          <a:p>
            <a:pPr marL="0" indent="0" algn="l">
              <a:lnSpc>
                <a:spcPct val="104022"/>
              </a:lnSpc>
              <a:buNone/>
            </a:pPr>
            <a:r>
              <a:rPr lang="en-US" sz="1650" b="1" dirty="0">
                <a:solidFill>
                  <a:srgbClr val="043962"/>
                </a:solidFill>
                <a:latin typeface="Arial Black" pitchFamily="34" charset="0"/>
                <a:ea typeface="Arial Black" pitchFamily="34" charset="-122"/>
                <a:cs typeface="Arial Black" pitchFamily="34" charset="-120"/>
              </a:rPr>
              <a:t>PREDICTIVE</a:t>
            </a:r>
            <a:endParaRPr lang="en-US" sz="1650" dirty="0"/>
          </a:p>
        </p:txBody>
      </p:sp>
      <p:sp>
        <p:nvSpPr>
          <p:cNvPr id="30" name="Text 21"/>
          <p:cNvSpPr/>
          <p:nvPr/>
        </p:nvSpPr>
        <p:spPr>
          <a:xfrm>
            <a:off x="1047750" y="5224264"/>
            <a:ext cx="3551873"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Anticipation of disruption. </a:t>
            </a:r>
            <a:r>
              <a:rPr lang="en-US" sz="1350" b="1" dirty="0">
                <a:solidFill>
                  <a:srgbClr val="063C67"/>
                </a:solidFill>
                <a:latin typeface="Calibri" pitchFamily="34" charset="0"/>
                <a:ea typeface="Calibri" pitchFamily="34" charset="-122"/>
                <a:cs typeface="Calibri" pitchFamily="34" charset="-120"/>
              </a:rPr>
              <a:t>This work sits here.</a:t>
            </a:r>
            <a:endParaRPr lang="en-US" sz="1350" dirty="0"/>
          </a:p>
        </p:txBody>
      </p:sp>
      <p:sp>
        <p:nvSpPr>
          <p:cNvPr id="31" name="Shape 22"/>
          <p:cNvSpPr/>
          <p:nvPr/>
        </p:nvSpPr>
        <p:spPr>
          <a:xfrm>
            <a:off x="276225" y="5715000"/>
            <a:ext cx="5886450" cy="1057275"/>
          </a:xfrm>
          <a:prstGeom prst="rect">
            <a:avLst/>
          </a:prstGeom>
          <a:solidFill>
            <a:srgbClr val="063C67"/>
          </a:solidFill>
          <a:ln/>
        </p:spPr>
        <p:txBody>
          <a:bodyPr/>
          <a:lstStyle/>
          <a:p>
            <a:endParaRPr lang="fr-FR"/>
          </a:p>
        </p:txBody>
      </p:sp>
      <p:sp>
        <p:nvSpPr>
          <p:cNvPr id="32" name="Text 23"/>
          <p:cNvSpPr/>
          <p:nvPr/>
        </p:nvSpPr>
        <p:spPr>
          <a:xfrm>
            <a:off x="466725" y="5886450"/>
            <a:ext cx="5682044" cy="752475"/>
          </a:xfrm>
          <a:prstGeom prst="rect">
            <a:avLst/>
          </a:prstGeom>
          <a:noFill/>
          <a:ln/>
        </p:spPr>
        <p:txBody>
          <a:bodyPr wrap="square" lIns="25400" tIns="25400" rIns="25400" bIns="25400" rtlCol="0" anchor="t">
            <a:normAutofit/>
          </a:bodyPr>
          <a:lstStyle/>
          <a:p>
            <a:pPr marL="0" indent="0" algn="l">
              <a:lnSpc>
                <a:spcPct val="110455"/>
              </a:lnSpc>
              <a:buNone/>
            </a:pPr>
            <a:r>
              <a:rPr lang="en-US" sz="1350" b="1" dirty="0">
                <a:solidFill>
                  <a:srgbClr val="FFFFFF"/>
                </a:solidFill>
                <a:latin typeface="Calibri" pitchFamily="34" charset="0"/>
                <a:ea typeface="Calibri" pitchFamily="34" charset="-122"/>
                <a:cs typeface="Calibri" pitchFamily="34" charset="-120"/>
              </a:rPr>
              <a:t>DISCO is a serious game and digital twin covering 22 component suppliers. Routing, risk scoring, carbon and transport were all built by earlier internships. None computes urgency.</a:t>
            </a:r>
            <a:r>
              <a:rPr lang="en-US" sz="1350" dirty="0">
                <a:solidFill>
                  <a:srgbClr val="FFFFFF"/>
                </a:solidFill>
                <a:highlight>
                  <a:srgbClr val="063C67"/>
                </a:highlight>
                <a:latin typeface="Calibri" pitchFamily="34" charset="0"/>
                <a:ea typeface="Calibri" pitchFamily="34" charset="-122"/>
                <a:cs typeface="Calibri" pitchFamily="34" charset="-120"/>
              </a:rPr>
              <a:t/>
            </a:r>
            <a:r>
              <a:rPr lang="en-US" sz="1350" b="1" dirty="0">
                <a:solidFill>
                  <a:srgbClr val="FFDA65"/>
                </a:solidFill>
                <a:latin typeface="Calibri" pitchFamily="34" charset="0"/>
                <a:ea typeface="Calibri" pitchFamily="34" charset="-122"/>
                <a:cs typeface="Calibri" pitchFamily="34" charset="-120"/>
              </a:rPr>
              <a:t/>
            </a:r>
            <a:endParaRPr lang="en-US" sz="1350" dirty="0"/>
          </a:p>
        </p:txBody>
      </p:sp>
      <p:pic>
        <p:nvPicPr>
          <p:cNvPr id="33" name="Image 7" descr="preencoded.png"/>
          <p:cNvPicPr>
            <a:picLocks noChangeAspect="1"/>
          </p:cNvPicPr>
          <p:nvPr/>
        </p:nvPicPr>
        <p:blipFill>
          <a:blip r:embed="rId10"/>
          <a:srcRect t="-58" b="-58"/>
          <a:stretch/>
        </p:blipFill>
        <p:spPr>
          <a:xfrm>
            <a:off x="6400800" y="2495550"/>
            <a:ext cx="4667250" cy="3924300"/>
          </a:xfrm>
          <a:prstGeom prst="rect">
            <a:avLst/>
          </a:prstGeom>
        </p:spPr>
      </p:pic>
      <p:sp>
        <p:nvSpPr>
          <p:cNvPr id="34" name="Text 24"/>
          <p:cNvSpPr/>
          <p:nvPr/>
        </p:nvSpPr>
        <p:spPr>
          <a:xfrm>
            <a:off x="6400800" y="6457950"/>
            <a:ext cx="5133975"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858591"/>
                </a:solidFill>
                <a:latin typeface="Calibri" pitchFamily="34" charset="0"/>
                <a:ea typeface="Calibri" pitchFamily="34" charset="-122"/>
                <a:cs typeface="Calibri" pitchFamily="34" charset="-120"/>
              </a:rPr>
              <a:t>Players hold one node each, scored on cost, delay and carbon.</a:t>
            </a:r>
            <a:endParaRPr lang="en-US" sz="1200" dirty="0"/>
          </a:p>
        </p:txBody>
      </p:sp>
      <p:pic>
        <p:nvPicPr>
          <p:cNvPr id="35" name="Image 8" descr="preencoded.png"/>
          <p:cNvPicPr>
            <a:picLocks noChangeAspect="1"/>
          </p:cNvPicPr>
          <p:nvPr/>
        </p:nvPicPr>
        <p:blipFill>
          <a:blip r:embed="rId11"/>
          <a:stretch>
            <a:fillRect/>
          </a:stretch>
        </p:blipFill>
        <p:spPr>
          <a:xfrm>
            <a:off x="11229975" y="6567488"/>
            <a:ext cx="714375" cy="71438"/>
          </a:xfrm>
          <a:prstGeom prst="rect">
            <a:avLst/>
          </a:prstGeom>
        </p:spPr>
      </p:pic>
      <p:sp>
        <p:nvSpPr>
          <p:cNvPr id="36" name="Text 25"/>
          <p:cNvSpPr/>
          <p:nvPr/>
        </p:nvSpPr>
        <p:spPr>
          <a:xfrm>
            <a:off x="10582870" y="6465590"/>
            <a:ext cx="447080"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C0C0C8"/>
                </a:solidFill>
                <a:latin typeface="Calibri" pitchFamily="34" charset="0"/>
                <a:ea typeface="Calibri" pitchFamily="34" charset="-122"/>
                <a:cs typeface="Calibri" pitchFamily="34" charset="-120"/>
              </a:rPr>
              <a:t>3 | 20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3C67"/>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FFFFFF"/>
          </a:solidFill>
          <a:ln/>
        </p:spPr>
        <p:txBody>
          <a:bodyPr/>
          <a:lstStyle/>
          <a:p>
            <a:endParaRPr lang="fr-FR"/>
          </a:p>
        </p:txBody>
      </p:sp>
      <p:sp>
        <p:nvSpPr>
          <p:cNvPr id="3" name="Text 1"/>
          <p:cNvSpPr/>
          <p:nvPr/>
        </p:nvSpPr>
        <p:spPr>
          <a:xfrm>
            <a:off x="352425" y="171450"/>
            <a:ext cx="5862271"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FFFFFF"/>
                </a:solidFill>
                <a:latin typeface="Arial Black" pitchFamily="34" charset="0"/>
                <a:ea typeface="Arial Black" pitchFamily="34" charset="-122"/>
                <a:cs typeface="Arial Black" pitchFamily="34" charset="-120"/>
              </a:rPr>
              <a:t>THE PROBLEM, STATED</a:t>
            </a:r>
            <a:endParaRPr lang="en-US" sz="3225" dirty="0"/>
          </a:p>
        </p:txBody>
      </p:sp>
      <p:sp>
        <p:nvSpPr>
          <p:cNvPr id="4" name="Shape 2"/>
          <p:cNvSpPr/>
          <p:nvPr/>
        </p:nvSpPr>
        <p:spPr>
          <a:xfrm>
            <a:off x="352425" y="1257300"/>
            <a:ext cx="5553075" cy="935236"/>
          </a:xfrm>
          <a:prstGeom prst="rect">
            <a:avLst/>
          </a:prstGeom>
          <a:solidFill>
            <a:srgbClr val="FFFFFF">
              <a:alpha val="12000"/>
            </a:srgbClr>
          </a:solidFill>
          <a:ln/>
        </p:spPr>
        <p:txBody>
          <a:bodyPr/>
          <a:lstStyle/>
          <a:p>
            <a:endParaRPr lang="fr-FR"/>
          </a:p>
        </p:txBody>
      </p:sp>
      <p:pic>
        <p:nvPicPr>
          <p:cNvPr id="5" name="Image 0" descr="preencoded.png"/>
          <p:cNvPicPr>
            <a:picLocks noChangeAspect="1"/>
          </p:cNvPicPr>
          <p:nvPr/>
        </p:nvPicPr>
        <p:blipFill>
          <a:blip r:embed="rId3"/>
          <a:stretch>
            <a:fillRect/>
          </a:stretch>
        </p:blipFill>
        <p:spPr>
          <a:xfrm>
            <a:off x="581025" y="1505843"/>
            <a:ext cx="446187" cy="438150"/>
          </a:xfrm>
          <a:prstGeom prst="rect">
            <a:avLst/>
          </a:prstGeom>
        </p:spPr>
      </p:pic>
      <p:sp>
        <p:nvSpPr>
          <p:cNvPr id="6" name="Text 3"/>
          <p:cNvSpPr/>
          <p:nvPr/>
        </p:nvSpPr>
        <p:spPr>
          <a:xfrm>
            <a:off x="1198662" y="1447800"/>
            <a:ext cx="2338774"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7ECBEE"/>
                </a:solidFill>
                <a:latin typeface="Arial" pitchFamily="34" charset="0"/>
                <a:ea typeface="Arial" pitchFamily="34" charset="-122"/>
                <a:cs typeface="Arial" pitchFamily="34" charset="-120"/>
              </a:rPr>
              <a:t>THE TWIN HAS</a:t>
            </a:r>
            <a:endParaRPr lang="en-US" sz="1050" dirty="0"/>
          </a:p>
        </p:txBody>
      </p:sp>
      <p:sp>
        <p:nvSpPr>
          <p:cNvPr id="7" name="Text 4"/>
          <p:cNvSpPr/>
          <p:nvPr/>
        </p:nvSpPr>
        <p:spPr>
          <a:xfrm>
            <a:off x="1198662" y="1698228"/>
            <a:ext cx="2338774" cy="341908"/>
          </a:xfrm>
          <a:prstGeom prst="rect">
            <a:avLst/>
          </a:prstGeom>
          <a:noFill/>
          <a:ln/>
        </p:spPr>
        <p:txBody>
          <a:bodyPr wrap="square" lIns="25400" tIns="25400" rIns="25400" bIns="25400" rtlCol="0" anchor="t">
            <a:normAutofit/>
          </a:bodyPr>
          <a:lstStyle/>
          <a:p>
            <a:pPr marL="0" indent="0" algn="l">
              <a:lnSpc>
                <a:spcPct val="119625"/>
              </a:lnSpc>
              <a:buNone/>
            </a:pPr>
            <a:r>
              <a:rPr lang="en-US" sz="1650" b="1" dirty="0">
                <a:solidFill>
                  <a:srgbClr val="FFFFFF"/>
                </a:solidFill>
                <a:latin typeface="Calibri" pitchFamily="34" charset="0"/>
                <a:ea typeface="Calibri" pitchFamily="34" charset="-122"/>
                <a:cs typeface="Calibri" pitchFamily="34" charset="-120"/>
              </a:rPr>
              <a:t>Computed physical state</a:t>
            </a:r>
            <a:endParaRPr lang="en-US" sz="1650" dirty="0"/>
          </a:p>
        </p:txBody>
      </p:sp>
      <p:sp>
        <p:nvSpPr>
          <p:cNvPr id="8" name="Shape 5"/>
          <p:cNvSpPr/>
          <p:nvPr/>
        </p:nvSpPr>
        <p:spPr>
          <a:xfrm>
            <a:off x="6096000" y="1257300"/>
            <a:ext cx="5553075" cy="935236"/>
          </a:xfrm>
          <a:prstGeom prst="rect">
            <a:avLst/>
          </a:prstGeom>
          <a:solidFill>
            <a:srgbClr val="FFFFFF">
              <a:alpha val="12000"/>
            </a:srgbClr>
          </a:solidFill>
          <a:ln/>
        </p:spPr>
        <p:txBody>
          <a:bodyPr/>
          <a:lstStyle/>
          <a:p>
            <a:endParaRPr lang="fr-FR"/>
          </a:p>
        </p:txBody>
      </p:sp>
      <p:pic>
        <p:nvPicPr>
          <p:cNvPr id="9" name="Image 1" descr="preencoded.png"/>
          <p:cNvPicPr>
            <a:picLocks noChangeAspect="1"/>
          </p:cNvPicPr>
          <p:nvPr/>
        </p:nvPicPr>
        <p:blipFill>
          <a:blip r:embed="rId4"/>
          <a:stretch>
            <a:fillRect/>
          </a:stretch>
        </p:blipFill>
        <p:spPr>
          <a:xfrm>
            <a:off x="6324600" y="1505843"/>
            <a:ext cx="420588" cy="438150"/>
          </a:xfrm>
          <a:prstGeom prst="rect">
            <a:avLst/>
          </a:prstGeom>
        </p:spPr>
      </p:pic>
      <p:sp>
        <p:nvSpPr>
          <p:cNvPr id="10" name="Text 6"/>
          <p:cNvSpPr/>
          <p:nvPr/>
        </p:nvSpPr>
        <p:spPr>
          <a:xfrm>
            <a:off x="6916638" y="1447800"/>
            <a:ext cx="2326442"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7ECBEE"/>
                </a:solidFill>
                <a:latin typeface="Arial" pitchFamily="34" charset="0"/>
                <a:ea typeface="Arial" pitchFamily="34" charset="-122"/>
                <a:cs typeface="Arial" pitchFamily="34" charset="-120"/>
              </a:rPr>
              <a:t>THE TWIN NEVER SEES</a:t>
            </a:r>
            <a:endParaRPr lang="en-US" sz="1050" dirty="0"/>
          </a:p>
        </p:txBody>
      </p:sp>
      <p:sp>
        <p:nvSpPr>
          <p:cNvPr id="11" name="Text 7"/>
          <p:cNvSpPr/>
          <p:nvPr/>
        </p:nvSpPr>
        <p:spPr>
          <a:xfrm>
            <a:off x="6916638" y="1698228"/>
            <a:ext cx="2326442" cy="341908"/>
          </a:xfrm>
          <a:prstGeom prst="rect">
            <a:avLst/>
          </a:prstGeom>
          <a:noFill/>
          <a:ln/>
        </p:spPr>
        <p:txBody>
          <a:bodyPr wrap="square" lIns="25400" tIns="25400" rIns="25400" bIns="25400" rtlCol="0" anchor="t">
            <a:normAutofit/>
          </a:bodyPr>
          <a:lstStyle/>
          <a:p>
            <a:pPr marL="0" indent="0" algn="l">
              <a:lnSpc>
                <a:spcPct val="119625"/>
              </a:lnSpc>
              <a:buNone/>
            </a:pPr>
            <a:r>
              <a:rPr lang="en-US" sz="1650" b="1" dirty="0">
                <a:solidFill>
                  <a:srgbClr val="FFFFFF"/>
                </a:solidFill>
                <a:latin typeface="Calibri" pitchFamily="34" charset="0"/>
                <a:ea typeface="Calibri" pitchFamily="34" charset="-122"/>
                <a:cs typeface="Calibri" pitchFamily="34" charset="-120"/>
              </a:rPr>
              <a:t>The human who decides</a:t>
            </a:r>
            <a:endParaRPr lang="en-US" sz="1650" dirty="0"/>
          </a:p>
        </p:txBody>
      </p:sp>
      <p:sp>
        <p:nvSpPr>
          <p:cNvPr id="12" name="Shape 8"/>
          <p:cNvSpPr/>
          <p:nvPr/>
        </p:nvSpPr>
        <p:spPr>
          <a:xfrm>
            <a:off x="352426" y="2667000"/>
            <a:ext cx="11296650" cy="2197298"/>
          </a:xfrm>
          <a:prstGeom prst="rect">
            <a:avLst/>
          </a:prstGeom>
          <a:solidFill>
            <a:srgbClr val="FFDA65"/>
          </a:solidFill>
          <a:ln/>
        </p:spPr>
        <p:txBody>
          <a:bodyPr/>
          <a:lstStyle/>
          <a:p>
            <a:endParaRPr lang="fr-FR"/>
          </a:p>
        </p:txBody>
      </p:sp>
      <p:sp>
        <p:nvSpPr>
          <p:cNvPr id="13" name="Text 9"/>
          <p:cNvSpPr/>
          <p:nvPr/>
        </p:nvSpPr>
        <p:spPr>
          <a:xfrm>
            <a:off x="733425" y="3009900"/>
            <a:ext cx="12426315"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80" dirty="0">
                <a:solidFill>
                  <a:srgbClr val="063C67"/>
                </a:solidFill>
                <a:latin typeface="Arial" pitchFamily="34" charset="0"/>
                <a:ea typeface="Arial" pitchFamily="34" charset="-122"/>
                <a:cs typeface="Arial" pitchFamily="34" charset="-120"/>
              </a:rPr>
              <a:t>RESEARCH QUESTION</a:t>
            </a:r>
            <a:endParaRPr lang="en-US" sz="1125" dirty="0"/>
          </a:p>
        </p:txBody>
      </p:sp>
      <p:sp>
        <p:nvSpPr>
          <p:cNvPr id="14" name="Text 10"/>
          <p:cNvSpPr/>
          <p:nvPr/>
        </p:nvSpPr>
        <p:spPr>
          <a:xfrm>
            <a:off x="733425" y="3369469"/>
            <a:ext cx="10915650" cy="1190030"/>
          </a:xfrm>
          <a:prstGeom prst="rect">
            <a:avLst/>
          </a:prstGeom>
          <a:noFill/>
          <a:ln/>
        </p:spPr>
        <p:txBody>
          <a:bodyPr wrap="square" lIns="25400" tIns="25400" rIns="25400" bIns="25400" rtlCol="0" anchor="t">
            <a:normAutofit/>
          </a:bodyPr>
          <a:lstStyle/>
          <a:p>
            <a:pPr marL="0" indent="0" algn="l">
              <a:lnSpc>
                <a:spcPct val="79579"/>
              </a:lnSpc>
              <a:buNone/>
            </a:pPr>
            <a:r>
              <a:rPr lang="en-US" sz="2700" b="1" dirty="0">
                <a:solidFill>
                  <a:srgbClr val="063C67"/>
                </a:solidFill>
                <a:latin typeface="Arial Black" pitchFamily="34" charset="0"/>
                <a:ea typeface="Arial Black" pitchFamily="34" charset="-122"/>
                <a:cs typeface="Arial Black" pitchFamily="34" charset="-120"/>
              </a:rPr>
              <a:t>Can the gap between declared and computed urgency be measured reliably enough, inside a working digital twin, to be acted upon?</a:t>
            </a:r>
            <a:endParaRPr lang="en-US" sz="2700" dirty="0"/>
          </a:p>
        </p:txBody>
      </p:sp>
      <p:sp>
        <p:nvSpPr>
          <p:cNvPr id="15" name="Shape 11"/>
          <p:cNvSpPr/>
          <p:nvPr/>
        </p:nvSpPr>
        <p:spPr>
          <a:xfrm>
            <a:off x="352425" y="5048250"/>
            <a:ext cx="3625850" cy="25400"/>
          </a:xfrm>
          <a:prstGeom prst="rect">
            <a:avLst/>
          </a:prstGeom>
          <a:solidFill>
            <a:srgbClr val="7ECBEE"/>
          </a:solidFill>
          <a:ln/>
        </p:spPr>
        <p:txBody>
          <a:bodyPr/>
          <a:lstStyle/>
          <a:p>
            <a:endParaRPr lang="fr-FR"/>
          </a:p>
        </p:txBody>
      </p:sp>
      <p:pic>
        <p:nvPicPr>
          <p:cNvPr id="16" name="Image 2" descr="preencoded.png"/>
          <p:cNvPicPr>
            <a:picLocks noChangeAspect="1"/>
          </p:cNvPicPr>
          <p:nvPr/>
        </p:nvPicPr>
        <p:blipFill>
          <a:blip r:embed="rId5"/>
          <a:stretch>
            <a:fillRect/>
          </a:stretch>
        </p:blipFill>
        <p:spPr>
          <a:xfrm>
            <a:off x="352425" y="5226050"/>
            <a:ext cx="348059" cy="400050"/>
          </a:xfrm>
          <a:prstGeom prst="rect">
            <a:avLst/>
          </a:prstGeom>
        </p:spPr>
      </p:pic>
      <p:sp>
        <p:nvSpPr>
          <p:cNvPr id="17" name="Text 12"/>
          <p:cNvSpPr/>
          <p:nvPr/>
        </p:nvSpPr>
        <p:spPr>
          <a:xfrm>
            <a:off x="852884" y="5226050"/>
            <a:ext cx="3150781" cy="282377"/>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FFFFFF"/>
                </a:solidFill>
                <a:latin typeface="Calibri" pitchFamily="34" charset="0"/>
                <a:ea typeface="Calibri" pitchFamily="34" charset="-122"/>
                <a:cs typeface="Calibri" pitchFamily="34" charset="-120"/>
              </a:rPr>
              <a:t>It must say </a:t>
            </a:r>
            <a:r>
              <a:rPr lang="en-US" sz="1425" b="1" dirty="0">
                <a:solidFill>
                  <a:srgbClr val="FFFFFF"/>
                </a:solidFill>
                <a:latin typeface="Calibri" pitchFamily="34" charset="0"/>
                <a:ea typeface="Calibri" pitchFamily="34" charset="-122"/>
                <a:cs typeface="Calibri" pitchFamily="34" charset="-120"/>
              </a:rPr>
              <a:t>which node is mismanaged</a:t>
            </a:r>
            <a:endParaRPr lang="en-US" sz="1425" dirty="0"/>
          </a:p>
        </p:txBody>
      </p:sp>
      <p:sp>
        <p:nvSpPr>
          <p:cNvPr id="18" name="Shape 13"/>
          <p:cNvSpPr/>
          <p:nvPr/>
        </p:nvSpPr>
        <p:spPr>
          <a:xfrm>
            <a:off x="4187825" y="5048250"/>
            <a:ext cx="3625850" cy="25400"/>
          </a:xfrm>
          <a:prstGeom prst="rect">
            <a:avLst/>
          </a:prstGeom>
          <a:solidFill>
            <a:srgbClr val="7ECBEE"/>
          </a:solidFill>
          <a:ln/>
        </p:spPr>
        <p:txBody>
          <a:bodyPr/>
          <a:lstStyle/>
          <a:p>
            <a:endParaRPr lang="fr-FR"/>
          </a:p>
        </p:txBody>
      </p:sp>
      <p:pic>
        <p:nvPicPr>
          <p:cNvPr id="19" name="Image 3" descr="preencoded.png"/>
          <p:cNvPicPr>
            <a:picLocks noChangeAspect="1"/>
          </p:cNvPicPr>
          <p:nvPr/>
        </p:nvPicPr>
        <p:blipFill>
          <a:blip r:embed="rId6"/>
          <a:stretch>
            <a:fillRect/>
          </a:stretch>
        </p:blipFill>
        <p:spPr>
          <a:xfrm>
            <a:off x="4187825" y="5226050"/>
            <a:ext cx="350341" cy="400050"/>
          </a:xfrm>
          <a:prstGeom prst="rect">
            <a:avLst/>
          </a:prstGeom>
        </p:spPr>
      </p:pic>
      <p:sp>
        <p:nvSpPr>
          <p:cNvPr id="20" name="Text 14"/>
          <p:cNvSpPr/>
          <p:nvPr/>
        </p:nvSpPr>
        <p:spPr>
          <a:xfrm>
            <a:off x="4690567" y="5226050"/>
            <a:ext cx="3216802"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FFFFFF"/>
                </a:solidFill>
                <a:latin typeface="Calibri" pitchFamily="34" charset="0"/>
                <a:ea typeface="Calibri" pitchFamily="34" charset="-122"/>
                <a:cs typeface="Calibri" pitchFamily="34" charset="-120"/>
              </a:rPr>
              <a:t>The adequacy score must be </a:t>
            </a:r>
            <a:r>
              <a:rPr lang="en-US" sz="1425" b="1" dirty="0">
                <a:solidFill>
                  <a:srgbClr val="FFFFFF"/>
                </a:solidFill>
                <a:latin typeface="Calibri" pitchFamily="34" charset="0"/>
                <a:ea typeface="Calibri" pitchFamily="34" charset="-122"/>
                <a:cs typeface="Calibri" pitchFamily="34" charset="-120"/>
              </a:rPr>
              <a:t>reliable and explainable.</a:t>
            </a:r>
            <a:endParaRPr lang="en-US" sz="1425" dirty="0"/>
          </a:p>
        </p:txBody>
      </p:sp>
      <p:sp>
        <p:nvSpPr>
          <p:cNvPr id="21" name="Shape 15"/>
          <p:cNvSpPr/>
          <p:nvPr/>
        </p:nvSpPr>
        <p:spPr>
          <a:xfrm>
            <a:off x="8023225" y="5048250"/>
            <a:ext cx="3625850" cy="25400"/>
          </a:xfrm>
          <a:prstGeom prst="rect">
            <a:avLst/>
          </a:prstGeom>
          <a:solidFill>
            <a:srgbClr val="FFDA65"/>
          </a:solidFill>
          <a:ln/>
        </p:spPr>
        <p:txBody>
          <a:bodyPr/>
          <a:lstStyle/>
          <a:p>
            <a:endParaRPr lang="fr-FR"/>
          </a:p>
        </p:txBody>
      </p:sp>
      <p:pic>
        <p:nvPicPr>
          <p:cNvPr id="22" name="Image 4" descr="preencoded.png"/>
          <p:cNvPicPr>
            <a:picLocks noChangeAspect="1"/>
          </p:cNvPicPr>
          <p:nvPr/>
        </p:nvPicPr>
        <p:blipFill>
          <a:blip r:embed="rId7"/>
          <a:stretch>
            <a:fillRect/>
          </a:stretch>
        </p:blipFill>
        <p:spPr>
          <a:xfrm>
            <a:off x="8023225" y="5226050"/>
            <a:ext cx="488454" cy="400050"/>
          </a:xfrm>
          <a:prstGeom prst="rect">
            <a:avLst/>
          </a:prstGeom>
        </p:spPr>
      </p:pic>
      <p:sp>
        <p:nvSpPr>
          <p:cNvPr id="23" name="Text 16"/>
          <p:cNvSpPr/>
          <p:nvPr/>
        </p:nvSpPr>
        <p:spPr>
          <a:xfrm>
            <a:off x="8664079" y="5226050"/>
            <a:ext cx="3074546"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FFFFFF"/>
                </a:solidFill>
                <a:latin typeface="Calibri" pitchFamily="34" charset="0"/>
                <a:ea typeface="Calibri" pitchFamily="34" charset="-122"/>
                <a:cs typeface="Calibri" pitchFamily="34" charset="-120"/>
              </a:rPr>
              <a:t>Must </a:t>
            </a:r>
            <a:r>
              <a:rPr lang="en-US" sz="1425" b="1" dirty="0">
                <a:solidFill>
                  <a:srgbClr val="FFFFFF"/>
                </a:solidFill>
                <a:latin typeface="Calibri" pitchFamily="34" charset="0"/>
                <a:ea typeface="Calibri" pitchFamily="34" charset="-122"/>
                <a:cs typeface="Calibri" pitchFamily="34" charset="-120"/>
              </a:rPr>
              <a:t>beat the raw indicators </a:t>
            </a:r>
            <a:r>
              <a:rPr lang="en-US" sz="1425" dirty="0">
                <a:solidFill>
                  <a:srgbClr val="FFFFFF"/>
                </a:solidFill>
                <a:latin typeface="Calibri" pitchFamily="34" charset="0"/>
                <a:ea typeface="Calibri" pitchFamily="34" charset="-122"/>
                <a:cs typeface="Calibri" pitchFamily="34" charset="-120"/>
              </a:rPr>
              <a:t>a coordinator already has</a:t>
            </a:r>
            <a:endParaRPr lang="en-US" sz="1425" dirty="0"/>
          </a:p>
        </p:txBody>
      </p:sp>
      <p:pic>
        <p:nvPicPr>
          <p:cNvPr id="24" name="Image 5" descr="preencoded.png"/>
          <p:cNvPicPr>
            <a:picLocks noChangeAspect="1"/>
          </p:cNvPicPr>
          <p:nvPr/>
        </p:nvPicPr>
        <p:blipFill>
          <a:blip r:embed="rId8"/>
          <a:stretch>
            <a:fillRect/>
          </a:stretch>
        </p:blipFill>
        <p:spPr>
          <a:xfrm>
            <a:off x="11229975" y="6567488"/>
            <a:ext cx="714375" cy="71438"/>
          </a:xfrm>
          <a:prstGeom prst="rect">
            <a:avLst/>
          </a:prstGeom>
        </p:spPr>
      </p:pic>
      <p:sp>
        <p:nvSpPr>
          <p:cNvPr id="25" name="Text 17"/>
          <p:cNvSpPr/>
          <p:nvPr/>
        </p:nvSpPr>
        <p:spPr>
          <a:xfrm>
            <a:off x="10582870" y="6465590"/>
            <a:ext cx="447080"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7ECBEE"/>
                </a:solidFill>
                <a:latin typeface="Calibri" pitchFamily="34" charset="0"/>
                <a:ea typeface="Calibri" pitchFamily="34" charset="-122"/>
                <a:cs typeface="Calibri" pitchFamily="34" charset="-120"/>
              </a:rPr>
              <a:t>4 | 20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6827292"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THE LITERATURE GAP</a:t>
            </a:r>
            <a:endParaRPr lang="en-US" sz="3225" dirty="0"/>
          </a:p>
        </p:txBody>
      </p:sp>
      <p:sp>
        <p:nvSpPr>
          <p:cNvPr id="4" name="Text 2"/>
          <p:cNvSpPr/>
          <p:nvPr/>
        </p:nvSpPr>
        <p:spPr>
          <a:xfrm>
            <a:off x="352425" y="666750"/>
            <a:ext cx="1513453"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What is new ?</a:t>
            </a:r>
            <a:endParaRPr lang="en-US" sz="1725" dirty="0"/>
          </a:p>
        </p:txBody>
      </p:sp>
      <p:sp>
        <p:nvSpPr>
          <p:cNvPr id="5" name="Text 3"/>
          <p:cNvSpPr/>
          <p:nvPr/>
        </p:nvSpPr>
        <p:spPr>
          <a:xfrm>
            <a:off x="352425" y="1428750"/>
            <a:ext cx="686752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PUBLISHED RESEARCH</a:t>
            </a:r>
            <a:endParaRPr lang="en-US" sz="1050" dirty="0"/>
          </a:p>
        </p:txBody>
      </p:sp>
      <p:sp>
        <p:nvSpPr>
          <p:cNvPr id="6" name="Shape 4"/>
          <p:cNvSpPr/>
          <p:nvPr/>
        </p:nvSpPr>
        <p:spPr>
          <a:xfrm>
            <a:off x="352425" y="1717278"/>
            <a:ext cx="6667500" cy="533400"/>
          </a:xfrm>
          <a:prstGeom prst="rect">
            <a:avLst/>
          </a:prstGeom>
          <a:solidFill>
            <a:srgbClr val="F4F4F6"/>
          </a:solidFill>
          <a:ln/>
        </p:spPr>
        <p:txBody>
          <a:bodyPr/>
          <a:lstStyle/>
          <a:p>
            <a:endParaRPr lang="fr-FR"/>
          </a:p>
        </p:txBody>
      </p:sp>
      <p:pic>
        <p:nvPicPr>
          <p:cNvPr id="7" name="Image 0" descr="preencoded.png"/>
          <p:cNvPicPr>
            <a:picLocks noChangeAspect="1"/>
          </p:cNvPicPr>
          <p:nvPr/>
        </p:nvPicPr>
        <p:blipFill>
          <a:blip r:embed="rId3"/>
          <a:stretch>
            <a:fillRect/>
          </a:stretch>
        </p:blipFill>
        <p:spPr>
          <a:xfrm>
            <a:off x="485775" y="1822053"/>
            <a:ext cx="273050" cy="323850"/>
          </a:xfrm>
          <a:prstGeom prst="rect">
            <a:avLst/>
          </a:prstGeom>
        </p:spPr>
      </p:pic>
      <p:sp>
        <p:nvSpPr>
          <p:cNvPr id="8" name="Text 5"/>
          <p:cNvSpPr/>
          <p:nvPr/>
        </p:nvSpPr>
        <p:spPr>
          <a:xfrm>
            <a:off x="892175" y="1859657"/>
            <a:ext cx="424884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Deadline-driven value. </a:t>
            </a:r>
            <a:r>
              <a:rPr lang="en-US" sz="1350" dirty="0">
                <a:solidFill>
                  <a:srgbClr val="063C67"/>
                </a:solidFill>
                <a:latin typeface="Calibri" pitchFamily="34" charset="0"/>
                <a:ea typeface="Calibri" pitchFamily="34" charset="-122"/>
                <a:cs typeface="Calibri" pitchFamily="34" charset="-120"/>
              </a:rPr>
              <a:t>Time-varying, but one task only.</a:t>
            </a:r>
            <a:endParaRPr lang="en-US" sz="1350" dirty="0"/>
          </a:p>
        </p:txBody>
      </p:sp>
      <p:sp>
        <p:nvSpPr>
          <p:cNvPr id="9" name="Shape 6"/>
          <p:cNvSpPr/>
          <p:nvPr/>
        </p:nvSpPr>
        <p:spPr>
          <a:xfrm>
            <a:off x="352425" y="2336403"/>
            <a:ext cx="6667500" cy="533400"/>
          </a:xfrm>
          <a:prstGeom prst="rect">
            <a:avLst/>
          </a:prstGeom>
          <a:solidFill>
            <a:srgbClr val="F4F4F6"/>
          </a:solidFill>
          <a:ln/>
        </p:spPr>
        <p:txBody>
          <a:bodyPr/>
          <a:lstStyle/>
          <a:p>
            <a:endParaRPr lang="fr-FR"/>
          </a:p>
        </p:txBody>
      </p:sp>
      <p:pic>
        <p:nvPicPr>
          <p:cNvPr id="10" name="Image 1" descr="preencoded.png"/>
          <p:cNvPicPr>
            <a:picLocks noChangeAspect="1"/>
          </p:cNvPicPr>
          <p:nvPr/>
        </p:nvPicPr>
        <p:blipFill>
          <a:blip r:embed="rId4"/>
          <a:stretch>
            <a:fillRect/>
          </a:stretch>
        </p:blipFill>
        <p:spPr>
          <a:xfrm>
            <a:off x="485775" y="2441178"/>
            <a:ext cx="323850" cy="323850"/>
          </a:xfrm>
          <a:prstGeom prst="rect">
            <a:avLst/>
          </a:prstGeom>
        </p:spPr>
      </p:pic>
      <p:sp>
        <p:nvSpPr>
          <p:cNvPr id="11" name="Text 7"/>
          <p:cNvSpPr/>
          <p:nvPr/>
        </p:nvSpPr>
        <p:spPr>
          <a:xfrm>
            <a:off x="942975" y="2478782"/>
            <a:ext cx="4607699"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Ripple effect. </a:t>
            </a:r>
            <a:r>
              <a:rPr lang="en-US" sz="1350" dirty="0">
                <a:solidFill>
                  <a:srgbClr val="063C67"/>
                </a:solidFill>
                <a:latin typeface="Calibri" pitchFamily="34" charset="0"/>
                <a:ea typeface="Calibri" pitchFamily="34" charset="-122"/>
                <a:cs typeface="Calibri" pitchFamily="34" charset="-120"/>
              </a:rPr>
              <a:t>Propagates, but takes the node score as given.</a:t>
            </a:r>
            <a:endParaRPr lang="en-US" sz="1350" dirty="0"/>
          </a:p>
        </p:txBody>
      </p:sp>
      <p:sp>
        <p:nvSpPr>
          <p:cNvPr id="12" name="Shape 8"/>
          <p:cNvSpPr/>
          <p:nvPr/>
        </p:nvSpPr>
        <p:spPr>
          <a:xfrm>
            <a:off x="352425" y="2955528"/>
            <a:ext cx="6667500" cy="533400"/>
          </a:xfrm>
          <a:prstGeom prst="rect">
            <a:avLst/>
          </a:prstGeom>
          <a:solidFill>
            <a:srgbClr val="F4F4F6"/>
          </a:solidFill>
          <a:ln/>
        </p:spPr>
        <p:txBody>
          <a:bodyPr/>
          <a:lstStyle/>
          <a:p>
            <a:endParaRPr lang="fr-FR"/>
          </a:p>
        </p:txBody>
      </p:sp>
      <p:pic>
        <p:nvPicPr>
          <p:cNvPr id="13" name="Image 2" descr="preencoded.png"/>
          <p:cNvPicPr>
            <a:picLocks noChangeAspect="1"/>
          </p:cNvPicPr>
          <p:nvPr/>
        </p:nvPicPr>
        <p:blipFill>
          <a:blip r:embed="rId5"/>
          <a:stretch>
            <a:fillRect/>
          </a:stretch>
        </p:blipFill>
        <p:spPr>
          <a:xfrm>
            <a:off x="485775" y="3060303"/>
            <a:ext cx="458788" cy="323850"/>
          </a:xfrm>
          <a:prstGeom prst="rect">
            <a:avLst/>
          </a:prstGeom>
        </p:spPr>
      </p:pic>
      <p:sp>
        <p:nvSpPr>
          <p:cNvPr id="14" name="Text 9"/>
          <p:cNvSpPr/>
          <p:nvPr/>
        </p:nvSpPr>
        <p:spPr>
          <a:xfrm>
            <a:off x="1077913" y="3097907"/>
            <a:ext cx="4791274"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Rupture indicators. </a:t>
            </a:r>
            <a:r>
              <a:rPr lang="en-US" sz="1350" dirty="0">
                <a:solidFill>
                  <a:srgbClr val="063C67"/>
                </a:solidFill>
                <a:latin typeface="Calibri" pitchFamily="34" charset="0"/>
                <a:ea typeface="Calibri" pitchFamily="34" charset="-122"/>
                <a:cs typeface="Calibri" pitchFamily="34" charset="-120"/>
              </a:rPr>
              <a:t>Monitored one at a time, never combined.</a:t>
            </a:r>
            <a:endParaRPr lang="en-US" sz="1350" dirty="0"/>
          </a:p>
        </p:txBody>
      </p:sp>
      <p:sp>
        <p:nvSpPr>
          <p:cNvPr id="15" name="Shape 10"/>
          <p:cNvSpPr/>
          <p:nvPr/>
        </p:nvSpPr>
        <p:spPr>
          <a:xfrm>
            <a:off x="352425" y="3574653"/>
            <a:ext cx="6667500" cy="533400"/>
          </a:xfrm>
          <a:prstGeom prst="rect">
            <a:avLst/>
          </a:prstGeom>
          <a:solidFill>
            <a:srgbClr val="F4F4F6"/>
          </a:solidFill>
          <a:ln/>
        </p:spPr>
        <p:txBody>
          <a:bodyPr/>
          <a:lstStyle/>
          <a:p>
            <a:endParaRPr lang="fr-FR"/>
          </a:p>
        </p:txBody>
      </p:sp>
      <p:pic>
        <p:nvPicPr>
          <p:cNvPr id="16" name="Image 3" descr="preencoded.png"/>
          <p:cNvPicPr>
            <a:picLocks noChangeAspect="1"/>
          </p:cNvPicPr>
          <p:nvPr/>
        </p:nvPicPr>
        <p:blipFill>
          <a:blip r:embed="rId6"/>
          <a:stretch>
            <a:fillRect/>
          </a:stretch>
        </p:blipFill>
        <p:spPr>
          <a:xfrm>
            <a:off x="485775" y="3679428"/>
            <a:ext cx="310852" cy="323850"/>
          </a:xfrm>
          <a:prstGeom prst="rect">
            <a:avLst/>
          </a:prstGeom>
        </p:spPr>
      </p:pic>
      <p:sp>
        <p:nvSpPr>
          <p:cNvPr id="17" name="Text 11"/>
          <p:cNvSpPr/>
          <p:nvPr/>
        </p:nvSpPr>
        <p:spPr>
          <a:xfrm>
            <a:off x="929977" y="3717032"/>
            <a:ext cx="48380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Cognitive bias. </a:t>
            </a:r>
            <a:r>
              <a:rPr lang="en-US" sz="1350" dirty="0">
                <a:solidFill>
                  <a:srgbClr val="063C67"/>
                </a:solidFill>
                <a:latin typeface="Calibri" pitchFamily="34" charset="0"/>
                <a:ea typeface="Calibri" pitchFamily="34" charset="-122"/>
                <a:cs typeface="Calibri" pitchFamily="34" charset="-120"/>
              </a:rPr>
              <a:t>Quantified in the lab, no operational correction.</a:t>
            </a:r>
            <a:endParaRPr lang="en-US" sz="1350" dirty="0"/>
          </a:p>
        </p:txBody>
      </p:sp>
      <p:sp>
        <p:nvSpPr>
          <p:cNvPr id="18" name="Shape 12"/>
          <p:cNvSpPr/>
          <p:nvPr/>
        </p:nvSpPr>
        <p:spPr>
          <a:xfrm>
            <a:off x="352425" y="4193778"/>
            <a:ext cx="6667500" cy="533400"/>
          </a:xfrm>
          <a:prstGeom prst="rect">
            <a:avLst/>
          </a:prstGeom>
          <a:solidFill>
            <a:srgbClr val="F4F4F6"/>
          </a:solidFill>
          <a:ln/>
        </p:spPr>
        <p:txBody>
          <a:bodyPr/>
          <a:lstStyle/>
          <a:p>
            <a:endParaRPr lang="fr-FR"/>
          </a:p>
        </p:txBody>
      </p:sp>
      <p:pic>
        <p:nvPicPr>
          <p:cNvPr id="19" name="Image 4" descr="preencoded.png"/>
          <p:cNvPicPr>
            <a:picLocks noChangeAspect="1"/>
          </p:cNvPicPr>
          <p:nvPr/>
        </p:nvPicPr>
        <p:blipFill>
          <a:blip r:embed="rId7"/>
          <a:stretch>
            <a:fillRect/>
          </a:stretch>
        </p:blipFill>
        <p:spPr>
          <a:xfrm>
            <a:off x="485775" y="4298553"/>
            <a:ext cx="323850" cy="323850"/>
          </a:xfrm>
          <a:prstGeom prst="rect">
            <a:avLst/>
          </a:prstGeom>
        </p:spPr>
      </p:pic>
      <p:sp>
        <p:nvSpPr>
          <p:cNvPr id="20" name="Text 13"/>
          <p:cNvSpPr/>
          <p:nvPr/>
        </p:nvSpPr>
        <p:spPr>
          <a:xfrm>
            <a:off x="942975" y="4336157"/>
            <a:ext cx="5764699"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AHP, BWM, PROMETHEE. </a:t>
            </a:r>
            <a:r>
              <a:rPr lang="en-US" sz="1350" dirty="0">
                <a:solidFill>
                  <a:srgbClr val="063C67"/>
                </a:solidFill>
                <a:latin typeface="Calibri" pitchFamily="34" charset="0"/>
                <a:ea typeface="Calibri" pitchFamily="34" charset="-122"/>
                <a:cs typeface="Calibri" pitchFamily="34" charset="-120"/>
              </a:rPr>
              <a:t>Static, and never compared to a computed value.</a:t>
            </a:r>
            <a:endParaRPr lang="en-US" sz="1350" dirty="0"/>
          </a:p>
        </p:txBody>
      </p:sp>
      <p:sp>
        <p:nvSpPr>
          <p:cNvPr id="21" name="Shape 14"/>
          <p:cNvSpPr/>
          <p:nvPr/>
        </p:nvSpPr>
        <p:spPr>
          <a:xfrm>
            <a:off x="352425" y="4812903"/>
            <a:ext cx="6667500" cy="533400"/>
          </a:xfrm>
          <a:prstGeom prst="rect">
            <a:avLst/>
          </a:prstGeom>
          <a:solidFill>
            <a:srgbClr val="F4F4F6"/>
          </a:solidFill>
          <a:ln/>
        </p:spPr>
        <p:txBody>
          <a:bodyPr/>
          <a:lstStyle/>
          <a:p>
            <a:endParaRPr lang="fr-FR"/>
          </a:p>
        </p:txBody>
      </p:sp>
      <p:pic>
        <p:nvPicPr>
          <p:cNvPr id="22" name="Image 5" descr="preencoded.png"/>
          <p:cNvPicPr>
            <a:picLocks noChangeAspect="1"/>
          </p:cNvPicPr>
          <p:nvPr/>
        </p:nvPicPr>
        <p:blipFill>
          <a:blip r:embed="rId8"/>
          <a:stretch>
            <a:fillRect/>
          </a:stretch>
        </p:blipFill>
        <p:spPr>
          <a:xfrm>
            <a:off x="485775" y="4917678"/>
            <a:ext cx="364034" cy="323850"/>
          </a:xfrm>
          <a:prstGeom prst="rect">
            <a:avLst/>
          </a:prstGeom>
        </p:spPr>
      </p:pic>
      <p:sp>
        <p:nvSpPr>
          <p:cNvPr id="23" name="Text 15"/>
          <p:cNvSpPr/>
          <p:nvPr/>
        </p:nvSpPr>
        <p:spPr>
          <a:xfrm>
            <a:off x="983159" y="4955282"/>
            <a:ext cx="4976158"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Digital twins. </a:t>
            </a:r>
            <a:r>
              <a:rPr lang="en-US" sz="1350" dirty="0">
                <a:solidFill>
                  <a:srgbClr val="063C67"/>
                </a:solidFill>
                <a:latin typeface="Calibri" pitchFamily="34" charset="0"/>
                <a:ea typeface="Calibri" pitchFamily="34" charset="-122"/>
                <a:cs typeface="Calibri" pitchFamily="34" charset="-120"/>
              </a:rPr>
              <a:t>Scored on state; their inputs are assumed to arrive.</a:t>
            </a:r>
            <a:endParaRPr lang="en-US" sz="1350" dirty="0"/>
          </a:p>
        </p:txBody>
      </p:sp>
      <p:sp>
        <p:nvSpPr>
          <p:cNvPr id="24" name="Text 16"/>
          <p:cNvSpPr/>
          <p:nvPr/>
        </p:nvSpPr>
        <p:spPr>
          <a:xfrm>
            <a:off x="7381875" y="1428750"/>
            <a:ext cx="4395216"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THE PATENT RECORD: THREE LINES</a:t>
            </a:r>
            <a:endParaRPr lang="en-US" sz="1050" dirty="0"/>
          </a:p>
        </p:txBody>
      </p:sp>
      <p:sp>
        <p:nvSpPr>
          <p:cNvPr id="25" name="Shape 17"/>
          <p:cNvSpPr/>
          <p:nvPr/>
        </p:nvSpPr>
        <p:spPr>
          <a:xfrm>
            <a:off x="7381875" y="1717278"/>
            <a:ext cx="4267200" cy="744736"/>
          </a:xfrm>
          <a:prstGeom prst="rect">
            <a:avLst/>
          </a:prstGeom>
          <a:solidFill>
            <a:srgbClr val="E9F5FB"/>
          </a:solidFill>
          <a:ln/>
        </p:spPr>
        <p:txBody>
          <a:bodyPr/>
          <a:lstStyle/>
          <a:p>
            <a:endParaRPr lang="fr-FR"/>
          </a:p>
        </p:txBody>
      </p:sp>
      <p:sp>
        <p:nvSpPr>
          <p:cNvPr id="26" name="Text 18"/>
          <p:cNvSpPr/>
          <p:nvPr/>
        </p:nvSpPr>
        <p:spPr>
          <a:xfrm>
            <a:off x="7534275" y="1841103"/>
            <a:ext cx="4090416" cy="535186"/>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IBM. </a:t>
            </a:r>
            <a:r>
              <a:rPr lang="en-US" sz="1350" dirty="0">
                <a:solidFill>
                  <a:srgbClr val="063C67"/>
                </a:solidFill>
                <a:highlight>
                  <a:srgbClr val="E9F5FB"/>
                </a:highlight>
                <a:latin typeface="Calibri" pitchFamily="34" charset="0"/>
                <a:ea typeface="Calibri" pitchFamily="34" charset="-122"/>
                <a:cs typeface="Calibri" pitchFamily="34" charset="-120"/>
              </a:rPr>
              <a:t>Revenue at risk from measured inputs. No operator opinion anywhere in the claims.</a:t>
            </a:r>
            <a:endParaRPr lang="en-US" sz="1350" dirty="0"/>
          </a:p>
        </p:txBody>
      </p:sp>
      <p:sp>
        <p:nvSpPr>
          <p:cNvPr id="27" name="Shape 19"/>
          <p:cNvSpPr/>
          <p:nvPr/>
        </p:nvSpPr>
        <p:spPr>
          <a:xfrm>
            <a:off x="7381875" y="2547739"/>
            <a:ext cx="4267200" cy="744736"/>
          </a:xfrm>
          <a:prstGeom prst="rect">
            <a:avLst/>
          </a:prstGeom>
          <a:solidFill>
            <a:srgbClr val="E9F5FB"/>
          </a:solidFill>
          <a:ln/>
        </p:spPr>
        <p:txBody>
          <a:bodyPr/>
          <a:lstStyle/>
          <a:p>
            <a:endParaRPr lang="fr-FR"/>
          </a:p>
        </p:txBody>
      </p:sp>
      <p:sp>
        <p:nvSpPr>
          <p:cNvPr id="28" name="Text 20"/>
          <p:cNvSpPr/>
          <p:nvPr/>
        </p:nvSpPr>
        <p:spPr>
          <a:xfrm>
            <a:off x="7534275" y="2671564"/>
            <a:ext cx="4090416" cy="535186"/>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Wipro. </a:t>
            </a:r>
            <a:r>
              <a:rPr lang="en-US" sz="1350" dirty="0">
                <a:solidFill>
                  <a:srgbClr val="063C67"/>
                </a:solidFill>
                <a:highlight>
                  <a:srgbClr val="E9F5FB"/>
                </a:highlight>
                <a:latin typeface="Calibri" pitchFamily="34" charset="0"/>
                <a:ea typeface="Calibri" pitchFamily="34" charset="-122"/>
                <a:cs typeface="Calibri" pitchFamily="34" charset="-120"/>
              </a:rPr>
              <a:t>Inputs replaced by language. The human narrates; nothing evaluates the narration.</a:t>
            </a:r>
            <a:endParaRPr lang="en-US" sz="1350" dirty="0"/>
          </a:p>
        </p:txBody>
      </p:sp>
      <p:sp>
        <p:nvSpPr>
          <p:cNvPr id="29" name="Shape 21"/>
          <p:cNvSpPr/>
          <p:nvPr/>
        </p:nvSpPr>
        <p:spPr>
          <a:xfrm>
            <a:off x="7381875" y="3378200"/>
            <a:ext cx="4267200" cy="744736"/>
          </a:xfrm>
          <a:prstGeom prst="rect">
            <a:avLst/>
          </a:prstGeom>
          <a:solidFill>
            <a:srgbClr val="E9F5FB"/>
          </a:solidFill>
          <a:ln/>
        </p:spPr>
        <p:txBody>
          <a:bodyPr/>
          <a:lstStyle/>
          <a:p>
            <a:endParaRPr lang="fr-FR"/>
          </a:p>
        </p:txBody>
      </p:sp>
      <p:sp>
        <p:nvSpPr>
          <p:cNvPr id="30" name="Text 22"/>
          <p:cNvSpPr/>
          <p:nvPr/>
        </p:nvSpPr>
        <p:spPr>
          <a:xfrm>
            <a:off x="7534275" y="3502025"/>
            <a:ext cx="4090416" cy="535186"/>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Digital twin control tower. </a:t>
            </a:r>
            <a:r>
              <a:rPr lang="en-US" sz="1350" dirty="0">
                <a:solidFill>
                  <a:srgbClr val="063C67"/>
                </a:solidFill>
                <a:highlight>
                  <a:srgbClr val="E9F5FB"/>
                </a:highlight>
                <a:latin typeface="Calibri" pitchFamily="34" charset="0"/>
                <a:ea typeface="Calibri" pitchFamily="34" charset="-122"/>
                <a:cs typeface="Calibri" pitchFamily="34" charset="-120"/>
              </a:rPr>
              <a:t>Oriented to automation. The operator receives decisions.</a:t>
            </a:r>
            <a:endParaRPr lang="en-US" sz="1350" dirty="0"/>
          </a:p>
        </p:txBody>
      </p:sp>
      <p:pic>
        <p:nvPicPr>
          <p:cNvPr id="31" name="Image 6" descr="preencoded.png"/>
          <p:cNvPicPr>
            <a:picLocks noChangeAspect="1"/>
          </p:cNvPicPr>
          <p:nvPr/>
        </p:nvPicPr>
        <p:blipFill>
          <a:blip r:embed="rId9"/>
          <a:stretch>
            <a:fillRect/>
          </a:stretch>
        </p:blipFill>
        <p:spPr>
          <a:xfrm>
            <a:off x="7381875" y="4275336"/>
            <a:ext cx="183158" cy="285750"/>
          </a:xfrm>
          <a:prstGeom prst="rect">
            <a:avLst/>
          </a:prstGeom>
        </p:spPr>
      </p:pic>
      <p:sp>
        <p:nvSpPr>
          <p:cNvPr id="32" name="Text 23"/>
          <p:cNvSpPr/>
          <p:nvPr/>
        </p:nvSpPr>
        <p:spPr>
          <a:xfrm>
            <a:off x="7698383" y="4313138"/>
            <a:ext cx="3888020" cy="247650"/>
          </a:xfrm>
          <a:prstGeom prst="rect">
            <a:avLst/>
          </a:prstGeom>
          <a:noFill/>
          <a:ln/>
        </p:spPr>
        <p:txBody>
          <a:bodyPr wrap="square" lIns="0" tIns="0" rIns="0" bIns="0" rtlCol="0" anchor="t">
            <a:normAutofit/>
          </a:bodyPr>
          <a:lstStyle/>
          <a:p>
            <a:pPr marL="0" indent="0" algn="l">
              <a:lnSpc>
                <a:spcPct val="106364"/>
              </a:lnSpc>
              <a:buNone/>
            </a:pPr>
            <a:r>
              <a:rPr lang="en-US" sz="1350" dirty="0">
                <a:solidFill>
                  <a:srgbClr val="858591"/>
                </a:solidFill>
                <a:latin typeface="Calibri" pitchFamily="34" charset="0"/>
                <a:ea typeface="Calibri" pitchFamily="34" charset="-122"/>
                <a:cs typeface="Calibri" pitchFamily="34" charset="-120"/>
              </a:rPr>
              <a:t>Fifteen years running away from the human declarant.</a:t>
            </a:r>
            <a:endParaRPr lang="en-US" sz="1350" dirty="0"/>
          </a:p>
        </p:txBody>
      </p:sp>
      <p:sp>
        <p:nvSpPr>
          <p:cNvPr id="33" name="Shape 24"/>
          <p:cNvSpPr/>
          <p:nvPr/>
        </p:nvSpPr>
        <p:spPr>
          <a:xfrm>
            <a:off x="323850" y="5495925"/>
            <a:ext cx="11858625" cy="866775"/>
          </a:xfrm>
          <a:prstGeom prst="rect">
            <a:avLst/>
          </a:prstGeom>
          <a:solidFill>
            <a:srgbClr val="063C67"/>
          </a:solidFill>
          <a:ln/>
        </p:spPr>
        <p:txBody>
          <a:bodyPr/>
          <a:lstStyle/>
          <a:p>
            <a:endParaRPr lang="fr-FR"/>
          </a:p>
        </p:txBody>
      </p:sp>
      <p:pic>
        <p:nvPicPr>
          <p:cNvPr id="34" name="Image 7" descr="preencoded.png"/>
          <p:cNvPicPr>
            <a:picLocks noChangeAspect="1"/>
          </p:cNvPicPr>
          <p:nvPr/>
        </p:nvPicPr>
        <p:blipFill>
          <a:blip r:embed="rId10"/>
          <a:stretch>
            <a:fillRect/>
          </a:stretch>
        </p:blipFill>
        <p:spPr>
          <a:xfrm>
            <a:off x="590550" y="5672138"/>
            <a:ext cx="481012" cy="514350"/>
          </a:xfrm>
          <a:prstGeom prst="rect">
            <a:avLst/>
          </a:prstGeom>
        </p:spPr>
      </p:pic>
      <p:sp>
        <p:nvSpPr>
          <p:cNvPr id="35" name="Text 25"/>
          <p:cNvSpPr/>
          <p:nvPr/>
        </p:nvSpPr>
        <p:spPr>
          <a:xfrm>
            <a:off x="1300163" y="5529362"/>
            <a:ext cx="11677174"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FFDA65"/>
                </a:solidFill>
                <a:latin typeface="Arial" pitchFamily="34" charset="0"/>
                <a:ea typeface="Arial" pitchFamily="34" charset="-122"/>
                <a:cs typeface="Arial" pitchFamily="34" charset="-120"/>
              </a:rPr>
              <a:t>THE GAP</a:t>
            </a:r>
            <a:endParaRPr lang="en-US" sz="1050" dirty="0"/>
          </a:p>
        </p:txBody>
      </p:sp>
      <p:sp>
        <p:nvSpPr>
          <p:cNvPr id="36" name="Text 26"/>
          <p:cNvSpPr/>
          <p:nvPr/>
        </p:nvSpPr>
        <p:spPr>
          <a:xfrm>
            <a:off x="1300163" y="5789315"/>
            <a:ext cx="10934081" cy="578048"/>
          </a:xfrm>
          <a:prstGeom prst="rect">
            <a:avLst/>
          </a:prstGeom>
          <a:noFill/>
          <a:ln/>
        </p:spPr>
        <p:txBody>
          <a:bodyPr wrap="square" lIns="25400" tIns="25400" rIns="25400" bIns="25400" rtlCol="0" anchor="t">
            <a:normAutofit/>
          </a:bodyPr>
          <a:lstStyle/>
          <a:p>
            <a:pPr marL="0" indent="0" algn="l">
              <a:lnSpc>
                <a:spcPct val="111908"/>
              </a:lnSpc>
              <a:buNone/>
            </a:pPr>
            <a:r>
              <a:rPr lang="en-US" sz="1575" dirty="0">
                <a:solidFill>
                  <a:srgbClr val="FFFFFF"/>
                </a:solidFill>
                <a:latin typeface="Calibri" pitchFamily="34" charset="0"/>
                <a:ea typeface="Calibri" pitchFamily="34" charset="-122"/>
                <a:cs typeface="Calibri" pitchFamily="34" charset="-120"/>
              </a:rPr>
              <a:t>No system, published or patented, combines a declared urgency, a computed one and their propagated mismatch, then scores the result against recorded outcomes.</a:t>
            </a:r>
            <a:endParaRPr lang="en-US" sz="1575" dirty="0"/>
          </a:p>
        </p:txBody>
      </p:sp>
      <p:pic>
        <p:nvPicPr>
          <p:cNvPr id="37" name="Image 8" descr="preencoded.png"/>
          <p:cNvPicPr>
            <a:picLocks noChangeAspect="1"/>
          </p:cNvPicPr>
          <p:nvPr/>
        </p:nvPicPr>
        <p:blipFill>
          <a:blip r:embed="rId11"/>
          <a:stretch>
            <a:fillRect/>
          </a:stretch>
        </p:blipFill>
        <p:spPr>
          <a:xfrm>
            <a:off x="11229975" y="6567488"/>
            <a:ext cx="714375" cy="71438"/>
          </a:xfrm>
          <a:prstGeom prst="rect">
            <a:avLst/>
          </a:prstGeom>
        </p:spPr>
      </p:pic>
      <p:sp>
        <p:nvSpPr>
          <p:cNvPr id="38" name="Text 27"/>
          <p:cNvSpPr/>
          <p:nvPr/>
        </p:nvSpPr>
        <p:spPr>
          <a:xfrm>
            <a:off x="10582870" y="6465590"/>
            <a:ext cx="447080"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C0C0C8"/>
                </a:solidFill>
                <a:latin typeface="Calibri" pitchFamily="34" charset="0"/>
                <a:ea typeface="Calibri" pitchFamily="34" charset="-122"/>
                <a:cs typeface="Calibri" pitchFamily="34" charset="-120"/>
              </a:rPr>
              <a:t>5 | 20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7687975"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OBJECTIVES AND INDICATORS</a:t>
            </a:r>
            <a:endParaRPr lang="en-US" sz="3225" dirty="0"/>
          </a:p>
        </p:txBody>
      </p:sp>
      <p:sp>
        <p:nvSpPr>
          <p:cNvPr id="4" name="Text 2"/>
          <p:cNvSpPr/>
          <p:nvPr/>
        </p:nvSpPr>
        <p:spPr>
          <a:xfrm>
            <a:off x="981075" y="1428750"/>
            <a:ext cx="4316730" cy="211435"/>
          </a:xfrm>
          <a:prstGeom prst="rect">
            <a:avLst/>
          </a:prstGeom>
          <a:noFill/>
          <a:ln/>
        </p:spPr>
        <p:txBody>
          <a:bodyPr wrap="square" lIns="25400" tIns="25400" rIns="25400" bIns="25400" rtlCol="0" anchor="t">
            <a:normAutofit lnSpcReduction="10000"/>
          </a:bodyPr>
          <a:lstStyle/>
          <a:p>
            <a:pPr marL="0" indent="0" algn="l">
              <a:lnSpc>
                <a:spcPct val="113750"/>
              </a:lnSpc>
              <a:buNone/>
            </a:pPr>
            <a:r>
              <a:rPr lang="en-US" sz="1050" b="1" kern="0" spc="126" dirty="0">
                <a:solidFill>
                  <a:srgbClr val="1D93C9"/>
                </a:solidFill>
                <a:latin typeface="Arial" pitchFamily="34" charset="0"/>
                <a:ea typeface="Arial" pitchFamily="34" charset="-122"/>
                <a:cs typeface="Arial" pitchFamily="34" charset="-120"/>
              </a:rPr>
              <a:t>OBJECTIVE</a:t>
            </a:r>
            <a:endParaRPr lang="en-US" sz="1050" dirty="0"/>
          </a:p>
        </p:txBody>
      </p:sp>
      <p:sp>
        <p:nvSpPr>
          <p:cNvPr id="5" name="Text 3"/>
          <p:cNvSpPr/>
          <p:nvPr/>
        </p:nvSpPr>
        <p:spPr>
          <a:xfrm>
            <a:off x="5362575" y="1428750"/>
            <a:ext cx="4316730" cy="211435"/>
          </a:xfrm>
          <a:prstGeom prst="rect">
            <a:avLst/>
          </a:prstGeom>
          <a:noFill/>
          <a:ln/>
        </p:spPr>
        <p:txBody>
          <a:bodyPr wrap="square" lIns="25400" tIns="25400" rIns="25400" bIns="25400" rtlCol="0" anchor="t">
            <a:normAutofit lnSpcReduction="10000"/>
          </a:bodyPr>
          <a:lstStyle/>
          <a:p>
            <a:pPr marL="0" indent="0" algn="l">
              <a:lnSpc>
                <a:spcPct val="113750"/>
              </a:lnSpc>
              <a:buNone/>
            </a:pPr>
            <a:r>
              <a:rPr lang="en-US" sz="1050" b="1" kern="0" spc="126" dirty="0">
                <a:solidFill>
                  <a:srgbClr val="1D93C9"/>
                </a:solidFill>
                <a:latin typeface="Arial" pitchFamily="34" charset="0"/>
                <a:ea typeface="Arial" pitchFamily="34" charset="-122"/>
                <a:cs typeface="Arial" pitchFamily="34" charset="-120"/>
              </a:rPr>
              <a:t>INDICATOR</a:t>
            </a:r>
            <a:endParaRPr lang="en-US" sz="1050" dirty="0"/>
          </a:p>
        </p:txBody>
      </p:sp>
      <p:sp>
        <p:nvSpPr>
          <p:cNvPr id="6" name="Text 4"/>
          <p:cNvSpPr/>
          <p:nvPr/>
        </p:nvSpPr>
        <p:spPr>
          <a:xfrm>
            <a:off x="9744075" y="1428750"/>
            <a:ext cx="1981200" cy="211435"/>
          </a:xfrm>
          <a:prstGeom prst="rect">
            <a:avLst/>
          </a:prstGeom>
          <a:noFill/>
          <a:ln/>
        </p:spPr>
        <p:txBody>
          <a:bodyPr wrap="square" lIns="25400" tIns="25400" rIns="25400" bIns="25400" rtlCol="0" anchor="t">
            <a:normAutofit lnSpcReduction="10000"/>
          </a:bodyPr>
          <a:lstStyle/>
          <a:p>
            <a:pPr marL="0" indent="0" algn="l">
              <a:lnSpc>
                <a:spcPct val="113750"/>
              </a:lnSpc>
              <a:buNone/>
            </a:pPr>
            <a:r>
              <a:rPr lang="en-US" sz="1050" b="1" kern="0" spc="126" dirty="0">
                <a:solidFill>
                  <a:srgbClr val="1D93C9"/>
                </a:solidFill>
                <a:latin typeface="Arial" pitchFamily="34" charset="0"/>
                <a:ea typeface="Arial" pitchFamily="34" charset="-122"/>
                <a:cs typeface="Arial" pitchFamily="34" charset="-120"/>
              </a:rPr>
              <a:t>DELIVERABLE</a:t>
            </a:r>
            <a:endParaRPr lang="en-US" sz="1050" dirty="0"/>
          </a:p>
        </p:txBody>
      </p:sp>
      <p:sp>
        <p:nvSpPr>
          <p:cNvPr id="7" name="Shape 5"/>
          <p:cNvSpPr/>
          <p:nvPr/>
        </p:nvSpPr>
        <p:spPr>
          <a:xfrm>
            <a:off x="352425" y="1678285"/>
            <a:ext cx="438150" cy="9525"/>
          </a:xfrm>
          <a:prstGeom prst="rect">
            <a:avLst/>
          </a:prstGeom>
          <a:solidFill>
            <a:srgbClr val="C0C0C8"/>
          </a:solidFill>
          <a:ln/>
        </p:spPr>
        <p:txBody>
          <a:bodyPr/>
          <a:lstStyle/>
          <a:p>
            <a:endParaRPr lang="fr-FR"/>
          </a:p>
        </p:txBody>
      </p:sp>
      <p:sp>
        <p:nvSpPr>
          <p:cNvPr id="8" name="Text 6"/>
          <p:cNvSpPr/>
          <p:nvPr/>
        </p:nvSpPr>
        <p:spPr>
          <a:xfrm>
            <a:off x="352425" y="1827510"/>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O1</a:t>
            </a:r>
            <a:endParaRPr lang="en-US" sz="1500" dirty="0"/>
          </a:p>
        </p:txBody>
      </p:sp>
      <p:sp>
        <p:nvSpPr>
          <p:cNvPr id="9" name="Shape 7"/>
          <p:cNvSpPr/>
          <p:nvPr/>
        </p:nvSpPr>
        <p:spPr>
          <a:xfrm>
            <a:off x="981075" y="1678285"/>
            <a:ext cx="4191000" cy="9525"/>
          </a:xfrm>
          <a:prstGeom prst="rect">
            <a:avLst/>
          </a:prstGeom>
          <a:solidFill>
            <a:srgbClr val="C0C0C8"/>
          </a:solidFill>
          <a:ln/>
        </p:spPr>
        <p:txBody>
          <a:bodyPr/>
          <a:lstStyle/>
          <a:p>
            <a:endParaRPr lang="fr-FR"/>
          </a:p>
        </p:txBody>
      </p:sp>
      <p:sp>
        <p:nvSpPr>
          <p:cNvPr id="10" name="Text 8"/>
          <p:cNvSpPr/>
          <p:nvPr/>
        </p:nvSpPr>
        <p:spPr>
          <a:xfrm>
            <a:off x="981075" y="1827510"/>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Define real urgency and an adequacy score</a:t>
            </a:r>
            <a:endParaRPr lang="en-US" sz="1350" dirty="0"/>
          </a:p>
        </p:txBody>
      </p:sp>
      <p:sp>
        <p:nvSpPr>
          <p:cNvPr id="11" name="Shape 9"/>
          <p:cNvSpPr/>
          <p:nvPr/>
        </p:nvSpPr>
        <p:spPr>
          <a:xfrm>
            <a:off x="5362575" y="1678285"/>
            <a:ext cx="4191000" cy="9525"/>
          </a:xfrm>
          <a:prstGeom prst="rect">
            <a:avLst/>
          </a:prstGeom>
          <a:solidFill>
            <a:srgbClr val="C0C0C8"/>
          </a:solidFill>
          <a:ln/>
        </p:spPr>
        <p:txBody>
          <a:bodyPr/>
          <a:lstStyle/>
          <a:p>
            <a:endParaRPr lang="fr-FR"/>
          </a:p>
        </p:txBody>
      </p:sp>
      <p:sp>
        <p:nvSpPr>
          <p:cNvPr id="12" name="Text 10"/>
          <p:cNvSpPr/>
          <p:nvPr/>
        </p:nvSpPr>
        <p:spPr>
          <a:xfrm>
            <a:off x="5362575" y="1827510"/>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Every term decomposable; aggregation justified</a:t>
            </a:r>
            <a:endParaRPr lang="en-US" sz="1350" dirty="0"/>
          </a:p>
        </p:txBody>
      </p:sp>
      <p:sp>
        <p:nvSpPr>
          <p:cNvPr id="13" name="Shape 11"/>
          <p:cNvSpPr/>
          <p:nvPr/>
        </p:nvSpPr>
        <p:spPr>
          <a:xfrm>
            <a:off x="9744075" y="1678285"/>
            <a:ext cx="1905000" cy="9525"/>
          </a:xfrm>
          <a:prstGeom prst="rect">
            <a:avLst/>
          </a:prstGeom>
          <a:solidFill>
            <a:srgbClr val="C0C0C8"/>
          </a:solidFill>
          <a:ln/>
        </p:spPr>
        <p:txBody>
          <a:bodyPr/>
          <a:lstStyle/>
          <a:p>
            <a:endParaRPr lang="fr-FR"/>
          </a:p>
        </p:txBody>
      </p:sp>
      <p:sp>
        <p:nvSpPr>
          <p:cNvPr id="14" name="Text 12"/>
          <p:cNvSpPr/>
          <p:nvPr/>
        </p:nvSpPr>
        <p:spPr>
          <a:xfrm>
            <a:off x="9744075" y="1827510"/>
            <a:ext cx="198120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Specification</a:t>
            </a:r>
            <a:endParaRPr lang="en-US" sz="1350" dirty="0"/>
          </a:p>
        </p:txBody>
      </p:sp>
      <p:sp>
        <p:nvSpPr>
          <p:cNvPr id="15" name="Shape 13"/>
          <p:cNvSpPr/>
          <p:nvPr/>
        </p:nvSpPr>
        <p:spPr>
          <a:xfrm>
            <a:off x="352425" y="2218035"/>
            <a:ext cx="438150" cy="9525"/>
          </a:xfrm>
          <a:prstGeom prst="rect">
            <a:avLst/>
          </a:prstGeom>
          <a:solidFill>
            <a:srgbClr val="C0C0C8"/>
          </a:solidFill>
          <a:ln/>
        </p:spPr>
        <p:txBody>
          <a:bodyPr/>
          <a:lstStyle/>
          <a:p>
            <a:endParaRPr lang="fr-FR"/>
          </a:p>
        </p:txBody>
      </p:sp>
      <p:sp>
        <p:nvSpPr>
          <p:cNvPr id="16" name="Text 14"/>
          <p:cNvSpPr/>
          <p:nvPr/>
        </p:nvSpPr>
        <p:spPr>
          <a:xfrm>
            <a:off x="352425" y="2367260"/>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O2</a:t>
            </a:r>
            <a:endParaRPr lang="en-US" sz="1500" dirty="0"/>
          </a:p>
        </p:txBody>
      </p:sp>
      <p:sp>
        <p:nvSpPr>
          <p:cNvPr id="17" name="Shape 15"/>
          <p:cNvSpPr/>
          <p:nvPr/>
        </p:nvSpPr>
        <p:spPr>
          <a:xfrm>
            <a:off x="981075" y="2218035"/>
            <a:ext cx="4191000" cy="9525"/>
          </a:xfrm>
          <a:prstGeom prst="rect">
            <a:avLst/>
          </a:prstGeom>
          <a:solidFill>
            <a:srgbClr val="C0C0C8"/>
          </a:solidFill>
          <a:ln/>
        </p:spPr>
        <p:txBody>
          <a:bodyPr/>
          <a:lstStyle/>
          <a:p>
            <a:endParaRPr lang="fr-FR"/>
          </a:p>
        </p:txBody>
      </p:sp>
      <p:sp>
        <p:nvSpPr>
          <p:cNvPr id="18" name="Text 16"/>
          <p:cNvSpPr/>
          <p:nvPr/>
        </p:nvSpPr>
        <p:spPr>
          <a:xfrm>
            <a:off x="981075" y="2367260"/>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Deliver a working, auditable application</a:t>
            </a:r>
            <a:endParaRPr lang="en-US" sz="1350" dirty="0"/>
          </a:p>
        </p:txBody>
      </p:sp>
      <p:sp>
        <p:nvSpPr>
          <p:cNvPr id="19" name="Shape 17"/>
          <p:cNvSpPr/>
          <p:nvPr/>
        </p:nvSpPr>
        <p:spPr>
          <a:xfrm>
            <a:off x="5362575" y="2218035"/>
            <a:ext cx="4191000" cy="9525"/>
          </a:xfrm>
          <a:prstGeom prst="rect">
            <a:avLst/>
          </a:prstGeom>
          <a:solidFill>
            <a:srgbClr val="C0C0C8"/>
          </a:solidFill>
          <a:ln/>
        </p:spPr>
        <p:txBody>
          <a:bodyPr/>
          <a:lstStyle/>
          <a:p>
            <a:endParaRPr lang="fr-FR"/>
          </a:p>
        </p:txBody>
      </p:sp>
      <p:sp>
        <p:nvSpPr>
          <p:cNvPr id="20" name="Text 18"/>
          <p:cNvSpPr/>
          <p:nvPr/>
        </p:nvSpPr>
        <p:spPr>
          <a:xfrm>
            <a:off x="5362575" y="2367260"/>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Multi-tenant · every write audited · tests passing</a:t>
            </a:r>
            <a:endParaRPr lang="en-US" sz="1350" dirty="0"/>
          </a:p>
        </p:txBody>
      </p:sp>
      <p:sp>
        <p:nvSpPr>
          <p:cNvPr id="21" name="Shape 19"/>
          <p:cNvSpPr/>
          <p:nvPr/>
        </p:nvSpPr>
        <p:spPr>
          <a:xfrm>
            <a:off x="9744075" y="2218035"/>
            <a:ext cx="1905000" cy="9525"/>
          </a:xfrm>
          <a:prstGeom prst="rect">
            <a:avLst/>
          </a:prstGeom>
          <a:solidFill>
            <a:srgbClr val="C0C0C8"/>
          </a:solidFill>
          <a:ln/>
        </p:spPr>
        <p:txBody>
          <a:bodyPr/>
          <a:lstStyle/>
          <a:p>
            <a:endParaRPr lang="fr-FR"/>
          </a:p>
        </p:txBody>
      </p:sp>
      <p:sp>
        <p:nvSpPr>
          <p:cNvPr id="22" name="Text 20"/>
          <p:cNvSpPr/>
          <p:nvPr/>
        </p:nvSpPr>
        <p:spPr>
          <a:xfrm>
            <a:off x="9744075" y="2367260"/>
            <a:ext cx="198120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SupplyScore</a:t>
            </a:r>
            <a:endParaRPr lang="en-US" sz="1350" dirty="0"/>
          </a:p>
        </p:txBody>
      </p:sp>
      <p:sp>
        <p:nvSpPr>
          <p:cNvPr id="23" name="Shape 21"/>
          <p:cNvSpPr/>
          <p:nvPr/>
        </p:nvSpPr>
        <p:spPr>
          <a:xfrm>
            <a:off x="352425" y="2757785"/>
            <a:ext cx="438150" cy="9525"/>
          </a:xfrm>
          <a:prstGeom prst="rect">
            <a:avLst/>
          </a:prstGeom>
          <a:solidFill>
            <a:srgbClr val="C0C0C8"/>
          </a:solidFill>
          <a:ln/>
        </p:spPr>
        <p:txBody>
          <a:bodyPr/>
          <a:lstStyle/>
          <a:p>
            <a:endParaRPr lang="fr-FR"/>
          </a:p>
        </p:txBody>
      </p:sp>
      <p:sp>
        <p:nvSpPr>
          <p:cNvPr id="24" name="Text 22"/>
          <p:cNvSpPr/>
          <p:nvPr/>
        </p:nvSpPr>
        <p:spPr>
          <a:xfrm>
            <a:off x="352425" y="2907010"/>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O3</a:t>
            </a:r>
            <a:endParaRPr lang="en-US" sz="1500" dirty="0"/>
          </a:p>
        </p:txBody>
      </p:sp>
      <p:sp>
        <p:nvSpPr>
          <p:cNvPr id="25" name="Shape 23"/>
          <p:cNvSpPr/>
          <p:nvPr/>
        </p:nvSpPr>
        <p:spPr>
          <a:xfrm>
            <a:off x="981075" y="2757785"/>
            <a:ext cx="4191000" cy="9525"/>
          </a:xfrm>
          <a:prstGeom prst="rect">
            <a:avLst/>
          </a:prstGeom>
          <a:solidFill>
            <a:srgbClr val="C0C0C8"/>
          </a:solidFill>
          <a:ln/>
        </p:spPr>
        <p:txBody>
          <a:bodyPr/>
          <a:lstStyle/>
          <a:p>
            <a:endParaRPr lang="fr-FR"/>
          </a:p>
        </p:txBody>
      </p:sp>
      <p:sp>
        <p:nvSpPr>
          <p:cNvPr id="26" name="Text 24"/>
          <p:cNvSpPr/>
          <p:nvPr/>
        </p:nvSpPr>
        <p:spPr>
          <a:xfrm>
            <a:off x="981075" y="2907010"/>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Propagate across tiers, rank by criticality</a:t>
            </a:r>
            <a:endParaRPr lang="en-US" sz="1350" dirty="0"/>
          </a:p>
        </p:txBody>
      </p:sp>
      <p:sp>
        <p:nvSpPr>
          <p:cNvPr id="27" name="Shape 25"/>
          <p:cNvSpPr/>
          <p:nvPr/>
        </p:nvSpPr>
        <p:spPr>
          <a:xfrm>
            <a:off x="5362575" y="2757785"/>
            <a:ext cx="4191000" cy="9525"/>
          </a:xfrm>
          <a:prstGeom prst="rect">
            <a:avLst/>
          </a:prstGeom>
          <a:solidFill>
            <a:srgbClr val="C0C0C8"/>
          </a:solidFill>
          <a:ln/>
        </p:spPr>
        <p:txBody>
          <a:bodyPr/>
          <a:lstStyle/>
          <a:p>
            <a:endParaRPr lang="fr-FR"/>
          </a:p>
        </p:txBody>
      </p:sp>
      <p:sp>
        <p:nvSpPr>
          <p:cNvPr id="28" name="Text 26"/>
          <p:cNvSpPr/>
          <p:nvPr/>
        </p:nvSpPr>
        <p:spPr>
          <a:xfrm>
            <a:off x="5362575" y="2907010"/>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Real-programme scale, interactive time budget</a:t>
            </a:r>
            <a:endParaRPr lang="en-US" sz="1350" dirty="0"/>
          </a:p>
        </p:txBody>
      </p:sp>
      <p:sp>
        <p:nvSpPr>
          <p:cNvPr id="29" name="Shape 27"/>
          <p:cNvSpPr/>
          <p:nvPr/>
        </p:nvSpPr>
        <p:spPr>
          <a:xfrm>
            <a:off x="9744075" y="2757785"/>
            <a:ext cx="1905000" cy="9525"/>
          </a:xfrm>
          <a:prstGeom prst="rect">
            <a:avLst/>
          </a:prstGeom>
          <a:solidFill>
            <a:srgbClr val="C0C0C8"/>
          </a:solidFill>
          <a:ln/>
        </p:spPr>
        <p:txBody>
          <a:bodyPr/>
          <a:lstStyle/>
          <a:p>
            <a:endParaRPr lang="fr-FR"/>
          </a:p>
        </p:txBody>
      </p:sp>
      <p:sp>
        <p:nvSpPr>
          <p:cNvPr id="30" name="Text 28"/>
          <p:cNvSpPr/>
          <p:nvPr/>
        </p:nvSpPr>
        <p:spPr>
          <a:xfrm>
            <a:off x="9744075" y="2907010"/>
            <a:ext cx="198120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Propagation services</a:t>
            </a:r>
            <a:endParaRPr lang="en-US" sz="1350" dirty="0"/>
          </a:p>
        </p:txBody>
      </p:sp>
      <p:sp>
        <p:nvSpPr>
          <p:cNvPr id="31" name="Shape 29"/>
          <p:cNvSpPr/>
          <p:nvPr/>
        </p:nvSpPr>
        <p:spPr>
          <a:xfrm>
            <a:off x="352425" y="3297535"/>
            <a:ext cx="438150" cy="539750"/>
          </a:xfrm>
          <a:prstGeom prst="rect">
            <a:avLst/>
          </a:prstGeom>
          <a:solidFill>
            <a:srgbClr val="063C67"/>
          </a:solidFill>
          <a:ln/>
        </p:spPr>
        <p:txBody>
          <a:bodyPr/>
          <a:lstStyle/>
          <a:p>
            <a:endParaRPr lang="fr-FR"/>
          </a:p>
        </p:txBody>
      </p:sp>
      <p:sp>
        <p:nvSpPr>
          <p:cNvPr id="32" name="Shape 30"/>
          <p:cNvSpPr/>
          <p:nvPr/>
        </p:nvSpPr>
        <p:spPr>
          <a:xfrm>
            <a:off x="352425" y="3297535"/>
            <a:ext cx="438150" cy="9525"/>
          </a:xfrm>
          <a:prstGeom prst="rect">
            <a:avLst/>
          </a:prstGeom>
          <a:solidFill>
            <a:srgbClr val="C0C0C8"/>
          </a:solidFill>
          <a:ln/>
        </p:spPr>
        <p:txBody>
          <a:bodyPr/>
          <a:lstStyle/>
          <a:p>
            <a:endParaRPr lang="fr-FR"/>
          </a:p>
        </p:txBody>
      </p:sp>
      <p:sp>
        <p:nvSpPr>
          <p:cNvPr id="33" name="Text 31"/>
          <p:cNvSpPr/>
          <p:nvPr/>
        </p:nvSpPr>
        <p:spPr>
          <a:xfrm>
            <a:off x="314325" y="3446760"/>
            <a:ext cx="514350" cy="285750"/>
          </a:xfrm>
          <a:prstGeom prst="rect">
            <a:avLst/>
          </a:prstGeom>
          <a:noFill/>
          <a:ln/>
        </p:spPr>
        <p:txBody>
          <a:bodyPr wrap="square" lIns="25400" tIns="25400" rIns="25400" bIns="25400" rtlCol="0" anchor="t">
            <a:normAutofit/>
          </a:bodyPr>
          <a:lstStyle/>
          <a:p>
            <a:pPr marL="0" indent="0" algn="ctr">
              <a:lnSpc>
                <a:spcPct val="92857"/>
              </a:lnSpc>
              <a:buNone/>
            </a:pPr>
            <a:r>
              <a:rPr lang="en-US" sz="1500" b="1" dirty="0">
                <a:solidFill>
                  <a:srgbClr val="FFC800"/>
                </a:solidFill>
                <a:latin typeface="Arial Black" pitchFamily="34" charset="0"/>
                <a:ea typeface="Arial Black" pitchFamily="34" charset="-122"/>
                <a:cs typeface="Arial Black" pitchFamily="34" charset="-120"/>
              </a:rPr>
              <a:t>O4</a:t>
            </a:r>
            <a:endParaRPr lang="en-US" sz="1500" dirty="0"/>
          </a:p>
        </p:txBody>
      </p:sp>
      <p:sp>
        <p:nvSpPr>
          <p:cNvPr id="34" name="Shape 32"/>
          <p:cNvSpPr/>
          <p:nvPr/>
        </p:nvSpPr>
        <p:spPr>
          <a:xfrm>
            <a:off x="981075" y="3297535"/>
            <a:ext cx="4191000" cy="539750"/>
          </a:xfrm>
          <a:prstGeom prst="rect">
            <a:avLst/>
          </a:prstGeom>
          <a:solidFill>
            <a:srgbClr val="FFF6DA"/>
          </a:solidFill>
          <a:ln/>
        </p:spPr>
        <p:txBody>
          <a:bodyPr/>
          <a:lstStyle/>
          <a:p>
            <a:endParaRPr lang="fr-FR"/>
          </a:p>
        </p:txBody>
      </p:sp>
      <p:sp>
        <p:nvSpPr>
          <p:cNvPr id="35" name="Shape 33"/>
          <p:cNvSpPr/>
          <p:nvPr/>
        </p:nvSpPr>
        <p:spPr>
          <a:xfrm>
            <a:off x="981075" y="3297535"/>
            <a:ext cx="4191000" cy="9525"/>
          </a:xfrm>
          <a:prstGeom prst="rect">
            <a:avLst/>
          </a:prstGeom>
          <a:solidFill>
            <a:srgbClr val="C0C0C8"/>
          </a:solidFill>
          <a:ln/>
        </p:spPr>
        <p:txBody>
          <a:bodyPr/>
          <a:lstStyle/>
          <a:p>
            <a:endParaRPr lang="fr-FR"/>
          </a:p>
        </p:txBody>
      </p:sp>
      <p:sp>
        <p:nvSpPr>
          <p:cNvPr id="36" name="Text 34"/>
          <p:cNvSpPr/>
          <p:nvPr/>
        </p:nvSpPr>
        <p:spPr>
          <a:xfrm>
            <a:off x="981075" y="3446760"/>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b="1" dirty="0">
                <a:solidFill>
                  <a:srgbClr val="063C67"/>
                </a:solidFill>
                <a:latin typeface="Calibri" pitchFamily="34" charset="0"/>
                <a:ea typeface="Calibri" pitchFamily="34" charset="-122"/>
                <a:cs typeface="Calibri" pitchFamily="34" charset="-120"/>
              </a:rPr>
              <a:t>Establish whether the signal predicts outcomes</a:t>
            </a:r>
            <a:endParaRPr lang="en-US" sz="1350" dirty="0"/>
          </a:p>
        </p:txBody>
      </p:sp>
      <p:sp>
        <p:nvSpPr>
          <p:cNvPr id="37" name="Shape 35"/>
          <p:cNvSpPr/>
          <p:nvPr/>
        </p:nvSpPr>
        <p:spPr>
          <a:xfrm>
            <a:off x="5362575" y="3297535"/>
            <a:ext cx="4191000" cy="539750"/>
          </a:xfrm>
          <a:prstGeom prst="rect">
            <a:avLst/>
          </a:prstGeom>
          <a:solidFill>
            <a:srgbClr val="FFF6DA"/>
          </a:solidFill>
          <a:ln/>
        </p:spPr>
        <p:txBody>
          <a:bodyPr/>
          <a:lstStyle/>
          <a:p>
            <a:endParaRPr lang="fr-FR"/>
          </a:p>
        </p:txBody>
      </p:sp>
      <p:sp>
        <p:nvSpPr>
          <p:cNvPr id="38" name="Shape 36"/>
          <p:cNvSpPr/>
          <p:nvPr/>
        </p:nvSpPr>
        <p:spPr>
          <a:xfrm>
            <a:off x="5362575" y="3297535"/>
            <a:ext cx="4191000" cy="9525"/>
          </a:xfrm>
          <a:prstGeom prst="rect">
            <a:avLst/>
          </a:prstGeom>
          <a:solidFill>
            <a:srgbClr val="C0C0C8"/>
          </a:solidFill>
          <a:ln/>
        </p:spPr>
        <p:txBody>
          <a:bodyPr/>
          <a:lstStyle/>
          <a:p>
            <a:endParaRPr lang="fr-FR"/>
          </a:p>
        </p:txBody>
      </p:sp>
      <p:sp>
        <p:nvSpPr>
          <p:cNvPr id="39" name="Text 37"/>
          <p:cNvSpPr/>
          <p:nvPr/>
        </p:nvSpPr>
        <p:spPr>
          <a:xfrm>
            <a:off x="5362575" y="3446760"/>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highlight>
                  <a:srgbClr val="FFF6DA"/>
                </a:highlight>
                <a:latin typeface="Calibri" pitchFamily="34" charset="0"/>
                <a:ea typeface="Calibri" pitchFamily="34" charset="-122"/>
                <a:cs typeface="Calibri" pitchFamily="34" charset="-120"/>
              </a:rPr>
              <a:t>A stated outcome definition, </a:t>
            </a:r>
            <a:r>
              <a:rPr lang="en-US" sz="1350" b="1" dirty="0">
                <a:solidFill>
                  <a:srgbClr val="063C67"/>
                </a:solidFill>
                <a:latin typeface="Calibri" pitchFamily="34" charset="0"/>
                <a:ea typeface="Calibri" pitchFamily="34" charset="-122"/>
                <a:cs typeface="Calibri" pitchFamily="34" charset="-120"/>
              </a:rPr>
              <a:t>and a trivial baseline</a:t>
            </a:r>
            <a:endParaRPr lang="en-US" sz="1350" dirty="0"/>
          </a:p>
        </p:txBody>
      </p:sp>
      <p:sp>
        <p:nvSpPr>
          <p:cNvPr id="40" name="Shape 38"/>
          <p:cNvSpPr/>
          <p:nvPr/>
        </p:nvSpPr>
        <p:spPr>
          <a:xfrm>
            <a:off x="9744075" y="3297535"/>
            <a:ext cx="1905000" cy="539750"/>
          </a:xfrm>
          <a:prstGeom prst="rect">
            <a:avLst/>
          </a:prstGeom>
          <a:solidFill>
            <a:srgbClr val="FFF6DA"/>
          </a:solidFill>
          <a:ln/>
        </p:spPr>
        <p:txBody>
          <a:bodyPr/>
          <a:lstStyle/>
          <a:p>
            <a:endParaRPr lang="fr-FR"/>
          </a:p>
        </p:txBody>
      </p:sp>
      <p:sp>
        <p:nvSpPr>
          <p:cNvPr id="41" name="Shape 39"/>
          <p:cNvSpPr/>
          <p:nvPr/>
        </p:nvSpPr>
        <p:spPr>
          <a:xfrm>
            <a:off x="9744075" y="3297535"/>
            <a:ext cx="1905000" cy="9525"/>
          </a:xfrm>
          <a:prstGeom prst="rect">
            <a:avLst/>
          </a:prstGeom>
          <a:solidFill>
            <a:srgbClr val="C0C0C8"/>
          </a:solidFill>
          <a:ln/>
        </p:spPr>
        <p:txBody>
          <a:bodyPr/>
          <a:lstStyle/>
          <a:p>
            <a:endParaRPr lang="fr-FR"/>
          </a:p>
        </p:txBody>
      </p:sp>
      <p:sp>
        <p:nvSpPr>
          <p:cNvPr id="42" name="Text 40"/>
          <p:cNvSpPr/>
          <p:nvPr/>
        </p:nvSpPr>
        <p:spPr>
          <a:xfrm>
            <a:off x="9744075" y="3446760"/>
            <a:ext cx="198120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Pre-registered protocol</a:t>
            </a:r>
            <a:endParaRPr lang="en-US" sz="1350" dirty="0"/>
          </a:p>
        </p:txBody>
      </p:sp>
      <p:sp>
        <p:nvSpPr>
          <p:cNvPr id="43" name="Shape 41"/>
          <p:cNvSpPr/>
          <p:nvPr/>
        </p:nvSpPr>
        <p:spPr>
          <a:xfrm>
            <a:off x="352425" y="3837285"/>
            <a:ext cx="438150" cy="9525"/>
          </a:xfrm>
          <a:prstGeom prst="rect">
            <a:avLst/>
          </a:prstGeom>
          <a:solidFill>
            <a:srgbClr val="C0C0C8"/>
          </a:solidFill>
          <a:ln/>
        </p:spPr>
        <p:txBody>
          <a:bodyPr/>
          <a:lstStyle/>
          <a:p>
            <a:endParaRPr lang="fr-FR"/>
          </a:p>
        </p:txBody>
      </p:sp>
      <p:sp>
        <p:nvSpPr>
          <p:cNvPr id="44" name="Text 42"/>
          <p:cNvSpPr/>
          <p:nvPr/>
        </p:nvSpPr>
        <p:spPr>
          <a:xfrm>
            <a:off x="352425" y="3986510"/>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O5</a:t>
            </a:r>
            <a:endParaRPr lang="en-US" sz="1500" dirty="0"/>
          </a:p>
        </p:txBody>
      </p:sp>
      <p:sp>
        <p:nvSpPr>
          <p:cNvPr id="45" name="Shape 43"/>
          <p:cNvSpPr/>
          <p:nvPr/>
        </p:nvSpPr>
        <p:spPr>
          <a:xfrm>
            <a:off x="981075" y="3837285"/>
            <a:ext cx="4191000" cy="9525"/>
          </a:xfrm>
          <a:prstGeom prst="rect">
            <a:avLst/>
          </a:prstGeom>
          <a:solidFill>
            <a:srgbClr val="C0C0C8"/>
          </a:solidFill>
          <a:ln/>
        </p:spPr>
        <p:txBody>
          <a:bodyPr/>
          <a:lstStyle/>
          <a:p>
            <a:endParaRPr lang="fr-FR"/>
          </a:p>
        </p:txBody>
      </p:sp>
      <p:sp>
        <p:nvSpPr>
          <p:cNvPr id="46" name="Text 44"/>
          <p:cNvSpPr/>
          <p:nvPr/>
        </p:nvSpPr>
        <p:spPr>
          <a:xfrm>
            <a:off x="981075" y="3986510"/>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Capitalise the research for the programme</a:t>
            </a:r>
            <a:endParaRPr lang="en-US" sz="1350" dirty="0"/>
          </a:p>
        </p:txBody>
      </p:sp>
      <p:sp>
        <p:nvSpPr>
          <p:cNvPr id="47" name="Shape 45"/>
          <p:cNvSpPr/>
          <p:nvPr/>
        </p:nvSpPr>
        <p:spPr>
          <a:xfrm>
            <a:off x="5362575" y="3837285"/>
            <a:ext cx="4191000" cy="9525"/>
          </a:xfrm>
          <a:prstGeom prst="rect">
            <a:avLst/>
          </a:prstGeom>
          <a:solidFill>
            <a:srgbClr val="C0C0C8"/>
          </a:solidFill>
          <a:ln/>
        </p:spPr>
        <p:txBody>
          <a:bodyPr/>
          <a:lstStyle/>
          <a:p>
            <a:endParaRPr lang="fr-FR"/>
          </a:p>
        </p:txBody>
      </p:sp>
      <p:sp>
        <p:nvSpPr>
          <p:cNvPr id="48" name="Text 46"/>
          <p:cNvSpPr/>
          <p:nvPr/>
        </p:nvSpPr>
        <p:spPr>
          <a:xfrm>
            <a:off x="5362575" y="3986510"/>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Every number reproducible from raw artefacts</a:t>
            </a:r>
            <a:endParaRPr lang="en-US" sz="1350" dirty="0"/>
          </a:p>
        </p:txBody>
      </p:sp>
      <p:sp>
        <p:nvSpPr>
          <p:cNvPr id="49" name="Shape 47"/>
          <p:cNvSpPr/>
          <p:nvPr/>
        </p:nvSpPr>
        <p:spPr>
          <a:xfrm>
            <a:off x="9744075" y="3837285"/>
            <a:ext cx="1905000" cy="9525"/>
          </a:xfrm>
          <a:prstGeom prst="rect">
            <a:avLst/>
          </a:prstGeom>
          <a:solidFill>
            <a:srgbClr val="C0C0C8"/>
          </a:solidFill>
          <a:ln/>
        </p:spPr>
        <p:txBody>
          <a:bodyPr/>
          <a:lstStyle/>
          <a:p>
            <a:endParaRPr lang="fr-FR"/>
          </a:p>
        </p:txBody>
      </p:sp>
      <p:sp>
        <p:nvSpPr>
          <p:cNvPr id="50" name="Text 48"/>
          <p:cNvSpPr/>
          <p:nvPr/>
        </p:nvSpPr>
        <p:spPr>
          <a:xfrm>
            <a:off x="9744075" y="3986510"/>
            <a:ext cx="198120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BST · scripts</a:t>
            </a:r>
            <a:endParaRPr lang="en-US" sz="1350" dirty="0"/>
          </a:p>
        </p:txBody>
      </p:sp>
      <p:sp>
        <p:nvSpPr>
          <p:cNvPr id="51" name="Shape 49"/>
          <p:cNvSpPr/>
          <p:nvPr/>
        </p:nvSpPr>
        <p:spPr>
          <a:xfrm>
            <a:off x="352425" y="4916785"/>
            <a:ext cx="438150" cy="9525"/>
          </a:xfrm>
          <a:prstGeom prst="rect">
            <a:avLst/>
          </a:prstGeom>
          <a:solidFill>
            <a:srgbClr val="C0C0C8"/>
          </a:solidFill>
          <a:ln/>
        </p:spPr>
        <p:txBody>
          <a:bodyPr/>
          <a:lstStyle/>
          <a:p>
            <a:endParaRPr lang="fr-FR"/>
          </a:p>
        </p:txBody>
      </p:sp>
      <p:sp>
        <p:nvSpPr>
          <p:cNvPr id="52" name="Shape 50"/>
          <p:cNvSpPr/>
          <p:nvPr/>
        </p:nvSpPr>
        <p:spPr>
          <a:xfrm>
            <a:off x="352425" y="4377035"/>
            <a:ext cx="438150" cy="9525"/>
          </a:xfrm>
          <a:prstGeom prst="rect">
            <a:avLst/>
          </a:prstGeom>
          <a:solidFill>
            <a:srgbClr val="C0C0C8"/>
          </a:solidFill>
          <a:ln/>
        </p:spPr>
        <p:txBody>
          <a:bodyPr/>
          <a:lstStyle/>
          <a:p>
            <a:endParaRPr lang="fr-FR"/>
          </a:p>
        </p:txBody>
      </p:sp>
      <p:sp>
        <p:nvSpPr>
          <p:cNvPr id="53" name="Text 51"/>
          <p:cNvSpPr/>
          <p:nvPr/>
        </p:nvSpPr>
        <p:spPr>
          <a:xfrm>
            <a:off x="352425" y="4526260"/>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O6</a:t>
            </a:r>
            <a:endParaRPr lang="en-US" sz="1500" dirty="0"/>
          </a:p>
        </p:txBody>
      </p:sp>
      <p:sp>
        <p:nvSpPr>
          <p:cNvPr id="54" name="Shape 52"/>
          <p:cNvSpPr/>
          <p:nvPr/>
        </p:nvSpPr>
        <p:spPr>
          <a:xfrm>
            <a:off x="981075" y="4916785"/>
            <a:ext cx="4191000" cy="9525"/>
          </a:xfrm>
          <a:prstGeom prst="rect">
            <a:avLst/>
          </a:prstGeom>
          <a:solidFill>
            <a:srgbClr val="C0C0C8"/>
          </a:solidFill>
          <a:ln/>
        </p:spPr>
        <p:txBody>
          <a:bodyPr/>
          <a:lstStyle/>
          <a:p>
            <a:endParaRPr lang="fr-FR"/>
          </a:p>
        </p:txBody>
      </p:sp>
      <p:sp>
        <p:nvSpPr>
          <p:cNvPr id="55" name="Shape 53"/>
          <p:cNvSpPr/>
          <p:nvPr/>
        </p:nvSpPr>
        <p:spPr>
          <a:xfrm>
            <a:off x="981075" y="4377035"/>
            <a:ext cx="4191000" cy="9525"/>
          </a:xfrm>
          <a:prstGeom prst="rect">
            <a:avLst/>
          </a:prstGeom>
          <a:solidFill>
            <a:srgbClr val="C0C0C8"/>
          </a:solidFill>
          <a:ln/>
        </p:spPr>
        <p:txBody>
          <a:bodyPr/>
          <a:lstStyle/>
          <a:p>
            <a:endParaRPr lang="fr-FR"/>
          </a:p>
        </p:txBody>
      </p:sp>
      <p:sp>
        <p:nvSpPr>
          <p:cNvPr id="56" name="Text 54"/>
          <p:cNvSpPr/>
          <p:nvPr/>
        </p:nvSpPr>
        <p:spPr>
          <a:xfrm>
            <a:off x="981075" y="4526260"/>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Observe warehouse capacity instead of asking</a:t>
            </a:r>
            <a:endParaRPr lang="en-US" sz="1350" dirty="0"/>
          </a:p>
        </p:txBody>
      </p:sp>
      <p:sp>
        <p:nvSpPr>
          <p:cNvPr id="57" name="Shape 55"/>
          <p:cNvSpPr/>
          <p:nvPr/>
        </p:nvSpPr>
        <p:spPr>
          <a:xfrm>
            <a:off x="5362575" y="4916785"/>
            <a:ext cx="4191000" cy="9525"/>
          </a:xfrm>
          <a:prstGeom prst="rect">
            <a:avLst/>
          </a:prstGeom>
          <a:solidFill>
            <a:srgbClr val="C0C0C8"/>
          </a:solidFill>
          <a:ln/>
        </p:spPr>
        <p:txBody>
          <a:bodyPr/>
          <a:lstStyle/>
          <a:p>
            <a:endParaRPr lang="fr-FR"/>
          </a:p>
        </p:txBody>
      </p:sp>
      <p:sp>
        <p:nvSpPr>
          <p:cNvPr id="58" name="Shape 56"/>
          <p:cNvSpPr/>
          <p:nvPr/>
        </p:nvSpPr>
        <p:spPr>
          <a:xfrm>
            <a:off x="5362575" y="4377035"/>
            <a:ext cx="4191000" cy="9525"/>
          </a:xfrm>
          <a:prstGeom prst="rect">
            <a:avLst/>
          </a:prstGeom>
          <a:solidFill>
            <a:srgbClr val="C0C0C8"/>
          </a:solidFill>
          <a:ln/>
        </p:spPr>
        <p:txBody>
          <a:bodyPr/>
          <a:lstStyle/>
          <a:p>
            <a:endParaRPr lang="fr-FR"/>
          </a:p>
        </p:txBody>
      </p:sp>
      <p:sp>
        <p:nvSpPr>
          <p:cNvPr id="59" name="Text 57"/>
          <p:cNvSpPr/>
          <p:nvPr/>
        </p:nvSpPr>
        <p:spPr>
          <a:xfrm>
            <a:off x="5362575" y="4526260"/>
            <a:ext cx="431673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A physical result, scored on the operational quantity</a:t>
            </a:r>
            <a:endParaRPr lang="en-US" sz="1350" dirty="0"/>
          </a:p>
        </p:txBody>
      </p:sp>
      <p:sp>
        <p:nvSpPr>
          <p:cNvPr id="60" name="Shape 58"/>
          <p:cNvSpPr/>
          <p:nvPr/>
        </p:nvSpPr>
        <p:spPr>
          <a:xfrm>
            <a:off x="9744075" y="4916785"/>
            <a:ext cx="1905000" cy="9525"/>
          </a:xfrm>
          <a:prstGeom prst="rect">
            <a:avLst/>
          </a:prstGeom>
          <a:solidFill>
            <a:srgbClr val="C0C0C8"/>
          </a:solidFill>
          <a:ln/>
        </p:spPr>
        <p:txBody>
          <a:bodyPr/>
          <a:lstStyle/>
          <a:p>
            <a:endParaRPr lang="fr-FR"/>
          </a:p>
        </p:txBody>
      </p:sp>
      <p:sp>
        <p:nvSpPr>
          <p:cNvPr id="61" name="Shape 59"/>
          <p:cNvSpPr/>
          <p:nvPr/>
        </p:nvSpPr>
        <p:spPr>
          <a:xfrm>
            <a:off x="9744075" y="4377035"/>
            <a:ext cx="1905000" cy="9525"/>
          </a:xfrm>
          <a:prstGeom prst="rect">
            <a:avLst/>
          </a:prstGeom>
          <a:solidFill>
            <a:srgbClr val="C0C0C8"/>
          </a:solidFill>
          <a:ln/>
        </p:spPr>
        <p:txBody>
          <a:bodyPr/>
          <a:lstStyle/>
          <a:p>
            <a:endParaRPr lang="fr-FR"/>
          </a:p>
        </p:txBody>
      </p:sp>
      <p:sp>
        <p:nvSpPr>
          <p:cNvPr id="62" name="Text 60"/>
          <p:cNvSpPr/>
          <p:nvPr/>
        </p:nvSpPr>
        <p:spPr>
          <a:xfrm>
            <a:off x="9744075" y="4526260"/>
            <a:ext cx="1981200" cy="285750"/>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Segmentation model</a:t>
            </a:r>
            <a:endParaRPr lang="en-US" sz="1350" dirty="0"/>
          </a:p>
        </p:txBody>
      </p:sp>
      <p:pic>
        <p:nvPicPr>
          <p:cNvPr id="63" name="Image 0" descr="preencoded.png"/>
          <p:cNvPicPr>
            <a:picLocks noChangeAspect="1"/>
          </p:cNvPicPr>
          <p:nvPr/>
        </p:nvPicPr>
        <p:blipFill>
          <a:blip r:embed="rId3"/>
          <a:stretch>
            <a:fillRect/>
          </a:stretch>
        </p:blipFill>
        <p:spPr>
          <a:xfrm>
            <a:off x="11229975" y="6567488"/>
            <a:ext cx="714375" cy="71438"/>
          </a:xfrm>
          <a:prstGeom prst="rect">
            <a:avLst/>
          </a:prstGeom>
        </p:spPr>
      </p:pic>
      <p:sp>
        <p:nvSpPr>
          <p:cNvPr id="64" name="Text 61"/>
          <p:cNvSpPr/>
          <p:nvPr/>
        </p:nvSpPr>
        <p:spPr>
          <a:xfrm>
            <a:off x="10582870" y="6465590"/>
            <a:ext cx="447080"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C0C0C8"/>
                </a:solidFill>
                <a:latin typeface="Calibri" pitchFamily="34" charset="0"/>
                <a:ea typeface="Calibri" pitchFamily="34" charset="-122"/>
                <a:cs typeface="Calibri" pitchFamily="34" charset="-120"/>
              </a:rPr>
              <a:t>6 | 20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2652881"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THE WEEK</a:t>
            </a:r>
            <a:endParaRPr lang="en-US" sz="3225" dirty="0"/>
          </a:p>
        </p:txBody>
      </p:sp>
      <p:sp>
        <p:nvSpPr>
          <p:cNvPr id="4" name="Text 2"/>
          <p:cNvSpPr/>
          <p:nvPr/>
        </p:nvSpPr>
        <p:spPr>
          <a:xfrm>
            <a:off x="352425" y="666750"/>
            <a:ext cx="6559461"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V-cycle for the model · Agile and Test and Learn for the week</a:t>
            </a:r>
            <a:endParaRPr lang="en-US" sz="1725" dirty="0"/>
          </a:p>
        </p:txBody>
      </p:sp>
      <p:sp>
        <p:nvSpPr>
          <p:cNvPr id="5" name="Shape 3"/>
          <p:cNvSpPr/>
          <p:nvPr/>
        </p:nvSpPr>
        <p:spPr>
          <a:xfrm>
            <a:off x="352425" y="1428750"/>
            <a:ext cx="2152650" cy="1511300"/>
          </a:xfrm>
          <a:prstGeom prst="rect">
            <a:avLst/>
          </a:prstGeom>
          <a:solidFill>
            <a:srgbClr val="E9F5FB"/>
          </a:solidFill>
          <a:ln/>
        </p:spPr>
        <p:txBody>
          <a:bodyPr/>
          <a:lstStyle/>
          <a:p>
            <a:endParaRPr lang="fr-FR"/>
          </a:p>
        </p:txBody>
      </p:sp>
      <p:sp>
        <p:nvSpPr>
          <p:cNvPr id="6" name="Shape 4"/>
          <p:cNvSpPr/>
          <p:nvPr/>
        </p:nvSpPr>
        <p:spPr>
          <a:xfrm>
            <a:off x="352425" y="1428750"/>
            <a:ext cx="2152650" cy="44450"/>
          </a:xfrm>
          <a:prstGeom prst="rect">
            <a:avLst/>
          </a:prstGeom>
          <a:solidFill>
            <a:srgbClr val="1D93C9"/>
          </a:solidFill>
          <a:ln/>
        </p:spPr>
        <p:txBody>
          <a:bodyPr/>
          <a:lstStyle/>
          <a:p>
            <a:endParaRPr lang="fr-FR"/>
          </a:p>
        </p:txBody>
      </p:sp>
      <p:sp>
        <p:nvSpPr>
          <p:cNvPr id="7" name="Text 5"/>
          <p:cNvSpPr/>
          <p:nvPr/>
        </p:nvSpPr>
        <p:spPr>
          <a:xfrm>
            <a:off x="523875" y="1644650"/>
            <a:ext cx="1990725" cy="328116"/>
          </a:xfrm>
          <a:prstGeom prst="rect">
            <a:avLst/>
          </a:prstGeom>
          <a:noFill/>
          <a:ln/>
        </p:spPr>
        <p:txBody>
          <a:bodyPr wrap="square" lIns="25400" tIns="25400" rIns="25400" bIns="25400" rtlCol="0" anchor="t">
            <a:normAutofit/>
          </a:bodyPr>
          <a:lstStyle/>
          <a:p>
            <a:pPr marL="0" indent="0" algn="l">
              <a:lnSpc>
                <a:spcPct val="101500"/>
              </a:lnSpc>
              <a:buNone/>
            </a:pPr>
            <a:r>
              <a:rPr lang="en-US" sz="1575" b="1" dirty="0">
                <a:solidFill>
                  <a:srgbClr val="043962"/>
                </a:solidFill>
                <a:latin typeface="Arial Black" pitchFamily="34" charset="0"/>
                <a:ea typeface="Arial Black" pitchFamily="34" charset="-122"/>
                <a:cs typeface="Arial Black" pitchFamily="34" charset="-120"/>
              </a:rPr>
              <a:t>MON</a:t>
            </a:r>
            <a:endParaRPr lang="en-US" sz="1575" dirty="0"/>
          </a:p>
        </p:txBody>
      </p:sp>
      <p:sp>
        <p:nvSpPr>
          <p:cNvPr id="8" name="Text 6"/>
          <p:cNvSpPr/>
          <p:nvPr/>
        </p:nvSpPr>
        <p:spPr>
          <a:xfrm>
            <a:off x="523875" y="2010867"/>
            <a:ext cx="1990725"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b="1" dirty="0">
                <a:solidFill>
                  <a:srgbClr val="063C67"/>
                </a:solidFill>
                <a:latin typeface="Calibri" pitchFamily="34" charset="0"/>
                <a:ea typeface="Calibri" pitchFamily="34" charset="-122"/>
                <a:cs typeface="Calibri" pitchFamily="34" charset="-120"/>
              </a:rPr>
              <a:t>Planning</a:t>
            </a:r>
            <a:endParaRPr lang="en-US" sz="1425" dirty="0"/>
          </a:p>
        </p:txBody>
      </p:sp>
      <p:sp>
        <p:nvSpPr>
          <p:cNvPr id="9" name="Text 7"/>
          <p:cNvSpPr/>
          <p:nvPr/>
        </p:nvSpPr>
        <p:spPr>
          <a:xfrm>
            <a:off x="523875" y="2311301"/>
            <a:ext cx="1990725" cy="248543"/>
          </a:xfrm>
          <a:prstGeom prst="rect">
            <a:avLst/>
          </a:prstGeom>
          <a:noFill/>
          <a:ln/>
        </p:spPr>
        <p:txBody>
          <a:bodyPr wrap="square" lIns="25400" tIns="25400" rIns="25400" bIns="25400" rtlCol="0" anchor="t">
            <a:normAutofit lnSpcReduction="10000"/>
          </a:bodyPr>
          <a:lstStyle/>
          <a:p>
            <a:pPr marL="0" indent="0" algn="l">
              <a:lnSpc>
                <a:spcPct val="106935"/>
              </a:lnSpc>
              <a:buNone/>
            </a:pPr>
            <a:r>
              <a:rPr lang="en-US" sz="1275" dirty="0">
                <a:solidFill>
                  <a:srgbClr val="063C67"/>
                </a:solidFill>
                <a:latin typeface="Calibri" pitchFamily="34" charset="0"/>
                <a:ea typeface="Calibri" pitchFamily="34" charset="-122"/>
                <a:cs typeface="Calibri" pitchFamily="34" charset="-120"/>
              </a:rPr>
              <a:t>The week’s objective</a:t>
            </a:r>
            <a:endParaRPr lang="en-US" sz="1275" dirty="0"/>
          </a:p>
        </p:txBody>
      </p:sp>
      <p:sp>
        <p:nvSpPr>
          <p:cNvPr id="10" name="Shape 8"/>
          <p:cNvSpPr/>
          <p:nvPr/>
        </p:nvSpPr>
        <p:spPr>
          <a:xfrm>
            <a:off x="2638425" y="1428750"/>
            <a:ext cx="2152650" cy="1511300"/>
          </a:xfrm>
          <a:prstGeom prst="rect">
            <a:avLst/>
          </a:prstGeom>
          <a:solidFill>
            <a:srgbClr val="F4F4F6"/>
          </a:solidFill>
          <a:ln/>
        </p:spPr>
        <p:txBody>
          <a:bodyPr/>
          <a:lstStyle/>
          <a:p>
            <a:endParaRPr lang="fr-FR"/>
          </a:p>
        </p:txBody>
      </p:sp>
      <p:sp>
        <p:nvSpPr>
          <p:cNvPr id="11" name="Shape 9"/>
          <p:cNvSpPr/>
          <p:nvPr/>
        </p:nvSpPr>
        <p:spPr>
          <a:xfrm>
            <a:off x="2638425" y="1428750"/>
            <a:ext cx="2152650" cy="44450"/>
          </a:xfrm>
          <a:prstGeom prst="rect">
            <a:avLst/>
          </a:prstGeom>
          <a:solidFill>
            <a:srgbClr val="C0C0C8"/>
          </a:solidFill>
          <a:ln/>
        </p:spPr>
        <p:txBody>
          <a:bodyPr/>
          <a:lstStyle/>
          <a:p>
            <a:endParaRPr lang="fr-FR"/>
          </a:p>
        </p:txBody>
      </p:sp>
      <p:sp>
        <p:nvSpPr>
          <p:cNvPr id="12" name="Text 10"/>
          <p:cNvSpPr/>
          <p:nvPr/>
        </p:nvSpPr>
        <p:spPr>
          <a:xfrm>
            <a:off x="2809875" y="1644650"/>
            <a:ext cx="1990725" cy="328116"/>
          </a:xfrm>
          <a:prstGeom prst="rect">
            <a:avLst/>
          </a:prstGeom>
          <a:noFill/>
          <a:ln/>
        </p:spPr>
        <p:txBody>
          <a:bodyPr wrap="square" lIns="25400" tIns="25400" rIns="25400" bIns="25400" rtlCol="0" anchor="t">
            <a:normAutofit/>
          </a:bodyPr>
          <a:lstStyle/>
          <a:p>
            <a:pPr marL="0" indent="0" algn="l">
              <a:lnSpc>
                <a:spcPct val="101500"/>
              </a:lnSpc>
              <a:buNone/>
            </a:pPr>
            <a:r>
              <a:rPr lang="en-US" sz="1575" b="1" dirty="0">
                <a:solidFill>
                  <a:srgbClr val="043962"/>
                </a:solidFill>
                <a:latin typeface="Arial Black" pitchFamily="34" charset="0"/>
                <a:ea typeface="Arial Black" pitchFamily="34" charset="-122"/>
                <a:cs typeface="Arial Black" pitchFamily="34" charset="-120"/>
              </a:rPr>
              <a:t>TUE</a:t>
            </a:r>
            <a:endParaRPr lang="en-US" sz="1575" dirty="0"/>
          </a:p>
        </p:txBody>
      </p:sp>
      <p:sp>
        <p:nvSpPr>
          <p:cNvPr id="13" name="Text 11"/>
          <p:cNvSpPr/>
          <p:nvPr/>
        </p:nvSpPr>
        <p:spPr>
          <a:xfrm>
            <a:off x="2809875" y="2010867"/>
            <a:ext cx="1990725"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b="1" dirty="0">
                <a:solidFill>
                  <a:srgbClr val="063C67"/>
                </a:solidFill>
                <a:latin typeface="Calibri" pitchFamily="34" charset="0"/>
                <a:ea typeface="Calibri" pitchFamily="34" charset="-122"/>
                <a:cs typeface="Calibri" pitchFamily="34" charset="-120"/>
              </a:rPr>
              <a:t>Scrum</a:t>
            </a:r>
            <a:endParaRPr lang="en-US" sz="1425" dirty="0"/>
          </a:p>
        </p:txBody>
      </p:sp>
      <p:sp>
        <p:nvSpPr>
          <p:cNvPr id="14" name="Text 12"/>
          <p:cNvSpPr/>
          <p:nvPr/>
        </p:nvSpPr>
        <p:spPr>
          <a:xfrm>
            <a:off x="2809875" y="2311301"/>
            <a:ext cx="1990725" cy="248543"/>
          </a:xfrm>
          <a:prstGeom prst="rect">
            <a:avLst/>
          </a:prstGeom>
          <a:noFill/>
          <a:ln/>
        </p:spPr>
        <p:txBody>
          <a:bodyPr wrap="square" lIns="25400" tIns="25400" rIns="25400" bIns="25400" rtlCol="0" anchor="t">
            <a:normAutofit lnSpcReduction="10000"/>
          </a:bodyPr>
          <a:lstStyle/>
          <a:p>
            <a:pPr marL="0" indent="0" algn="l">
              <a:lnSpc>
                <a:spcPct val="106935"/>
              </a:lnSpc>
              <a:buNone/>
            </a:pPr>
            <a:r>
              <a:rPr lang="en-US" sz="1275" dirty="0">
                <a:solidFill>
                  <a:srgbClr val="063C67"/>
                </a:solidFill>
                <a:latin typeface="Calibri" pitchFamily="34" charset="0"/>
                <a:ea typeface="Calibri" pitchFamily="34" charset="-122"/>
                <a:cs typeface="Calibri" pitchFamily="34" charset="-120"/>
              </a:rPr>
              <a:t>Blockages surface in a day</a:t>
            </a:r>
            <a:endParaRPr lang="en-US" sz="1275" dirty="0"/>
          </a:p>
        </p:txBody>
      </p:sp>
      <p:sp>
        <p:nvSpPr>
          <p:cNvPr id="15" name="Shape 13"/>
          <p:cNvSpPr/>
          <p:nvPr/>
        </p:nvSpPr>
        <p:spPr>
          <a:xfrm>
            <a:off x="4924425" y="1428750"/>
            <a:ext cx="2152650" cy="1511300"/>
          </a:xfrm>
          <a:prstGeom prst="rect">
            <a:avLst/>
          </a:prstGeom>
          <a:solidFill>
            <a:srgbClr val="E9F5FB"/>
          </a:solidFill>
          <a:ln/>
        </p:spPr>
        <p:txBody>
          <a:bodyPr/>
          <a:lstStyle/>
          <a:p>
            <a:endParaRPr lang="fr-FR"/>
          </a:p>
        </p:txBody>
      </p:sp>
      <p:sp>
        <p:nvSpPr>
          <p:cNvPr id="16" name="Shape 14"/>
          <p:cNvSpPr/>
          <p:nvPr/>
        </p:nvSpPr>
        <p:spPr>
          <a:xfrm>
            <a:off x="4924425" y="1428750"/>
            <a:ext cx="2152650" cy="44450"/>
          </a:xfrm>
          <a:prstGeom prst="rect">
            <a:avLst/>
          </a:prstGeom>
          <a:solidFill>
            <a:srgbClr val="1D93C9"/>
          </a:solidFill>
          <a:ln/>
        </p:spPr>
        <p:txBody>
          <a:bodyPr/>
          <a:lstStyle/>
          <a:p>
            <a:endParaRPr lang="fr-FR"/>
          </a:p>
        </p:txBody>
      </p:sp>
      <p:sp>
        <p:nvSpPr>
          <p:cNvPr id="17" name="Text 15"/>
          <p:cNvSpPr/>
          <p:nvPr/>
        </p:nvSpPr>
        <p:spPr>
          <a:xfrm>
            <a:off x="5095875" y="1644650"/>
            <a:ext cx="1990725" cy="328116"/>
          </a:xfrm>
          <a:prstGeom prst="rect">
            <a:avLst/>
          </a:prstGeom>
          <a:noFill/>
          <a:ln/>
        </p:spPr>
        <p:txBody>
          <a:bodyPr wrap="square" lIns="25400" tIns="25400" rIns="25400" bIns="25400" rtlCol="0" anchor="t">
            <a:normAutofit/>
          </a:bodyPr>
          <a:lstStyle/>
          <a:p>
            <a:pPr marL="0" indent="0" algn="l">
              <a:lnSpc>
                <a:spcPct val="101500"/>
              </a:lnSpc>
              <a:buNone/>
            </a:pPr>
            <a:r>
              <a:rPr lang="en-US" sz="1575" b="1" dirty="0">
                <a:solidFill>
                  <a:srgbClr val="043962"/>
                </a:solidFill>
                <a:latin typeface="Arial Black" pitchFamily="34" charset="0"/>
                <a:ea typeface="Arial Black" pitchFamily="34" charset="-122"/>
                <a:cs typeface="Arial Black" pitchFamily="34" charset="-120"/>
              </a:rPr>
              <a:t>WED</a:t>
            </a:r>
            <a:endParaRPr lang="en-US" sz="1575" dirty="0"/>
          </a:p>
        </p:txBody>
      </p:sp>
      <p:sp>
        <p:nvSpPr>
          <p:cNvPr id="18" name="Text 16"/>
          <p:cNvSpPr/>
          <p:nvPr/>
        </p:nvSpPr>
        <p:spPr>
          <a:xfrm>
            <a:off x="5095875" y="2010867"/>
            <a:ext cx="1990725"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b="1" dirty="0">
                <a:solidFill>
                  <a:srgbClr val="063C67"/>
                </a:solidFill>
                <a:latin typeface="Calibri" pitchFamily="34" charset="0"/>
                <a:ea typeface="Calibri" pitchFamily="34" charset="-122"/>
                <a:cs typeface="Calibri" pitchFamily="34" charset="-120"/>
              </a:rPr>
              <a:t>Programme director</a:t>
            </a:r>
            <a:endParaRPr lang="en-US" sz="1425" dirty="0"/>
          </a:p>
        </p:txBody>
      </p:sp>
      <p:sp>
        <p:nvSpPr>
          <p:cNvPr id="19" name="Text 17"/>
          <p:cNvSpPr/>
          <p:nvPr/>
        </p:nvSpPr>
        <p:spPr>
          <a:xfrm>
            <a:off x="5095875" y="2311301"/>
            <a:ext cx="1990725" cy="248543"/>
          </a:xfrm>
          <a:prstGeom prst="rect">
            <a:avLst/>
          </a:prstGeom>
          <a:noFill/>
          <a:ln/>
        </p:spPr>
        <p:txBody>
          <a:bodyPr wrap="square" lIns="25400" tIns="25400" rIns="25400" bIns="25400" rtlCol="0" anchor="t">
            <a:normAutofit lnSpcReduction="10000"/>
          </a:bodyPr>
          <a:lstStyle/>
          <a:p>
            <a:pPr marL="0" indent="0" algn="l">
              <a:lnSpc>
                <a:spcPct val="106935"/>
              </a:lnSpc>
              <a:buNone/>
            </a:pPr>
            <a:r>
              <a:rPr lang="en-US" sz="1275" dirty="0">
                <a:solidFill>
                  <a:srgbClr val="063C67"/>
                </a:solidFill>
                <a:latin typeface="Calibri" pitchFamily="34" charset="0"/>
                <a:ea typeface="Calibri" pitchFamily="34" charset="-122"/>
                <a:cs typeface="Calibri" pitchFamily="34" charset="-120"/>
              </a:rPr>
              <a:t>Scientific decisions</a:t>
            </a:r>
            <a:endParaRPr lang="en-US" sz="1275" dirty="0"/>
          </a:p>
        </p:txBody>
      </p:sp>
      <p:sp>
        <p:nvSpPr>
          <p:cNvPr id="20" name="Shape 18"/>
          <p:cNvSpPr/>
          <p:nvPr/>
        </p:nvSpPr>
        <p:spPr>
          <a:xfrm>
            <a:off x="7210425" y="1428750"/>
            <a:ext cx="2152650" cy="1511300"/>
          </a:xfrm>
          <a:prstGeom prst="rect">
            <a:avLst/>
          </a:prstGeom>
          <a:solidFill>
            <a:srgbClr val="F4F4F6"/>
          </a:solidFill>
          <a:ln/>
        </p:spPr>
        <p:txBody>
          <a:bodyPr/>
          <a:lstStyle/>
          <a:p>
            <a:endParaRPr lang="fr-FR"/>
          </a:p>
        </p:txBody>
      </p:sp>
      <p:sp>
        <p:nvSpPr>
          <p:cNvPr id="21" name="Shape 19"/>
          <p:cNvSpPr/>
          <p:nvPr/>
        </p:nvSpPr>
        <p:spPr>
          <a:xfrm>
            <a:off x="7210425" y="1428750"/>
            <a:ext cx="2152650" cy="44450"/>
          </a:xfrm>
          <a:prstGeom prst="rect">
            <a:avLst/>
          </a:prstGeom>
          <a:solidFill>
            <a:srgbClr val="C0C0C8"/>
          </a:solidFill>
          <a:ln/>
        </p:spPr>
        <p:txBody>
          <a:bodyPr/>
          <a:lstStyle/>
          <a:p>
            <a:endParaRPr lang="fr-FR"/>
          </a:p>
        </p:txBody>
      </p:sp>
      <p:sp>
        <p:nvSpPr>
          <p:cNvPr id="22" name="Text 20"/>
          <p:cNvSpPr/>
          <p:nvPr/>
        </p:nvSpPr>
        <p:spPr>
          <a:xfrm>
            <a:off x="7381875" y="1644650"/>
            <a:ext cx="1990725" cy="328116"/>
          </a:xfrm>
          <a:prstGeom prst="rect">
            <a:avLst/>
          </a:prstGeom>
          <a:noFill/>
          <a:ln/>
        </p:spPr>
        <p:txBody>
          <a:bodyPr wrap="square" lIns="25400" tIns="25400" rIns="25400" bIns="25400" rtlCol="0" anchor="t">
            <a:normAutofit/>
          </a:bodyPr>
          <a:lstStyle/>
          <a:p>
            <a:pPr marL="0" indent="0" algn="l">
              <a:lnSpc>
                <a:spcPct val="101500"/>
              </a:lnSpc>
              <a:buNone/>
            </a:pPr>
            <a:r>
              <a:rPr lang="en-US" sz="1575" b="1" dirty="0">
                <a:solidFill>
                  <a:srgbClr val="043962"/>
                </a:solidFill>
                <a:latin typeface="Arial Black" pitchFamily="34" charset="0"/>
                <a:ea typeface="Arial Black" pitchFamily="34" charset="-122"/>
                <a:cs typeface="Arial Black" pitchFamily="34" charset="-120"/>
              </a:rPr>
              <a:t>THU</a:t>
            </a:r>
            <a:endParaRPr lang="en-US" sz="1575" dirty="0"/>
          </a:p>
        </p:txBody>
      </p:sp>
      <p:sp>
        <p:nvSpPr>
          <p:cNvPr id="23" name="Text 21"/>
          <p:cNvSpPr/>
          <p:nvPr/>
        </p:nvSpPr>
        <p:spPr>
          <a:xfrm>
            <a:off x="7381875" y="2010867"/>
            <a:ext cx="1990725"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b="1" dirty="0">
                <a:solidFill>
                  <a:srgbClr val="063C67"/>
                </a:solidFill>
                <a:latin typeface="Calibri" pitchFamily="34" charset="0"/>
                <a:ea typeface="Calibri" pitchFamily="34" charset="-122"/>
                <a:cs typeface="Calibri" pitchFamily="34" charset="-120"/>
              </a:rPr>
              <a:t>Scrum</a:t>
            </a:r>
            <a:endParaRPr lang="en-US" sz="1425" dirty="0"/>
          </a:p>
        </p:txBody>
      </p:sp>
      <p:sp>
        <p:nvSpPr>
          <p:cNvPr id="24" name="Text 22"/>
          <p:cNvSpPr/>
          <p:nvPr/>
        </p:nvSpPr>
        <p:spPr>
          <a:xfrm>
            <a:off x="7381875" y="2311301"/>
            <a:ext cx="1990725" cy="248543"/>
          </a:xfrm>
          <a:prstGeom prst="rect">
            <a:avLst/>
          </a:prstGeom>
          <a:noFill/>
          <a:ln/>
        </p:spPr>
        <p:txBody>
          <a:bodyPr wrap="square" lIns="25400" tIns="25400" rIns="25400" bIns="25400" rtlCol="0" anchor="t">
            <a:normAutofit lnSpcReduction="10000"/>
          </a:bodyPr>
          <a:lstStyle/>
          <a:p>
            <a:pPr marL="0" indent="0" algn="l">
              <a:lnSpc>
                <a:spcPct val="106935"/>
              </a:lnSpc>
              <a:buNone/>
            </a:pPr>
            <a:r>
              <a:rPr lang="en-US" sz="1275" dirty="0">
                <a:solidFill>
                  <a:srgbClr val="063C67"/>
                </a:solidFill>
                <a:latin typeface="Calibri" pitchFamily="34" charset="0"/>
                <a:ea typeface="Calibri" pitchFamily="34" charset="-122"/>
                <a:cs typeface="Calibri" pitchFamily="34" charset="-120"/>
              </a:rPr>
              <a:t>Course correction</a:t>
            </a:r>
            <a:endParaRPr lang="en-US" sz="1275" dirty="0"/>
          </a:p>
        </p:txBody>
      </p:sp>
      <p:sp>
        <p:nvSpPr>
          <p:cNvPr id="25" name="Shape 23"/>
          <p:cNvSpPr/>
          <p:nvPr/>
        </p:nvSpPr>
        <p:spPr>
          <a:xfrm>
            <a:off x="9496425" y="1428750"/>
            <a:ext cx="2152650" cy="1511300"/>
          </a:xfrm>
          <a:prstGeom prst="rect">
            <a:avLst/>
          </a:prstGeom>
          <a:solidFill>
            <a:srgbClr val="FFDA65"/>
          </a:solidFill>
          <a:ln/>
        </p:spPr>
        <p:txBody>
          <a:bodyPr/>
          <a:lstStyle/>
          <a:p>
            <a:endParaRPr lang="fr-FR"/>
          </a:p>
        </p:txBody>
      </p:sp>
      <p:sp>
        <p:nvSpPr>
          <p:cNvPr id="26" name="Shape 24"/>
          <p:cNvSpPr/>
          <p:nvPr/>
        </p:nvSpPr>
        <p:spPr>
          <a:xfrm>
            <a:off x="9496425" y="1428750"/>
            <a:ext cx="2152650" cy="44450"/>
          </a:xfrm>
          <a:prstGeom prst="rect">
            <a:avLst/>
          </a:prstGeom>
          <a:solidFill>
            <a:srgbClr val="063C67"/>
          </a:solidFill>
          <a:ln/>
        </p:spPr>
        <p:txBody>
          <a:bodyPr/>
          <a:lstStyle/>
          <a:p>
            <a:endParaRPr lang="fr-FR"/>
          </a:p>
        </p:txBody>
      </p:sp>
      <p:sp>
        <p:nvSpPr>
          <p:cNvPr id="27" name="Text 25"/>
          <p:cNvSpPr/>
          <p:nvPr/>
        </p:nvSpPr>
        <p:spPr>
          <a:xfrm>
            <a:off x="9667875" y="1644650"/>
            <a:ext cx="1990725" cy="328116"/>
          </a:xfrm>
          <a:prstGeom prst="rect">
            <a:avLst/>
          </a:prstGeom>
          <a:noFill/>
          <a:ln/>
        </p:spPr>
        <p:txBody>
          <a:bodyPr wrap="square" lIns="25400" tIns="25400" rIns="25400" bIns="25400" rtlCol="0" anchor="t">
            <a:normAutofit/>
          </a:bodyPr>
          <a:lstStyle/>
          <a:p>
            <a:pPr marL="0" indent="0" algn="l">
              <a:lnSpc>
                <a:spcPct val="101500"/>
              </a:lnSpc>
              <a:buNone/>
            </a:pPr>
            <a:r>
              <a:rPr lang="en-US" sz="1575" b="1" dirty="0">
                <a:solidFill>
                  <a:srgbClr val="043962"/>
                </a:solidFill>
                <a:latin typeface="Arial Black" pitchFamily="34" charset="0"/>
                <a:ea typeface="Arial Black" pitchFamily="34" charset="-122"/>
                <a:cs typeface="Arial Black" pitchFamily="34" charset="-120"/>
              </a:rPr>
              <a:t>FRI</a:t>
            </a:r>
            <a:endParaRPr lang="en-US" sz="1575" dirty="0"/>
          </a:p>
        </p:txBody>
      </p:sp>
      <p:sp>
        <p:nvSpPr>
          <p:cNvPr id="28" name="Text 26"/>
          <p:cNvSpPr/>
          <p:nvPr/>
        </p:nvSpPr>
        <p:spPr>
          <a:xfrm>
            <a:off x="9667875" y="2010867"/>
            <a:ext cx="1990725"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b="1" dirty="0">
                <a:solidFill>
                  <a:srgbClr val="063C67"/>
                </a:solidFill>
                <a:latin typeface="Calibri" pitchFamily="34" charset="0"/>
                <a:ea typeface="Calibri" pitchFamily="34" charset="-122"/>
                <a:cs typeface="Calibri" pitchFamily="34" charset="-120"/>
              </a:rPr>
              <a:t>Demonstration</a:t>
            </a:r>
            <a:endParaRPr lang="en-US" sz="1425" dirty="0"/>
          </a:p>
        </p:txBody>
      </p:sp>
      <p:sp>
        <p:nvSpPr>
          <p:cNvPr id="29" name="Text 27"/>
          <p:cNvSpPr/>
          <p:nvPr/>
        </p:nvSpPr>
        <p:spPr>
          <a:xfrm>
            <a:off x="9667875" y="2311301"/>
            <a:ext cx="1990725" cy="248543"/>
          </a:xfrm>
          <a:prstGeom prst="rect">
            <a:avLst/>
          </a:prstGeom>
          <a:noFill/>
          <a:ln/>
        </p:spPr>
        <p:txBody>
          <a:bodyPr wrap="square" lIns="25400" tIns="25400" rIns="25400" bIns="25400" rtlCol="0" anchor="t">
            <a:normAutofit lnSpcReduction="10000"/>
          </a:bodyPr>
          <a:lstStyle/>
          <a:p>
            <a:pPr marL="0" indent="0" algn="l">
              <a:lnSpc>
                <a:spcPct val="106935"/>
              </a:lnSpc>
              <a:buNone/>
            </a:pPr>
            <a:r>
              <a:rPr lang="en-US" sz="1275" dirty="0">
                <a:solidFill>
                  <a:srgbClr val="063C67"/>
                </a:solidFill>
                <a:latin typeface="Calibri" pitchFamily="34" charset="0"/>
                <a:ea typeface="Calibri" pitchFamily="34" charset="-122"/>
                <a:cs typeface="Calibri" pitchFamily="34" charset="-120"/>
              </a:rPr>
              <a:t>Shown</a:t>
            </a:r>
            <a:endParaRPr lang="en-US" sz="1275" dirty="0"/>
          </a:p>
        </p:txBody>
      </p:sp>
      <p:sp>
        <p:nvSpPr>
          <p:cNvPr id="30" name="Text 28"/>
          <p:cNvSpPr/>
          <p:nvPr/>
        </p:nvSpPr>
        <p:spPr>
          <a:xfrm>
            <a:off x="352425" y="3552825"/>
            <a:ext cx="12635865"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TEST AND LEARN MEANS SOMETHING ONLY IF THINGS WERE ABANDONED</a:t>
            </a:r>
            <a:endParaRPr lang="en-US" sz="1125" dirty="0"/>
          </a:p>
        </p:txBody>
      </p:sp>
      <p:sp>
        <p:nvSpPr>
          <p:cNvPr id="31" name="Shape 29"/>
          <p:cNvSpPr/>
          <p:nvPr/>
        </p:nvSpPr>
        <p:spPr>
          <a:xfrm>
            <a:off x="352425" y="3931444"/>
            <a:ext cx="7839075" cy="25400"/>
          </a:xfrm>
          <a:prstGeom prst="rect">
            <a:avLst/>
          </a:prstGeom>
          <a:solidFill>
            <a:srgbClr val="FFDA65"/>
          </a:solidFill>
          <a:ln/>
        </p:spPr>
        <p:txBody>
          <a:bodyPr/>
          <a:lstStyle/>
          <a:p>
            <a:endParaRPr lang="fr-FR"/>
          </a:p>
        </p:txBody>
      </p:sp>
      <p:pic>
        <p:nvPicPr>
          <p:cNvPr id="32" name="Image 0" descr="preencoded.png"/>
          <p:cNvPicPr>
            <a:picLocks noChangeAspect="1"/>
          </p:cNvPicPr>
          <p:nvPr/>
        </p:nvPicPr>
        <p:blipFill>
          <a:blip r:embed="rId3"/>
          <a:stretch>
            <a:fillRect/>
          </a:stretch>
        </p:blipFill>
        <p:spPr>
          <a:xfrm>
            <a:off x="352425" y="4090194"/>
            <a:ext cx="381000" cy="381000"/>
          </a:xfrm>
          <a:prstGeom prst="rect">
            <a:avLst/>
          </a:prstGeom>
        </p:spPr>
      </p:pic>
      <p:sp>
        <p:nvSpPr>
          <p:cNvPr id="33" name="Text 30"/>
          <p:cNvSpPr/>
          <p:nvPr/>
        </p:nvSpPr>
        <p:spPr>
          <a:xfrm>
            <a:off x="866775" y="4160639"/>
            <a:ext cx="4369882" cy="278110"/>
          </a:xfrm>
          <a:prstGeom prst="rect">
            <a:avLst/>
          </a:prstGeom>
          <a:noFill/>
          <a:ln/>
        </p:spPr>
        <p:txBody>
          <a:bodyPr wrap="square" lIns="25400" tIns="25400" rIns="25400" bIns="25400" rtlCol="0" anchor="t">
            <a:normAutofit lnSpcReduction="10000"/>
          </a:bodyPr>
          <a:lstStyle/>
          <a:p>
            <a:pPr marL="0" indent="0" algn="l">
              <a:lnSpc>
                <a:spcPct val="99474"/>
              </a:lnSpc>
              <a:buNone/>
            </a:pPr>
            <a:r>
              <a:rPr lang="en-US" sz="1575" b="1" dirty="0">
                <a:solidFill>
                  <a:srgbClr val="063C67"/>
                </a:solidFill>
                <a:latin typeface="Calibri" pitchFamily="34" charset="0"/>
                <a:ea typeface="Calibri" pitchFamily="34" charset="-122"/>
                <a:cs typeface="Calibri" pitchFamily="34" charset="-120"/>
              </a:rPr>
              <a:t>The first urgency model, and why it could not fit</a:t>
            </a:r>
            <a:endParaRPr lang="en-US" sz="1575" dirty="0"/>
          </a:p>
        </p:txBody>
      </p:sp>
      <p:sp>
        <p:nvSpPr>
          <p:cNvPr id="34" name="Shape 31"/>
          <p:cNvSpPr/>
          <p:nvPr/>
        </p:nvSpPr>
        <p:spPr>
          <a:xfrm>
            <a:off x="352425" y="4585494"/>
            <a:ext cx="7839075" cy="476250"/>
          </a:xfrm>
          <a:prstGeom prst="rect">
            <a:avLst/>
          </a:prstGeom>
          <a:solidFill>
            <a:srgbClr val="F4F4F6"/>
          </a:solidFill>
          <a:ln/>
        </p:spPr>
        <p:txBody>
          <a:bodyPr/>
          <a:lstStyle/>
          <a:p>
            <a:endParaRPr lang="fr-FR"/>
          </a:p>
        </p:txBody>
      </p:sp>
      <p:pic>
        <p:nvPicPr>
          <p:cNvPr id="35" name="Image 1" descr="preencoded.png"/>
          <p:cNvPicPr>
            <a:picLocks noChangeAspect="1"/>
          </p:cNvPicPr>
          <p:nvPr/>
        </p:nvPicPr>
        <p:blipFill>
          <a:blip r:embed="rId4"/>
          <a:stretch>
            <a:fillRect/>
          </a:stretch>
        </p:blipFill>
        <p:spPr>
          <a:xfrm>
            <a:off x="485775" y="4690269"/>
            <a:ext cx="224830" cy="266700"/>
          </a:xfrm>
          <a:prstGeom prst="rect">
            <a:avLst/>
          </a:prstGeom>
        </p:spPr>
      </p:pic>
      <p:sp>
        <p:nvSpPr>
          <p:cNvPr id="36" name="Text 32"/>
          <p:cNvSpPr/>
          <p:nvPr/>
        </p:nvSpPr>
        <p:spPr>
          <a:xfrm>
            <a:off x="824905" y="4712196"/>
            <a:ext cx="5436732"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A single time-driven curve: urgency rose only as a deadline approached</a:t>
            </a:r>
            <a:endParaRPr lang="en-US" sz="1350" dirty="0"/>
          </a:p>
        </p:txBody>
      </p:sp>
      <p:sp>
        <p:nvSpPr>
          <p:cNvPr id="37" name="Shape 33"/>
          <p:cNvSpPr/>
          <p:nvPr/>
        </p:nvSpPr>
        <p:spPr>
          <a:xfrm>
            <a:off x="352425" y="5147469"/>
            <a:ext cx="7839075" cy="476250"/>
          </a:xfrm>
          <a:prstGeom prst="rect">
            <a:avLst/>
          </a:prstGeom>
          <a:solidFill>
            <a:srgbClr val="F4F4F6"/>
          </a:solidFill>
          <a:ln/>
        </p:spPr>
        <p:txBody>
          <a:bodyPr/>
          <a:lstStyle/>
          <a:p>
            <a:endParaRPr lang="fr-FR"/>
          </a:p>
        </p:txBody>
      </p:sp>
      <p:pic>
        <p:nvPicPr>
          <p:cNvPr id="38" name="Image 2" descr="preencoded.png"/>
          <p:cNvPicPr>
            <a:picLocks noChangeAspect="1"/>
          </p:cNvPicPr>
          <p:nvPr/>
        </p:nvPicPr>
        <p:blipFill>
          <a:blip r:embed="rId5"/>
          <a:stretch>
            <a:fillRect/>
          </a:stretch>
        </p:blipFill>
        <p:spPr>
          <a:xfrm>
            <a:off x="485775" y="5252244"/>
            <a:ext cx="398859" cy="266700"/>
          </a:xfrm>
          <a:prstGeom prst="rect">
            <a:avLst/>
          </a:prstGeom>
        </p:spPr>
      </p:pic>
      <p:sp>
        <p:nvSpPr>
          <p:cNvPr id="39" name="Text 34"/>
          <p:cNvSpPr/>
          <p:nvPr/>
        </p:nvSpPr>
        <p:spPr>
          <a:xfrm>
            <a:off x="998934" y="5274171"/>
            <a:ext cx="4387126"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It could not represent a node </a:t>
            </a:r>
            <a:r>
              <a:rPr lang="en-US" sz="1350" b="1" dirty="0">
                <a:solidFill>
                  <a:srgbClr val="063C67"/>
                </a:solidFill>
                <a:latin typeface="Calibri" pitchFamily="34" charset="0"/>
                <a:ea typeface="Calibri" pitchFamily="34" charset="-122"/>
                <a:cs typeface="Calibri" pitchFamily="34" charset="-120"/>
              </a:rPr>
              <a:t>on time but out of capacity</a:t>
            </a:r>
            <a:endParaRPr lang="en-US" sz="1350" dirty="0"/>
          </a:p>
        </p:txBody>
      </p:sp>
      <p:sp>
        <p:nvSpPr>
          <p:cNvPr id="40" name="Shape 35"/>
          <p:cNvSpPr/>
          <p:nvPr/>
        </p:nvSpPr>
        <p:spPr>
          <a:xfrm>
            <a:off x="352425" y="5709444"/>
            <a:ext cx="7839075" cy="476250"/>
          </a:xfrm>
          <a:prstGeom prst="rect">
            <a:avLst/>
          </a:prstGeom>
          <a:solidFill>
            <a:srgbClr val="F4F4F6"/>
          </a:solidFill>
          <a:ln/>
        </p:spPr>
        <p:txBody>
          <a:bodyPr/>
          <a:lstStyle/>
          <a:p>
            <a:endParaRPr lang="fr-FR"/>
          </a:p>
        </p:txBody>
      </p:sp>
      <p:pic>
        <p:nvPicPr>
          <p:cNvPr id="41" name="Image 3" descr="preencoded.png"/>
          <p:cNvPicPr>
            <a:picLocks noChangeAspect="1"/>
          </p:cNvPicPr>
          <p:nvPr/>
        </p:nvPicPr>
        <p:blipFill>
          <a:blip r:embed="rId6"/>
          <a:stretch>
            <a:fillRect/>
          </a:stretch>
        </p:blipFill>
        <p:spPr>
          <a:xfrm>
            <a:off x="485775" y="5814219"/>
            <a:ext cx="266700" cy="266700"/>
          </a:xfrm>
          <a:prstGeom prst="rect">
            <a:avLst/>
          </a:prstGeom>
        </p:spPr>
      </p:pic>
      <p:sp>
        <p:nvSpPr>
          <p:cNvPr id="42" name="Text 36"/>
          <p:cNvSpPr/>
          <p:nvPr/>
        </p:nvSpPr>
        <p:spPr>
          <a:xfrm>
            <a:off x="866775" y="5836146"/>
            <a:ext cx="3352255"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It discarded indicators the twin already held</a:t>
            </a:r>
            <a:endParaRPr lang="en-US" sz="1350" dirty="0"/>
          </a:p>
        </p:txBody>
      </p:sp>
      <p:sp>
        <p:nvSpPr>
          <p:cNvPr id="43" name="Shape 37"/>
          <p:cNvSpPr/>
          <p:nvPr/>
        </p:nvSpPr>
        <p:spPr>
          <a:xfrm>
            <a:off x="352425" y="6271419"/>
            <a:ext cx="7839075" cy="476250"/>
          </a:xfrm>
          <a:prstGeom prst="rect">
            <a:avLst/>
          </a:prstGeom>
          <a:solidFill>
            <a:srgbClr val="FFF6DA"/>
          </a:solidFill>
          <a:ln/>
        </p:spPr>
        <p:txBody>
          <a:bodyPr/>
          <a:lstStyle/>
          <a:p>
            <a:endParaRPr lang="fr-FR"/>
          </a:p>
        </p:txBody>
      </p:sp>
      <p:pic>
        <p:nvPicPr>
          <p:cNvPr id="44" name="Image 4" descr="preencoded.png"/>
          <p:cNvPicPr>
            <a:picLocks noChangeAspect="1"/>
          </p:cNvPicPr>
          <p:nvPr/>
        </p:nvPicPr>
        <p:blipFill>
          <a:blip r:embed="rId7"/>
          <a:stretch>
            <a:fillRect/>
          </a:stretch>
        </p:blipFill>
        <p:spPr>
          <a:xfrm>
            <a:off x="485775" y="6376194"/>
            <a:ext cx="266700" cy="266700"/>
          </a:xfrm>
          <a:prstGeom prst="rect">
            <a:avLst/>
          </a:prstGeom>
        </p:spPr>
      </p:pic>
      <p:sp>
        <p:nvSpPr>
          <p:cNvPr id="45" name="Text 38"/>
          <p:cNvSpPr/>
          <p:nvPr/>
        </p:nvSpPr>
        <p:spPr>
          <a:xfrm>
            <a:off x="866775" y="6398121"/>
            <a:ext cx="4824125"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Dropped in April for multi-block aggregation. Cost: three weeks</a:t>
            </a:r>
            <a:endParaRPr lang="en-US" sz="1350" dirty="0"/>
          </a:p>
        </p:txBody>
      </p:sp>
      <p:pic>
        <p:nvPicPr>
          <p:cNvPr id="46" name="Image 5" descr="preencoded.png"/>
          <p:cNvPicPr>
            <a:picLocks noChangeAspect="1"/>
          </p:cNvPicPr>
          <p:nvPr/>
        </p:nvPicPr>
        <p:blipFill>
          <a:blip r:embed="rId8"/>
          <a:stretch>
            <a:fillRect/>
          </a:stretch>
        </p:blipFill>
        <p:spPr>
          <a:xfrm>
            <a:off x="11229975" y="6567488"/>
            <a:ext cx="714375" cy="71438"/>
          </a:xfrm>
          <a:prstGeom prst="rect">
            <a:avLst/>
          </a:prstGeom>
        </p:spPr>
      </p:pic>
      <p:sp>
        <p:nvSpPr>
          <p:cNvPr id="47" name="Text 39"/>
          <p:cNvSpPr/>
          <p:nvPr/>
        </p:nvSpPr>
        <p:spPr>
          <a:xfrm>
            <a:off x="10582870" y="6465590"/>
            <a:ext cx="447080"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C0C0C8"/>
                </a:solidFill>
                <a:latin typeface="Calibri" pitchFamily="34" charset="0"/>
                <a:ea typeface="Calibri" pitchFamily="34" charset="-122"/>
                <a:cs typeface="Calibri" pitchFamily="34" charset="-120"/>
              </a:rPr>
              <a:t>7 | 20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6666964"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PHASES AND MILESTONES</a:t>
            </a:r>
            <a:endParaRPr lang="en-US" sz="3225" dirty="0"/>
          </a:p>
        </p:txBody>
      </p:sp>
      <p:sp>
        <p:nvSpPr>
          <p:cNvPr id="4" name="Text 2"/>
          <p:cNvSpPr/>
          <p:nvPr/>
        </p:nvSpPr>
        <p:spPr>
          <a:xfrm>
            <a:off x="352425" y="666750"/>
            <a:ext cx="2679075"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10 phases · 9 milestones</a:t>
            </a:r>
            <a:endParaRPr lang="en-US" sz="1725" dirty="0"/>
          </a:p>
        </p:txBody>
      </p:sp>
      <p:pic>
        <p:nvPicPr>
          <p:cNvPr id="5" name="Image 0" descr="preencoded.png"/>
          <p:cNvPicPr>
            <a:picLocks noChangeAspect="1"/>
          </p:cNvPicPr>
          <p:nvPr/>
        </p:nvPicPr>
        <p:blipFill>
          <a:blip r:embed="rId3"/>
          <a:srcRect l="-154" r="-154"/>
          <a:stretch/>
        </p:blipFill>
        <p:spPr>
          <a:xfrm>
            <a:off x="1428750" y="1085850"/>
            <a:ext cx="9334500" cy="5353050"/>
          </a:xfrm>
          <a:prstGeom prst="rect">
            <a:avLst/>
          </a:prstGeom>
        </p:spPr>
      </p:pic>
      <p:pic>
        <p:nvPicPr>
          <p:cNvPr id="6" name="Image 1" descr="preencoded.png"/>
          <p:cNvPicPr>
            <a:picLocks noChangeAspect="1"/>
          </p:cNvPicPr>
          <p:nvPr/>
        </p:nvPicPr>
        <p:blipFill>
          <a:blip r:embed="rId4"/>
          <a:stretch>
            <a:fillRect/>
          </a:stretch>
        </p:blipFill>
        <p:spPr>
          <a:xfrm>
            <a:off x="11229975" y="6567488"/>
            <a:ext cx="714375" cy="71438"/>
          </a:xfrm>
          <a:prstGeom prst="rect">
            <a:avLst/>
          </a:prstGeom>
        </p:spPr>
      </p:pic>
      <p:sp>
        <p:nvSpPr>
          <p:cNvPr id="7" name="Text 3"/>
          <p:cNvSpPr/>
          <p:nvPr/>
        </p:nvSpPr>
        <p:spPr>
          <a:xfrm>
            <a:off x="10582870" y="6465590"/>
            <a:ext cx="447080"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C0C0C8"/>
                </a:solidFill>
                <a:latin typeface="Calibri" pitchFamily="34" charset="0"/>
                <a:ea typeface="Calibri" pitchFamily="34" charset="-122"/>
                <a:cs typeface="Calibri" pitchFamily="34" charset="-120"/>
              </a:rPr>
              <a:t>8 | 20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3353564"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THE MISSION</a:t>
            </a:r>
            <a:endParaRPr lang="en-US" sz="3225" dirty="0"/>
          </a:p>
        </p:txBody>
      </p:sp>
      <p:sp>
        <p:nvSpPr>
          <p:cNvPr id="4" name="Text 2"/>
          <p:cNvSpPr/>
          <p:nvPr/>
        </p:nvSpPr>
        <p:spPr>
          <a:xfrm>
            <a:off x="352425" y="666750"/>
            <a:ext cx="9765467"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A working application, two independently elicited signals, and the score that compares them</a:t>
            </a:r>
            <a:endParaRPr lang="en-US" sz="1725" dirty="0"/>
          </a:p>
        </p:txBody>
      </p:sp>
      <p:pic>
        <p:nvPicPr>
          <p:cNvPr id="5" name="Image 0" descr="preencoded.png"/>
          <p:cNvPicPr>
            <a:picLocks noChangeAspect="1"/>
          </p:cNvPicPr>
          <p:nvPr/>
        </p:nvPicPr>
        <p:blipFill>
          <a:blip r:embed="rId3"/>
          <a:stretch>
            <a:fillRect/>
          </a:stretch>
        </p:blipFill>
        <p:spPr>
          <a:xfrm>
            <a:off x="352425" y="1254522"/>
            <a:ext cx="365720" cy="381000"/>
          </a:xfrm>
          <a:prstGeom prst="rect">
            <a:avLst/>
          </a:prstGeom>
        </p:spPr>
      </p:pic>
      <p:sp>
        <p:nvSpPr>
          <p:cNvPr id="6" name="Text 3"/>
          <p:cNvSpPr/>
          <p:nvPr/>
        </p:nvSpPr>
        <p:spPr>
          <a:xfrm>
            <a:off x="851495" y="1162050"/>
            <a:ext cx="3009039" cy="410766"/>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043962"/>
                </a:solidFill>
                <a:latin typeface="Arial Black" pitchFamily="34" charset="0"/>
                <a:ea typeface="Arial Black" pitchFamily="34" charset="-122"/>
                <a:cs typeface="Arial Black" pitchFamily="34" charset="-120"/>
              </a:rPr>
              <a:t>DECLARED U</a:t>
            </a:r>
            <a:r>
              <a:rPr lang="en-US" sz="1500" b="1" baseline="-40000" dirty="0">
                <a:solidFill>
                  <a:srgbClr val="043962"/>
                </a:solidFill>
                <a:latin typeface="Arial Black" pitchFamily="34" charset="0"/>
                <a:ea typeface="Arial Black" pitchFamily="34" charset="-122"/>
                <a:cs typeface="Arial Black" pitchFamily="34" charset="-120"/>
              </a:rPr>
              <a:t>D</a:t>
            </a:r>
            <a:endParaRPr lang="en-US" sz="1800" dirty="0"/>
          </a:p>
        </p:txBody>
      </p:sp>
      <p:sp>
        <p:nvSpPr>
          <p:cNvPr id="7" name="Text 4"/>
          <p:cNvSpPr/>
          <p:nvPr/>
        </p:nvSpPr>
        <p:spPr>
          <a:xfrm>
            <a:off x="851495" y="1534716"/>
            <a:ext cx="3213537"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kern="0" spc="126" dirty="0">
                <a:solidFill>
                  <a:srgbClr val="1D93C9"/>
                </a:solidFill>
                <a:latin typeface="Arial" pitchFamily="34" charset="0"/>
                <a:ea typeface="Arial" pitchFamily="34" charset="-122"/>
                <a:cs typeface="Arial" pitchFamily="34" charset="-120"/>
              </a:rPr>
              <a:t>AHP, FUZZY BWM AND PROMETHEE II</a:t>
            </a:r>
            <a:endParaRPr lang="en-US" sz="1050" dirty="0"/>
          </a:p>
        </p:txBody>
      </p:sp>
      <p:pic>
        <p:nvPicPr>
          <p:cNvPr id="8" name="Image 1" descr="preencoded.png"/>
          <p:cNvPicPr>
            <a:picLocks noChangeAspect="1"/>
          </p:cNvPicPr>
          <p:nvPr/>
        </p:nvPicPr>
        <p:blipFill>
          <a:blip r:embed="rId4"/>
          <a:stretch>
            <a:fillRect/>
          </a:stretch>
        </p:blipFill>
        <p:spPr>
          <a:xfrm>
            <a:off x="6438900" y="1254522"/>
            <a:ext cx="387945" cy="381000"/>
          </a:xfrm>
          <a:prstGeom prst="rect">
            <a:avLst/>
          </a:prstGeom>
        </p:spPr>
      </p:pic>
      <p:sp>
        <p:nvSpPr>
          <p:cNvPr id="9" name="Text 5"/>
          <p:cNvSpPr/>
          <p:nvPr/>
        </p:nvSpPr>
        <p:spPr>
          <a:xfrm>
            <a:off x="6960196" y="1162050"/>
            <a:ext cx="2476798" cy="410766"/>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043962"/>
                </a:solidFill>
                <a:latin typeface="Arial Black" pitchFamily="34" charset="0"/>
                <a:ea typeface="Arial Black" pitchFamily="34" charset="-122"/>
                <a:cs typeface="Arial Black" pitchFamily="34" charset="-120"/>
              </a:rPr>
              <a:t>COMPUTED U</a:t>
            </a:r>
            <a:r>
              <a:rPr lang="en-US" sz="1500" b="1" baseline="-40000" dirty="0">
                <a:solidFill>
                  <a:srgbClr val="043962"/>
                </a:solidFill>
                <a:latin typeface="Arial Black" pitchFamily="34" charset="0"/>
                <a:ea typeface="Arial Black" pitchFamily="34" charset="-122"/>
                <a:cs typeface="Arial Black" pitchFamily="34" charset="-120"/>
              </a:rPr>
              <a:t>R</a:t>
            </a:r>
            <a:endParaRPr lang="en-US" sz="1800" dirty="0"/>
          </a:p>
        </p:txBody>
      </p:sp>
      <p:sp>
        <p:nvSpPr>
          <p:cNvPr id="10" name="Text 6"/>
          <p:cNvSpPr/>
          <p:nvPr/>
        </p:nvSpPr>
        <p:spPr>
          <a:xfrm>
            <a:off x="6960196" y="1534716"/>
            <a:ext cx="2640657"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kern="0" spc="126" dirty="0">
                <a:solidFill>
                  <a:srgbClr val="1D93C9"/>
                </a:solidFill>
                <a:latin typeface="Arial" pitchFamily="34" charset="0"/>
                <a:ea typeface="Arial" pitchFamily="34" charset="-122"/>
                <a:cs typeface="Arial" pitchFamily="34" charset="-120"/>
              </a:rPr>
              <a:t>WEIGHTED PROBABILISTIC OR</a:t>
            </a:r>
            <a:endParaRPr lang="en-US" sz="1050" dirty="0"/>
          </a:p>
        </p:txBody>
      </p:sp>
      <p:sp>
        <p:nvSpPr>
          <p:cNvPr id="11" name="Shape 7"/>
          <p:cNvSpPr/>
          <p:nvPr/>
        </p:nvSpPr>
        <p:spPr>
          <a:xfrm>
            <a:off x="352425" y="1813719"/>
            <a:ext cx="5400675" cy="496193"/>
          </a:xfrm>
          <a:prstGeom prst="rect">
            <a:avLst/>
          </a:prstGeom>
          <a:solidFill>
            <a:srgbClr val="E9F5FB"/>
          </a:solidFill>
          <a:ln/>
        </p:spPr>
        <p:txBody>
          <a:bodyPr/>
          <a:lstStyle/>
          <a:p>
            <a:endParaRPr lang="fr-FR"/>
          </a:p>
        </p:txBody>
      </p:sp>
      <p:sp>
        <p:nvSpPr>
          <p:cNvPr id="12" name="Text 8"/>
          <p:cNvSpPr/>
          <p:nvPr/>
        </p:nvSpPr>
        <p:spPr>
          <a:xfrm>
            <a:off x="504825" y="1937544"/>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Operational impact</a:t>
            </a:r>
            <a:endParaRPr lang="en-US" sz="1350" dirty="0"/>
          </a:p>
        </p:txBody>
      </p:sp>
      <p:sp>
        <p:nvSpPr>
          <p:cNvPr id="13" name="Text 9"/>
          <p:cNvSpPr/>
          <p:nvPr/>
        </p:nvSpPr>
        <p:spPr>
          <a:xfrm>
            <a:off x="5800725" y="1909862"/>
            <a:ext cx="590550" cy="341908"/>
          </a:xfrm>
          <a:prstGeom prst="rect">
            <a:avLst/>
          </a:prstGeom>
          <a:noFill/>
          <a:ln/>
        </p:spPr>
        <p:txBody>
          <a:bodyPr wrap="square" lIns="25400" tIns="25400" rIns="25400" bIns="25400" rtlCol="0" anchor="t">
            <a:normAutofit/>
          </a:bodyPr>
          <a:lstStyle/>
          <a:p>
            <a:pPr marL="0" indent="0" algn="ctr">
              <a:lnSpc>
                <a:spcPct val="119625"/>
              </a:lnSpc>
              <a:buNone/>
            </a:pPr>
            <a:r>
              <a:rPr lang="en-US" sz="1650" dirty="0">
                <a:solidFill>
                  <a:srgbClr val="1D93C9"/>
                </a:solidFill>
                <a:latin typeface="Calibri" pitchFamily="34" charset="0"/>
                <a:ea typeface="Calibri" pitchFamily="34" charset="-122"/>
                <a:cs typeface="Calibri" pitchFamily="34" charset="-120"/>
              </a:rPr>
              <a:t>↔</a:t>
            </a:r>
            <a:endParaRPr lang="en-US" sz="1650" dirty="0"/>
          </a:p>
        </p:txBody>
      </p:sp>
      <p:sp>
        <p:nvSpPr>
          <p:cNvPr id="14" name="Shape 10"/>
          <p:cNvSpPr/>
          <p:nvPr/>
        </p:nvSpPr>
        <p:spPr>
          <a:xfrm>
            <a:off x="6438900" y="1813719"/>
            <a:ext cx="5400675" cy="496193"/>
          </a:xfrm>
          <a:prstGeom prst="rect">
            <a:avLst/>
          </a:prstGeom>
          <a:solidFill>
            <a:srgbClr val="F4F4F6"/>
          </a:solidFill>
          <a:ln/>
        </p:spPr>
        <p:txBody>
          <a:bodyPr/>
          <a:lstStyle/>
          <a:p>
            <a:endParaRPr lang="fr-FR"/>
          </a:p>
        </p:txBody>
      </p:sp>
      <p:sp>
        <p:nvSpPr>
          <p:cNvPr id="15" name="Text 11"/>
          <p:cNvSpPr/>
          <p:nvPr/>
        </p:nvSpPr>
        <p:spPr>
          <a:xfrm>
            <a:off x="6591300" y="1937544"/>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Performance and capacity</a:t>
            </a:r>
            <a:endParaRPr lang="en-US" sz="1350" dirty="0"/>
          </a:p>
        </p:txBody>
      </p:sp>
      <p:sp>
        <p:nvSpPr>
          <p:cNvPr id="16" name="Shape 12"/>
          <p:cNvSpPr/>
          <p:nvPr/>
        </p:nvSpPr>
        <p:spPr>
          <a:xfrm>
            <a:off x="352425" y="2395637"/>
            <a:ext cx="5400675" cy="496193"/>
          </a:xfrm>
          <a:prstGeom prst="rect">
            <a:avLst/>
          </a:prstGeom>
          <a:solidFill>
            <a:srgbClr val="E9F5FB"/>
          </a:solidFill>
          <a:ln/>
        </p:spPr>
        <p:txBody>
          <a:bodyPr/>
          <a:lstStyle/>
          <a:p>
            <a:endParaRPr lang="fr-FR"/>
          </a:p>
        </p:txBody>
      </p:sp>
      <p:sp>
        <p:nvSpPr>
          <p:cNvPr id="17" name="Text 13"/>
          <p:cNvSpPr/>
          <p:nvPr/>
        </p:nvSpPr>
        <p:spPr>
          <a:xfrm>
            <a:off x="504825" y="2519462"/>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Time window</a:t>
            </a:r>
            <a:endParaRPr lang="en-US" sz="1350" dirty="0"/>
          </a:p>
        </p:txBody>
      </p:sp>
      <p:sp>
        <p:nvSpPr>
          <p:cNvPr id="18" name="Text 14"/>
          <p:cNvSpPr/>
          <p:nvPr/>
        </p:nvSpPr>
        <p:spPr>
          <a:xfrm>
            <a:off x="5800725" y="2491780"/>
            <a:ext cx="590550" cy="341908"/>
          </a:xfrm>
          <a:prstGeom prst="rect">
            <a:avLst/>
          </a:prstGeom>
          <a:noFill/>
          <a:ln/>
        </p:spPr>
        <p:txBody>
          <a:bodyPr wrap="square" lIns="25400" tIns="25400" rIns="25400" bIns="25400" rtlCol="0" anchor="t">
            <a:normAutofit/>
          </a:bodyPr>
          <a:lstStyle/>
          <a:p>
            <a:pPr marL="0" indent="0" algn="ctr">
              <a:lnSpc>
                <a:spcPct val="119625"/>
              </a:lnSpc>
              <a:buNone/>
            </a:pPr>
            <a:r>
              <a:rPr lang="en-US" sz="1650" dirty="0">
                <a:solidFill>
                  <a:srgbClr val="1D93C9"/>
                </a:solidFill>
                <a:latin typeface="Calibri" pitchFamily="34" charset="0"/>
                <a:ea typeface="Calibri" pitchFamily="34" charset="-122"/>
                <a:cs typeface="Calibri" pitchFamily="34" charset="-120"/>
              </a:rPr>
              <a:t>↔</a:t>
            </a:r>
            <a:endParaRPr lang="en-US" sz="1650" dirty="0"/>
          </a:p>
        </p:txBody>
      </p:sp>
      <p:sp>
        <p:nvSpPr>
          <p:cNvPr id="19" name="Shape 15"/>
          <p:cNvSpPr/>
          <p:nvPr/>
        </p:nvSpPr>
        <p:spPr>
          <a:xfrm>
            <a:off x="6438900" y="2395637"/>
            <a:ext cx="5400675" cy="496193"/>
          </a:xfrm>
          <a:prstGeom prst="rect">
            <a:avLst/>
          </a:prstGeom>
          <a:solidFill>
            <a:srgbClr val="F4F4F6"/>
          </a:solidFill>
          <a:ln/>
        </p:spPr>
        <p:txBody>
          <a:bodyPr/>
          <a:lstStyle/>
          <a:p>
            <a:endParaRPr lang="fr-FR"/>
          </a:p>
        </p:txBody>
      </p:sp>
      <p:sp>
        <p:nvSpPr>
          <p:cNvPr id="20" name="Text 16"/>
          <p:cNvSpPr/>
          <p:nvPr/>
        </p:nvSpPr>
        <p:spPr>
          <a:xfrm>
            <a:off x="6591300" y="2519462"/>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Time, against the next deadline</a:t>
            </a:r>
            <a:endParaRPr lang="en-US" sz="1350" dirty="0"/>
          </a:p>
        </p:txBody>
      </p:sp>
      <p:sp>
        <p:nvSpPr>
          <p:cNvPr id="21" name="Shape 17"/>
          <p:cNvSpPr/>
          <p:nvPr/>
        </p:nvSpPr>
        <p:spPr>
          <a:xfrm>
            <a:off x="352425" y="2977555"/>
            <a:ext cx="5400675" cy="496193"/>
          </a:xfrm>
          <a:prstGeom prst="rect">
            <a:avLst/>
          </a:prstGeom>
          <a:solidFill>
            <a:srgbClr val="E9F5FB"/>
          </a:solidFill>
          <a:ln/>
        </p:spPr>
        <p:txBody>
          <a:bodyPr/>
          <a:lstStyle/>
          <a:p>
            <a:endParaRPr lang="fr-FR"/>
          </a:p>
        </p:txBody>
      </p:sp>
      <p:sp>
        <p:nvSpPr>
          <p:cNvPr id="22" name="Text 18"/>
          <p:cNvSpPr/>
          <p:nvPr/>
        </p:nvSpPr>
        <p:spPr>
          <a:xfrm>
            <a:off x="504825" y="3101380"/>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Downstream dependencies</a:t>
            </a:r>
            <a:endParaRPr lang="en-US" sz="1350" dirty="0"/>
          </a:p>
        </p:txBody>
      </p:sp>
      <p:sp>
        <p:nvSpPr>
          <p:cNvPr id="23" name="Text 19"/>
          <p:cNvSpPr/>
          <p:nvPr/>
        </p:nvSpPr>
        <p:spPr>
          <a:xfrm>
            <a:off x="5800725" y="3073698"/>
            <a:ext cx="590550" cy="341908"/>
          </a:xfrm>
          <a:prstGeom prst="rect">
            <a:avLst/>
          </a:prstGeom>
          <a:noFill/>
          <a:ln/>
        </p:spPr>
        <p:txBody>
          <a:bodyPr wrap="square" lIns="25400" tIns="25400" rIns="25400" bIns="25400" rtlCol="0" anchor="t">
            <a:normAutofit/>
          </a:bodyPr>
          <a:lstStyle/>
          <a:p>
            <a:pPr marL="0" indent="0" algn="ctr">
              <a:lnSpc>
                <a:spcPct val="119625"/>
              </a:lnSpc>
              <a:buNone/>
            </a:pPr>
            <a:r>
              <a:rPr lang="en-US" sz="1650" dirty="0">
                <a:solidFill>
                  <a:srgbClr val="1D93C9"/>
                </a:solidFill>
                <a:latin typeface="Calibri" pitchFamily="34" charset="0"/>
                <a:ea typeface="Calibri" pitchFamily="34" charset="-122"/>
                <a:cs typeface="Calibri" pitchFamily="34" charset="-120"/>
              </a:rPr>
              <a:t>↔</a:t>
            </a:r>
            <a:endParaRPr lang="en-US" sz="1650" dirty="0"/>
          </a:p>
        </p:txBody>
      </p:sp>
      <p:sp>
        <p:nvSpPr>
          <p:cNvPr id="24" name="Shape 20"/>
          <p:cNvSpPr/>
          <p:nvPr/>
        </p:nvSpPr>
        <p:spPr>
          <a:xfrm>
            <a:off x="6438900" y="2977555"/>
            <a:ext cx="5400675" cy="496193"/>
          </a:xfrm>
          <a:prstGeom prst="rect">
            <a:avLst/>
          </a:prstGeom>
          <a:solidFill>
            <a:srgbClr val="F4F4F6"/>
          </a:solidFill>
          <a:ln/>
        </p:spPr>
        <p:txBody>
          <a:bodyPr/>
          <a:lstStyle/>
          <a:p>
            <a:endParaRPr lang="fr-FR"/>
          </a:p>
        </p:txBody>
      </p:sp>
      <p:sp>
        <p:nvSpPr>
          <p:cNvPr id="25" name="Text 21"/>
          <p:cNvSpPr/>
          <p:nvPr/>
        </p:nvSpPr>
        <p:spPr>
          <a:xfrm>
            <a:off x="6591300" y="3101380"/>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Severity propagated across tiers</a:t>
            </a:r>
            <a:endParaRPr lang="en-US" sz="1350" dirty="0"/>
          </a:p>
        </p:txBody>
      </p:sp>
      <p:sp>
        <p:nvSpPr>
          <p:cNvPr id="26" name="Shape 22"/>
          <p:cNvSpPr/>
          <p:nvPr/>
        </p:nvSpPr>
        <p:spPr>
          <a:xfrm>
            <a:off x="352425" y="3559473"/>
            <a:ext cx="5400675" cy="496193"/>
          </a:xfrm>
          <a:prstGeom prst="rect">
            <a:avLst/>
          </a:prstGeom>
          <a:solidFill>
            <a:srgbClr val="E9F5FB"/>
          </a:solidFill>
          <a:ln/>
        </p:spPr>
        <p:txBody>
          <a:bodyPr/>
          <a:lstStyle/>
          <a:p>
            <a:endParaRPr lang="fr-FR"/>
          </a:p>
        </p:txBody>
      </p:sp>
      <p:sp>
        <p:nvSpPr>
          <p:cNvPr id="27" name="Text 23"/>
          <p:cNvSpPr/>
          <p:nvPr/>
        </p:nvSpPr>
        <p:spPr>
          <a:xfrm>
            <a:off x="504825" y="3683298"/>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Recoverability</a:t>
            </a:r>
            <a:endParaRPr lang="en-US" sz="1350" dirty="0"/>
          </a:p>
        </p:txBody>
      </p:sp>
      <p:sp>
        <p:nvSpPr>
          <p:cNvPr id="28" name="Text 24"/>
          <p:cNvSpPr/>
          <p:nvPr/>
        </p:nvSpPr>
        <p:spPr>
          <a:xfrm>
            <a:off x="5800725" y="3655616"/>
            <a:ext cx="590550" cy="341908"/>
          </a:xfrm>
          <a:prstGeom prst="rect">
            <a:avLst/>
          </a:prstGeom>
          <a:noFill/>
          <a:ln/>
        </p:spPr>
        <p:txBody>
          <a:bodyPr wrap="square" lIns="25400" tIns="25400" rIns="25400" bIns="25400" rtlCol="0" anchor="t">
            <a:normAutofit/>
          </a:bodyPr>
          <a:lstStyle/>
          <a:p>
            <a:pPr marL="0" indent="0" algn="ctr">
              <a:lnSpc>
                <a:spcPct val="119625"/>
              </a:lnSpc>
              <a:buNone/>
            </a:pPr>
            <a:r>
              <a:rPr lang="en-US" sz="1650" dirty="0">
                <a:solidFill>
                  <a:srgbClr val="1D93C9"/>
                </a:solidFill>
                <a:latin typeface="Calibri" pitchFamily="34" charset="0"/>
                <a:ea typeface="Calibri" pitchFamily="34" charset="-122"/>
                <a:cs typeface="Calibri" pitchFamily="34" charset="-120"/>
              </a:rPr>
              <a:t>↔</a:t>
            </a:r>
            <a:endParaRPr lang="en-US" sz="1650" dirty="0"/>
          </a:p>
        </p:txBody>
      </p:sp>
      <p:sp>
        <p:nvSpPr>
          <p:cNvPr id="29" name="Shape 25"/>
          <p:cNvSpPr/>
          <p:nvPr/>
        </p:nvSpPr>
        <p:spPr>
          <a:xfrm>
            <a:off x="6438900" y="3559473"/>
            <a:ext cx="5400675" cy="496193"/>
          </a:xfrm>
          <a:prstGeom prst="rect">
            <a:avLst/>
          </a:prstGeom>
          <a:solidFill>
            <a:srgbClr val="F4F4F6"/>
          </a:solidFill>
          <a:ln/>
        </p:spPr>
        <p:txBody>
          <a:bodyPr/>
          <a:lstStyle/>
          <a:p>
            <a:endParaRPr lang="fr-FR"/>
          </a:p>
        </p:txBody>
      </p:sp>
      <p:sp>
        <p:nvSpPr>
          <p:cNvPr id="30" name="Text 26"/>
          <p:cNvSpPr/>
          <p:nvPr/>
        </p:nvSpPr>
        <p:spPr>
          <a:xfrm>
            <a:off x="6591300" y="3683298"/>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Risk, through its recovery term</a:t>
            </a:r>
            <a:endParaRPr lang="en-US" sz="1350" dirty="0"/>
          </a:p>
        </p:txBody>
      </p:sp>
      <p:sp>
        <p:nvSpPr>
          <p:cNvPr id="31" name="Text 27"/>
          <p:cNvSpPr/>
          <p:nvPr/>
        </p:nvSpPr>
        <p:spPr>
          <a:xfrm>
            <a:off x="504825" y="4265216"/>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i="1" dirty="0">
                <a:solidFill>
                  <a:srgbClr val="858591"/>
                </a:solidFill>
                <a:latin typeface="Calibri" pitchFamily="34" charset="0"/>
                <a:ea typeface="Calibri" pitchFamily="34" charset="-122"/>
                <a:cs typeface="Calibri" pitchFamily="34" charset="-120"/>
              </a:rPr>
              <a:t>No declared counterpart</a:t>
            </a:r>
            <a:endParaRPr lang="en-US" sz="1350" dirty="0"/>
          </a:p>
        </p:txBody>
      </p:sp>
      <p:sp>
        <p:nvSpPr>
          <p:cNvPr id="32" name="Text 28"/>
          <p:cNvSpPr/>
          <p:nvPr/>
        </p:nvSpPr>
        <p:spPr>
          <a:xfrm>
            <a:off x="5800725" y="4237534"/>
            <a:ext cx="590550" cy="341908"/>
          </a:xfrm>
          <a:prstGeom prst="rect">
            <a:avLst/>
          </a:prstGeom>
          <a:noFill/>
          <a:ln/>
        </p:spPr>
        <p:txBody>
          <a:bodyPr wrap="square" lIns="25400" tIns="25400" rIns="25400" bIns="25400" rtlCol="0" anchor="t">
            <a:normAutofit/>
          </a:bodyPr>
          <a:lstStyle/>
          <a:p>
            <a:pPr marL="0" indent="0" algn="ctr">
              <a:lnSpc>
                <a:spcPct val="119625"/>
              </a:lnSpc>
              <a:buNone/>
            </a:pPr>
            <a:r>
              <a:rPr lang="en-US" sz="1650" dirty="0">
                <a:solidFill>
                  <a:srgbClr val="C0C0C8"/>
                </a:solidFill>
                <a:latin typeface="Calibri" pitchFamily="34" charset="0"/>
                <a:ea typeface="Calibri" pitchFamily="34" charset="-122"/>
                <a:cs typeface="Calibri" pitchFamily="34" charset="-120"/>
              </a:rPr>
              <a:t>↔</a:t>
            </a:r>
            <a:endParaRPr lang="en-US" sz="1650" dirty="0"/>
          </a:p>
        </p:txBody>
      </p:sp>
      <p:sp>
        <p:nvSpPr>
          <p:cNvPr id="33" name="Shape 29"/>
          <p:cNvSpPr/>
          <p:nvPr/>
        </p:nvSpPr>
        <p:spPr>
          <a:xfrm>
            <a:off x="6438900" y="4141391"/>
            <a:ext cx="5400675" cy="496193"/>
          </a:xfrm>
          <a:prstGeom prst="rect">
            <a:avLst/>
          </a:prstGeom>
          <a:solidFill>
            <a:srgbClr val="E9E9ED"/>
          </a:solidFill>
          <a:ln/>
        </p:spPr>
        <p:txBody>
          <a:bodyPr/>
          <a:lstStyle/>
          <a:p>
            <a:endParaRPr lang="fr-FR"/>
          </a:p>
        </p:txBody>
      </p:sp>
      <p:sp>
        <p:nvSpPr>
          <p:cNvPr id="34" name="Text 30"/>
          <p:cNvSpPr/>
          <p:nvPr/>
        </p:nvSpPr>
        <p:spPr>
          <a:xfrm>
            <a:off x="6591300" y="4265216"/>
            <a:ext cx="525789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Cost and carbon, arbitration only</a:t>
            </a:r>
            <a:endParaRPr lang="en-US" sz="1350" dirty="0"/>
          </a:p>
        </p:txBody>
      </p:sp>
      <p:sp>
        <p:nvSpPr>
          <p:cNvPr id="35" name="Shape 31"/>
          <p:cNvSpPr/>
          <p:nvPr/>
        </p:nvSpPr>
        <p:spPr>
          <a:xfrm>
            <a:off x="5962650" y="4724400"/>
            <a:ext cx="266700" cy="152400"/>
          </a:xfrm>
          <a:prstGeom prst="rect">
            <a:avLst/>
          </a:prstGeom>
          <a:solidFill>
            <a:srgbClr val="063C67"/>
          </a:solidFill>
          <a:ln/>
        </p:spPr>
        <p:txBody>
          <a:bodyPr/>
          <a:lstStyle/>
          <a:p>
            <a:endParaRPr lang="fr-FR"/>
          </a:p>
        </p:txBody>
      </p:sp>
      <p:sp>
        <p:nvSpPr>
          <p:cNvPr id="36" name="Shape 32"/>
          <p:cNvSpPr/>
          <p:nvPr/>
        </p:nvSpPr>
        <p:spPr>
          <a:xfrm>
            <a:off x="352425" y="5029200"/>
            <a:ext cx="11496770" cy="1757263"/>
          </a:xfrm>
          <a:prstGeom prst="rect">
            <a:avLst/>
          </a:prstGeom>
          <a:solidFill>
            <a:srgbClr val="063C67"/>
          </a:solidFill>
          <a:ln/>
        </p:spPr>
        <p:txBody>
          <a:bodyPr/>
          <a:lstStyle/>
          <a:p>
            <a:endParaRPr lang="fr-FR"/>
          </a:p>
        </p:txBody>
      </p:sp>
      <p:sp>
        <p:nvSpPr>
          <p:cNvPr id="37" name="Text 33"/>
          <p:cNvSpPr/>
          <p:nvPr/>
        </p:nvSpPr>
        <p:spPr>
          <a:xfrm>
            <a:off x="581025" y="5181600"/>
            <a:ext cx="12635865" cy="341908"/>
          </a:xfrm>
          <a:prstGeom prst="rect">
            <a:avLst/>
          </a:prstGeom>
          <a:noFill/>
          <a:ln/>
        </p:spPr>
        <p:txBody>
          <a:bodyPr wrap="square" lIns="25400" tIns="25400" rIns="25400" bIns="25400" rtlCol="0" anchor="t">
            <a:normAutofit/>
          </a:bodyPr>
          <a:lstStyle/>
          <a:p>
            <a:pPr marL="0" indent="0" algn="l">
              <a:lnSpc>
                <a:spcPct val="104022"/>
              </a:lnSpc>
              <a:buNone/>
            </a:pPr>
            <a:r>
              <a:rPr lang="en-US" sz="1650" b="1" dirty="0">
                <a:solidFill>
                  <a:srgbClr val="FFFFFF"/>
                </a:solidFill>
                <a:latin typeface="Arial Black" pitchFamily="34" charset="0"/>
                <a:ea typeface="Arial Black" pitchFamily="34" charset="-122"/>
                <a:cs typeface="Arial Black" pitchFamily="34" charset="-120"/>
              </a:rPr>
              <a:t>ADEQUACY SCORE</a:t>
            </a:r>
            <a:endParaRPr lang="en-US" sz="1650" dirty="0"/>
          </a:p>
        </p:txBody>
      </p:sp>
      <p:sp>
        <p:nvSpPr>
          <p:cNvPr id="38" name="Text 34"/>
          <p:cNvSpPr/>
          <p:nvPr/>
        </p:nvSpPr>
        <p:spPr>
          <a:xfrm>
            <a:off x="581025" y="5721648"/>
            <a:ext cx="2609850" cy="483791"/>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FFFFFF"/>
                </a:solidFill>
                <a:latin typeface="Calibri" pitchFamily="34" charset="0"/>
                <a:ea typeface="Calibri" pitchFamily="34" charset="-122"/>
                <a:cs typeface="Calibri" pitchFamily="34" charset="-120"/>
              </a:rPr>
              <a:t>The distance between the two signals, on a </a:t>
            </a:r>
            <a:r>
              <a:rPr lang="en-US" sz="1350" b="1" dirty="0">
                <a:solidFill>
                  <a:srgbClr val="FFDA65"/>
                </a:solidFill>
                <a:latin typeface="Calibri" pitchFamily="34" charset="0"/>
                <a:ea typeface="Calibri" pitchFamily="34" charset="-122"/>
                <a:cs typeface="Calibri" pitchFamily="34" charset="-120"/>
              </a:rPr>
              <a:t>0–100 </a:t>
            </a:r>
            <a:r>
              <a:rPr lang="en-US" sz="1350" dirty="0">
                <a:solidFill>
                  <a:srgbClr val="FFFFFF"/>
                </a:solidFill>
                <a:latin typeface="Calibri" pitchFamily="34" charset="0"/>
                <a:ea typeface="Calibri" pitchFamily="34" charset="-122"/>
                <a:cs typeface="Calibri" pitchFamily="34" charset="-120"/>
              </a:rPr>
              <a:t>scale.</a:t>
            </a:r>
            <a:endParaRPr lang="en-US" sz="1350" dirty="0"/>
          </a:p>
        </p:txBody>
      </p:sp>
      <p:pic>
        <p:nvPicPr>
          <p:cNvPr id="39" name="Image 2" descr="preencoded.png"/>
          <p:cNvPicPr>
            <a:picLocks noChangeAspect="1"/>
          </p:cNvPicPr>
          <p:nvPr/>
        </p:nvPicPr>
        <p:blipFill>
          <a:blip r:embed="rId5"/>
          <a:stretch>
            <a:fillRect/>
          </a:stretch>
        </p:blipFill>
        <p:spPr>
          <a:xfrm>
            <a:off x="3381375" y="5600601"/>
            <a:ext cx="433784" cy="266700"/>
          </a:xfrm>
          <a:prstGeom prst="rect">
            <a:avLst/>
          </a:prstGeom>
        </p:spPr>
      </p:pic>
      <p:sp>
        <p:nvSpPr>
          <p:cNvPr id="40" name="Shape 35"/>
          <p:cNvSpPr/>
          <p:nvPr/>
        </p:nvSpPr>
        <p:spPr>
          <a:xfrm>
            <a:off x="3929460" y="5561608"/>
            <a:ext cx="4069358" cy="95250"/>
          </a:xfrm>
          <a:prstGeom prst="rect">
            <a:avLst/>
          </a:prstGeom>
          <a:solidFill>
            <a:srgbClr val="7ECBEE"/>
          </a:solidFill>
          <a:ln/>
        </p:spPr>
        <p:txBody>
          <a:bodyPr/>
          <a:lstStyle/>
          <a:p>
            <a:endParaRPr lang="fr-FR"/>
          </a:p>
        </p:txBody>
      </p:sp>
      <p:sp>
        <p:nvSpPr>
          <p:cNvPr id="41" name="Text 36"/>
          <p:cNvSpPr/>
          <p:nvPr/>
        </p:nvSpPr>
        <p:spPr>
          <a:xfrm>
            <a:off x="3929460" y="5685433"/>
            <a:ext cx="8952588"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FFFFFF"/>
                </a:solidFill>
                <a:latin typeface="Calibri" pitchFamily="34" charset="0"/>
                <a:ea typeface="Calibri" pitchFamily="34" charset="-122"/>
                <a:cs typeface="Calibri" pitchFamily="34" charset="-120"/>
              </a:rPr>
              <a:t>False urgency · declared &gt; state · </a:t>
            </a:r>
            <a:r>
              <a:rPr lang="en-US" sz="1200" b="1" dirty="0">
                <a:solidFill>
                  <a:srgbClr val="FFFFFF"/>
                </a:solidFill>
                <a:latin typeface="Calibri" pitchFamily="34" charset="0"/>
                <a:ea typeface="Calibri" pitchFamily="34" charset="-122"/>
                <a:cs typeface="Calibri" pitchFamily="34" charset="-120"/>
              </a:rPr>
              <a:t>penalty ×1</a:t>
            </a:r>
            <a:endParaRPr lang="en-US" sz="1200" dirty="0"/>
          </a:p>
        </p:txBody>
      </p:sp>
      <p:pic>
        <p:nvPicPr>
          <p:cNvPr id="42" name="Image 3" descr="preencoded.png"/>
          <p:cNvPicPr>
            <a:picLocks noChangeAspect="1"/>
          </p:cNvPicPr>
          <p:nvPr/>
        </p:nvPicPr>
        <p:blipFill>
          <a:blip r:embed="rId6"/>
          <a:stretch>
            <a:fillRect/>
          </a:stretch>
        </p:blipFill>
        <p:spPr>
          <a:xfrm>
            <a:off x="3381375" y="6021586"/>
            <a:ext cx="232073" cy="266700"/>
          </a:xfrm>
          <a:prstGeom prst="rect">
            <a:avLst/>
          </a:prstGeom>
        </p:spPr>
      </p:pic>
      <p:sp>
        <p:nvSpPr>
          <p:cNvPr id="43" name="Shape 37"/>
          <p:cNvSpPr/>
          <p:nvPr/>
        </p:nvSpPr>
        <p:spPr>
          <a:xfrm>
            <a:off x="3727748" y="5982593"/>
            <a:ext cx="7883227" cy="95250"/>
          </a:xfrm>
          <a:prstGeom prst="rect">
            <a:avLst/>
          </a:prstGeom>
          <a:solidFill>
            <a:srgbClr val="FFDA65"/>
          </a:solidFill>
          <a:ln/>
        </p:spPr>
        <p:txBody>
          <a:bodyPr/>
          <a:lstStyle/>
          <a:p>
            <a:endParaRPr lang="fr-FR"/>
          </a:p>
        </p:txBody>
      </p:sp>
      <p:sp>
        <p:nvSpPr>
          <p:cNvPr id="44" name="Text 38"/>
          <p:cNvSpPr/>
          <p:nvPr/>
        </p:nvSpPr>
        <p:spPr>
          <a:xfrm>
            <a:off x="3727748" y="6106418"/>
            <a:ext cx="9174470"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FFFFFF"/>
                </a:solidFill>
                <a:latin typeface="Calibri" pitchFamily="34" charset="0"/>
                <a:ea typeface="Calibri" pitchFamily="34" charset="-122"/>
                <a:cs typeface="Calibri" pitchFamily="34" charset="-120"/>
              </a:rPr>
              <a:t>Hidden risk · state &gt; declared · </a:t>
            </a:r>
            <a:r>
              <a:rPr lang="en-US" sz="1200" b="1" dirty="0">
                <a:solidFill>
                  <a:srgbClr val="FFDA65"/>
                </a:solidFill>
                <a:latin typeface="Calibri" pitchFamily="34" charset="0"/>
                <a:ea typeface="Calibri" pitchFamily="34" charset="-122"/>
                <a:cs typeface="Calibri" pitchFamily="34" charset="-120"/>
              </a:rPr>
              <a:t>penalty ×2</a:t>
            </a:r>
            <a:endParaRPr lang="en-US" sz="1200" dirty="0"/>
          </a:p>
        </p:txBody>
      </p:sp>
      <p:sp>
        <p:nvSpPr>
          <p:cNvPr id="45" name="Text 39"/>
          <p:cNvSpPr/>
          <p:nvPr/>
        </p:nvSpPr>
        <p:spPr>
          <a:xfrm>
            <a:off x="581025" y="6413103"/>
            <a:ext cx="12635865"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7ECBEE"/>
                </a:solidFill>
                <a:latin typeface="Calibri" pitchFamily="34" charset="0"/>
                <a:ea typeface="Calibri" pitchFamily="34" charset="-122"/>
                <a:cs typeface="Calibri" pitchFamily="34" charset="-120"/>
              </a:rPr>
              <a:t>Every term stays recoverable, so the operator sees what moved the answer.</a:t>
            </a:r>
            <a:endParaRPr lang="en-US" sz="1200" dirty="0"/>
          </a:p>
        </p:txBody>
      </p:sp>
      <p:pic>
        <p:nvPicPr>
          <p:cNvPr id="46" name="Image 4" descr="preencoded.png"/>
          <p:cNvPicPr>
            <a:picLocks noChangeAspect="1"/>
          </p:cNvPicPr>
          <p:nvPr/>
        </p:nvPicPr>
        <p:blipFill>
          <a:blip r:embed="rId7"/>
          <a:stretch>
            <a:fillRect/>
          </a:stretch>
        </p:blipFill>
        <p:spPr>
          <a:xfrm>
            <a:off x="11229975" y="6567488"/>
            <a:ext cx="714375" cy="71438"/>
          </a:xfrm>
          <a:prstGeom prst="rect">
            <a:avLst/>
          </a:prstGeom>
        </p:spPr>
      </p:pic>
      <p:sp>
        <p:nvSpPr>
          <p:cNvPr id="47" name="Text 40"/>
          <p:cNvSpPr/>
          <p:nvPr/>
        </p:nvSpPr>
        <p:spPr>
          <a:xfrm>
            <a:off x="10582870" y="6465590"/>
            <a:ext cx="447080"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C0C0C8"/>
                </a:solidFill>
                <a:latin typeface="Calibri" pitchFamily="34" charset="0"/>
                <a:ea typeface="Calibri" pitchFamily="34" charset="-122"/>
                <a:cs typeface="Calibri" pitchFamily="34" charset="-120"/>
              </a:rPr>
              <a:t>9 | 20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3971518"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REAL URGENCY</a:t>
            </a:r>
            <a:endParaRPr lang="en-US" sz="3225" dirty="0"/>
          </a:p>
        </p:txBody>
      </p:sp>
      <p:sp>
        <p:nvSpPr>
          <p:cNvPr id="4" name="Text 2"/>
          <p:cNvSpPr/>
          <p:nvPr/>
        </p:nvSpPr>
        <p:spPr>
          <a:xfrm>
            <a:off x="352425" y="666750"/>
            <a:ext cx="4032091"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Non-compensatory aggregation score</a:t>
            </a:r>
            <a:endParaRPr lang="en-US" sz="1725" dirty="0"/>
          </a:p>
        </p:txBody>
      </p:sp>
      <p:sp>
        <p:nvSpPr>
          <p:cNvPr id="5" name="Shape 3"/>
          <p:cNvSpPr/>
          <p:nvPr/>
        </p:nvSpPr>
        <p:spPr>
          <a:xfrm>
            <a:off x="352425" y="1333500"/>
            <a:ext cx="11753850" cy="677466"/>
          </a:xfrm>
          <a:prstGeom prst="rect">
            <a:avLst/>
          </a:prstGeom>
          <a:solidFill>
            <a:srgbClr val="F4F4F6"/>
          </a:solidFill>
          <a:ln/>
        </p:spPr>
        <p:txBody>
          <a:bodyPr/>
          <a:lstStyle/>
          <a:p>
            <a:endParaRPr lang="fr-FR"/>
          </a:p>
        </p:txBody>
      </p:sp>
      <p:sp>
        <p:nvSpPr>
          <p:cNvPr id="6" name="Text 4"/>
          <p:cNvSpPr/>
          <p:nvPr/>
        </p:nvSpPr>
        <p:spPr>
          <a:xfrm>
            <a:off x="581025" y="1541066"/>
            <a:ext cx="6773486"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dirty="0">
                <a:solidFill>
                  <a:srgbClr val="063C67"/>
                </a:solidFill>
                <a:latin typeface="Calibri" pitchFamily="34" charset="0"/>
                <a:ea typeface="Calibri" pitchFamily="34" charset="-122"/>
                <a:cs typeface="Calibri" pitchFamily="34" charset="-120"/>
              </a:rPr>
              <a:t>A node is in trouble if </a:t>
            </a:r>
            <a:r>
              <a:rPr lang="en-US" sz="1425" b="1" dirty="0">
                <a:solidFill>
                  <a:srgbClr val="063C67"/>
                </a:solidFill>
                <a:latin typeface="Calibri" pitchFamily="34" charset="0"/>
                <a:ea typeface="Calibri" pitchFamily="34" charset="-122"/>
                <a:cs typeface="Calibri" pitchFamily="34" charset="-120"/>
              </a:rPr>
              <a:t>any one </a:t>
            </a:r>
            <a:r>
              <a:rPr lang="en-US" sz="1425" dirty="0">
                <a:solidFill>
                  <a:srgbClr val="063C67"/>
                </a:solidFill>
                <a:latin typeface="Calibri" pitchFamily="34" charset="0"/>
                <a:ea typeface="Calibri" pitchFamily="34" charset="-122"/>
                <a:cs typeface="Calibri" pitchFamily="34" charset="-120"/>
              </a:rPr>
              <a:t>block fires. A healthy block cannot offset a failed one.</a:t>
            </a:r>
            <a:endParaRPr lang="en-US" sz="1425" dirty="0"/>
          </a:p>
        </p:txBody>
      </p:sp>
      <p:sp>
        <p:nvSpPr>
          <p:cNvPr id="7" name="Text 5"/>
          <p:cNvSpPr/>
          <p:nvPr/>
        </p:nvSpPr>
        <p:spPr>
          <a:xfrm>
            <a:off x="7005439" y="1466850"/>
            <a:ext cx="2467471" cy="448866"/>
          </a:xfrm>
          <a:prstGeom prst="rect">
            <a:avLst/>
          </a:prstGeom>
          <a:noFill/>
          <a:ln/>
        </p:spPr>
        <p:txBody>
          <a:bodyPr wrap="none" lIns="25400" tIns="25400" rIns="25400" bIns="25400" rtlCol="0" anchor="t">
            <a:normAutofit/>
          </a:bodyPr>
          <a:lstStyle/>
          <a:p>
            <a:pPr marL="0" indent="0" algn="l">
              <a:lnSpc>
                <a:spcPct val="127317"/>
              </a:lnSpc>
              <a:buNone/>
            </a:pPr>
            <a:r>
              <a:rPr lang="en-US" sz="1800" i="1" dirty="0">
                <a:solidFill>
                  <a:srgbClr val="063C67"/>
                </a:solidFill>
                <a:latin typeface="Georgia" pitchFamily="34" charset="0"/>
                <a:ea typeface="Georgia" pitchFamily="34" charset="-122"/>
                <a:cs typeface="Georgia" pitchFamily="34" charset="-120"/>
              </a:rPr>
              <a:t>U</a:t>
            </a:r>
            <a:r>
              <a:rPr lang="en-US" sz="1500" i="1" baseline="-40000" dirty="0">
                <a:solidFill>
                  <a:srgbClr val="063C67"/>
                </a:solidFill>
                <a:latin typeface="Georgia" pitchFamily="34" charset="0"/>
                <a:ea typeface="Georgia" pitchFamily="34" charset="-122"/>
                <a:cs typeface="Georgia" pitchFamily="34" charset="-120"/>
              </a:rPr>
              <a:t>r </a:t>
            </a:r>
            <a:r>
              <a:rPr lang="en-US" sz="1800" i="1" dirty="0">
                <a:solidFill>
                  <a:srgbClr val="063C67"/>
                </a:solidFill>
                <a:latin typeface="Georgia" pitchFamily="34" charset="0"/>
                <a:ea typeface="Georgia" pitchFamily="34" charset="-122"/>
                <a:cs typeface="Georgia" pitchFamily="34" charset="-120"/>
              </a:rPr>
              <a:t>= 1 − ∏</a:t>
            </a:r>
            <a:r>
              <a:rPr lang="en-US" sz="1500" i="1" baseline="-40000" dirty="0">
                <a:solidFill>
                  <a:srgbClr val="063C67"/>
                </a:solidFill>
                <a:latin typeface="Georgia" pitchFamily="34" charset="0"/>
                <a:ea typeface="Georgia" pitchFamily="34" charset="-122"/>
                <a:cs typeface="Georgia" pitchFamily="34" charset="-120"/>
              </a:rPr>
              <a:t>m </a:t>
            </a:r>
            <a:r>
              <a:rPr lang="en-US" sz="1800" i="1" dirty="0">
                <a:solidFill>
                  <a:srgbClr val="063C67"/>
                </a:solidFill>
                <a:latin typeface="Georgia" pitchFamily="34" charset="0"/>
                <a:ea typeface="Georgia" pitchFamily="34" charset="-122"/>
                <a:cs typeface="Georgia" pitchFamily="34" charset="-120"/>
              </a:rPr>
              <a:t>(1 − u</a:t>
            </a:r>
            <a:r>
              <a:rPr lang="en-US" sz="1500" i="1" baseline="-40000" dirty="0">
                <a:solidFill>
                  <a:srgbClr val="063C67"/>
                </a:solidFill>
                <a:latin typeface="Georgia" pitchFamily="34" charset="0"/>
                <a:ea typeface="Georgia" pitchFamily="34" charset="-122"/>
                <a:cs typeface="Georgia" pitchFamily="34" charset="-120"/>
              </a:rPr>
              <a:t>m</a:t>
            </a:r>
            <a:r>
              <a:rPr lang="en-US" sz="1800" i="1" dirty="0">
                <a:solidFill>
                  <a:srgbClr val="063C67"/>
                </a:solidFill>
                <a:latin typeface="Georgia" pitchFamily="34" charset="0"/>
                <a:ea typeface="Georgia" pitchFamily="34" charset="-122"/>
                <a:cs typeface="Georgia" pitchFamily="34" charset="-120"/>
              </a:rPr>
              <a:t>)</a:t>
            </a:r>
            <a:r>
              <a:rPr lang="en-US" sz="1500" i="1" baseline="30000" dirty="0">
                <a:solidFill>
                  <a:srgbClr val="063C67"/>
                </a:solidFill>
                <a:latin typeface="Georgia" pitchFamily="34" charset="0"/>
                <a:ea typeface="Georgia" pitchFamily="34" charset="-122"/>
                <a:cs typeface="Georgia" pitchFamily="34" charset="-120"/>
              </a:rPr>
              <a:t>ω</a:t>
            </a:r>
            <a:r>
              <a:rPr lang="en-US" sz="1250" i="1" baseline="-40000" dirty="0">
                <a:solidFill>
                  <a:srgbClr val="063C67"/>
                </a:solidFill>
                <a:latin typeface="Georgia" pitchFamily="34" charset="0"/>
                <a:ea typeface="Georgia" pitchFamily="34" charset="-122"/>
                <a:cs typeface="Georgia" pitchFamily="34" charset="-120"/>
              </a:rPr>
              <a:t>m</a:t>
            </a:r>
            <a:endParaRPr lang="en-US" sz="1800" dirty="0"/>
          </a:p>
        </p:txBody>
      </p:sp>
      <p:sp>
        <p:nvSpPr>
          <p:cNvPr id="8" name="Text 6"/>
          <p:cNvSpPr/>
          <p:nvPr/>
        </p:nvSpPr>
        <p:spPr>
          <a:xfrm>
            <a:off x="352425" y="2133600"/>
            <a:ext cx="368808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043962"/>
                </a:solidFill>
                <a:latin typeface="Arial Black" pitchFamily="34" charset="0"/>
                <a:ea typeface="Arial Black" pitchFamily="34" charset="-122"/>
                <a:cs typeface="Arial Black" pitchFamily="34" charset="-120"/>
              </a:rPr>
              <a:t>NODE A</a:t>
            </a:r>
            <a:endParaRPr lang="en-US" sz="1800" dirty="0"/>
          </a:p>
        </p:txBody>
      </p:sp>
      <p:sp>
        <p:nvSpPr>
          <p:cNvPr id="9" name="Text 7"/>
          <p:cNvSpPr/>
          <p:nvPr/>
        </p:nvSpPr>
        <p:spPr>
          <a:xfrm>
            <a:off x="352425" y="2464991"/>
            <a:ext cx="368808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858591"/>
                </a:solidFill>
                <a:latin typeface="Calibri" pitchFamily="34" charset="0"/>
                <a:ea typeface="Calibri" pitchFamily="34" charset="-122"/>
                <a:cs typeface="Calibri" pitchFamily="34" charset="-120"/>
              </a:rPr>
              <a:t>one block has failed</a:t>
            </a:r>
            <a:endParaRPr lang="en-US" sz="1350" dirty="0"/>
          </a:p>
        </p:txBody>
      </p:sp>
      <p:sp>
        <p:nvSpPr>
          <p:cNvPr id="10" name="Text 8"/>
          <p:cNvSpPr/>
          <p:nvPr/>
        </p:nvSpPr>
        <p:spPr>
          <a:xfrm>
            <a:off x="352425" y="2846884"/>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time</a:t>
            </a:r>
            <a:endParaRPr lang="en-US" sz="1275" dirty="0"/>
          </a:p>
        </p:txBody>
      </p:sp>
      <p:sp>
        <p:nvSpPr>
          <p:cNvPr id="11" name="Shape 9"/>
          <p:cNvSpPr/>
          <p:nvPr/>
        </p:nvSpPr>
        <p:spPr>
          <a:xfrm>
            <a:off x="1400175" y="2872185"/>
            <a:ext cx="1790700" cy="184150"/>
          </a:xfrm>
          <a:prstGeom prst="rect">
            <a:avLst/>
          </a:prstGeom>
          <a:ln w="6350">
            <a:solidFill>
              <a:srgbClr val="C0C0C8"/>
            </a:solidFill>
            <a:prstDash val="solid"/>
          </a:ln>
        </p:spPr>
        <p:txBody>
          <a:bodyPr/>
          <a:lstStyle/>
          <a:p>
            <a:endParaRPr lang="fr-FR"/>
          </a:p>
        </p:txBody>
      </p:sp>
      <p:sp>
        <p:nvSpPr>
          <p:cNvPr id="12" name="Shape 10"/>
          <p:cNvSpPr/>
          <p:nvPr/>
        </p:nvSpPr>
        <p:spPr>
          <a:xfrm>
            <a:off x="1406525" y="2878534"/>
            <a:ext cx="88900" cy="171450"/>
          </a:xfrm>
          <a:prstGeom prst="rect">
            <a:avLst/>
          </a:prstGeom>
          <a:solidFill>
            <a:srgbClr val="1D93C9"/>
          </a:solidFill>
          <a:ln/>
        </p:spPr>
        <p:txBody>
          <a:bodyPr/>
          <a:lstStyle/>
          <a:p>
            <a:endParaRPr lang="fr-FR"/>
          </a:p>
        </p:txBody>
      </p:sp>
      <p:sp>
        <p:nvSpPr>
          <p:cNvPr id="13" name="Text 11"/>
          <p:cNvSpPr/>
          <p:nvPr/>
        </p:nvSpPr>
        <p:spPr>
          <a:xfrm>
            <a:off x="3209925" y="2846884"/>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0.05</a:t>
            </a:r>
            <a:endParaRPr lang="en-US" sz="1275" dirty="0"/>
          </a:p>
        </p:txBody>
      </p:sp>
      <p:sp>
        <p:nvSpPr>
          <p:cNvPr id="14" name="Text 12"/>
          <p:cNvSpPr/>
          <p:nvPr/>
        </p:nvSpPr>
        <p:spPr>
          <a:xfrm>
            <a:off x="352425" y="3167360"/>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capacity</a:t>
            </a:r>
            <a:endParaRPr lang="en-US" sz="1275" dirty="0"/>
          </a:p>
        </p:txBody>
      </p:sp>
      <p:sp>
        <p:nvSpPr>
          <p:cNvPr id="15" name="Shape 13"/>
          <p:cNvSpPr/>
          <p:nvPr/>
        </p:nvSpPr>
        <p:spPr>
          <a:xfrm>
            <a:off x="1400175" y="3192661"/>
            <a:ext cx="1790700" cy="184150"/>
          </a:xfrm>
          <a:prstGeom prst="rect">
            <a:avLst/>
          </a:prstGeom>
          <a:ln w="6350">
            <a:solidFill>
              <a:srgbClr val="C0C0C8"/>
            </a:solidFill>
            <a:prstDash val="solid"/>
          </a:ln>
        </p:spPr>
        <p:txBody>
          <a:bodyPr/>
          <a:lstStyle/>
          <a:p>
            <a:endParaRPr lang="fr-FR"/>
          </a:p>
        </p:txBody>
      </p:sp>
      <p:sp>
        <p:nvSpPr>
          <p:cNvPr id="16" name="Shape 14"/>
          <p:cNvSpPr/>
          <p:nvPr/>
        </p:nvSpPr>
        <p:spPr>
          <a:xfrm>
            <a:off x="1406525" y="3199011"/>
            <a:ext cx="1600200" cy="171450"/>
          </a:xfrm>
          <a:prstGeom prst="rect">
            <a:avLst/>
          </a:prstGeom>
          <a:solidFill>
            <a:srgbClr val="FFC800"/>
          </a:solidFill>
          <a:ln/>
        </p:spPr>
        <p:txBody>
          <a:bodyPr/>
          <a:lstStyle/>
          <a:p>
            <a:endParaRPr lang="fr-FR"/>
          </a:p>
        </p:txBody>
      </p:sp>
      <p:sp>
        <p:nvSpPr>
          <p:cNvPr id="17" name="Text 15"/>
          <p:cNvSpPr/>
          <p:nvPr/>
        </p:nvSpPr>
        <p:spPr>
          <a:xfrm>
            <a:off x="3209925" y="3167360"/>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b="1" dirty="0">
                <a:solidFill>
                  <a:srgbClr val="176F98"/>
                </a:solidFill>
                <a:latin typeface="Calibri" pitchFamily="34" charset="0"/>
                <a:ea typeface="Calibri" pitchFamily="34" charset="-122"/>
                <a:cs typeface="Calibri" pitchFamily="34" charset="-120"/>
              </a:rPr>
              <a:t>0.90</a:t>
            </a:r>
            <a:endParaRPr lang="en-US" sz="1275" dirty="0"/>
          </a:p>
        </p:txBody>
      </p:sp>
      <p:sp>
        <p:nvSpPr>
          <p:cNvPr id="18" name="Text 16"/>
          <p:cNvSpPr/>
          <p:nvPr/>
        </p:nvSpPr>
        <p:spPr>
          <a:xfrm>
            <a:off x="352425" y="3487837"/>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performance</a:t>
            </a:r>
            <a:endParaRPr lang="en-US" sz="1275" dirty="0"/>
          </a:p>
        </p:txBody>
      </p:sp>
      <p:sp>
        <p:nvSpPr>
          <p:cNvPr id="19" name="Shape 17"/>
          <p:cNvSpPr/>
          <p:nvPr/>
        </p:nvSpPr>
        <p:spPr>
          <a:xfrm>
            <a:off x="1400175" y="3513138"/>
            <a:ext cx="1790700" cy="184150"/>
          </a:xfrm>
          <a:prstGeom prst="rect">
            <a:avLst/>
          </a:prstGeom>
          <a:ln w="6350">
            <a:solidFill>
              <a:srgbClr val="C0C0C8"/>
            </a:solidFill>
            <a:prstDash val="solid"/>
          </a:ln>
        </p:spPr>
        <p:txBody>
          <a:bodyPr/>
          <a:lstStyle/>
          <a:p>
            <a:endParaRPr lang="fr-FR"/>
          </a:p>
        </p:txBody>
      </p:sp>
      <p:sp>
        <p:nvSpPr>
          <p:cNvPr id="20" name="Shape 18"/>
          <p:cNvSpPr/>
          <p:nvPr/>
        </p:nvSpPr>
        <p:spPr>
          <a:xfrm>
            <a:off x="1406525" y="3519488"/>
            <a:ext cx="88900" cy="171450"/>
          </a:xfrm>
          <a:prstGeom prst="rect">
            <a:avLst/>
          </a:prstGeom>
          <a:solidFill>
            <a:srgbClr val="1D93C9"/>
          </a:solidFill>
          <a:ln/>
        </p:spPr>
        <p:txBody>
          <a:bodyPr/>
          <a:lstStyle/>
          <a:p>
            <a:endParaRPr lang="fr-FR"/>
          </a:p>
        </p:txBody>
      </p:sp>
      <p:sp>
        <p:nvSpPr>
          <p:cNvPr id="21" name="Text 19"/>
          <p:cNvSpPr/>
          <p:nvPr/>
        </p:nvSpPr>
        <p:spPr>
          <a:xfrm>
            <a:off x="3209925" y="3487837"/>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0.05</a:t>
            </a:r>
            <a:endParaRPr lang="en-US" sz="1275" dirty="0"/>
          </a:p>
        </p:txBody>
      </p:sp>
      <p:sp>
        <p:nvSpPr>
          <p:cNvPr id="22" name="Text 20"/>
          <p:cNvSpPr/>
          <p:nvPr/>
        </p:nvSpPr>
        <p:spPr>
          <a:xfrm>
            <a:off x="352425" y="3808313"/>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risk</a:t>
            </a:r>
            <a:endParaRPr lang="en-US" sz="1275" dirty="0"/>
          </a:p>
        </p:txBody>
      </p:sp>
      <p:sp>
        <p:nvSpPr>
          <p:cNvPr id="23" name="Shape 21"/>
          <p:cNvSpPr/>
          <p:nvPr/>
        </p:nvSpPr>
        <p:spPr>
          <a:xfrm>
            <a:off x="1400175" y="3833614"/>
            <a:ext cx="1790700" cy="184150"/>
          </a:xfrm>
          <a:prstGeom prst="rect">
            <a:avLst/>
          </a:prstGeom>
          <a:ln w="6350">
            <a:solidFill>
              <a:srgbClr val="C0C0C8"/>
            </a:solidFill>
            <a:prstDash val="solid"/>
          </a:ln>
        </p:spPr>
        <p:txBody>
          <a:bodyPr/>
          <a:lstStyle/>
          <a:p>
            <a:endParaRPr lang="fr-FR"/>
          </a:p>
        </p:txBody>
      </p:sp>
      <p:sp>
        <p:nvSpPr>
          <p:cNvPr id="24" name="Shape 22"/>
          <p:cNvSpPr/>
          <p:nvPr/>
        </p:nvSpPr>
        <p:spPr>
          <a:xfrm>
            <a:off x="1406525" y="3839964"/>
            <a:ext cx="88900" cy="171450"/>
          </a:xfrm>
          <a:prstGeom prst="rect">
            <a:avLst/>
          </a:prstGeom>
          <a:solidFill>
            <a:srgbClr val="1D93C9"/>
          </a:solidFill>
          <a:ln/>
        </p:spPr>
        <p:txBody>
          <a:bodyPr/>
          <a:lstStyle/>
          <a:p>
            <a:endParaRPr lang="fr-FR"/>
          </a:p>
        </p:txBody>
      </p:sp>
      <p:sp>
        <p:nvSpPr>
          <p:cNvPr id="25" name="Text 23"/>
          <p:cNvSpPr/>
          <p:nvPr/>
        </p:nvSpPr>
        <p:spPr>
          <a:xfrm>
            <a:off x="3209925" y="3808313"/>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0.05</a:t>
            </a:r>
            <a:endParaRPr lang="en-US" sz="1275" dirty="0"/>
          </a:p>
        </p:txBody>
      </p:sp>
      <p:sp>
        <p:nvSpPr>
          <p:cNvPr id="26" name="Text 24"/>
          <p:cNvSpPr/>
          <p:nvPr/>
        </p:nvSpPr>
        <p:spPr>
          <a:xfrm>
            <a:off x="352425" y="4128790"/>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cost</a:t>
            </a:r>
            <a:endParaRPr lang="en-US" sz="1275" dirty="0"/>
          </a:p>
        </p:txBody>
      </p:sp>
      <p:sp>
        <p:nvSpPr>
          <p:cNvPr id="27" name="Shape 25"/>
          <p:cNvSpPr/>
          <p:nvPr/>
        </p:nvSpPr>
        <p:spPr>
          <a:xfrm>
            <a:off x="1400175" y="4154091"/>
            <a:ext cx="1790700" cy="184150"/>
          </a:xfrm>
          <a:prstGeom prst="rect">
            <a:avLst/>
          </a:prstGeom>
          <a:ln w="6350">
            <a:solidFill>
              <a:srgbClr val="C0C0C8"/>
            </a:solidFill>
            <a:prstDash val="solid"/>
          </a:ln>
        </p:spPr>
        <p:txBody>
          <a:bodyPr/>
          <a:lstStyle/>
          <a:p>
            <a:endParaRPr lang="fr-FR"/>
          </a:p>
        </p:txBody>
      </p:sp>
      <p:sp>
        <p:nvSpPr>
          <p:cNvPr id="28" name="Shape 26"/>
          <p:cNvSpPr/>
          <p:nvPr/>
        </p:nvSpPr>
        <p:spPr>
          <a:xfrm>
            <a:off x="1406525" y="4160441"/>
            <a:ext cx="88900" cy="171450"/>
          </a:xfrm>
          <a:prstGeom prst="rect">
            <a:avLst/>
          </a:prstGeom>
          <a:solidFill>
            <a:srgbClr val="1D93C9"/>
          </a:solidFill>
          <a:ln/>
        </p:spPr>
        <p:txBody>
          <a:bodyPr/>
          <a:lstStyle/>
          <a:p>
            <a:endParaRPr lang="fr-FR"/>
          </a:p>
        </p:txBody>
      </p:sp>
      <p:sp>
        <p:nvSpPr>
          <p:cNvPr id="29" name="Text 27"/>
          <p:cNvSpPr/>
          <p:nvPr/>
        </p:nvSpPr>
        <p:spPr>
          <a:xfrm>
            <a:off x="3209925" y="4128790"/>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0.05</a:t>
            </a:r>
            <a:endParaRPr lang="en-US" sz="1275" dirty="0"/>
          </a:p>
        </p:txBody>
      </p:sp>
      <p:sp>
        <p:nvSpPr>
          <p:cNvPr id="30" name="Text 28"/>
          <p:cNvSpPr/>
          <p:nvPr/>
        </p:nvSpPr>
        <p:spPr>
          <a:xfrm>
            <a:off x="352425" y="4449267"/>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carbon</a:t>
            </a:r>
            <a:endParaRPr lang="en-US" sz="1275" dirty="0"/>
          </a:p>
        </p:txBody>
      </p:sp>
      <p:sp>
        <p:nvSpPr>
          <p:cNvPr id="31" name="Shape 29"/>
          <p:cNvSpPr/>
          <p:nvPr/>
        </p:nvSpPr>
        <p:spPr>
          <a:xfrm>
            <a:off x="1400175" y="4474567"/>
            <a:ext cx="1790700" cy="184150"/>
          </a:xfrm>
          <a:prstGeom prst="rect">
            <a:avLst/>
          </a:prstGeom>
          <a:ln w="6350">
            <a:solidFill>
              <a:srgbClr val="C0C0C8"/>
            </a:solidFill>
            <a:prstDash val="solid"/>
          </a:ln>
        </p:spPr>
        <p:txBody>
          <a:bodyPr/>
          <a:lstStyle/>
          <a:p>
            <a:endParaRPr lang="fr-FR"/>
          </a:p>
        </p:txBody>
      </p:sp>
      <p:sp>
        <p:nvSpPr>
          <p:cNvPr id="32" name="Shape 30"/>
          <p:cNvSpPr/>
          <p:nvPr/>
        </p:nvSpPr>
        <p:spPr>
          <a:xfrm>
            <a:off x="1406525" y="4480917"/>
            <a:ext cx="88900" cy="171450"/>
          </a:xfrm>
          <a:prstGeom prst="rect">
            <a:avLst/>
          </a:prstGeom>
          <a:solidFill>
            <a:srgbClr val="1D93C9"/>
          </a:solidFill>
          <a:ln/>
        </p:spPr>
        <p:txBody>
          <a:bodyPr/>
          <a:lstStyle/>
          <a:p>
            <a:endParaRPr lang="fr-FR"/>
          </a:p>
        </p:txBody>
      </p:sp>
      <p:sp>
        <p:nvSpPr>
          <p:cNvPr id="33" name="Text 31"/>
          <p:cNvSpPr/>
          <p:nvPr/>
        </p:nvSpPr>
        <p:spPr>
          <a:xfrm>
            <a:off x="3209925" y="4449267"/>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0.05</a:t>
            </a:r>
            <a:endParaRPr lang="en-US" sz="1275" dirty="0"/>
          </a:p>
        </p:txBody>
      </p:sp>
      <p:sp>
        <p:nvSpPr>
          <p:cNvPr id="34" name="Shape 32"/>
          <p:cNvSpPr/>
          <p:nvPr/>
        </p:nvSpPr>
        <p:spPr>
          <a:xfrm>
            <a:off x="352425" y="4855468"/>
            <a:ext cx="3352800" cy="477143"/>
          </a:xfrm>
          <a:prstGeom prst="rect">
            <a:avLst/>
          </a:prstGeom>
          <a:solidFill>
            <a:srgbClr val="E9E9ED"/>
          </a:solidFill>
          <a:ln/>
        </p:spPr>
        <p:txBody>
          <a:bodyPr/>
          <a:lstStyle/>
          <a:p>
            <a:endParaRPr lang="fr-FR"/>
          </a:p>
        </p:txBody>
      </p:sp>
      <p:sp>
        <p:nvSpPr>
          <p:cNvPr id="35" name="Text 33"/>
          <p:cNvSpPr/>
          <p:nvPr/>
        </p:nvSpPr>
        <p:spPr>
          <a:xfrm>
            <a:off x="495300" y="4969768"/>
            <a:ext cx="61952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average</a:t>
            </a:r>
            <a:endParaRPr lang="en-US" sz="1350" dirty="0"/>
          </a:p>
        </p:txBody>
      </p:sp>
      <p:sp>
        <p:nvSpPr>
          <p:cNvPr id="36" name="Text 34"/>
          <p:cNvSpPr/>
          <p:nvPr/>
        </p:nvSpPr>
        <p:spPr>
          <a:xfrm>
            <a:off x="2755999" y="4969768"/>
            <a:ext cx="882551"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0.19 </a:t>
            </a:r>
            <a:r>
              <a:rPr lang="en-US" sz="1350" dirty="0">
                <a:solidFill>
                  <a:srgbClr val="063C67"/>
                </a:solidFill>
                <a:latin typeface="Calibri" pitchFamily="34" charset="0"/>
                <a:ea typeface="Calibri" pitchFamily="34" charset="-122"/>
                <a:cs typeface="Calibri" pitchFamily="34" charset="-120"/>
              </a:rPr>
              <a:t>→ 2nd</a:t>
            </a:r>
            <a:endParaRPr lang="en-US" sz="1350" dirty="0"/>
          </a:p>
        </p:txBody>
      </p:sp>
      <p:sp>
        <p:nvSpPr>
          <p:cNvPr id="37" name="Shape 35"/>
          <p:cNvSpPr/>
          <p:nvPr/>
        </p:nvSpPr>
        <p:spPr>
          <a:xfrm>
            <a:off x="352425" y="5418336"/>
            <a:ext cx="3352800" cy="477143"/>
          </a:xfrm>
          <a:prstGeom prst="rect">
            <a:avLst/>
          </a:prstGeom>
          <a:solidFill>
            <a:srgbClr val="FFDA65"/>
          </a:solidFill>
          <a:ln/>
        </p:spPr>
        <p:txBody>
          <a:bodyPr/>
          <a:lstStyle/>
          <a:p>
            <a:endParaRPr lang="fr-FR"/>
          </a:p>
        </p:txBody>
      </p:sp>
      <p:sp>
        <p:nvSpPr>
          <p:cNvPr id="38" name="Text 36"/>
          <p:cNvSpPr/>
          <p:nvPr/>
        </p:nvSpPr>
        <p:spPr>
          <a:xfrm>
            <a:off x="495300" y="5532636"/>
            <a:ext cx="1172567"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probabilistic OR</a:t>
            </a:r>
            <a:endParaRPr lang="en-US" sz="1350" dirty="0"/>
          </a:p>
        </p:txBody>
      </p:sp>
      <p:sp>
        <p:nvSpPr>
          <p:cNvPr id="39" name="Text 37"/>
          <p:cNvSpPr/>
          <p:nvPr/>
        </p:nvSpPr>
        <p:spPr>
          <a:xfrm>
            <a:off x="2810272" y="5532636"/>
            <a:ext cx="828278"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0.92 </a:t>
            </a:r>
            <a:r>
              <a:rPr lang="en-US" sz="1350" dirty="0">
                <a:solidFill>
                  <a:srgbClr val="063C67"/>
                </a:solidFill>
                <a:latin typeface="Calibri" pitchFamily="34" charset="0"/>
                <a:ea typeface="Calibri" pitchFamily="34" charset="-122"/>
                <a:cs typeface="Calibri" pitchFamily="34" charset="-120"/>
              </a:rPr>
              <a:t>→ </a:t>
            </a:r>
            <a:r>
              <a:rPr lang="en-US" sz="1350" b="1" dirty="0">
                <a:solidFill>
                  <a:srgbClr val="063C67"/>
                </a:solidFill>
                <a:latin typeface="Calibri" pitchFamily="34" charset="0"/>
                <a:ea typeface="Calibri" pitchFamily="34" charset="-122"/>
                <a:cs typeface="Calibri" pitchFamily="34" charset="-120"/>
              </a:rPr>
              <a:t>1st</a:t>
            </a:r>
            <a:endParaRPr lang="en-US" sz="1350" dirty="0"/>
          </a:p>
        </p:txBody>
      </p:sp>
      <p:sp>
        <p:nvSpPr>
          <p:cNvPr id="40" name="Text 38"/>
          <p:cNvSpPr/>
          <p:nvPr/>
        </p:nvSpPr>
        <p:spPr>
          <a:xfrm>
            <a:off x="4162425" y="2133600"/>
            <a:ext cx="3688080" cy="369491"/>
          </a:xfrm>
          <a:prstGeom prst="rect">
            <a:avLst/>
          </a:prstGeom>
          <a:noFill/>
          <a:ln/>
        </p:spPr>
        <p:txBody>
          <a:bodyPr wrap="square" lIns="25400" tIns="25400" rIns="25400" bIns="25400" rtlCol="0" anchor="t">
            <a:normAutofit/>
          </a:bodyPr>
          <a:lstStyle/>
          <a:p>
            <a:pPr marL="0" indent="0" algn="l">
              <a:lnSpc>
                <a:spcPct val="102353"/>
              </a:lnSpc>
              <a:buNone/>
            </a:pPr>
            <a:r>
              <a:rPr lang="en-US" sz="1800" b="1" dirty="0">
                <a:solidFill>
                  <a:srgbClr val="043962"/>
                </a:solidFill>
                <a:latin typeface="Arial Black" pitchFamily="34" charset="0"/>
                <a:ea typeface="Arial Black" pitchFamily="34" charset="-122"/>
                <a:cs typeface="Arial Black" pitchFamily="34" charset="-120"/>
              </a:rPr>
              <a:t>NODE B</a:t>
            </a:r>
            <a:endParaRPr lang="en-US" sz="1800" dirty="0"/>
          </a:p>
        </p:txBody>
      </p:sp>
      <p:sp>
        <p:nvSpPr>
          <p:cNvPr id="41" name="Text 39"/>
          <p:cNvSpPr/>
          <p:nvPr/>
        </p:nvSpPr>
        <p:spPr>
          <a:xfrm>
            <a:off x="4162425" y="2464991"/>
            <a:ext cx="368808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858591"/>
                </a:solidFill>
                <a:latin typeface="Calibri" pitchFamily="34" charset="0"/>
                <a:ea typeface="Calibri" pitchFamily="34" charset="-122"/>
                <a:cs typeface="Calibri" pitchFamily="34" charset="-120"/>
              </a:rPr>
              <a:t>nothing has failed</a:t>
            </a:r>
            <a:endParaRPr lang="en-US" sz="1350" dirty="0"/>
          </a:p>
        </p:txBody>
      </p:sp>
      <p:sp>
        <p:nvSpPr>
          <p:cNvPr id="42" name="Text 40"/>
          <p:cNvSpPr/>
          <p:nvPr/>
        </p:nvSpPr>
        <p:spPr>
          <a:xfrm>
            <a:off x="4162425" y="2846884"/>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time</a:t>
            </a:r>
            <a:endParaRPr lang="en-US" sz="1275" dirty="0"/>
          </a:p>
        </p:txBody>
      </p:sp>
      <p:sp>
        <p:nvSpPr>
          <p:cNvPr id="43" name="Shape 41"/>
          <p:cNvSpPr/>
          <p:nvPr/>
        </p:nvSpPr>
        <p:spPr>
          <a:xfrm>
            <a:off x="5210175" y="2872185"/>
            <a:ext cx="1790700" cy="184150"/>
          </a:xfrm>
          <a:prstGeom prst="rect">
            <a:avLst/>
          </a:prstGeom>
          <a:ln w="6350">
            <a:solidFill>
              <a:srgbClr val="C0C0C8"/>
            </a:solidFill>
            <a:prstDash val="solid"/>
          </a:ln>
        </p:spPr>
        <p:txBody>
          <a:bodyPr/>
          <a:lstStyle/>
          <a:p>
            <a:endParaRPr lang="fr-FR"/>
          </a:p>
        </p:txBody>
      </p:sp>
      <p:sp>
        <p:nvSpPr>
          <p:cNvPr id="44" name="Shape 42"/>
          <p:cNvSpPr/>
          <p:nvPr/>
        </p:nvSpPr>
        <p:spPr>
          <a:xfrm>
            <a:off x="5216525" y="2878534"/>
            <a:ext cx="355600" cy="171450"/>
          </a:xfrm>
          <a:prstGeom prst="rect">
            <a:avLst/>
          </a:prstGeom>
          <a:solidFill>
            <a:srgbClr val="7ECBEE"/>
          </a:solidFill>
          <a:ln/>
        </p:spPr>
        <p:txBody>
          <a:bodyPr/>
          <a:lstStyle/>
          <a:p>
            <a:endParaRPr lang="fr-FR"/>
          </a:p>
        </p:txBody>
      </p:sp>
      <p:sp>
        <p:nvSpPr>
          <p:cNvPr id="45" name="Text 43"/>
          <p:cNvSpPr/>
          <p:nvPr/>
        </p:nvSpPr>
        <p:spPr>
          <a:xfrm>
            <a:off x="7019925" y="2846884"/>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46" name="Text 44"/>
          <p:cNvSpPr/>
          <p:nvPr/>
        </p:nvSpPr>
        <p:spPr>
          <a:xfrm>
            <a:off x="4162425" y="3167360"/>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capacity</a:t>
            </a:r>
            <a:endParaRPr lang="en-US" sz="1275" dirty="0"/>
          </a:p>
        </p:txBody>
      </p:sp>
      <p:sp>
        <p:nvSpPr>
          <p:cNvPr id="47" name="Shape 45"/>
          <p:cNvSpPr/>
          <p:nvPr/>
        </p:nvSpPr>
        <p:spPr>
          <a:xfrm>
            <a:off x="5210175" y="3192661"/>
            <a:ext cx="1790700" cy="184150"/>
          </a:xfrm>
          <a:prstGeom prst="rect">
            <a:avLst/>
          </a:prstGeom>
          <a:ln w="6350">
            <a:solidFill>
              <a:srgbClr val="C0C0C8"/>
            </a:solidFill>
            <a:prstDash val="solid"/>
          </a:ln>
        </p:spPr>
        <p:txBody>
          <a:bodyPr/>
          <a:lstStyle/>
          <a:p>
            <a:endParaRPr lang="fr-FR"/>
          </a:p>
        </p:txBody>
      </p:sp>
      <p:sp>
        <p:nvSpPr>
          <p:cNvPr id="48" name="Shape 46"/>
          <p:cNvSpPr/>
          <p:nvPr/>
        </p:nvSpPr>
        <p:spPr>
          <a:xfrm>
            <a:off x="5216525" y="3199011"/>
            <a:ext cx="355600" cy="171450"/>
          </a:xfrm>
          <a:prstGeom prst="rect">
            <a:avLst/>
          </a:prstGeom>
          <a:solidFill>
            <a:srgbClr val="7ECBEE"/>
          </a:solidFill>
          <a:ln/>
        </p:spPr>
        <p:txBody>
          <a:bodyPr/>
          <a:lstStyle/>
          <a:p>
            <a:endParaRPr lang="fr-FR"/>
          </a:p>
        </p:txBody>
      </p:sp>
      <p:sp>
        <p:nvSpPr>
          <p:cNvPr id="49" name="Text 47"/>
          <p:cNvSpPr/>
          <p:nvPr/>
        </p:nvSpPr>
        <p:spPr>
          <a:xfrm>
            <a:off x="7019925" y="3167360"/>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50" name="Text 48"/>
          <p:cNvSpPr/>
          <p:nvPr/>
        </p:nvSpPr>
        <p:spPr>
          <a:xfrm>
            <a:off x="4162425" y="3487837"/>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performance</a:t>
            </a:r>
            <a:endParaRPr lang="en-US" sz="1275" dirty="0"/>
          </a:p>
        </p:txBody>
      </p:sp>
      <p:sp>
        <p:nvSpPr>
          <p:cNvPr id="51" name="Shape 49"/>
          <p:cNvSpPr/>
          <p:nvPr/>
        </p:nvSpPr>
        <p:spPr>
          <a:xfrm>
            <a:off x="5210175" y="3513138"/>
            <a:ext cx="1790700" cy="184150"/>
          </a:xfrm>
          <a:prstGeom prst="rect">
            <a:avLst/>
          </a:prstGeom>
          <a:ln w="6350">
            <a:solidFill>
              <a:srgbClr val="C0C0C8"/>
            </a:solidFill>
            <a:prstDash val="solid"/>
          </a:ln>
        </p:spPr>
        <p:txBody>
          <a:bodyPr/>
          <a:lstStyle/>
          <a:p>
            <a:endParaRPr lang="fr-FR"/>
          </a:p>
        </p:txBody>
      </p:sp>
      <p:sp>
        <p:nvSpPr>
          <p:cNvPr id="52" name="Shape 50"/>
          <p:cNvSpPr/>
          <p:nvPr/>
        </p:nvSpPr>
        <p:spPr>
          <a:xfrm>
            <a:off x="5216525" y="3519488"/>
            <a:ext cx="355600" cy="171450"/>
          </a:xfrm>
          <a:prstGeom prst="rect">
            <a:avLst/>
          </a:prstGeom>
          <a:solidFill>
            <a:srgbClr val="7ECBEE"/>
          </a:solidFill>
          <a:ln/>
        </p:spPr>
        <p:txBody>
          <a:bodyPr/>
          <a:lstStyle/>
          <a:p>
            <a:endParaRPr lang="fr-FR"/>
          </a:p>
        </p:txBody>
      </p:sp>
      <p:sp>
        <p:nvSpPr>
          <p:cNvPr id="53" name="Text 51"/>
          <p:cNvSpPr/>
          <p:nvPr/>
        </p:nvSpPr>
        <p:spPr>
          <a:xfrm>
            <a:off x="7019925" y="3487837"/>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54" name="Text 52"/>
          <p:cNvSpPr/>
          <p:nvPr/>
        </p:nvSpPr>
        <p:spPr>
          <a:xfrm>
            <a:off x="4162425" y="3808313"/>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risk</a:t>
            </a:r>
            <a:endParaRPr lang="en-US" sz="1275" dirty="0"/>
          </a:p>
        </p:txBody>
      </p:sp>
      <p:sp>
        <p:nvSpPr>
          <p:cNvPr id="55" name="Shape 53"/>
          <p:cNvSpPr/>
          <p:nvPr/>
        </p:nvSpPr>
        <p:spPr>
          <a:xfrm>
            <a:off x="5210175" y="3833614"/>
            <a:ext cx="1790700" cy="184150"/>
          </a:xfrm>
          <a:prstGeom prst="rect">
            <a:avLst/>
          </a:prstGeom>
          <a:ln w="6350">
            <a:solidFill>
              <a:srgbClr val="C0C0C8"/>
            </a:solidFill>
            <a:prstDash val="solid"/>
          </a:ln>
        </p:spPr>
        <p:txBody>
          <a:bodyPr/>
          <a:lstStyle/>
          <a:p>
            <a:endParaRPr lang="fr-FR"/>
          </a:p>
        </p:txBody>
      </p:sp>
      <p:sp>
        <p:nvSpPr>
          <p:cNvPr id="56" name="Shape 54"/>
          <p:cNvSpPr/>
          <p:nvPr/>
        </p:nvSpPr>
        <p:spPr>
          <a:xfrm>
            <a:off x="5216525" y="3839964"/>
            <a:ext cx="355600" cy="171450"/>
          </a:xfrm>
          <a:prstGeom prst="rect">
            <a:avLst/>
          </a:prstGeom>
          <a:solidFill>
            <a:srgbClr val="7ECBEE"/>
          </a:solidFill>
          <a:ln/>
        </p:spPr>
        <p:txBody>
          <a:bodyPr/>
          <a:lstStyle/>
          <a:p>
            <a:endParaRPr lang="fr-FR"/>
          </a:p>
        </p:txBody>
      </p:sp>
      <p:sp>
        <p:nvSpPr>
          <p:cNvPr id="57" name="Text 55"/>
          <p:cNvSpPr/>
          <p:nvPr/>
        </p:nvSpPr>
        <p:spPr>
          <a:xfrm>
            <a:off x="7019925" y="3808313"/>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58" name="Text 56"/>
          <p:cNvSpPr/>
          <p:nvPr/>
        </p:nvSpPr>
        <p:spPr>
          <a:xfrm>
            <a:off x="4162425" y="4128790"/>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cost</a:t>
            </a:r>
            <a:endParaRPr lang="en-US" sz="1275" dirty="0"/>
          </a:p>
        </p:txBody>
      </p:sp>
      <p:sp>
        <p:nvSpPr>
          <p:cNvPr id="59" name="Shape 57"/>
          <p:cNvSpPr/>
          <p:nvPr/>
        </p:nvSpPr>
        <p:spPr>
          <a:xfrm>
            <a:off x="5210175" y="4154091"/>
            <a:ext cx="1790700" cy="184150"/>
          </a:xfrm>
          <a:prstGeom prst="rect">
            <a:avLst/>
          </a:prstGeom>
          <a:ln w="6350">
            <a:solidFill>
              <a:srgbClr val="C0C0C8"/>
            </a:solidFill>
            <a:prstDash val="solid"/>
          </a:ln>
        </p:spPr>
        <p:txBody>
          <a:bodyPr/>
          <a:lstStyle/>
          <a:p>
            <a:endParaRPr lang="fr-FR"/>
          </a:p>
        </p:txBody>
      </p:sp>
      <p:sp>
        <p:nvSpPr>
          <p:cNvPr id="60" name="Shape 58"/>
          <p:cNvSpPr/>
          <p:nvPr/>
        </p:nvSpPr>
        <p:spPr>
          <a:xfrm>
            <a:off x="5216525" y="4160441"/>
            <a:ext cx="355600" cy="171450"/>
          </a:xfrm>
          <a:prstGeom prst="rect">
            <a:avLst/>
          </a:prstGeom>
          <a:solidFill>
            <a:srgbClr val="7ECBEE"/>
          </a:solidFill>
          <a:ln/>
        </p:spPr>
        <p:txBody>
          <a:bodyPr/>
          <a:lstStyle/>
          <a:p>
            <a:endParaRPr lang="fr-FR"/>
          </a:p>
        </p:txBody>
      </p:sp>
      <p:sp>
        <p:nvSpPr>
          <p:cNvPr id="61" name="Text 59"/>
          <p:cNvSpPr/>
          <p:nvPr/>
        </p:nvSpPr>
        <p:spPr>
          <a:xfrm>
            <a:off x="7019925" y="4128790"/>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62" name="Text 60"/>
          <p:cNvSpPr/>
          <p:nvPr/>
        </p:nvSpPr>
        <p:spPr>
          <a:xfrm>
            <a:off x="4162425" y="4449267"/>
            <a:ext cx="1028700"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dirty="0">
                <a:solidFill>
                  <a:srgbClr val="063C67"/>
                </a:solidFill>
                <a:latin typeface="Calibri" pitchFamily="34" charset="0"/>
                <a:ea typeface="Calibri" pitchFamily="34" charset="-122"/>
                <a:cs typeface="Calibri" pitchFamily="34" charset="-120"/>
              </a:rPr>
              <a:t>carbon</a:t>
            </a:r>
            <a:endParaRPr lang="en-US" sz="1275" dirty="0"/>
          </a:p>
        </p:txBody>
      </p:sp>
      <p:sp>
        <p:nvSpPr>
          <p:cNvPr id="63" name="Shape 61"/>
          <p:cNvSpPr/>
          <p:nvPr/>
        </p:nvSpPr>
        <p:spPr>
          <a:xfrm>
            <a:off x="5210175" y="4474567"/>
            <a:ext cx="1790700" cy="184150"/>
          </a:xfrm>
          <a:prstGeom prst="rect">
            <a:avLst/>
          </a:prstGeom>
          <a:ln w="6350">
            <a:solidFill>
              <a:srgbClr val="C0C0C8"/>
            </a:solidFill>
            <a:prstDash val="solid"/>
          </a:ln>
        </p:spPr>
        <p:txBody>
          <a:bodyPr/>
          <a:lstStyle/>
          <a:p>
            <a:endParaRPr lang="fr-FR"/>
          </a:p>
        </p:txBody>
      </p:sp>
      <p:sp>
        <p:nvSpPr>
          <p:cNvPr id="64" name="Shape 62"/>
          <p:cNvSpPr/>
          <p:nvPr/>
        </p:nvSpPr>
        <p:spPr>
          <a:xfrm>
            <a:off x="5216525" y="4480917"/>
            <a:ext cx="355600" cy="171450"/>
          </a:xfrm>
          <a:prstGeom prst="rect">
            <a:avLst/>
          </a:prstGeom>
          <a:solidFill>
            <a:srgbClr val="7ECBEE"/>
          </a:solidFill>
          <a:ln/>
        </p:spPr>
        <p:txBody>
          <a:bodyPr/>
          <a:lstStyle/>
          <a:p>
            <a:endParaRPr lang="fr-FR"/>
          </a:p>
        </p:txBody>
      </p:sp>
      <p:sp>
        <p:nvSpPr>
          <p:cNvPr id="65" name="Text 63"/>
          <p:cNvSpPr/>
          <p:nvPr/>
        </p:nvSpPr>
        <p:spPr>
          <a:xfrm>
            <a:off x="7019925" y="4449267"/>
            <a:ext cx="495300" cy="272852"/>
          </a:xfrm>
          <a:prstGeom prst="rect">
            <a:avLst/>
          </a:prstGeom>
          <a:noFill/>
          <a:ln/>
        </p:spPr>
        <p:txBody>
          <a:bodyPr wrap="square" lIns="25400" tIns="25400" rIns="25400" bIns="25400" rtlCol="0" anchor="t">
            <a:normAutofit/>
          </a:bodyPr>
          <a:lstStyle/>
          <a:p>
            <a:pPr marL="0" indent="0" algn="r">
              <a:lnSpc>
                <a:spcPct val="119274"/>
              </a:lnSpc>
              <a:buNone/>
            </a:pPr>
            <a:r>
              <a:rPr lang="en-US" sz="1275" dirty="0">
                <a:solidFill>
                  <a:srgbClr val="176F98"/>
                </a:solidFill>
                <a:latin typeface="Calibri" pitchFamily="34" charset="0"/>
                <a:ea typeface="Calibri" pitchFamily="34" charset="-122"/>
                <a:cs typeface="Calibri" pitchFamily="34" charset="-120"/>
              </a:rPr>
              <a:t>0.20</a:t>
            </a:r>
            <a:endParaRPr lang="en-US" sz="1275" dirty="0"/>
          </a:p>
        </p:txBody>
      </p:sp>
      <p:sp>
        <p:nvSpPr>
          <p:cNvPr id="66" name="Shape 64"/>
          <p:cNvSpPr/>
          <p:nvPr/>
        </p:nvSpPr>
        <p:spPr>
          <a:xfrm>
            <a:off x="4162425" y="4855468"/>
            <a:ext cx="3352800" cy="477143"/>
          </a:xfrm>
          <a:prstGeom prst="rect">
            <a:avLst/>
          </a:prstGeom>
          <a:solidFill>
            <a:srgbClr val="E9E9ED"/>
          </a:solidFill>
          <a:ln/>
        </p:spPr>
        <p:txBody>
          <a:bodyPr/>
          <a:lstStyle/>
          <a:p>
            <a:endParaRPr lang="fr-FR"/>
          </a:p>
        </p:txBody>
      </p:sp>
      <p:sp>
        <p:nvSpPr>
          <p:cNvPr id="67" name="Text 65"/>
          <p:cNvSpPr/>
          <p:nvPr/>
        </p:nvSpPr>
        <p:spPr>
          <a:xfrm>
            <a:off x="4305300" y="4969768"/>
            <a:ext cx="61952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average</a:t>
            </a:r>
            <a:endParaRPr lang="en-US" sz="1350" dirty="0"/>
          </a:p>
        </p:txBody>
      </p:sp>
      <p:sp>
        <p:nvSpPr>
          <p:cNvPr id="68" name="Text 66"/>
          <p:cNvSpPr/>
          <p:nvPr/>
        </p:nvSpPr>
        <p:spPr>
          <a:xfrm>
            <a:off x="6620272" y="4969768"/>
            <a:ext cx="828278"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0.20 </a:t>
            </a:r>
            <a:r>
              <a:rPr lang="en-US" sz="1350" dirty="0">
                <a:solidFill>
                  <a:srgbClr val="063C67"/>
                </a:solidFill>
                <a:latin typeface="Calibri" pitchFamily="34" charset="0"/>
                <a:ea typeface="Calibri" pitchFamily="34" charset="-122"/>
                <a:cs typeface="Calibri" pitchFamily="34" charset="-120"/>
              </a:rPr>
              <a:t>→ </a:t>
            </a:r>
            <a:r>
              <a:rPr lang="en-US" sz="1350" b="1" dirty="0">
                <a:solidFill>
                  <a:srgbClr val="063C67"/>
                </a:solidFill>
                <a:latin typeface="Calibri" pitchFamily="34" charset="0"/>
                <a:ea typeface="Calibri" pitchFamily="34" charset="-122"/>
                <a:cs typeface="Calibri" pitchFamily="34" charset="-120"/>
              </a:rPr>
              <a:t>1st</a:t>
            </a:r>
            <a:endParaRPr lang="en-US" sz="1350" dirty="0"/>
          </a:p>
        </p:txBody>
      </p:sp>
      <p:sp>
        <p:nvSpPr>
          <p:cNvPr id="69" name="Shape 67"/>
          <p:cNvSpPr/>
          <p:nvPr/>
        </p:nvSpPr>
        <p:spPr>
          <a:xfrm>
            <a:off x="4162425" y="5418336"/>
            <a:ext cx="3352800" cy="477143"/>
          </a:xfrm>
          <a:prstGeom prst="rect">
            <a:avLst/>
          </a:prstGeom>
          <a:solidFill>
            <a:srgbClr val="F4F4F6"/>
          </a:solidFill>
          <a:ln/>
        </p:spPr>
        <p:txBody>
          <a:bodyPr/>
          <a:lstStyle/>
          <a:p>
            <a:endParaRPr lang="fr-FR"/>
          </a:p>
        </p:txBody>
      </p:sp>
      <p:sp>
        <p:nvSpPr>
          <p:cNvPr id="70" name="Text 68"/>
          <p:cNvSpPr/>
          <p:nvPr/>
        </p:nvSpPr>
        <p:spPr>
          <a:xfrm>
            <a:off x="4305300" y="5532636"/>
            <a:ext cx="1172567"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probabilistic OR</a:t>
            </a:r>
            <a:endParaRPr lang="en-US" sz="1350" dirty="0"/>
          </a:p>
        </p:txBody>
      </p:sp>
      <p:sp>
        <p:nvSpPr>
          <p:cNvPr id="71" name="Text 69"/>
          <p:cNvSpPr/>
          <p:nvPr/>
        </p:nvSpPr>
        <p:spPr>
          <a:xfrm>
            <a:off x="6565999" y="5532636"/>
            <a:ext cx="882551"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0.74 </a:t>
            </a:r>
            <a:r>
              <a:rPr lang="en-US" sz="1350" dirty="0">
                <a:solidFill>
                  <a:srgbClr val="063C67"/>
                </a:solidFill>
                <a:latin typeface="Calibri" pitchFamily="34" charset="0"/>
                <a:ea typeface="Calibri" pitchFamily="34" charset="-122"/>
                <a:cs typeface="Calibri" pitchFamily="34" charset="-120"/>
              </a:rPr>
              <a:t>→ 2nd</a:t>
            </a:r>
            <a:endParaRPr lang="en-US" sz="1350" dirty="0"/>
          </a:p>
        </p:txBody>
      </p:sp>
      <p:sp>
        <p:nvSpPr>
          <p:cNvPr id="72" name="Shape 70"/>
          <p:cNvSpPr/>
          <p:nvPr/>
        </p:nvSpPr>
        <p:spPr>
          <a:xfrm>
            <a:off x="7972425" y="2133600"/>
            <a:ext cx="3676650" cy="2324100"/>
          </a:xfrm>
          <a:prstGeom prst="rect">
            <a:avLst/>
          </a:prstGeom>
          <a:solidFill>
            <a:srgbClr val="063C67"/>
          </a:solidFill>
          <a:ln/>
        </p:spPr>
        <p:txBody>
          <a:bodyPr/>
          <a:lstStyle/>
          <a:p>
            <a:endParaRPr lang="fr-FR"/>
          </a:p>
        </p:txBody>
      </p:sp>
      <p:sp>
        <p:nvSpPr>
          <p:cNvPr id="73" name="Text 71"/>
          <p:cNvSpPr/>
          <p:nvPr/>
        </p:nvSpPr>
        <p:spPr>
          <a:xfrm>
            <a:off x="8220075" y="2362200"/>
            <a:ext cx="3291650" cy="1905000"/>
          </a:xfrm>
          <a:prstGeom prst="rect">
            <a:avLst/>
          </a:prstGeom>
          <a:noFill/>
          <a:ln/>
        </p:spPr>
        <p:txBody>
          <a:bodyPr wrap="square" lIns="25400" tIns="25400" rIns="25400" bIns="25400" rtlCol="0" anchor="t">
            <a:normAutofit/>
          </a:bodyPr>
          <a:lstStyle/>
          <a:p>
            <a:pPr marL="0" indent="0" algn="l">
              <a:lnSpc>
                <a:spcPct val="113514"/>
              </a:lnSpc>
              <a:buNone/>
            </a:pPr>
            <a:r>
              <a:rPr lang="en-US" sz="1500" dirty="0">
                <a:solidFill>
                  <a:srgbClr val="FFFFFF"/>
                </a:solidFill>
                <a:highlight>
                  <a:srgbClr val="063C67"/>
                </a:highlight>
                <a:latin typeface="Calibri" pitchFamily="34" charset="0"/>
                <a:ea typeface="Calibri" pitchFamily="34" charset="-122"/>
                <a:cs typeface="Calibri" pitchFamily="34" charset="-120"/>
              </a:rPr>
              <a:t>The average sends the coordinator to </a:t>
            </a:r>
            <a:r>
              <a:rPr lang="en-US" sz="1500" b="1" dirty="0">
                <a:solidFill>
                  <a:srgbClr val="FFFFFF"/>
                </a:solidFill>
                <a:latin typeface="Calibri" pitchFamily="34" charset="0"/>
                <a:ea typeface="Calibri" pitchFamily="34" charset="-122"/>
                <a:cs typeface="Calibri" pitchFamily="34" charset="-120"/>
              </a:rPr>
              <a:t>Node B </a:t>
            </a:r>
            <a:r>
              <a:rPr lang="en-US" sz="1500" dirty="0">
                <a:solidFill>
                  <a:srgbClr val="FFFFFF"/>
                </a:solidFill>
                <a:highlight>
                  <a:srgbClr val="063C67"/>
                </a:highlight>
                <a:latin typeface="Calibri" pitchFamily="34" charset="0"/>
                <a:ea typeface="Calibri" pitchFamily="34" charset="-122"/>
                <a:cs typeface="Calibri" pitchFamily="34" charset="-120"/>
              </a:rPr>
              <a:t>, where nothing broke. The OR sends them to </a:t>
            </a:r>
            <a:r>
              <a:rPr lang="en-US" sz="1500" b="1" dirty="0">
                <a:solidFill>
                  <a:srgbClr val="FFFFFF"/>
                </a:solidFill>
                <a:latin typeface="Calibri" pitchFamily="34" charset="0"/>
                <a:ea typeface="Calibri" pitchFamily="34" charset="-122"/>
                <a:cs typeface="Calibri" pitchFamily="34" charset="-120"/>
              </a:rPr>
              <a:t>Node A </a:t>
            </a:r>
            <a:r>
              <a:rPr lang="en-US" sz="1500" dirty="0">
                <a:solidFill>
                  <a:srgbClr val="FFFFFF"/>
                </a:solidFill>
                <a:highlight>
                  <a:srgbClr val="063C67"/>
                </a:highlight>
                <a:latin typeface="Calibri" pitchFamily="34" charset="0"/>
                <a:ea typeface="Calibri" pitchFamily="34" charset="-122"/>
                <a:cs typeface="Calibri" pitchFamily="34" charset="-120"/>
              </a:rPr>
              <a:t>, where capacity did. </a:t>
            </a:r>
            <a:r>
              <a:rPr lang="en-US" sz="1500" b="1" dirty="0">
                <a:solidFill>
                  <a:srgbClr val="FFDA65"/>
                </a:solidFill>
                <a:latin typeface="Calibri" pitchFamily="34" charset="0"/>
                <a:ea typeface="Calibri" pitchFamily="34" charset="-122"/>
                <a:cs typeface="Calibri" pitchFamily="34" charset="-120"/>
              </a:rPr>
              <a:t>Same six numbers, opposite ranking.</a:t>
            </a:r>
            <a:endParaRPr lang="en-US" sz="1500" dirty="0"/>
          </a:p>
        </p:txBody>
      </p:sp>
      <p:sp>
        <p:nvSpPr>
          <p:cNvPr id="74" name="Text 72"/>
          <p:cNvSpPr/>
          <p:nvPr/>
        </p:nvSpPr>
        <p:spPr>
          <a:xfrm>
            <a:off x="7972425" y="4629150"/>
            <a:ext cx="4044315" cy="217587"/>
          </a:xfrm>
          <a:prstGeom prst="rect">
            <a:avLst/>
          </a:prstGeom>
          <a:noFill/>
          <a:ln/>
        </p:spPr>
        <p:txBody>
          <a:bodyPr wrap="square" lIns="25400" tIns="25400" rIns="25400" bIns="25400" rtlCol="0" anchor="t">
            <a:normAutofit lnSpcReduction="10000"/>
          </a:bodyPr>
          <a:lstStyle/>
          <a:p>
            <a:pPr marL="0" indent="0" algn="l">
              <a:lnSpc>
                <a:spcPct val="122935"/>
              </a:lnSpc>
              <a:buNone/>
            </a:pPr>
            <a:r>
              <a:rPr lang="en-US" sz="975" b="1" kern="0" spc="137" dirty="0">
                <a:solidFill>
                  <a:srgbClr val="1D93C9"/>
                </a:solidFill>
                <a:latin typeface="Arial" pitchFamily="34" charset="0"/>
                <a:ea typeface="Arial" pitchFamily="34" charset="-122"/>
                <a:cs typeface="Arial" pitchFamily="34" charset="-120"/>
              </a:rPr>
              <a:t>FOUR CAUSES · TWO CONSTRAINTS</a:t>
            </a:r>
            <a:endParaRPr lang="en-US" sz="975" dirty="0"/>
          </a:p>
        </p:txBody>
      </p:sp>
      <p:sp>
        <p:nvSpPr>
          <p:cNvPr id="75" name="Shape 73"/>
          <p:cNvSpPr/>
          <p:nvPr/>
        </p:nvSpPr>
        <p:spPr>
          <a:xfrm>
            <a:off x="7972425" y="4903887"/>
            <a:ext cx="1162050" cy="892770"/>
          </a:xfrm>
          <a:prstGeom prst="rect">
            <a:avLst/>
          </a:prstGeom>
          <a:solidFill>
            <a:srgbClr val="F4F4F6"/>
          </a:solidFill>
          <a:ln/>
        </p:spPr>
        <p:txBody>
          <a:bodyPr/>
          <a:lstStyle/>
          <a:p>
            <a:endParaRPr lang="fr-FR"/>
          </a:p>
        </p:txBody>
      </p:sp>
      <p:pic>
        <p:nvPicPr>
          <p:cNvPr id="76" name="Image 0" descr="preencoded.png"/>
          <p:cNvPicPr>
            <a:picLocks noChangeAspect="1"/>
          </p:cNvPicPr>
          <p:nvPr/>
        </p:nvPicPr>
        <p:blipFill>
          <a:blip r:embed="rId3"/>
          <a:stretch>
            <a:fillRect/>
          </a:stretch>
        </p:blipFill>
        <p:spPr>
          <a:xfrm>
            <a:off x="8416925" y="5018187"/>
            <a:ext cx="273050" cy="323850"/>
          </a:xfrm>
          <a:prstGeom prst="rect">
            <a:avLst/>
          </a:prstGeom>
        </p:spPr>
      </p:pic>
      <p:sp>
        <p:nvSpPr>
          <p:cNvPr id="77" name="Text 74"/>
          <p:cNvSpPr/>
          <p:nvPr/>
        </p:nvSpPr>
        <p:spPr>
          <a:xfrm>
            <a:off x="7991475" y="5461397"/>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Time</a:t>
            </a:r>
            <a:endParaRPr lang="en-US" sz="1200" dirty="0"/>
          </a:p>
        </p:txBody>
      </p:sp>
      <p:sp>
        <p:nvSpPr>
          <p:cNvPr id="78" name="Shape 75"/>
          <p:cNvSpPr/>
          <p:nvPr/>
        </p:nvSpPr>
        <p:spPr>
          <a:xfrm>
            <a:off x="9229725" y="4903887"/>
            <a:ext cx="1162050" cy="892770"/>
          </a:xfrm>
          <a:prstGeom prst="rect">
            <a:avLst/>
          </a:prstGeom>
          <a:solidFill>
            <a:srgbClr val="F4F4F6"/>
          </a:solidFill>
          <a:ln/>
        </p:spPr>
        <p:txBody>
          <a:bodyPr/>
          <a:lstStyle/>
          <a:p>
            <a:endParaRPr lang="fr-FR"/>
          </a:p>
        </p:txBody>
      </p:sp>
      <p:pic>
        <p:nvPicPr>
          <p:cNvPr id="79" name="Image 1" descr="preencoded.png"/>
          <p:cNvPicPr>
            <a:picLocks noChangeAspect="1"/>
          </p:cNvPicPr>
          <p:nvPr/>
        </p:nvPicPr>
        <p:blipFill>
          <a:blip r:embed="rId4"/>
          <a:stretch>
            <a:fillRect/>
          </a:stretch>
        </p:blipFill>
        <p:spPr>
          <a:xfrm>
            <a:off x="9568557" y="5018187"/>
            <a:ext cx="484386" cy="323850"/>
          </a:xfrm>
          <a:prstGeom prst="rect">
            <a:avLst/>
          </a:prstGeom>
        </p:spPr>
      </p:pic>
      <p:sp>
        <p:nvSpPr>
          <p:cNvPr id="80" name="Text 76"/>
          <p:cNvSpPr/>
          <p:nvPr/>
        </p:nvSpPr>
        <p:spPr>
          <a:xfrm>
            <a:off x="9248775" y="5461397"/>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Capacity</a:t>
            </a:r>
            <a:endParaRPr lang="en-US" sz="1200" dirty="0"/>
          </a:p>
        </p:txBody>
      </p:sp>
      <p:sp>
        <p:nvSpPr>
          <p:cNvPr id="81" name="Shape 77"/>
          <p:cNvSpPr/>
          <p:nvPr/>
        </p:nvSpPr>
        <p:spPr>
          <a:xfrm>
            <a:off x="10487025" y="4903887"/>
            <a:ext cx="1162050" cy="892770"/>
          </a:xfrm>
          <a:prstGeom prst="rect">
            <a:avLst/>
          </a:prstGeom>
          <a:solidFill>
            <a:srgbClr val="F4F4F6"/>
          </a:solidFill>
          <a:ln/>
        </p:spPr>
        <p:txBody>
          <a:bodyPr/>
          <a:lstStyle/>
          <a:p>
            <a:endParaRPr lang="fr-FR"/>
          </a:p>
        </p:txBody>
      </p:sp>
      <p:pic>
        <p:nvPicPr>
          <p:cNvPr id="82" name="Image 2" descr="preencoded.png"/>
          <p:cNvPicPr>
            <a:picLocks noChangeAspect="1"/>
          </p:cNvPicPr>
          <p:nvPr/>
        </p:nvPicPr>
        <p:blipFill>
          <a:blip r:embed="rId5"/>
          <a:stretch>
            <a:fillRect/>
          </a:stretch>
        </p:blipFill>
        <p:spPr>
          <a:xfrm>
            <a:off x="10906125" y="5018187"/>
            <a:ext cx="323850" cy="323850"/>
          </a:xfrm>
          <a:prstGeom prst="rect">
            <a:avLst/>
          </a:prstGeom>
        </p:spPr>
      </p:pic>
      <p:sp>
        <p:nvSpPr>
          <p:cNvPr id="83" name="Text 78"/>
          <p:cNvSpPr/>
          <p:nvPr/>
        </p:nvSpPr>
        <p:spPr>
          <a:xfrm>
            <a:off x="10506075" y="5461397"/>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Performance</a:t>
            </a:r>
            <a:endParaRPr lang="en-US" sz="1200" dirty="0"/>
          </a:p>
        </p:txBody>
      </p:sp>
      <p:sp>
        <p:nvSpPr>
          <p:cNvPr id="84" name="Shape 79"/>
          <p:cNvSpPr/>
          <p:nvPr/>
        </p:nvSpPr>
        <p:spPr>
          <a:xfrm>
            <a:off x="7972425" y="5891907"/>
            <a:ext cx="1162050" cy="892770"/>
          </a:xfrm>
          <a:prstGeom prst="rect">
            <a:avLst/>
          </a:prstGeom>
          <a:solidFill>
            <a:srgbClr val="F4F4F6"/>
          </a:solidFill>
          <a:ln/>
        </p:spPr>
        <p:txBody>
          <a:bodyPr/>
          <a:lstStyle/>
          <a:p>
            <a:endParaRPr lang="fr-FR"/>
          </a:p>
        </p:txBody>
      </p:sp>
      <p:pic>
        <p:nvPicPr>
          <p:cNvPr id="85" name="Image 3" descr="preencoded.png"/>
          <p:cNvPicPr>
            <a:picLocks noChangeAspect="1"/>
          </p:cNvPicPr>
          <p:nvPr/>
        </p:nvPicPr>
        <p:blipFill>
          <a:blip r:embed="rId6"/>
          <a:stretch>
            <a:fillRect/>
          </a:stretch>
        </p:blipFill>
        <p:spPr>
          <a:xfrm>
            <a:off x="8391525" y="6006207"/>
            <a:ext cx="323850" cy="323850"/>
          </a:xfrm>
          <a:prstGeom prst="rect">
            <a:avLst/>
          </a:prstGeom>
        </p:spPr>
      </p:pic>
      <p:sp>
        <p:nvSpPr>
          <p:cNvPr id="86" name="Text 80"/>
          <p:cNvSpPr/>
          <p:nvPr/>
        </p:nvSpPr>
        <p:spPr>
          <a:xfrm>
            <a:off x="7991475" y="6449417"/>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Risk</a:t>
            </a:r>
            <a:endParaRPr lang="en-US" sz="1200" dirty="0"/>
          </a:p>
        </p:txBody>
      </p:sp>
      <p:sp>
        <p:nvSpPr>
          <p:cNvPr id="87" name="Shape 81"/>
          <p:cNvSpPr/>
          <p:nvPr/>
        </p:nvSpPr>
        <p:spPr>
          <a:xfrm>
            <a:off x="9229725" y="5891907"/>
            <a:ext cx="1162050" cy="892770"/>
          </a:xfrm>
          <a:prstGeom prst="rect">
            <a:avLst/>
          </a:prstGeom>
          <a:solidFill>
            <a:srgbClr val="E9E9ED"/>
          </a:solidFill>
          <a:ln/>
        </p:spPr>
        <p:txBody>
          <a:bodyPr/>
          <a:lstStyle/>
          <a:p>
            <a:endParaRPr lang="fr-FR"/>
          </a:p>
        </p:txBody>
      </p:sp>
      <p:pic>
        <p:nvPicPr>
          <p:cNvPr id="88" name="Image 4" descr="preencoded.png"/>
          <p:cNvPicPr>
            <a:picLocks noChangeAspect="1"/>
          </p:cNvPicPr>
          <p:nvPr/>
        </p:nvPicPr>
        <p:blipFill>
          <a:blip r:embed="rId7"/>
          <a:stretch>
            <a:fillRect/>
          </a:stretch>
        </p:blipFill>
        <p:spPr>
          <a:xfrm>
            <a:off x="9648825" y="6006207"/>
            <a:ext cx="323850" cy="323850"/>
          </a:xfrm>
          <a:prstGeom prst="rect">
            <a:avLst/>
          </a:prstGeom>
        </p:spPr>
      </p:pic>
      <p:sp>
        <p:nvSpPr>
          <p:cNvPr id="89" name="Text 82"/>
          <p:cNvSpPr/>
          <p:nvPr/>
        </p:nvSpPr>
        <p:spPr>
          <a:xfrm>
            <a:off x="9248775" y="6449417"/>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Cost</a:t>
            </a:r>
            <a:endParaRPr lang="en-US" sz="1200" dirty="0"/>
          </a:p>
        </p:txBody>
      </p:sp>
      <p:sp>
        <p:nvSpPr>
          <p:cNvPr id="90" name="Shape 83"/>
          <p:cNvSpPr/>
          <p:nvPr/>
        </p:nvSpPr>
        <p:spPr>
          <a:xfrm>
            <a:off x="10487025" y="5891907"/>
            <a:ext cx="1162050" cy="892770"/>
          </a:xfrm>
          <a:prstGeom prst="rect">
            <a:avLst/>
          </a:prstGeom>
          <a:solidFill>
            <a:srgbClr val="E9E9ED"/>
          </a:solidFill>
          <a:ln/>
        </p:spPr>
        <p:txBody>
          <a:bodyPr/>
          <a:lstStyle/>
          <a:p>
            <a:endParaRPr lang="fr-FR"/>
          </a:p>
        </p:txBody>
      </p:sp>
      <p:pic>
        <p:nvPicPr>
          <p:cNvPr id="91" name="Image 5" descr="preencoded.png"/>
          <p:cNvPicPr>
            <a:picLocks noChangeAspect="1"/>
          </p:cNvPicPr>
          <p:nvPr/>
        </p:nvPicPr>
        <p:blipFill>
          <a:blip r:embed="rId8"/>
          <a:stretch>
            <a:fillRect/>
          </a:stretch>
        </p:blipFill>
        <p:spPr>
          <a:xfrm>
            <a:off x="10906125" y="6006207"/>
            <a:ext cx="323850" cy="323850"/>
          </a:xfrm>
          <a:prstGeom prst="rect">
            <a:avLst/>
          </a:prstGeom>
        </p:spPr>
      </p:pic>
      <p:sp>
        <p:nvSpPr>
          <p:cNvPr id="92" name="Text 84"/>
          <p:cNvSpPr/>
          <p:nvPr/>
        </p:nvSpPr>
        <p:spPr>
          <a:xfrm>
            <a:off x="10506075" y="6449417"/>
            <a:ext cx="1123950" cy="259060"/>
          </a:xfrm>
          <a:prstGeom prst="rect">
            <a:avLst/>
          </a:prstGeom>
          <a:noFill/>
          <a:ln/>
        </p:spPr>
        <p:txBody>
          <a:bodyPr wrap="square" lIns="25400" tIns="25400" rIns="25400" bIns="25400" rtlCol="0" anchor="t">
            <a:normAutofit/>
          </a:bodyPr>
          <a:lstStyle/>
          <a:p>
            <a:pPr marL="0" indent="0" algn="ctr">
              <a:lnSpc>
                <a:spcPct val="120000"/>
              </a:lnSpc>
              <a:buNone/>
            </a:pPr>
            <a:r>
              <a:rPr lang="en-US" sz="1200" dirty="0">
                <a:solidFill>
                  <a:srgbClr val="063C67"/>
                </a:solidFill>
                <a:latin typeface="Calibri" pitchFamily="34" charset="0"/>
                <a:ea typeface="Calibri" pitchFamily="34" charset="-122"/>
                <a:cs typeface="Calibri" pitchFamily="34" charset="-120"/>
              </a:rPr>
              <a:t>Carbon</a:t>
            </a:r>
            <a:endParaRPr lang="en-US" sz="1200" dirty="0"/>
          </a:p>
        </p:txBody>
      </p:sp>
      <p:sp>
        <p:nvSpPr>
          <p:cNvPr id="93" name="Text 85"/>
          <p:cNvSpPr/>
          <p:nvPr/>
        </p:nvSpPr>
        <p:spPr>
          <a:xfrm>
            <a:off x="352424" y="6198096"/>
            <a:ext cx="5743575" cy="475258"/>
          </a:xfrm>
          <a:prstGeom prst="rect">
            <a:avLst/>
          </a:prstGeom>
          <a:noFill/>
          <a:ln/>
        </p:spPr>
        <p:txBody>
          <a:bodyPr wrap="square" lIns="25400" tIns="25400" rIns="25400" bIns="25400" rtlCol="0" anchor="t">
            <a:normAutofit/>
          </a:bodyPr>
          <a:lstStyle/>
          <a:p>
            <a:pPr marL="0" indent="0" algn="l">
              <a:lnSpc>
                <a:spcPct val="111048"/>
              </a:lnSpc>
              <a:buNone/>
            </a:pPr>
            <a:r>
              <a:rPr lang="en-US" sz="1275" dirty="0">
                <a:solidFill>
                  <a:srgbClr val="858591"/>
                </a:solidFill>
                <a:latin typeface="Calibri" pitchFamily="34" charset="0"/>
                <a:ea typeface="Calibri" pitchFamily="34" charset="-122"/>
                <a:cs typeface="Calibri" pitchFamily="34" charset="-120"/>
              </a:rPr>
              <a:t>ω = 0 means “nothing is known”, kept distinct from u = 0, “the block is healthy”.</a:t>
            </a:r>
            <a:endParaRPr lang="en-US" sz="1275" dirty="0"/>
          </a:p>
        </p:txBody>
      </p:sp>
      <p:pic>
        <p:nvPicPr>
          <p:cNvPr id="94" name="Image 6" descr="preencoded.png"/>
          <p:cNvPicPr>
            <a:picLocks noChangeAspect="1"/>
          </p:cNvPicPr>
          <p:nvPr/>
        </p:nvPicPr>
        <p:blipFill>
          <a:blip r:embed="rId9"/>
          <a:stretch>
            <a:fillRect/>
          </a:stretch>
        </p:blipFill>
        <p:spPr>
          <a:xfrm>
            <a:off x="11229975" y="6567488"/>
            <a:ext cx="714375" cy="71438"/>
          </a:xfrm>
          <a:prstGeom prst="rect">
            <a:avLst/>
          </a:prstGeom>
        </p:spPr>
      </p:pic>
      <p:sp>
        <p:nvSpPr>
          <p:cNvPr id="95" name="Text 86"/>
          <p:cNvSpPr/>
          <p:nvPr/>
        </p:nvSpPr>
        <p:spPr>
          <a:xfrm>
            <a:off x="10505679" y="6465590"/>
            <a:ext cx="524272"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C0C0C8"/>
                </a:solidFill>
                <a:latin typeface="Calibri" pitchFamily="34" charset="0"/>
                <a:ea typeface="Calibri" pitchFamily="34" charset="-122"/>
                <a:cs typeface="Calibri" pitchFamily="34" charset="-120"/>
              </a:rPr>
              <a:t>10 | 20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5348109"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DECLARED URGENCY</a:t>
            </a:r>
            <a:endParaRPr lang="en-US" sz="3225" dirty="0"/>
          </a:p>
        </p:txBody>
      </p:sp>
      <p:sp>
        <p:nvSpPr>
          <p:cNvPr id="4" name="Text 2"/>
          <p:cNvSpPr/>
          <p:nvPr/>
        </p:nvSpPr>
        <p:spPr>
          <a:xfrm>
            <a:off x="352425" y="666750"/>
            <a:ext cx="8327867"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Elicited from the operator, gated on consistency, then propagated downstream</a:t>
            </a:r>
            <a:endParaRPr lang="en-US" sz="1725" dirty="0"/>
          </a:p>
        </p:txBody>
      </p:sp>
      <p:sp>
        <p:nvSpPr>
          <p:cNvPr id="5" name="Shape 3"/>
          <p:cNvSpPr/>
          <p:nvPr/>
        </p:nvSpPr>
        <p:spPr>
          <a:xfrm>
            <a:off x="352425" y="1257300"/>
            <a:ext cx="6927850" cy="2374900"/>
          </a:xfrm>
          <a:prstGeom prst="rect">
            <a:avLst/>
          </a:prstGeom>
          <a:ln w="6350">
            <a:solidFill>
              <a:srgbClr val="C0C0C8"/>
            </a:solidFill>
            <a:prstDash val="solid"/>
          </a:ln>
        </p:spPr>
        <p:txBody>
          <a:bodyPr/>
          <a:lstStyle/>
          <a:p>
            <a:endParaRPr lang="fr-FR"/>
          </a:p>
        </p:txBody>
      </p:sp>
      <p:pic>
        <p:nvPicPr>
          <p:cNvPr id="6" name="Image 0" descr="preencoded.png"/>
          <p:cNvPicPr>
            <a:picLocks noChangeAspect="1"/>
          </p:cNvPicPr>
          <p:nvPr/>
        </p:nvPicPr>
        <p:blipFill>
          <a:blip r:embed="rId3"/>
          <a:srcRect t="-309" b="-309"/>
          <a:stretch/>
        </p:blipFill>
        <p:spPr>
          <a:xfrm>
            <a:off x="352425" y="1257300"/>
            <a:ext cx="6927850" cy="2374900"/>
          </a:xfrm>
          <a:prstGeom prst="rect">
            <a:avLst/>
          </a:prstGeom>
        </p:spPr>
      </p:pic>
      <p:sp>
        <p:nvSpPr>
          <p:cNvPr id="7" name="Text 4"/>
          <p:cNvSpPr/>
          <p:nvPr/>
        </p:nvSpPr>
        <p:spPr>
          <a:xfrm>
            <a:off x="352425" y="3714750"/>
            <a:ext cx="7122605" cy="434181"/>
          </a:xfrm>
          <a:prstGeom prst="rect">
            <a:avLst/>
          </a:prstGeom>
          <a:noFill/>
          <a:ln/>
        </p:spPr>
        <p:txBody>
          <a:bodyPr wrap="square" lIns="25400" tIns="25400" rIns="25400" bIns="25400" rtlCol="0" anchor="t">
            <a:normAutofit lnSpcReduction="10000"/>
          </a:bodyPr>
          <a:lstStyle/>
          <a:p>
            <a:pPr marL="0" indent="0" algn="l">
              <a:lnSpc>
                <a:spcPct val="107586"/>
              </a:lnSpc>
              <a:buNone/>
            </a:pPr>
            <a:r>
              <a:rPr lang="en-US" sz="1200" dirty="0">
                <a:solidFill>
                  <a:srgbClr val="858591"/>
                </a:solidFill>
                <a:latin typeface="Calibri" pitchFamily="34" charset="0"/>
                <a:ea typeface="Calibri" pitchFamily="34" charset="-122"/>
                <a:cs typeface="Calibri" pitchFamily="34" charset="-120"/>
              </a:rPr>
              <a:t>The application is operated by a French research programme, so its interface is French.</a:t>
            </a:r>
            <a:endParaRPr lang="en-US" sz="1200" dirty="0"/>
          </a:p>
        </p:txBody>
      </p:sp>
      <p:sp>
        <p:nvSpPr>
          <p:cNvPr id="8" name="Text 5"/>
          <p:cNvSpPr/>
          <p:nvPr/>
        </p:nvSpPr>
        <p:spPr>
          <a:xfrm>
            <a:off x="352425" y="4267200"/>
            <a:ext cx="760666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FOUR CRITERIA, EACH WITH A COMPUTED COUNTERPART</a:t>
            </a:r>
            <a:endParaRPr lang="en-US" sz="1050" dirty="0"/>
          </a:p>
        </p:txBody>
      </p:sp>
      <p:sp>
        <p:nvSpPr>
          <p:cNvPr id="9" name="Shape 6"/>
          <p:cNvSpPr/>
          <p:nvPr/>
        </p:nvSpPr>
        <p:spPr>
          <a:xfrm>
            <a:off x="352425" y="4574778"/>
            <a:ext cx="3414713" cy="477143"/>
          </a:xfrm>
          <a:prstGeom prst="rect">
            <a:avLst/>
          </a:prstGeom>
          <a:solidFill>
            <a:srgbClr val="E9F5FB"/>
          </a:solidFill>
          <a:ln/>
        </p:spPr>
        <p:txBody>
          <a:bodyPr/>
          <a:lstStyle/>
          <a:p>
            <a:endParaRPr lang="fr-FR"/>
          </a:p>
        </p:txBody>
      </p:sp>
      <p:sp>
        <p:nvSpPr>
          <p:cNvPr id="10" name="Text 7"/>
          <p:cNvSpPr/>
          <p:nvPr/>
        </p:nvSpPr>
        <p:spPr>
          <a:xfrm>
            <a:off x="495300" y="4689078"/>
            <a:ext cx="3231404"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Operational impact</a:t>
            </a:r>
            <a:endParaRPr lang="en-US" sz="1350" dirty="0"/>
          </a:p>
        </p:txBody>
      </p:sp>
      <p:sp>
        <p:nvSpPr>
          <p:cNvPr id="11" name="Shape 8"/>
          <p:cNvSpPr/>
          <p:nvPr/>
        </p:nvSpPr>
        <p:spPr>
          <a:xfrm>
            <a:off x="3852863" y="4574778"/>
            <a:ext cx="3414713" cy="477143"/>
          </a:xfrm>
          <a:prstGeom prst="rect">
            <a:avLst/>
          </a:prstGeom>
          <a:solidFill>
            <a:srgbClr val="E9F5FB"/>
          </a:solidFill>
          <a:ln/>
        </p:spPr>
        <p:txBody>
          <a:bodyPr/>
          <a:lstStyle/>
          <a:p>
            <a:endParaRPr lang="fr-FR"/>
          </a:p>
        </p:txBody>
      </p:sp>
      <p:sp>
        <p:nvSpPr>
          <p:cNvPr id="12" name="Text 9"/>
          <p:cNvSpPr/>
          <p:nvPr/>
        </p:nvSpPr>
        <p:spPr>
          <a:xfrm>
            <a:off x="3995738" y="4689078"/>
            <a:ext cx="3231404"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Time window</a:t>
            </a:r>
            <a:endParaRPr lang="en-US" sz="1350" dirty="0"/>
          </a:p>
        </p:txBody>
      </p:sp>
      <p:sp>
        <p:nvSpPr>
          <p:cNvPr id="13" name="Shape 10"/>
          <p:cNvSpPr/>
          <p:nvPr/>
        </p:nvSpPr>
        <p:spPr>
          <a:xfrm>
            <a:off x="352425" y="5137646"/>
            <a:ext cx="3414713" cy="477143"/>
          </a:xfrm>
          <a:prstGeom prst="rect">
            <a:avLst/>
          </a:prstGeom>
          <a:solidFill>
            <a:srgbClr val="E9F5FB"/>
          </a:solidFill>
          <a:ln/>
        </p:spPr>
        <p:txBody>
          <a:bodyPr/>
          <a:lstStyle/>
          <a:p>
            <a:endParaRPr lang="fr-FR"/>
          </a:p>
        </p:txBody>
      </p:sp>
      <p:sp>
        <p:nvSpPr>
          <p:cNvPr id="14" name="Text 11"/>
          <p:cNvSpPr/>
          <p:nvPr/>
        </p:nvSpPr>
        <p:spPr>
          <a:xfrm>
            <a:off x="495300" y="5251946"/>
            <a:ext cx="3231404"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Downstream dependencies</a:t>
            </a:r>
            <a:endParaRPr lang="en-US" sz="1350" dirty="0"/>
          </a:p>
        </p:txBody>
      </p:sp>
      <p:sp>
        <p:nvSpPr>
          <p:cNvPr id="15" name="Shape 12"/>
          <p:cNvSpPr/>
          <p:nvPr/>
        </p:nvSpPr>
        <p:spPr>
          <a:xfrm>
            <a:off x="3852863" y="5137646"/>
            <a:ext cx="3414713" cy="477143"/>
          </a:xfrm>
          <a:prstGeom prst="rect">
            <a:avLst/>
          </a:prstGeom>
          <a:solidFill>
            <a:srgbClr val="E9F5FB"/>
          </a:solidFill>
          <a:ln/>
        </p:spPr>
        <p:txBody>
          <a:bodyPr/>
          <a:lstStyle/>
          <a:p>
            <a:endParaRPr lang="fr-FR"/>
          </a:p>
        </p:txBody>
      </p:sp>
      <p:sp>
        <p:nvSpPr>
          <p:cNvPr id="16" name="Text 13"/>
          <p:cNvSpPr/>
          <p:nvPr/>
        </p:nvSpPr>
        <p:spPr>
          <a:xfrm>
            <a:off x="3995738" y="5251946"/>
            <a:ext cx="3231404"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Recoverability</a:t>
            </a:r>
            <a:endParaRPr lang="en-US" sz="1350" dirty="0"/>
          </a:p>
        </p:txBody>
      </p:sp>
      <p:sp>
        <p:nvSpPr>
          <p:cNvPr id="17" name="Shape 14"/>
          <p:cNvSpPr/>
          <p:nvPr/>
        </p:nvSpPr>
        <p:spPr>
          <a:xfrm>
            <a:off x="7572375" y="1257300"/>
            <a:ext cx="4076700" cy="2529483"/>
          </a:xfrm>
          <a:prstGeom prst="rect">
            <a:avLst/>
          </a:prstGeom>
          <a:solidFill>
            <a:srgbClr val="063C67"/>
          </a:solidFill>
          <a:ln/>
        </p:spPr>
        <p:txBody>
          <a:bodyPr/>
          <a:lstStyle/>
          <a:p>
            <a:endParaRPr lang="fr-FR"/>
          </a:p>
        </p:txBody>
      </p:sp>
      <p:pic>
        <p:nvPicPr>
          <p:cNvPr id="18" name="Image 1" descr="preencoded.png"/>
          <p:cNvPicPr>
            <a:picLocks noChangeAspect="1"/>
          </p:cNvPicPr>
          <p:nvPr/>
        </p:nvPicPr>
        <p:blipFill>
          <a:blip r:embed="rId4"/>
          <a:stretch>
            <a:fillRect/>
          </a:stretch>
        </p:blipFill>
        <p:spPr>
          <a:xfrm>
            <a:off x="7800975" y="1466850"/>
            <a:ext cx="407392" cy="361950"/>
          </a:xfrm>
          <a:prstGeom prst="rect">
            <a:avLst/>
          </a:prstGeom>
        </p:spPr>
      </p:pic>
      <p:sp>
        <p:nvSpPr>
          <p:cNvPr id="19" name="Text 15"/>
          <p:cNvSpPr/>
          <p:nvPr/>
        </p:nvSpPr>
        <p:spPr>
          <a:xfrm>
            <a:off x="8341718" y="1495921"/>
            <a:ext cx="3236565" cy="341908"/>
          </a:xfrm>
          <a:prstGeom prst="rect">
            <a:avLst/>
          </a:prstGeom>
          <a:noFill/>
          <a:ln/>
        </p:spPr>
        <p:txBody>
          <a:bodyPr wrap="square" lIns="25400" tIns="25400" rIns="25400" bIns="25400" rtlCol="0" anchor="t">
            <a:normAutofit/>
          </a:bodyPr>
          <a:lstStyle/>
          <a:p>
            <a:pPr marL="0" indent="0" algn="l">
              <a:lnSpc>
                <a:spcPct val="104022"/>
              </a:lnSpc>
              <a:buNone/>
            </a:pPr>
            <a:r>
              <a:rPr lang="en-US" sz="1650" b="1" dirty="0">
                <a:solidFill>
                  <a:srgbClr val="FFFFFF"/>
                </a:solidFill>
                <a:latin typeface="Arial Black" pitchFamily="34" charset="0"/>
                <a:ea typeface="Arial Black" pitchFamily="34" charset="-122"/>
                <a:cs typeface="Arial Black" pitchFamily="34" charset="-120"/>
              </a:rPr>
              <a:t>THE CONSISTENCY GATE</a:t>
            </a:r>
            <a:endParaRPr lang="en-US" sz="1650" dirty="0"/>
          </a:p>
        </p:txBody>
      </p:sp>
      <p:sp>
        <p:nvSpPr>
          <p:cNvPr id="20" name="Text 16"/>
          <p:cNvSpPr/>
          <p:nvPr/>
        </p:nvSpPr>
        <p:spPr>
          <a:xfrm>
            <a:off x="7800975" y="1943100"/>
            <a:ext cx="3728085" cy="1051322"/>
          </a:xfrm>
          <a:prstGeom prst="rect">
            <a:avLst/>
          </a:prstGeom>
          <a:noFill/>
          <a:ln/>
        </p:spPr>
        <p:txBody>
          <a:bodyPr wrap="square" lIns="25400" tIns="25400" rIns="25400" bIns="25400" rtlCol="0" anchor="t">
            <a:normAutofit/>
          </a:bodyPr>
          <a:lstStyle/>
          <a:p>
            <a:pPr marL="0" indent="0" algn="l">
              <a:lnSpc>
                <a:spcPct val="114000"/>
              </a:lnSpc>
              <a:buNone/>
            </a:pPr>
            <a:r>
              <a:rPr lang="en-US" sz="1425" dirty="0">
                <a:solidFill>
                  <a:srgbClr val="FFFFFF"/>
                </a:solidFill>
                <a:latin typeface="Calibri" pitchFamily="34" charset="0"/>
                <a:ea typeface="Calibri" pitchFamily="34" charset="-122"/>
                <a:cs typeface="Calibri" pitchFamily="34" charset="-120"/>
              </a:rPr>
              <a:t>A weight vector whose consistency ratio exceeds the threshold is </a:t>
            </a:r>
            <a:r>
              <a:rPr lang="en-US" sz="1425" b="1" dirty="0">
                <a:solidFill>
                  <a:srgbClr val="FFDA65"/>
                </a:solidFill>
                <a:latin typeface="Calibri" pitchFamily="34" charset="0"/>
                <a:ea typeface="Calibri" pitchFamily="34" charset="-122"/>
                <a:cs typeface="Calibri" pitchFamily="34" charset="-120"/>
              </a:rPr>
              <a:t>refused </a:t>
            </a:r>
            <a:r>
              <a:rPr lang="en-US" sz="1425" dirty="0">
                <a:solidFill>
                  <a:srgbClr val="FFFFFF"/>
                </a:solidFill>
                <a:latin typeface="Calibri" pitchFamily="34" charset="0"/>
                <a:ea typeface="Calibri" pitchFamily="34" charset="-122"/>
                <a:cs typeface="Calibri" pitchFamily="34" charset="-120"/>
              </a:rPr>
              <a:t>. The operator is sent back to the most contradictory of their own comparisons.</a:t>
            </a:r>
            <a:endParaRPr lang="en-US" sz="1425" dirty="0"/>
          </a:p>
        </p:txBody>
      </p:sp>
      <p:sp>
        <p:nvSpPr>
          <p:cNvPr id="21" name="Text 17"/>
          <p:cNvSpPr/>
          <p:nvPr/>
        </p:nvSpPr>
        <p:spPr>
          <a:xfrm>
            <a:off x="7800975" y="3070622"/>
            <a:ext cx="3728085" cy="544711"/>
          </a:xfrm>
          <a:prstGeom prst="rect">
            <a:avLst/>
          </a:prstGeom>
          <a:noFill/>
          <a:ln/>
        </p:spPr>
        <p:txBody>
          <a:bodyPr wrap="square" lIns="25400" tIns="25400" rIns="25400" bIns="25400" rtlCol="0" anchor="t">
            <a:normAutofit/>
          </a:bodyPr>
          <a:lstStyle/>
          <a:p>
            <a:pPr marL="0" indent="0" algn="l">
              <a:lnSpc>
                <a:spcPct val="114000"/>
              </a:lnSpc>
              <a:buNone/>
            </a:pPr>
            <a:r>
              <a:rPr lang="en-US" sz="1425" dirty="0">
                <a:solidFill>
                  <a:srgbClr val="FFFFFF"/>
                </a:solidFill>
                <a:latin typeface="Calibri" pitchFamily="34" charset="0"/>
                <a:ea typeface="Calibri" pitchFamily="34" charset="-122"/>
                <a:cs typeface="Calibri" pitchFamily="34" charset="-120"/>
              </a:rPr>
              <a:t>Without it, an incoherent judgment would propagate as though it were a considered one.</a:t>
            </a:r>
            <a:endParaRPr lang="en-US" sz="1425" dirty="0"/>
          </a:p>
        </p:txBody>
      </p:sp>
      <p:sp>
        <p:nvSpPr>
          <p:cNvPr id="22" name="Shape 18"/>
          <p:cNvSpPr/>
          <p:nvPr/>
        </p:nvSpPr>
        <p:spPr>
          <a:xfrm>
            <a:off x="7572375" y="3977283"/>
            <a:ext cx="4076700" cy="533400"/>
          </a:xfrm>
          <a:prstGeom prst="rect">
            <a:avLst/>
          </a:prstGeom>
          <a:solidFill>
            <a:srgbClr val="F4F4F6"/>
          </a:solidFill>
          <a:ln/>
        </p:spPr>
        <p:txBody>
          <a:bodyPr/>
          <a:lstStyle/>
          <a:p>
            <a:endParaRPr lang="fr-FR"/>
          </a:p>
        </p:txBody>
      </p:sp>
      <p:pic>
        <p:nvPicPr>
          <p:cNvPr id="23" name="Image 2" descr="preencoded.png"/>
          <p:cNvPicPr>
            <a:picLocks noChangeAspect="1"/>
          </p:cNvPicPr>
          <p:nvPr/>
        </p:nvPicPr>
        <p:blipFill>
          <a:blip r:embed="rId5"/>
          <a:stretch>
            <a:fillRect/>
          </a:stretch>
        </p:blipFill>
        <p:spPr>
          <a:xfrm>
            <a:off x="7715250" y="4101108"/>
            <a:ext cx="285750" cy="285750"/>
          </a:xfrm>
          <a:prstGeom prst="rect">
            <a:avLst/>
          </a:prstGeom>
        </p:spPr>
      </p:pic>
      <p:sp>
        <p:nvSpPr>
          <p:cNvPr id="24" name="Text 19"/>
          <p:cNvSpPr/>
          <p:nvPr/>
        </p:nvSpPr>
        <p:spPr>
          <a:xfrm>
            <a:off x="8124825" y="4132560"/>
            <a:ext cx="3553182"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Pairwise comparisons, not a free-text estimate</a:t>
            </a:r>
            <a:endParaRPr lang="en-US" sz="1350" dirty="0"/>
          </a:p>
        </p:txBody>
      </p:sp>
      <p:sp>
        <p:nvSpPr>
          <p:cNvPr id="25" name="Shape 20"/>
          <p:cNvSpPr/>
          <p:nvPr/>
        </p:nvSpPr>
        <p:spPr>
          <a:xfrm>
            <a:off x="7572375" y="4615458"/>
            <a:ext cx="4076700" cy="533400"/>
          </a:xfrm>
          <a:prstGeom prst="rect">
            <a:avLst/>
          </a:prstGeom>
          <a:solidFill>
            <a:srgbClr val="F4F4F6"/>
          </a:solidFill>
          <a:ln/>
        </p:spPr>
        <p:txBody>
          <a:bodyPr/>
          <a:lstStyle/>
          <a:p>
            <a:endParaRPr lang="fr-FR"/>
          </a:p>
        </p:txBody>
      </p:sp>
      <p:pic>
        <p:nvPicPr>
          <p:cNvPr id="26" name="Image 3" descr="preencoded.png"/>
          <p:cNvPicPr>
            <a:picLocks noChangeAspect="1"/>
          </p:cNvPicPr>
          <p:nvPr/>
        </p:nvPicPr>
        <p:blipFill>
          <a:blip r:embed="rId6"/>
          <a:stretch>
            <a:fillRect/>
          </a:stretch>
        </p:blipFill>
        <p:spPr>
          <a:xfrm>
            <a:off x="7715250" y="4739283"/>
            <a:ext cx="285750" cy="285750"/>
          </a:xfrm>
          <a:prstGeom prst="rect">
            <a:avLst/>
          </a:prstGeom>
        </p:spPr>
      </p:pic>
      <p:sp>
        <p:nvSpPr>
          <p:cNvPr id="27" name="Text 21"/>
          <p:cNvSpPr/>
          <p:nvPr/>
        </p:nvSpPr>
        <p:spPr>
          <a:xfrm>
            <a:off x="8124825" y="4770735"/>
            <a:ext cx="2558693"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AHP · fuzzy BWM · PROMETHEE II</a:t>
            </a:r>
            <a:endParaRPr lang="en-US" sz="1350" dirty="0"/>
          </a:p>
        </p:txBody>
      </p:sp>
      <p:sp>
        <p:nvSpPr>
          <p:cNvPr id="28" name="Shape 22"/>
          <p:cNvSpPr/>
          <p:nvPr/>
        </p:nvSpPr>
        <p:spPr>
          <a:xfrm>
            <a:off x="7572375" y="5253633"/>
            <a:ext cx="4076700" cy="693341"/>
          </a:xfrm>
          <a:prstGeom prst="rect">
            <a:avLst/>
          </a:prstGeom>
          <a:solidFill>
            <a:srgbClr val="FFF6DA"/>
          </a:solidFill>
          <a:ln/>
        </p:spPr>
        <p:txBody>
          <a:bodyPr/>
          <a:lstStyle/>
          <a:p>
            <a:endParaRPr lang="fr-FR"/>
          </a:p>
        </p:txBody>
      </p:sp>
      <p:sp>
        <p:nvSpPr>
          <p:cNvPr id="29" name="Text 23"/>
          <p:cNvSpPr/>
          <p:nvPr/>
        </p:nvSpPr>
        <p:spPr>
          <a:xfrm>
            <a:off x="7715250" y="5476479"/>
            <a:ext cx="256282"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γ</a:t>
            </a:r>
            <a:endParaRPr lang="en-US" sz="1500" dirty="0"/>
          </a:p>
        </p:txBody>
      </p:sp>
      <p:sp>
        <p:nvSpPr>
          <p:cNvPr id="31" name="Text 25"/>
          <p:cNvSpPr/>
          <p:nvPr/>
        </p:nvSpPr>
        <p:spPr>
          <a:xfrm>
            <a:off x="8263632" y="5377458"/>
            <a:ext cx="3339845" cy="483791"/>
          </a:xfrm>
          <a:prstGeom prst="rect">
            <a:avLst/>
          </a:prstGeom>
          <a:noFill/>
          <a:ln/>
        </p:spPr>
        <p:txBody>
          <a:bodyPr wrap="square" lIns="25400" tIns="25400" rIns="25400" bIns="25400" rtlCol="0" anchor="t">
            <a:normAutofit/>
          </a:bodyPr>
          <a:lstStyle/>
          <a:p>
            <a:pPr marL="0" indent="0" algn="l">
              <a:lnSpc>
                <a:spcPct val="106364"/>
              </a:lnSpc>
              <a:buNone/>
            </a:pPr>
            <a:r>
              <a:rPr lang="en-US" sz="1350" dirty="0">
                <a:solidFill>
                  <a:srgbClr val="063C67"/>
                </a:solidFill>
                <a:latin typeface="Calibri" pitchFamily="34" charset="0"/>
                <a:ea typeface="Calibri" pitchFamily="34" charset="-122"/>
                <a:cs typeface="Calibri" pitchFamily="34" charset="-120"/>
              </a:rPr>
              <a:t>Descends from the customer towards suppliers, attenuated</a:t>
            </a:r>
            <a:endParaRPr lang="en-US" sz="1350" dirty="0"/>
          </a:p>
        </p:txBody>
      </p:sp>
      <p:pic>
        <p:nvPicPr>
          <p:cNvPr id="33" name="Image 4" descr="preencoded.png"/>
          <p:cNvPicPr>
            <a:picLocks noChangeAspect="1"/>
          </p:cNvPicPr>
          <p:nvPr/>
        </p:nvPicPr>
        <p:blipFill>
          <a:blip r:embed="rId7"/>
          <a:stretch>
            <a:fillRect/>
          </a:stretch>
        </p:blipFill>
        <p:spPr>
          <a:xfrm>
            <a:off x="11229975" y="6567488"/>
            <a:ext cx="714375" cy="71438"/>
          </a:xfrm>
          <a:prstGeom prst="rect">
            <a:avLst/>
          </a:prstGeom>
        </p:spPr>
      </p:pic>
      <p:sp>
        <p:nvSpPr>
          <p:cNvPr id="34" name="Text 27"/>
          <p:cNvSpPr/>
          <p:nvPr/>
        </p:nvSpPr>
        <p:spPr>
          <a:xfrm>
            <a:off x="10505679" y="6465590"/>
            <a:ext cx="524272"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C0C0C8"/>
                </a:solidFill>
                <a:latin typeface="Calibri" pitchFamily="34" charset="0"/>
                <a:ea typeface="Calibri" pitchFamily="34" charset="-122"/>
                <a:cs typeface="Calibri" pitchFamily="34" charset="-120"/>
              </a:rPr>
              <a:t>11 | 20</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3980905"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THE ADEQUACY</a:t>
            </a:r>
            <a:endParaRPr lang="en-US" sz="3225" dirty="0"/>
          </a:p>
        </p:txBody>
      </p:sp>
      <p:sp>
        <p:nvSpPr>
          <p:cNvPr id="4" name="Text 2"/>
          <p:cNvSpPr/>
          <p:nvPr/>
        </p:nvSpPr>
        <p:spPr>
          <a:xfrm>
            <a:off x="352425" y="666750"/>
            <a:ext cx="5621943"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Elicited separately, propagated in opposite directions</a:t>
            </a:r>
            <a:endParaRPr lang="en-US" sz="1725" dirty="0"/>
          </a:p>
        </p:txBody>
      </p:sp>
      <p:pic>
        <p:nvPicPr>
          <p:cNvPr id="5" name="Image 0" descr="preencoded.png"/>
          <p:cNvPicPr>
            <a:picLocks noChangeAspect="1"/>
          </p:cNvPicPr>
          <p:nvPr/>
        </p:nvPicPr>
        <p:blipFill>
          <a:blip r:embed="rId3"/>
          <a:srcRect t="-129" b="-129"/>
          <a:stretch/>
        </p:blipFill>
        <p:spPr>
          <a:xfrm>
            <a:off x="209550" y="1219200"/>
            <a:ext cx="6877050" cy="4248150"/>
          </a:xfrm>
          <a:prstGeom prst="rect">
            <a:avLst/>
          </a:prstGeom>
        </p:spPr>
      </p:pic>
      <p:sp>
        <p:nvSpPr>
          <p:cNvPr id="6" name="Text 3"/>
          <p:cNvSpPr/>
          <p:nvPr/>
        </p:nvSpPr>
        <p:spPr>
          <a:xfrm>
            <a:off x="7524750" y="1257300"/>
            <a:ext cx="4746308"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PROPAGATION ACROSS THE NETWORK</a:t>
            </a:r>
            <a:endParaRPr lang="en-US" sz="1050" dirty="0"/>
          </a:p>
        </p:txBody>
      </p:sp>
      <p:sp>
        <p:nvSpPr>
          <p:cNvPr id="7" name="Text 4"/>
          <p:cNvSpPr/>
          <p:nvPr/>
        </p:nvSpPr>
        <p:spPr>
          <a:xfrm>
            <a:off x="7657009" y="1583928"/>
            <a:ext cx="192584" cy="314325"/>
          </a:xfrm>
          <a:prstGeom prst="rect">
            <a:avLst/>
          </a:prstGeom>
          <a:noFill/>
          <a:ln/>
        </p:spPr>
        <p:txBody>
          <a:bodyPr wrap="square" lIns="25400" tIns="25400" rIns="25400" bIns="25400" rtlCol="0" anchor="t">
            <a:normAutofit/>
          </a:bodyPr>
          <a:lstStyle/>
          <a:p>
            <a:pPr marL="0" indent="0" algn="l">
              <a:lnSpc>
                <a:spcPct val="103571"/>
              </a:lnSpc>
              <a:buNone/>
            </a:pPr>
            <a:r>
              <a:rPr lang="en-US" sz="1500" b="1" dirty="0">
                <a:solidFill>
                  <a:srgbClr val="1D93C9"/>
                </a:solidFill>
                <a:latin typeface="Arial Black" pitchFamily="34" charset="0"/>
                <a:ea typeface="Arial Black" pitchFamily="34" charset="-122"/>
                <a:cs typeface="Arial Black" pitchFamily="34" charset="-120"/>
              </a:rPr>
              <a:t>γ</a:t>
            </a:r>
            <a:endParaRPr lang="en-US" sz="1500" dirty="0"/>
          </a:p>
        </p:txBody>
      </p:sp>
      <p:sp>
        <p:nvSpPr>
          <p:cNvPr id="8" name="Shape 5"/>
          <p:cNvSpPr/>
          <p:nvPr/>
        </p:nvSpPr>
        <p:spPr>
          <a:xfrm>
            <a:off x="7696200" y="1917303"/>
            <a:ext cx="38100" cy="1740297"/>
          </a:xfrm>
          <a:prstGeom prst="rect">
            <a:avLst/>
          </a:prstGeom>
          <a:solidFill>
            <a:srgbClr val="1D93C9"/>
          </a:solidFill>
          <a:ln/>
        </p:spPr>
        <p:txBody>
          <a:bodyPr/>
          <a:lstStyle/>
          <a:p>
            <a:endParaRPr lang="fr-FR"/>
          </a:p>
        </p:txBody>
      </p:sp>
      <p:sp>
        <p:nvSpPr>
          <p:cNvPr id="9" name="Shape 6"/>
          <p:cNvSpPr/>
          <p:nvPr/>
        </p:nvSpPr>
        <p:spPr>
          <a:xfrm>
            <a:off x="7632700" y="3657600"/>
            <a:ext cx="165100" cy="120650"/>
          </a:xfrm>
          <a:prstGeom prst="rect">
            <a:avLst/>
          </a:prstGeom>
          <a:solidFill>
            <a:srgbClr val="1D93C9"/>
          </a:solidFill>
          <a:ln/>
        </p:spPr>
        <p:txBody>
          <a:bodyPr/>
          <a:lstStyle/>
          <a:p>
            <a:endParaRPr lang="fr-FR"/>
          </a:p>
        </p:txBody>
      </p:sp>
      <p:sp>
        <p:nvSpPr>
          <p:cNvPr id="10" name="Shape 7"/>
          <p:cNvSpPr/>
          <p:nvPr/>
        </p:nvSpPr>
        <p:spPr>
          <a:xfrm>
            <a:off x="8020050" y="1583928"/>
            <a:ext cx="3324225" cy="477143"/>
          </a:xfrm>
          <a:prstGeom prst="rect">
            <a:avLst/>
          </a:prstGeom>
          <a:solidFill>
            <a:srgbClr val="E9F5FB"/>
          </a:solidFill>
          <a:ln/>
        </p:spPr>
        <p:txBody>
          <a:bodyPr/>
          <a:lstStyle/>
          <a:p>
            <a:endParaRPr lang="fr-FR"/>
          </a:p>
        </p:txBody>
      </p:sp>
      <p:sp>
        <p:nvSpPr>
          <p:cNvPr id="11" name="Text 8"/>
          <p:cNvSpPr/>
          <p:nvPr/>
        </p:nvSpPr>
        <p:spPr>
          <a:xfrm>
            <a:off x="8162925" y="1698228"/>
            <a:ext cx="313820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Customer </a:t>
            </a:r>
            <a:r>
              <a:rPr lang="en-US" sz="1350" dirty="0">
                <a:solidFill>
                  <a:srgbClr val="063C67"/>
                </a:solidFill>
                <a:highlight>
                  <a:srgbClr val="E9F5FB"/>
                </a:highlight>
                <a:latin typeface="Calibri" pitchFamily="34" charset="0"/>
                <a:ea typeface="Calibri" pitchFamily="34" charset="-122"/>
                <a:cs typeface="Calibri" pitchFamily="34" charset="-120"/>
              </a:rPr>
              <a:t>· final assembly</a:t>
            </a:r>
            <a:endParaRPr lang="en-US" sz="1350" dirty="0"/>
          </a:p>
        </p:txBody>
      </p:sp>
      <p:sp>
        <p:nvSpPr>
          <p:cNvPr id="12" name="Shape 9"/>
          <p:cNvSpPr/>
          <p:nvPr/>
        </p:nvSpPr>
        <p:spPr>
          <a:xfrm>
            <a:off x="8020050" y="2156321"/>
            <a:ext cx="3324225" cy="477143"/>
          </a:xfrm>
          <a:prstGeom prst="rect">
            <a:avLst/>
          </a:prstGeom>
          <a:solidFill>
            <a:srgbClr val="F4F4F6"/>
          </a:solidFill>
          <a:ln/>
        </p:spPr>
        <p:txBody>
          <a:bodyPr/>
          <a:lstStyle/>
          <a:p>
            <a:endParaRPr lang="fr-FR"/>
          </a:p>
        </p:txBody>
      </p:sp>
      <p:sp>
        <p:nvSpPr>
          <p:cNvPr id="13" name="Text 10"/>
          <p:cNvSpPr/>
          <p:nvPr/>
        </p:nvSpPr>
        <p:spPr>
          <a:xfrm>
            <a:off x="8162925" y="2270621"/>
            <a:ext cx="313820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Tier 1 · systems</a:t>
            </a:r>
            <a:endParaRPr lang="en-US" sz="1350" dirty="0"/>
          </a:p>
        </p:txBody>
      </p:sp>
      <p:sp>
        <p:nvSpPr>
          <p:cNvPr id="14" name="Shape 11"/>
          <p:cNvSpPr/>
          <p:nvPr/>
        </p:nvSpPr>
        <p:spPr>
          <a:xfrm>
            <a:off x="8020050" y="2728714"/>
            <a:ext cx="3324225" cy="477143"/>
          </a:xfrm>
          <a:prstGeom prst="rect">
            <a:avLst/>
          </a:prstGeom>
          <a:solidFill>
            <a:srgbClr val="F4F4F6"/>
          </a:solidFill>
          <a:ln/>
        </p:spPr>
        <p:txBody>
          <a:bodyPr/>
          <a:lstStyle/>
          <a:p>
            <a:endParaRPr lang="fr-FR"/>
          </a:p>
        </p:txBody>
      </p:sp>
      <p:sp>
        <p:nvSpPr>
          <p:cNvPr id="15" name="Text 12"/>
          <p:cNvSpPr/>
          <p:nvPr/>
        </p:nvSpPr>
        <p:spPr>
          <a:xfrm>
            <a:off x="8162925" y="2843014"/>
            <a:ext cx="313820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Tier 2 · subassemblies</a:t>
            </a:r>
            <a:endParaRPr lang="en-US" sz="1350" dirty="0"/>
          </a:p>
        </p:txBody>
      </p:sp>
      <p:sp>
        <p:nvSpPr>
          <p:cNvPr id="16" name="Shape 13"/>
          <p:cNvSpPr/>
          <p:nvPr/>
        </p:nvSpPr>
        <p:spPr>
          <a:xfrm>
            <a:off x="8020050" y="3301107"/>
            <a:ext cx="3324225" cy="477143"/>
          </a:xfrm>
          <a:prstGeom prst="rect">
            <a:avLst/>
          </a:prstGeom>
          <a:solidFill>
            <a:srgbClr val="FFF6DA"/>
          </a:solidFill>
          <a:ln/>
        </p:spPr>
        <p:txBody>
          <a:bodyPr/>
          <a:lstStyle/>
          <a:p>
            <a:endParaRPr lang="fr-FR"/>
          </a:p>
        </p:txBody>
      </p:sp>
      <p:sp>
        <p:nvSpPr>
          <p:cNvPr id="17" name="Text 14"/>
          <p:cNvSpPr/>
          <p:nvPr/>
        </p:nvSpPr>
        <p:spPr>
          <a:xfrm>
            <a:off x="8162925" y="3415407"/>
            <a:ext cx="3138202"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Tier 3 </a:t>
            </a:r>
            <a:r>
              <a:rPr lang="en-US" sz="1350" dirty="0">
                <a:solidFill>
                  <a:srgbClr val="063C67"/>
                </a:solidFill>
                <a:highlight>
                  <a:srgbClr val="FFF6DA"/>
                </a:highlight>
                <a:latin typeface="Calibri" pitchFamily="34" charset="0"/>
                <a:ea typeface="Calibri" pitchFamily="34" charset="-122"/>
                <a:cs typeface="Calibri" pitchFamily="34" charset="-120"/>
              </a:rPr>
              <a:t>· raw material</a:t>
            </a:r>
            <a:endParaRPr lang="en-US" sz="1350" dirty="0"/>
          </a:p>
        </p:txBody>
      </p:sp>
      <p:sp>
        <p:nvSpPr>
          <p:cNvPr id="18" name="Shape 15"/>
          <p:cNvSpPr/>
          <p:nvPr/>
        </p:nvSpPr>
        <p:spPr>
          <a:xfrm>
            <a:off x="11566525" y="1583928"/>
            <a:ext cx="165100" cy="120650"/>
          </a:xfrm>
          <a:prstGeom prst="rect">
            <a:avLst/>
          </a:prstGeom>
          <a:solidFill>
            <a:srgbClr val="FFC800"/>
          </a:solidFill>
          <a:ln/>
        </p:spPr>
        <p:txBody>
          <a:bodyPr/>
          <a:lstStyle/>
          <a:p>
            <a:endParaRPr lang="fr-FR"/>
          </a:p>
        </p:txBody>
      </p:sp>
      <p:sp>
        <p:nvSpPr>
          <p:cNvPr id="19" name="Shape 16"/>
          <p:cNvSpPr/>
          <p:nvPr/>
        </p:nvSpPr>
        <p:spPr>
          <a:xfrm>
            <a:off x="11630025" y="1704578"/>
            <a:ext cx="38100" cy="1740297"/>
          </a:xfrm>
          <a:prstGeom prst="rect">
            <a:avLst/>
          </a:prstGeom>
          <a:solidFill>
            <a:srgbClr val="FFC800"/>
          </a:solidFill>
          <a:ln/>
        </p:spPr>
        <p:txBody>
          <a:bodyPr/>
          <a:lstStyle/>
          <a:p>
            <a:endParaRPr lang="fr-FR"/>
          </a:p>
        </p:txBody>
      </p:sp>
      <p:sp>
        <p:nvSpPr>
          <p:cNvPr id="20" name="Text 17"/>
          <p:cNvSpPr/>
          <p:nvPr/>
        </p:nvSpPr>
        <p:spPr>
          <a:xfrm>
            <a:off x="11587659" y="3502025"/>
            <a:ext cx="198934" cy="314325"/>
          </a:xfrm>
          <a:prstGeom prst="rect">
            <a:avLst/>
          </a:prstGeom>
          <a:noFill/>
          <a:ln/>
        </p:spPr>
        <p:txBody>
          <a:bodyPr wrap="square" lIns="25400" tIns="25400" rIns="25400" bIns="25400" rtlCol="0" anchor="t">
            <a:normAutofit/>
          </a:bodyPr>
          <a:lstStyle/>
          <a:p>
            <a:pPr marL="0" indent="0" algn="l">
              <a:lnSpc>
                <a:spcPct val="103571"/>
              </a:lnSpc>
              <a:buNone/>
            </a:pPr>
            <a:r>
              <a:rPr lang="en-US" sz="1500" b="1" dirty="0">
                <a:solidFill>
                  <a:srgbClr val="FFC800"/>
                </a:solidFill>
                <a:latin typeface="Arial Black" pitchFamily="34" charset="0"/>
                <a:ea typeface="Arial Black" pitchFamily="34" charset="-122"/>
                <a:cs typeface="Arial Black" pitchFamily="34" charset="-120"/>
              </a:rPr>
              <a:t>β</a:t>
            </a:r>
            <a:endParaRPr lang="en-US" sz="1500" dirty="0"/>
          </a:p>
        </p:txBody>
      </p:sp>
      <p:sp>
        <p:nvSpPr>
          <p:cNvPr id="21" name="Text 18"/>
          <p:cNvSpPr/>
          <p:nvPr/>
        </p:nvSpPr>
        <p:spPr>
          <a:xfrm>
            <a:off x="7524750" y="3930650"/>
            <a:ext cx="4444270" cy="458986"/>
          </a:xfrm>
          <a:prstGeom prst="rect">
            <a:avLst/>
          </a:prstGeom>
          <a:noFill/>
          <a:ln/>
        </p:spPr>
        <p:txBody>
          <a:bodyPr wrap="square" lIns="25400" tIns="25400" rIns="25400" bIns="25400" rtlCol="0" anchor="t">
            <a:normAutofit/>
          </a:bodyPr>
          <a:lstStyle/>
          <a:p>
            <a:pPr marL="0" indent="0" algn="l">
              <a:lnSpc>
                <a:spcPct val="106935"/>
              </a:lnSpc>
              <a:buNone/>
            </a:pPr>
            <a:r>
              <a:rPr lang="en-US" sz="1275" b="1" dirty="0">
                <a:solidFill>
                  <a:srgbClr val="1D93C9"/>
                </a:solidFill>
                <a:latin typeface="Calibri" pitchFamily="34" charset="0"/>
                <a:ea typeface="Calibri" pitchFamily="34" charset="-122"/>
                <a:cs typeface="Calibri" pitchFamily="34" charset="-120"/>
              </a:rPr>
              <a:t>γ </a:t>
            </a:r>
            <a:r>
              <a:rPr lang="en-US" sz="1275" dirty="0">
                <a:solidFill>
                  <a:srgbClr val="063C67"/>
                </a:solidFill>
                <a:latin typeface="Calibri" pitchFamily="34" charset="0"/>
                <a:ea typeface="Calibri" pitchFamily="34" charset="-122"/>
                <a:cs typeface="Calibri" pitchFamily="34" charset="-120"/>
              </a:rPr>
              <a:t>attenuates the declaration as it descends: demand pressure is what a customer transmits</a:t>
            </a:r>
            <a:endParaRPr lang="en-US" sz="1275" dirty="0"/>
          </a:p>
        </p:txBody>
      </p:sp>
      <p:sp>
        <p:nvSpPr>
          <p:cNvPr id="22" name="Text 19"/>
          <p:cNvSpPr/>
          <p:nvPr/>
        </p:nvSpPr>
        <p:spPr>
          <a:xfrm>
            <a:off x="7524750" y="4437261"/>
            <a:ext cx="4444270" cy="458986"/>
          </a:xfrm>
          <a:prstGeom prst="rect">
            <a:avLst/>
          </a:prstGeom>
          <a:noFill/>
          <a:ln/>
        </p:spPr>
        <p:txBody>
          <a:bodyPr wrap="square" lIns="25400" tIns="25400" rIns="25400" bIns="25400" rtlCol="0" anchor="t">
            <a:normAutofit/>
          </a:bodyPr>
          <a:lstStyle/>
          <a:p>
            <a:pPr marL="0" indent="0" algn="l">
              <a:lnSpc>
                <a:spcPct val="106935"/>
              </a:lnSpc>
              <a:buNone/>
            </a:pPr>
            <a:r>
              <a:rPr lang="en-US" sz="1275" b="1" dirty="0">
                <a:solidFill>
                  <a:srgbClr val="FFC800"/>
                </a:solidFill>
                <a:latin typeface="Calibri" pitchFamily="34" charset="0"/>
                <a:ea typeface="Calibri" pitchFamily="34" charset="-122"/>
                <a:cs typeface="Calibri" pitchFamily="34" charset="-120"/>
              </a:rPr>
              <a:t>β </a:t>
            </a:r>
            <a:r>
              <a:rPr lang="en-US" sz="1275" dirty="0">
                <a:solidFill>
                  <a:srgbClr val="063C67"/>
                </a:solidFill>
                <a:latin typeface="Calibri" pitchFamily="34" charset="0"/>
                <a:ea typeface="Calibri" pitchFamily="34" charset="-122"/>
                <a:cs typeface="Calibri" pitchFamily="34" charset="-120"/>
              </a:rPr>
              <a:t>amplifies computed risk as it ascends: physical risk is what a supplier transmits</a:t>
            </a:r>
            <a:endParaRPr lang="en-US" sz="1275" dirty="0"/>
          </a:p>
        </p:txBody>
      </p:sp>
      <p:pic>
        <p:nvPicPr>
          <p:cNvPr id="23" name="Image 1" descr="preencoded.png"/>
          <p:cNvPicPr>
            <a:picLocks noChangeAspect="1"/>
          </p:cNvPicPr>
          <p:nvPr/>
        </p:nvPicPr>
        <p:blipFill>
          <a:blip r:embed="rId4"/>
          <a:stretch>
            <a:fillRect/>
          </a:stretch>
        </p:blipFill>
        <p:spPr>
          <a:xfrm>
            <a:off x="11229975" y="6567488"/>
            <a:ext cx="714375" cy="71438"/>
          </a:xfrm>
          <a:prstGeom prst="rect">
            <a:avLst/>
          </a:prstGeom>
        </p:spPr>
      </p:pic>
      <p:sp>
        <p:nvSpPr>
          <p:cNvPr id="24" name="Text 20"/>
          <p:cNvSpPr/>
          <p:nvPr/>
        </p:nvSpPr>
        <p:spPr>
          <a:xfrm>
            <a:off x="10505679" y="6465590"/>
            <a:ext cx="524272"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C0C0C8"/>
                </a:solidFill>
                <a:latin typeface="Calibri" pitchFamily="34" charset="0"/>
                <a:ea typeface="Calibri" pitchFamily="34" charset="-122"/>
                <a:cs typeface="Calibri" pitchFamily="34" charset="-120"/>
              </a:rPr>
              <a:t>12 | 20</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7946856"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SUPPLYSCORE: ARCHITECTURE</a:t>
            </a:r>
            <a:endParaRPr lang="en-US" sz="3225" dirty="0"/>
          </a:p>
        </p:txBody>
      </p:sp>
      <p:sp>
        <p:nvSpPr>
          <p:cNvPr id="4" name="Text 2"/>
          <p:cNvSpPr/>
          <p:nvPr/>
        </p:nvSpPr>
        <p:spPr>
          <a:xfrm>
            <a:off x="352425" y="666750"/>
            <a:ext cx="4313238"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The class model, and the pages it drives</a:t>
            </a:r>
            <a:endParaRPr lang="en-US" sz="1725" dirty="0"/>
          </a:p>
        </p:txBody>
      </p:sp>
      <p:sp>
        <p:nvSpPr>
          <p:cNvPr id="5" name="Text 3"/>
          <p:cNvSpPr/>
          <p:nvPr/>
        </p:nvSpPr>
        <p:spPr>
          <a:xfrm>
            <a:off x="352425" y="1047750"/>
            <a:ext cx="7334250"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26" dirty="0">
                <a:solidFill>
                  <a:srgbClr val="1D93C9"/>
                </a:solidFill>
                <a:latin typeface="Arial" pitchFamily="34" charset="0"/>
                <a:ea typeface="Arial" pitchFamily="34" charset="-122"/>
                <a:cs typeface="Arial" pitchFamily="34" charset="-120"/>
              </a:rPr>
              <a:t>THE CLASS MODEL</a:t>
            </a:r>
            <a:endParaRPr lang="en-US" sz="1050" dirty="0"/>
          </a:p>
        </p:txBody>
      </p:sp>
      <p:sp>
        <p:nvSpPr>
          <p:cNvPr id="6" name="Shape 4"/>
          <p:cNvSpPr/>
          <p:nvPr/>
        </p:nvSpPr>
        <p:spPr>
          <a:xfrm>
            <a:off x="352425" y="1238250"/>
            <a:ext cx="6680200" cy="3270250"/>
          </a:xfrm>
          <a:prstGeom prst="rect">
            <a:avLst/>
          </a:prstGeom>
          <a:ln w="6350">
            <a:solidFill>
              <a:srgbClr val="C0C0C8"/>
            </a:solidFill>
            <a:prstDash val="solid"/>
          </a:ln>
        </p:spPr>
        <p:txBody>
          <a:bodyPr/>
          <a:lstStyle/>
          <a:p>
            <a:endParaRPr lang="fr-FR"/>
          </a:p>
        </p:txBody>
      </p:sp>
      <p:pic>
        <p:nvPicPr>
          <p:cNvPr id="7" name="Image 0" descr="preencoded.png"/>
          <p:cNvPicPr>
            <a:picLocks noChangeAspect="1"/>
          </p:cNvPicPr>
          <p:nvPr/>
        </p:nvPicPr>
        <p:blipFill>
          <a:blip r:embed="rId3"/>
          <a:srcRect l="-49" r="-49"/>
          <a:stretch/>
        </p:blipFill>
        <p:spPr>
          <a:xfrm>
            <a:off x="352425" y="1238250"/>
            <a:ext cx="6680200" cy="3270250"/>
          </a:xfrm>
          <a:prstGeom prst="rect">
            <a:avLst/>
          </a:prstGeom>
        </p:spPr>
      </p:pic>
      <p:sp>
        <p:nvSpPr>
          <p:cNvPr id="8" name="Shape 5"/>
          <p:cNvSpPr/>
          <p:nvPr/>
        </p:nvSpPr>
        <p:spPr>
          <a:xfrm>
            <a:off x="352425" y="4667250"/>
            <a:ext cx="2165350" cy="566738"/>
          </a:xfrm>
          <a:prstGeom prst="rect">
            <a:avLst/>
          </a:prstGeom>
          <a:solidFill>
            <a:srgbClr val="063C67"/>
          </a:solidFill>
          <a:ln/>
        </p:spPr>
        <p:txBody>
          <a:bodyPr/>
          <a:lstStyle/>
          <a:p>
            <a:endParaRPr lang="fr-FR"/>
          </a:p>
        </p:txBody>
      </p:sp>
      <p:sp>
        <p:nvSpPr>
          <p:cNvPr id="9" name="Text 6"/>
          <p:cNvSpPr/>
          <p:nvPr/>
        </p:nvSpPr>
        <p:spPr>
          <a:xfrm>
            <a:off x="476250" y="4772025"/>
            <a:ext cx="1993900" cy="395288"/>
          </a:xfrm>
          <a:prstGeom prst="rect">
            <a:avLst/>
          </a:prstGeom>
          <a:noFill/>
          <a:ln/>
        </p:spPr>
        <p:txBody>
          <a:bodyPr wrap="square" lIns="25400" tIns="25400" rIns="25400" bIns="25400" rtlCol="0" anchor="t">
            <a:normAutofit/>
          </a:bodyPr>
          <a:lstStyle/>
          <a:p>
            <a:pPr marL="0" indent="0" algn="l">
              <a:lnSpc>
                <a:spcPct val="104167"/>
              </a:lnSpc>
              <a:buNone/>
            </a:pPr>
            <a:r>
              <a:rPr lang="en-US" sz="1125" b="1" dirty="0">
                <a:solidFill>
                  <a:srgbClr val="FFFFFF"/>
                </a:solidFill>
                <a:latin typeface="Calibri" pitchFamily="34" charset="0"/>
                <a:ea typeface="Calibri" pitchFamily="34" charset="-122"/>
                <a:cs typeface="Calibri" pitchFamily="34" charset="-120"/>
              </a:rPr>
              <a:t>Facade </a:t>
            </a:r>
            <a:r>
              <a:rPr lang="en-US" sz="1050" dirty="0">
                <a:solidFill>
                  <a:srgbClr val="FFFFFF"/>
                </a:solidFill>
                <a:latin typeface="Calibri" pitchFamily="34" charset="0"/>
                <a:ea typeface="Calibri" pitchFamily="34" charset="-122"/>
                <a:cs typeface="Calibri" pitchFamily="34" charset="-120"/>
              </a:rPr>
              <a:t>the only entry point</a:t>
            </a:r>
            <a:endParaRPr lang="en-US" sz="1125" dirty="0"/>
          </a:p>
        </p:txBody>
      </p:sp>
      <p:sp>
        <p:nvSpPr>
          <p:cNvPr id="10" name="Shape 7"/>
          <p:cNvSpPr/>
          <p:nvPr/>
        </p:nvSpPr>
        <p:spPr>
          <a:xfrm>
            <a:off x="2603500" y="4667250"/>
            <a:ext cx="2165350" cy="566738"/>
          </a:xfrm>
          <a:prstGeom prst="rect">
            <a:avLst/>
          </a:prstGeom>
          <a:solidFill>
            <a:srgbClr val="1D93C9"/>
          </a:solidFill>
          <a:ln/>
        </p:spPr>
        <p:txBody>
          <a:bodyPr/>
          <a:lstStyle/>
          <a:p>
            <a:endParaRPr lang="fr-FR"/>
          </a:p>
        </p:txBody>
      </p:sp>
      <p:sp>
        <p:nvSpPr>
          <p:cNvPr id="11" name="Text 8"/>
          <p:cNvSpPr/>
          <p:nvPr/>
        </p:nvSpPr>
        <p:spPr>
          <a:xfrm>
            <a:off x="2727325" y="4772025"/>
            <a:ext cx="1993900" cy="395288"/>
          </a:xfrm>
          <a:prstGeom prst="rect">
            <a:avLst/>
          </a:prstGeom>
          <a:noFill/>
          <a:ln/>
        </p:spPr>
        <p:txBody>
          <a:bodyPr wrap="square" lIns="25400" tIns="25400" rIns="25400" bIns="25400" rtlCol="0" anchor="t">
            <a:normAutofit/>
          </a:bodyPr>
          <a:lstStyle/>
          <a:p>
            <a:pPr marL="0" indent="0" algn="l">
              <a:lnSpc>
                <a:spcPct val="104167"/>
              </a:lnSpc>
              <a:buNone/>
            </a:pPr>
            <a:r>
              <a:rPr lang="en-US" sz="1125" b="1" dirty="0">
                <a:solidFill>
                  <a:srgbClr val="FFFFFF"/>
                </a:solidFill>
                <a:latin typeface="Calibri" pitchFamily="34" charset="0"/>
                <a:ea typeface="Calibri" pitchFamily="34" charset="-122"/>
                <a:cs typeface="Calibri" pitchFamily="34" charset="-120"/>
              </a:rPr>
              <a:t>Mutation service </a:t>
            </a:r>
            <a:r>
              <a:rPr lang="en-US" sz="1050" dirty="0">
                <a:solidFill>
                  <a:srgbClr val="FFFFFF"/>
                </a:solidFill>
                <a:latin typeface="Calibri" pitchFamily="34" charset="0"/>
                <a:ea typeface="Calibri" pitchFamily="34" charset="-122"/>
                <a:cs typeface="Calibri" pitchFamily="34" charset="-120"/>
              </a:rPr>
              <a:t>the audit trail is architectural</a:t>
            </a:r>
            <a:endParaRPr lang="en-US" sz="1125" dirty="0"/>
          </a:p>
        </p:txBody>
      </p:sp>
      <p:sp>
        <p:nvSpPr>
          <p:cNvPr id="12" name="Shape 9"/>
          <p:cNvSpPr/>
          <p:nvPr/>
        </p:nvSpPr>
        <p:spPr>
          <a:xfrm>
            <a:off x="4854575" y="4667250"/>
            <a:ext cx="2165350" cy="566738"/>
          </a:xfrm>
          <a:prstGeom prst="rect">
            <a:avLst/>
          </a:prstGeom>
          <a:solidFill>
            <a:srgbClr val="E9F5FB"/>
          </a:solidFill>
          <a:ln/>
        </p:spPr>
        <p:txBody>
          <a:bodyPr/>
          <a:lstStyle/>
          <a:p>
            <a:endParaRPr lang="fr-FR"/>
          </a:p>
        </p:txBody>
      </p:sp>
      <p:sp>
        <p:nvSpPr>
          <p:cNvPr id="13" name="Text 10"/>
          <p:cNvSpPr/>
          <p:nvPr/>
        </p:nvSpPr>
        <p:spPr>
          <a:xfrm>
            <a:off x="4978400" y="4772025"/>
            <a:ext cx="1993900" cy="395288"/>
          </a:xfrm>
          <a:prstGeom prst="rect">
            <a:avLst/>
          </a:prstGeom>
          <a:noFill/>
          <a:ln/>
        </p:spPr>
        <p:txBody>
          <a:bodyPr wrap="square" lIns="25400" tIns="25400" rIns="25400" bIns="25400" rtlCol="0" anchor="t">
            <a:normAutofit/>
          </a:bodyPr>
          <a:lstStyle/>
          <a:p>
            <a:pPr marL="0" indent="0" algn="l">
              <a:lnSpc>
                <a:spcPct val="104167"/>
              </a:lnSpc>
              <a:buNone/>
            </a:pPr>
            <a:r>
              <a:rPr lang="en-US" sz="1125" b="1" dirty="0">
                <a:solidFill>
                  <a:srgbClr val="063C67"/>
                </a:solidFill>
                <a:latin typeface="Calibri" pitchFamily="34" charset="0"/>
                <a:ea typeface="Calibri" pitchFamily="34" charset="-122"/>
                <a:cs typeface="Calibri" pitchFamily="34" charset="-120"/>
              </a:rPr>
              <a:t>One DB per node </a:t>
            </a:r>
            <a:r>
              <a:rPr lang="en-US" sz="1050" dirty="0">
                <a:solidFill>
                  <a:srgbClr val="063C67"/>
                </a:solidFill>
                <a:latin typeface="Calibri" pitchFamily="34" charset="0"/>
                <a:ea typeface="Calibri" pitchFamily="34" charset="-122"/>
                <a:cs typeface="Calibri" pitchFamily="34" charset="-120"/>
              </a:rPr>
              <a:t>isolation by storage layout</a:t>
            </a:r>
            <a:endParaRPr lang="en-US" sz="1125" dirty="0"/>
          </a:p>
        </p:txBody>
      </p:sp>
      <p:sp>
        <p:nvSpPr>
          <p:cNvPr id="14" name="Text 11"/>
          <p:cNvSpPr/>
          <p:nvPr/>
        </p:nvSpPr>
        <p:spPr>
          <a:xfrm>
            <a:off x="352425" y="5391150"/>
            <a:ext cx="6867525" cy="434181"/>
          </a:xfrm>
          <a:prstGeom prst="rect">
            <a:avLst/>
          </a:prstGeom>
          <a:noFill/>
          <a:ln/>
        </p:spPr>
        <p:txBody>
          <a:bodyPr wrap="square" lIns="25400" tIns="25400" rIns="25400" bIns="25400" rtlCol="0" anchor="t">
            <a:normAutofit lnSpcReduction="10000"/>
          </a:bodyPr>
          <a:lstStyle/>
          <a:p>
            <a:pPr marL="0" indent="0" algn="l">
              <a:lnSpc>
                <a:spcPct val="107586"/>
              </a:lnSpc>
              <a:buNone/>
            </a:pPr>
            <a:r>
              <a:rPr lang="en-US" sz="1200" dirty="0">
                <a:solidFill>
                  <a:srgbClr val="858591"/>
                </a:solidFill>
                <a:latin typeface="Calibri" pitchFamily="34" charset="0"/>
                <a:ea typeface="Calibri" pitchFamily="34" charset="-122"/>
                <a:cs typeface="Calibri" pitchFamily="34" charset="-120"/>
              </a:rPr>
              <a:t>Every arrow into the data crosses the facade, then the mutation service. Two graph repositories sit behind one interface, so the network can be held in memory or in Neo4j without the domain knowing which.</a:t>
            </a:r>
            <a:endParaRPr lang="en-US" sz="1200" dirty="0"/>
          </a:p>
        </p:txBody>
      </p:sp>
      <p:sp>
        <p:nvSpPr>
          <p:cNvPr id="15" name="Text 12"/>
          <p:cNvSpPr/>
          <p:nvPr/>
        </p:nvSpPr>
        <p:spPr>
          <a:xfrm>
            <a:off x="7239000" y="1047750"/>
            <a:ext cx="5060633"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26" dirty="0">
                <a:solidFill>
                  <a:srgbClr val="1D93C9"/>
                </a:solidFill>
                <a:latin typeface="Arial" pitchFamily="34" charset="0"/>
                <a:ea typeface="Arial" pitchFamily="34" charset="-122"/>
                <a:cs typeface="Arial" pitchFamily="34" charset="-120"/>
              </a:rPr>
              <a:t>THE APPLICATION, AS THE OPERATOR MEETS IT</a:t>
            </a:r>
            <a:endParaRPr lang="en-US" sz="1050" dirty="0"/>
          </a:p>
        </p:txBody>
      </p:sp>
      <p:sp>
        <p:nvSpPr>
          <p:cNvPr id="16" name="Shape 13"/>
          <p:cNvSpPr/>
          <p:nvPr/>
        </p:nvSpPr>
        <p:spPr>
          <a:xfrm>
            <a:off x="7239000" y="1238250"/>
            <a:ext cx="2260600" cy="1117600"/>
          </a:xfrm>
          <a:prstGeom prst="rect">
            <a:avLst/>
          </a:prstGeom>
          <a:ln w="6350">
            <a:solidFill>
              <a:srgbClr val="C0C0C8"/>
            </a:solidFill>
            <a:prstDash val="solid"/>
          </a:ln>
        </p:spPr>
        <p:txBody>
          <a:bodyPr/>
          <a:lstStyle/>
          <a:p>
            <a:endParaRPr lang="fr-FR"/>
          </a:p>
        </p:txBody>
      </p:sp>
      <p:pic>
        <p:nvPicPr>
          <p:cNvPr id="17" name="Image 1" descr="preencoded.png"/>
          <p:cNvPicPr>
            <a:picLocks noChangeAspect="1"/>
          </p:cNvPicPr>
          <p:nvPr/>
        </p:nvPicPr>
        <p:blipFill>
          <a:blip r:embed="rId4"/>
          <a:srcRect l="657" r="657"/>
          <a:stretch/>
        </p:blipFill>
        <p:spPr>
          <a:xfrm>
            <a:off x="7239000" y="1238250"/>
            <a:ext cx="2260600" cy="1117600"/>
          </a:xfrm>
          <a:prstGeom prst="rect">
            <a:avLst/>
          </a:prstGeom>
        </p:spPr>
      </p:pic>
      <p:sp>
        <p:nvSpPr>
          <p:cNvPr id="18" name="Text 14"/>
          <p:cNvSpPr/>
          <p:nvPr/>
        </p:nvSpPr>
        <p:spPr>
          <a:xfrm>
            <a:off x="7239000" y="2393950"/>
            <a:ext cx="2486660" cy="204787"/>
          </a:xfrm>
          <a:prstGeom prst="rect">
            <a:avLst/>
          </a:prstGeom>
          <a:noFill/>
          <a:ln/>
        </p:spPr>
        <p:txBody>
          <a:bodyPr wrap="square" lIns="25400" tIns="25400" rIns="25400" bIns="25400" rtlCol="0" anchor="t">
            <a:normAutofit lnSpcReduction="10000"/>
          </a:bodyPr>
          <a:lstStyle/>
          <a:p>
            <a:pPr marL="0" indent="0" algn="l">
              <a:lnSpc>
                <a:spcPct val="100962"/>
              </a:lnSpc>
              <a:buNone/>
            </a:pPr>
            <a:r>
              <a:rPr lang="en-US" sz="1050" b="1" dirty="0">
                <a:solidFill>
                  <a:srgbClr val="063C67"/>
                </a:solidFill>
                <a:latin typeface="Calibri" pitchFamily="34" charset="0"/>
                <a:ea typeface="Calibri" pitchFamily="34" charset="-122"/>
                <a:cs typeface="Calibri" pitchFamily="34" charset="-120"/>
              </a:rPr>
              <a:t>Weekly review </a:t>
            </a:r>
            <a:r>
              <a:rPr lang="en-US" sz="1050" dirty="0">
                <a:solidFill>
                  <a:srgbClr val="063C67"/>
                </a:solidFill>
                <a:latin typeface="Calibri" pitchFamily="34" charset="0"/>
                <a:ea typeface="Calibri" pitchFamily="34" charset="-122"/>
                <a:cs typeface="Calibri" pitchFamily="34" charset="-120"/>
              </a:rPr>
              <a:t>· one signed transaction</a:t>
            </a:r>
            <a:endParaRPr lang="en-US" sz="1050" dirty="0"/>
          </a:p>
        </p:txBody>
      </p:sp>
      <p:sp>
        <p:nvSpPr>
          <p:cNvPr id="19" name="Shape 15"/>
          <p:cNvSpPr/>
          <p:nvPr/>
        </p:nvSpPr>
        <p:spPr>
          <a:xfrm>
            <a:off x="9604375" y="1238250"/>
            <a:ext cx="2260600" cy="1117600"/>
          </a:xfrm>
          <a:prstGeom prst="rect">
            <a:avLst/>
          </a:prstGeom>
          <a:ln w="6350">
            <a:solidFill>
              <a:srgbClr val="C0C0C8"/>
            </a:solidFill>
            <a:prstDash val="solid"/>
          </a:ln>
        </p:spPr>
        <p:txBody>
          <a:bodyPr/>
          <a:lstStyle/>
          <a:p>
            <a:endParaRPr lang="fr-FR"/>
          </a:p>
        </p:txBody>
      </p:sp>
      <p:pic>
        <p:nvPicPr>
          <p:cNvPr id="20" name="Image 2" descr="preencoded.png"/>
          <p:cNvPicPr>
            <a:picLocks noChangeAspect="1"/>
          </p:cNvPicPr>
          <p:nvPr/>
        </p:nvPicPr>
        <p:blipFill>
          <a:blip r:embed="rId5"/>
          <a:srcRect t="10104" b="46028"/>
          <a:stretch/>
        </p:blipFill>
        <p:spPr>
          <a:xfrm>
            <a:off x="9604375" y="1238250"/>
            <a:ext cx="2260600" cy="1117600"/>
          </a:xfrm>
          <a:prstGeom prst="rect">
            <a:avLst/>
          </a:prstGeom>
        </p:spPr>
      </p:pic>
      <p:sp>
        <p:nvSpPr>
          <p:cNvPr id="21" name="Text 16"/>
          <p:cNvSpPr/>
          <p:nvPr/>
        </p:nvSpPr>
        <p:spPr>
          <a:xfrm>
            <a:off x="9604375" y="2393950"/>
            <a:ext cx="2486660" cy="204787"/>
          </a:xfrm>
          <a:prstGeom prst="rect">
            <a:avLst/>
          </a:prstGeom>
          <a:noFill/>
          <a:ln/>
        </p:spPr>
        <p:txBody>
          <a:bodyPr wrap="square" lIns="25400" tIns="25400" rIns="25400" bIns="25400" rtlCol="0" anchor="t">
            <a:normAutofit lnSpcReduction="10000"/>
          </a:bodyPr>
          <a:lstStyle/>
          <a:p>
            <a:pPr marL="0" indent="0" algn="l">
              <a:lnSpc>
                <a:spcPct val="100962"/>
              </a:lnSpc>
              <a:buNone/>
            </a:pPr>
            <a:r>
              <a:rPr lang="en-US" sz="1050" b="1" dirty="0">
                <a:solidFill>
                  <a:srgbClr val="063C67"/>
                </a:solidFill>
                <a:latin typeface="Calibri" pitchFamily="34" charset="0"/>
                <a:ea typeface="Calibri" pitchFamily="34" charset="-122"/>
                <a:cs typeface="Calibri" pitchFamily="34" charset="-120"/>
              </a:rPr>
              <a:t>Explainability </a:t>
            </a:r>
            <a:r>
              <a:rPr lang="en-US" sz="1050" dirty="0">
                <a:solidFill>
                  <a:srgbClr val="063C67"/>
                </a:solidFill>
                <a:latin typeface="Calibri" pitchFamily="34" charset="0"/>
                <a:ea typeface="Calibri" pitchFamily="34" charset="-122"/>
                <a:cs typeface="Calibri" pitchFamily="34" charset="-120"/>
              </a:rPr>
              <a:t>· term by term</a:t>
            </a:r>
            <a:endParaRPr lang="en-US" sz="1050" dirty="0"/>
          </a:p>
        </p:txBody>
      </p:sp>
      <p:sp>
        <p:nvSpPr>
          <p:cNvPr id="22" name="Shape 17"/>
          <p:cNvSpPr/>
          <p:nvPr/>
        </p:nvSpPr>
        <p:spPr>
          <a:xfrm>
            <a:off x="7239000" y="2665413"/>
            <a:ext cx="2260600" cy="1117600"/>
          </a:xfrm>
          <a:prstGeom prst="rect">
            <a:avLst/>
          </a:prstGeom>
          <a:ln w="6350">
            <a:solidFill>
              <a:srgbClr val="C0C0C8"/>
            </a:solidFill>
            <a:prstDash val="solid"/>
          </a:ln>
        </p:spPr>
        <p:txBody>
          <a:bodyPr/>
          <a:lstStyle/>
          <a:p>
            <a:endParaRPr lang="fr-FR"/>
          </a:p>
        </p:txBody>
      </p:sp>
      <p:pic>
        <p:nvPicPr>
          <p:cNvPr id="23" name="Image 3" descr="preencoded.png"/>
          <p:cNvPicPr>
            <a:picLocks noChangeAspect="1"/>
          </p:cNvPicPr>
          <p:nvPr/>
        </p:nvPicPr>
        <p:blipFill>
          <a:blip r:embed="rId6"/>
          <a:srcRect t="17360" b="40506"/>
          <a:stretch/>
        </p:blipFill>
        <p:spPr>
          <a:xfrm>
            <a:off x="7239000" y="2665413"/>
            <a:ext cx="2260600" cy="1117600"/>
          </a:xfrm>
          <a:prstGeom prst="rect">
            <a:avLst/>
          </a:prstGeom>
        </p:spPr>
      </p:pic>
      <p:sp>
        <p:nvSpPr>
          <p:cNvPr id="24" name="Text 18"/>
          <p:cNvSpPr/>
          <p:nvPr/>
        </p:nvSpPr>
        <p:spPr>
          <a:xfrm>
            <a:off x="7239000" y="3821113"/>
            <a:ext cx="2486660" cy="204787"/>
          </a:xfrm>
          <a:prstGeom prst="rect">
            <a:avLst/>
          </a:prstGeom>
          <a:noFill/>
          <a:ln/>
        </p:spPr>
        <p:txBody>
          <a:bodyPr wrap="square" lIns="25400" tIns="25400" rIns="25400" bIns="25400" rtlCol="0" anchor="t">
            <a:normAutofit lnSpcReduction="10000"/>
          </a:bodyPr>
          <a:lstStyle/>
          <a:p>
            <a:pPr marL="0" indent="0" algn="l">
              <a:lnSpc>
                <a:spcPct val="100962"/>
              </a:lnSpc>
              <a:buNone/>
            </a:pPr>
            <a:r>
              <a:rPr lang="en-US" sz="1050" b="1" dirty="0">
                <a:solidFill>
                  <a:srgbClr val="063C67"/>
                </a:solidFill>
                <a:latin typeface="Calibri" pitchFamily="34" charset="0"/>
                <a:ea typeface="Calibri" pitchFamily="34" charset="-122"/>
                <a:cs typeface="Calibri" pitchFamily="34" charset="-120"/>
              </a:rPr>
              <a:t>Network </a:t>
            </a:r>
            <a:r>
              <a:rPr lang="en-US" sz="1050" dirty="0">
                <a:solidFill>
                  <a:srgbClr val="063C67"/>
                </a:solidFill>
                <a:latin typeface="Calibri" pitchFamily="34" charset="0"/>
                <a:ea typeface="Calibri" pitchFamily="34" charset="-122"/>
                <a:cs typeface="Calibri" pitchFamily="34" charset="-120"/>
              </a:rPr>
              <a:t>· generated per project</a:t>
            </a:r>
            <a:endParaRPr lang="en-US" sz="1050" dirty="0"/>
          </a:p>
        </p:txBody>
      </p:sp>
      <p:sp>
        <p:nvSpPr>
          <p:cNvPr id="25" name="Shape 19"/>
          <p:cNvSpPr/>
          <p:nvPr/>
        </p:nvSpPr>
        <p:spPr>
          <a:xfrm>
            <a:off x="9604375" y="2665413"/>
            <a:ext cx="2260600" cy="1117600"/>
          </a:xfrm>
          <a:prstGeom prst="rect">
            <a:avLst/>
          </a:prstGeom>
          <a:ln w="6350">
            <a:solidFill>
              <a:srgbClr val="C0C0C8"/>
            </a:solidFill>
            <a:prstDash val="solid"/>
          </a:ln>
        </p:spPr>
        <p:txBody>
          <a:bodyPr/>
          <a:lstStyle/>
          <a:p>
            <a:endParaRPr lang="fr-FR"/>
          </a:p>
        </p:txBody>
      </p:sp>
      <p:pic>
        <p:nvPicPr>
          <p:cNvPr id="26" name="Image 4" descr="preencoded.png"/>
          <p:cNvPicPr>
            <a:picLocks noChangeAspect="1"/>
          </p:cNvPicPr>
          <p:nvPr/>
        </p:nvPicPr>
        <p:blipFill>
          <a:blip r:embed="rId7"/>
          <a:srcRect t="21236" b="49551"/>
          <a:stretch/>
        </p:blipFill>
        <p:spPr>
          <a:xfrm>
            <a:off x="9604375" y="2665413"/>
            <a:ext cx="2260600" cy="1117600"/>
          </a:xfrm>
          <a:prstGeom prst="rect">
            <a:avLst/>
          </a:prstGeom>
        </p:spPr>
      </p:pic>
      <p:sp>
        <p:nvSpPr>
          <p:cNvPr id="27" name="Text 20"/>
          <p:cNvSpPr/>
          <p:nvPr/>
        </p:nvSpPr>
        <p:spPr>
          <a:xfrm>
            <a:off x="9604375" y="3821113"/>
            <a:ext cx="2486660" cy="204787"/>
          </a:xfrm>
          <a:prstGeom prst="rect">
            <a:avLst/>
          </a:prstGeom>
          <a:noFill/>
          <a:ln/>
        </p:spPr>
        <p:txBody>
          <a:bodyPr wrap="square" lIns="25400" tIns="25400" rIns="25400" bIns="25400" rtlCol="0" anchor="t">
            <a:normAutofit lnSpcReduction="10000"/>
          </a:bodyPr>
          <a:lstStyle/>
          <a:p>
            <a:pPr marL="0" indent="0" algn="l">
              <a:lnSpc>
                <a:spcPct val="100962"/>
              </a:lnSpc>
              <a:buNone/>
            </a:pPr>
            <a:r>
              <a:rPr lang="en-US" sz="1050" b="1" dirty="0">
                <a:solidFill>
                  <a:srgbClr val="063C67"/>
                </a:solidFill>
                <a:latin typeface="Calibri" pitchFamily="34" charset="0"/>
                <a:ea typeface="Calibri" pitchFamily="34" charset="-122"/>
                <a:cs typeface="Calibri" pitchFamily="34" charset="-120"/>
              </a:rPr>
              <a:t>Criticality </a:t>
            </a:r>
            <a:r>
              <a:rPr lang="en-US" sz="1050" dirty="0">
                <a:solidFill>
                  <a:srgbClr val="063C67"/>
                </a:solidFill>
                <a:latin typeface="Calibri" pitchFamily="34" charset="0"/>
                <a:ea typeface="Calibri" pitchFamily="34" charset="-122"/>
                <a:cs typeface="Calibri" pitchFamily="34" charset="-120"/>
              </a:rPr>
              <a:t>· each node knocked out</a:t>
            </a:r>
            <a:endParaRPr lang="en-US" sz="1050" dirty="0"/>
          </a:p>
        </p:txBody>
      </p:sp>
      <p:sp>
        <p:nvSpPr>
          <p:cNvPr id="28" name="Text 21"/>
          <p:cNvSpPr/>
          <p:nvPr/>
        </p:nvSpPr>
        <p:spPr>
          <a:xfrm>
            <a:off x="7239000" y="4038600"/>
            <a:ext cx="5060633"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26" dirty="0">
                <a:solidFill>
                  <a:srgbClr val="1D93C9"/>
                </a:solidFill>
                <a:latin typeface="Arial" pitchFamily="34" charset="0"/>
                <a:ea typeface="Arial" pitchFamily="34" charset="-122"/>
                <a:cs typeface="Arial" pitchFamily="34" charset="-120"/>
              </a:rPr>
              <a:t>A NODE, AND WHAT IT CARRIES</a:t>
            </a:r>
            <a:endParaRPr lang="en-US" sz="1050" dirty="0"/>
          </a:p>
        </p:txBody>
      </p:sp>
      <p:sp>
        <p:nvSpPr>
          <p:cNvPr id="29" name="Shape 22"/>
          <p:cNvSpPr/>
          <p:nvPr/>
        </p:nvSpPr>
        <p:spPr>
          <a:xfrm>
            <a:off x="7239000" y="4229100"/>
            <a:ext cx="4613275" cy="2222500"/>
          </a:xfrm>
          <a:prstGeom prst="rect">
            <a:avLst/>
          </a:prstGeom>
          <a:ln w="6350">
            <a:solidFill>
              <a:srgbClr val="C0C0C8"/>
            </a:solidFill>
            <a:prstDash val="solid"/>
          </a:ln>
        </p:spPr>
        <p:txBody>
          <a:bodyPr/>
          <a:lstStyle/>
          <a:p>
            <a:endParaRPr lang="fr-FR"/>
          </a:p>
        </p:txBody>
      </p:sp>
      <p:pic>
        <p:nvPicPr>
          <p:cNvPr id="30" name="Image 5" descr="preencoded.png"/>
          <p:cNvPicPr>
            <a:picLocks noChangeAspect="1"/>
          </p:cNvPicPr>
          <p:nvPr/>
        </p:nvPicPr>
        <p:blipFill>
          <a:blip r:embed="rId8"/>
          <a:srcRect t="14146" b="56584"/>
          <a:stretch/>
        </p:blipFill>
        <p:spPr>
          <a:xfrm>
            <a:off x="7239000" y="4229100"/>
            <a:ext cx="4613275" cy="2222500"/>
          </a:xfrm>
          <a:prstGeom prst="rect">
            <a:avLst/>
          </a:prstGeom>
        </p:spPr>
      </p:pic>
      <p:pic>
        <p:nvPicPr>
          <p:cNvPr id="31" name="Image 6" descr="preencoded.png"/>
          <p:cNvPicPr>
            <a:picLocks noChangeAspect="1"/>
          </p:cNvPicPr>
          <p:nvPr/>
        </p:nvPicPr>
        <p:blipFill>
          <a:blip r:embed="rId9"/>
          <a:stretch>
            <a:fillRect/>
          </a:stretch>
        </p:blipFill>
        <p:spPr>
          <a:xfrm>
            <a:off x="11229975" y="6567488"/>
            <a:ext cx="714375" cy="71438"/>
          </a:xfrm>
          <a:prstGeom prst="rect">
            <a:avLst/>
          </a:prstGeom>
        </p:spPr>
      </p:pic>
      <p:sp>
        <p:nvSpPr>
          <p:cNvPr id="32" name="Text 23"/>
          <p:cNvSpPr/>
          <p:nvPr/>
        </p:nvSpPr>
        <p:spPr>
          <a:xfrm>
            <a:off x="10505679" y="6465590"/>
            <a:ext cx="524272"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C0C0C8"/>
                </a:solidFill>
                <a:latin typeface="Calibri" pitchFamily="34" charset="0"/>
                <a:ea typeface="Calibri" pitchFamily="34" charset="-122"/>
                <a:cs typeface="Calibri" pitchFamily="34" charset="-120"/>
              </a:rPr>
              <a:t>13 | 20</a:t>
            </a:r>
            <a:endParaRPr lang="en-US" sz="1200" dirty="0"/>
          </a:p>
        </p:txBody>
      </p:sp>
      <p:sp>
        <p:nvSpPr>
          <p:cNvPr id="33" name="Shape 24"/>
          <p:cNvSpPr/>
          <p:nvPr/>
        </p:nvSpPr>
        <p:spPr>
          <a:xfrm>
            <a:off x="-57150" y="6057900"/>
            <a:ext cx="12306300" cy="847725"/>
          </a:xfrm>
          <a:prstGeom prst="rect">
            <a:avLst/>
          </a:prstGeom>
          <a:solidFill>
            <a:srgbClr val="063C67"/>
          </a:solidFill>
          <a:ln/>
        </p:spPr>
        <p:txBody>
          <a:bodyPr/>
          <a:lstStyle/>
          <a:p>
            <a:endParaRPr lang="fr-FR"/>
          </a:p>
        </p:txBody>
      </p:sp>
      <p:pic>
        <p:nvPicPr>
          <p:cNvPr id="34" name="Image 7" descr="preencoded.png"/>
          <p:cNvPicPr>
            <a:picLocks noChangeAspect="1"/>
          </p:cNvPicPr>
          <p:nvPr/>
        </p:nvPicPr>
        <p:blipFill>
          <a:blip r:embed="rId10"/>
          <a:stretch>
            <a:fillRect/>
          </a:stretch>
        </p:blipFill>
        <p:spPr>
          <a:xfrm>
            <a:off x="190500" y="6262688"/>
            <a:ext cx="374055" cy="4381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6975832"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RESULT 1: EARLY WARNING</a:t>
            </a:r>
            <a:endParaRPr lang="en-US" sz="3225" dirty="0"/>
          </a:p>
        </p:txBody>
      </p:sp>
      <p:sp>
        <p:nvSpPr>
          <p:cNvPr id="4" name="Text 2"/>
          <p:cNvSpPr/>
          <p:nvPr/>
        </p:nvSpPr>
        <p:spPr>
          <a:xfrm>
            <a:off x="352425" y="666750"/>
            <a:ext cx="8185111"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Nodes ranked by hidden risk above 0.10, against the nodes that later missed</a:t>
            </a:r>
            <a:endParaRPr lang="en-US" sz="1725" dirty="0"/>
          </a:p>
        </p:txBody>
      </p:sp>
      <p:sp>
        <p:nvSpPr>
          <p:cNvPr id="5" name="Text 3"/>
          <p:cNvSpPr/>
          <p:nvPr/>
        </p:nvSpPr>
        <p:spPr>
          <a:xfrm>
            <a:off x="352425" y="1390650"/>
            <a:ext cx="2933700" cy="638175"/>
          </a:xfrm>
          <a:prstGeom prst="rect">
            <a:avLst/>
          </a:prstGeom>
          <a:noFill/>
          <a:ln/>
        </p:spPr>
        <p:txBody>
          <a:bodyPr wrap="square" lIns="25400" tIns="25400" rIns="25400" bIns="25400" rtlCol="0" anchor="t">
            <a:normAutofit/>
          </a:bodyPr>
          <a:lstStyle/>
          <a:p>
            <a:pPr marL="0" indent="0" algn="l">
              <a:lnSpc>
                <a:spcPct val="63423"/>
              </a:lnSpc>
              <a:buNone/>
            </a:pPr>
            <a:r>
              <a:rPr lang="en-US" sz="5250" b="1" dirty="0">
                <a:solidFill>
                  <a:srgbClr val="043962"/>
                </a:solidFill>
                <a:latin typeface="Arial Black" pitchFamily="34" charset="0"/>
                <a:ea typeface="Arial Black" pitchFamily="34" charset="-122"/>
                <a:cs typeface="Arial Black" pitchFamily="34" charset="-120"/>
              </a:rPr>
              <a:t>1.00</a:t>
            </a:r>
            <a:endParaRPr lang="en-US" sz="5250" dirty="0"/>
          </a:p>
        </p:txBody>
      </p:sp>
      <p:sp>
        <p:nvSpPr>
          <p:cNvPr id="6" name="Text 4"/>
          <p:cNvSpPr/>
          <p:nvPr/>
        </p:nvSpPr>
        <p:spPr>
          <a:xfrm>
            <a:off x="352425" y="2085975"/>
            <a:ext cx="2933700"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PRECISION, TURNS 0–5</a:t>
            </a:r>
            <a:endParaRPr lang="en-US" sz="1125" dirty="0"/>
          </a:p>
        </p:txBody>
      </p:sp>
      <p:sp>
        <p:nvSpPr>
          <p:cNvPr id="7" name="Text 5"/>
          <p:cNvSpPr/>
          <p:nvPr/>
        </p:nvSpPr>
        <p:spPr>
          <a:xfrm>
            <a:off x="3228975" y="1390650"/>
            <a:ext cx="2933700" cy="638175"/>
          </a:xfrm>
          <a:prstGeom prst="rect">
            <a:avLst/>
          </a:prstGeom>
          <a:noFill/>
          <a:ln/>
        </p:spPr>
        <p:txBody>
          <a:bodyPr wrap="square" lIns="25400" tIns="25400" rIns="25400" bIns="25400" rtlCol="0" anchor="t">
            <a:normAutofit/>
          </a:bodyPr>
          <a:lstStyle/>
          <a:p>
            <a:pPr marL="0" indent="0" algn="l">
              <a:lnSpc>
                <a:spcPct val="63423"/>
              </a:lnSpc>
              <a:buNone/>
            </a:pPr>
            <a:r>
              <a:rPr lang="en-US" sz="5250" b="1" dirty="0">
                <a:solidFill>
                  <a:srgbClr val="043962"/>
                </a:solidFill>
                <a:latin typeface="Arial Black" pitchFamily="34" charset="0"/>
                <a:ea typeface="Arial Black" pitchFamily="34" charset="-122"/>
                <a:cs typeface="Arial Black" pitchFamily="34" charset="-120"/>
              </a:rPr>
              <a:t>3 / 4</a:t>
            </a:r>
            <a:endParaRPr lang="en-US" sz="5250" dirty="0"/>
          </a:p>
        </p:txBody>
      </p:sp>
      <p:sp>
        <p:nvSpPr>
          <p:cNvPr id="8" name="Text 6"/>
          <p:cNvSpPr/>
          <p:nvPr/>
        </p:nvSpPr>
        <p:spPr>
          <a:xfrm>
            <a:off x="3228975" y="2085975"/>
            <a:ext cx="2933700"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FUTURE FAILURES FLAGGED</a:t>
            </a:r>
            <a:endParaRPr lang="en-US" sz="1125" dirty="0"/>
          </a:p>
        </p:txBody>
      </p:sp>
      <p:sp>
        <p:nvSpPr>
          <p:cNvPr id="9" name="Text 7"/>
          <p:cNvSpPr/>
          <p:nvPr/>
        </p:nvSpPr>
        <p:spPr>
          <a:xfrm>
            <a:off x="6105525" y="1390650"/>
            <a:ext cx="2933700" cy="638175"/>
          </a:xfrm>
          <a:prstGeom prst="rect">
            <a:avLst/>
          </a:prstGeom>
          <a:noFill/>
          <a:ln/>
        </p:spPr>
        <p:txBody>
          <a:bodyPr wrap="square" lIns="25400" tIns="25400" rIns="25400" bIns="25400" rtlCol="0" anchor="t">
            <a:normAutofit/>
          </a:bodyPr>
          <a:lstStyle/>
          <a:p>
            <a:pPr marL="0" indent="0" algn="l">
              <a:lnSpc>
                <a:spcPct val="63423"/>
              </a:lnSpc>
              <a:buNone/>
            </a:pPr>
            <a:r>
              <a:rPr lang="en-US" sz="5250" b="1" dirty="0">
                <a:solidFill>
                  <a:srgbClr val="043962"/>
                </a:solidFill>
                <a:latin typeface="Arial Black" pitchFamily="34" charset="0"/>
                <a:ea typeface="Arial Black" pitchFamily="34" charset="-122"/>
                <a:cs typeface="Arial Black" pitchFamily="34" charset="-120"/>
              </a:rPr>
              <a:t>0</a:t>
            </a:r>
            <a:endParaRPr lang="en-US" sz="5250" dirty="0"/>
          </a:p>
        </p:txBody>
      </p:sp>
      <p:sp>
        <p:nvSpPr>
          <p:cNvPr id="10" name="Text 8"/>
          <p:cNvSpPr/>
          <p:nvPr/>
        </p:nvSpPr>
        <p:spPr>
          <a:xfrm>
            <a:off x="6105525" y="2085975"/>
            <a:ext cx="2933700" cy="245269"/>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FALSE ALARMS IN SIX TURNS</a:t>
            </a:r>
            <a:endParaRPr lang="en-US" sz="1125" dirty="0"/>
          </a:p>
        </p:txBody>
      </p:sp>
      <p:sp>
        <p:nvSpPr>
          <p:cNvPr id="11" name="Text 9"/>
          <p:cNvSpPr/>
          <p:nvPr/>
        </p:nvSpPr>
        <p:spPr>
          <a:xfrm>
            <a:off x="8982075" y="1390650"/>
            <a:ext cx="2933700" cy="638175"/>
          </a:xfrm>
          <a:prstGeom prst="rect">
            <a:avLst/>
          </a:prstGeom>
          <a:noFill/>
          <a:ln/>
        </p:spPr>
        <p:txBody>
          <a:bodyPr wrap="square" lIns="25400" tIns="25400" rIns="25400" bIns="25400" rtlCol="0" anchor="t">
            <a:normAutofit/>
          </a:bodyPr>
          <a:lstStyle/>
          <a:p>
            <a:pPr marL="0" indent="0" algn="l">
              <a:lnSpc>
                <a:spcPct val="63423"/>
              </a:lnSpc>
              <a:buNone/>
            </a:pPr>
            <a:r>
              <a:rPr lang="en-US" sz="5250" b="1" dirty="0">
                <a:solidFill>
                  <a:srgbClr val="FFC800"/>
                </a:solidFill>
                <a:latin typeface="Arial Black" pitchFamily="34" charset="0"/>
                <a:ea typeface="Arial Black" pitchFamily="34" charset="-122"/>
                <a:cs typeface="Arial Black" pitchFamily="34" charset="-120"/>
              </a:rPr>
              <a:t>8</a:t>
            </a:r>
            <a:endParaRPr lang="en-US" sz="5250" dirty="0"/>
          </a:p>
        </p:txBody>
      </p:sp>
      <p:sp>
        <p:nvSpPr>
          <p:cNvPr id="12" name="Text 10"/>
          <p:cNvSpPr/>
          <p:nvPr/>
        </p:nvSpPr>
        <p:spPr>
          <a:xfrm>
            <a:off x="8982075" y="2085975"/>
            <a:ext cx="2747010" cy="452438"/>
          </a:xfrm>
          <a:prstGeom prst="rect">
            <a:avLst/>
          </a:prstGeom>
          <a:noFill/>
          <a:ln/>
        </p:spPr>
        <p:txBody>
          <a:bodyPr wrap="square" lIns="25400" tIns="25400" rIns="25400" bIns="25400" rtlCol="0" anchor="t">
            <a:normAutofit lnSpcReduction="10000"/>
          </a:bodyPr>
          <a:lstStyle/>
          <a:p>
            <a:pPr marL="0" indent="0" algn="l">
              <a:lnSpc>
                <a:spcPct val="125481"/>
              </a:lnSpc>
              <a:buNone/>
            </a:pPr>
            <a:r>
              <a:rPr lang="en-US" sz="1125" b="1" kern="0" spc="158" dirty="0">
                <a:solidFill>
                  <a:srgbClr val="1D93C9"/>
                </a:solidFill>
                <a:latin typeface="Arial" pitchFamily="34" charset="0"/>
                <a:ea typeface="Arial" pitchFamily="34" charset="-122"/>
                <a:cs typeface="Arial" pitchFamily="34" charset="-120"/>
              </a:rPr>
              <a:t>TURNS OF ADVANCE WARNING</a:t>
            </a:r>
            <a:endParaRPr lang="en-US" sz="1125" dirty="0"/>
          </a:p>
        </p:txBody>
      </p:sp>
      <p:sp>
        <p:nvSpPr>
          <p:cNvPr id="13" name="Shape 11"/>
          <p:cNvSpPr/>
          <p:nvPr/>
        </p:nvSpPr>
        <p:spPr>
          <a:xfrm>
            <a:off x="352425" y="3067050"/>
            <a:ext cx="3552329" cy="533400"/>
          </a:xfrm>
          <a:prstGeom prst="rect">
            <a:avLst/>
          </a:prstGeom>
          <a:solidFill>
            <a:srgbClr val="FFDA65"/>
          </a:solidFill>
          <a:ln/>
        </p:spPr>
        <p:txBody>
          <a:bodyPr/>
          <a:lstStyle/>
          <a:p>
            <a:endParaRPr lang="fr-FR"/>
          </a:p>
        </p:txBody>
      </p:sp>
      <p:sp>
        <p:nvSpPr>
          <p:cNvPr id="14" name="Text 12"/>
          <p:cNvSpPr/>
          <p:nvPr/>
        </p:nvSpPr>
        <p:spPr>
          <a:xfrm>
            <a:off x="299140" y="3067050"/>
            <a:ext cx="3658899" cy="571500"/>
          </a:xfrm>
          <a:prstGeom prst="rect">
            <a:avLst/>
          </a:prstGeom>
          <a:noFill/>
          <a:ln/>
        </p:spPr>
        <p:txBody>
          <a:bodyPr wrap="square" lIns="25400" tIns="25400" rIns="25400" bIns="25400" rtlCol="0" anchor="ctr">
            <a:normAutofit/>
          </a:bodyPr>
          <a:lstStyle/>
          <a:p>
            <a:pPr marL="0" indent="0" algn="ctr">
              <a:lnSpc>
                <a:spcPct val="119274"/>
              </a:lnSpc>
              <a:buNone/>
            </a:pPr>
            <a:r>
              <a:rPr lang="en-US" sz="1275" b="1" dirty="0">
                <a:solidFill>
                  <a:srgbClr val="063C67"/>
                </a:solidFill>
                <a:latin typeface="Calibri" pitchFamily="34" charset="0"/>
                <a:ea typeface="Calibri" pitchFamily="34" charset="-122"/>
                <a:cs typeface="Calibri" pitchFamily="34" charset="-120"/>
              </a:rPr>
              <a:t>T0 – T5 · signal sharp</a:t>
            </a:r>
            <a:endParaRPr lang="en-US" sz="1275" dirty="0"/>
          </a:p>
        </p:txBody>
      </p:sp>
      <p:sp>
        <p:nvSpPr>
          <p:cNvPr id="15" name="Shape 13"/>
          <p:cNvSpPr/>
          <p:nvPr/>
        </p:nvSpPr>
        <p:spPr>
          <a:xfrm>
            <a:off x="3952379" y="3257550"/>
            <a:ext cx="7696696" cy="342900"/>
          </a:xfrm>
          <a:prstGeom prst="rect">
            <a:avLst/>
          </a:prstGeom>
          <a:solidFill>
            <a:srgbClr val="E9E9ED"/>
          </a:solidFill>
          <a:ln/>
        </p:spPr>
        <p:txBody>
          <a:bodyPr/>
          <a:lstStyle/>
          <a:p>
            <a:endParaRPr lang="fr-FR"/>
          </a:p>
        </p:txBody>
      </p:sp>
      <p:sp>
        <p:nvSpPr>
          <p:cNvPr id="16" name="Text 14"/>
          <p:cNvSpPr/>
          <p:nvPr/>
        </p:nvSpPr>
        <p:spPr>
          <a:xfrm>
            <a:off x="3836929" y="3257550"/>
            <a:ext cx="7927597" cy="381000"/>
          </a:xfrm>
          <a:prstGeom prst="rect">
            <a:avLst/>
          </a:prstGeom>
          <a:noFill/>
          <a:ln/>
        </p:spPr>
        <p:txBody>
          <a:bodyPr wrap="square" lIns="25400" tIns="25400" rIns="25400" bIns="25400" rtlCol="0" anchor="ctr">
            <a:normAutofit/>
          </a:bodyPr>
          <a:lstStyle/>
          <a:p>
            <a:pPr marL="0" indent="0" algn="ctr">
              <a:lnSpc>
                <a:spcPct val="119274"/>
              </a:lnSpc>
              <a:buNone/>
            </a:pPr>
            <a:r>
              <a:rPr lang="en-US" sz="1275" dirty="0">
                <a:solidFill>
                  <a:srgbClr val="063C67"/>
                </a:solidFill>
                <a:latin typeface="Calibri" pitchFamily="34" charset="0"/>
                <a:ea typeface="Calibri" pitchFamily="34" charset="-122"/>
                <a:cs typeface="Calibri" pitchFamily="34" charset="-120"/>
              </a:rPr>
              <a:t>T6 – T18 · crisis public, the gap closes</a:t>
            </a:r>
            <a:endParaRPr lang="en-US" sz="1275" dirty="0"/>
          </a:p>
        </p:txBody>
      </p:sp>
      <p:sp>
        <p:nvSpPr>
          <p:cNvPr id="17" name="Text 15"/>
          <p:cNvSpPr/>
          <p:nvPr/>
        </p:nvSpPr>
        <p:spPr>
          <a:xfrm>
            <a:off x="352425" y="3686175"/>
            <a:ext cx="12426315"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Precision 1.00 · recall 0.75 · 0 false alarms</a:t>
            </a:r>
            <a:endParaRPr lang="en-US" sz="1275" dirty="0"/>
          </a:p>
        </p:txBody>
      </p:sp>
      <p:pic>
        <p:nvPicPr>
          <p:cNvPr id="18" name="Image 0" descr="preencoded.png"/>
          <p:cNvPicPr>
            <a:picLocks noChangeAspect="1"/>
          </p:cNvPicPr>
          <p:nvPr/>
        </p:nvPicPr>
        <p:blipFill>
          <a:blip r:embed="rId3"/>
          <a:stretch>
            <a:fillRect/>
          </a:stretch>
        </p:blipFill>
        <p:spPr>
          <a:xfrm>
            <a:off x="381000" y="4219575"/>
            <a:ext cx="438150" cy="438150"/>
          </a:xfrm>
          <a:prstGeom prst="rect">
            <a:avLst/>
          </a:prstGeom>
        </p:spPr>
      </p:pic>
      <p:sp>
        <p:nvSpPr>
          <p:cNvPr id="19" name="Text 16"/>
          <p:cNvSpPr/>
          <p:nvPr/>
        </p:nvSpPr>
        <p:spPr>
          <a:xfrm>
            <a:off x="990600" y="4219575"/>
            <a:ext cx="6239637" cy="809625"/>
          </a:xfrm>
          <a:prstGeom prst="rect">
            <a:avLst/>
          </a:prstGeom>
          <a:noFill/>
          <a:ln/>
        </p:spPr>
        <p:txBody>
          <a:bodyPr wrap="square" lIns="25400" tIns="25400" rIns="25400" bIns="25400" rtlCol="0" anchor="t">
            <a:normAutofit/>
          </a:bodyPr>
          <a:lstStyle/>
          <a:p>
            <a:pPr marL="0" indent="0" algn="l">
              <a:lnSpc>
                <a:spcPct val="109459"/>
              </a:lnSpc>
              <a:buNone/>
            </a:pPr>
            <a:r>
              <a:rPr lang="en-US" sz="1500" dirty="0">
                <a:solidFill>
                  <a:srgbClr val="063C67"/>
                </a:solidFill>
                <a:latin typeface="Calibri" pitchFamily="34" charset="0"/>
                <a:ea typeface="Calibri" pitchFamily="34" charset="-122"/>
                <a:cs typeface="Calibri" pitchFamily="34" charset="-120"/>
              </a:rPr>
              <a:t>The worst-scoring node is the satellite prime. Flagged from turn 0, it misses at turn 8: </a:t>
            </a:r>
            <a:r>
              <a:rPr lang="en-US" sz="1500" b="1" dirty="0">
                <a:solidFill>
                  <a:srgbClr val="063C67"/>
                </a:solidFill>
                <a:latin typeface="Calibri" pitchFamily="34" charset="0"/>
                <a:ea typeface="Calibri" pitchFamily="34" charset="-122"/>
                <a:cs typeface="Calibri" pitchFamily="34" charset="-120"/>
              </a:rPr>
              <a:t>eight turns of warning, while its own manager declares an urgency of 0.001.</a:t>
            </a:r>
            <a:endParaRPr lang="en-US" sz="1500" dirty="0"/>
          </a:p>
        </p:txBody>
      </p:sp>
      <p:pic>
        <p:nvPicPr>
          <p:cNvPr id="20" name="Image 1" descr="preencoded.png"/>
          <p:cNvPicPr>
            <a:picLocks noChangeAspect="1"/>
          </p:cNvPicPr>
          <p:nvPr/>
        </p:nvPicPr>
        <p:blipFill>
          <a:blip r:embed="rId4"/>
          <a:stretch>
            <a:fillRect/>
          </a:stretch>
        </p:blipFill>
        <p:spPr>
          <a:xfrm>
            <a:off x="381000" y="5143500"/>
            <a:ext cx="409773" cy="438150"/>
          </a:xfrm>
          <a:prstGeom prst="rect">
            <a:avLst/>
          </a:prstGeom>
        </p:spPr>
      </p:pic>
      <p:sp>
        <p:nvSpPr>
          <p:cNvPr id="21" name="Text 17"/>
          <p:cNvSpPr/>
          <p:nvPr/>
        </p:nvSpPr>
        <p:spPr>
          <a:xfrm>
            <a:off x="962223" y="5143500"/>
            <a:ext cx="6268865" cy="809625"/>
          </a:xfrm>
          <a:prstGeom prst="rect">
            <a:avLst/>
          </a:prstGeom>
          <a:noFill/>
          <a:ln/>
        </p:spPr>
        <p:txBody>
          <a:bodyPr wrap="square" lIns="25400" tIns="25400" rIns="25400" bIns="25400" rtlCol="0" anchor="t">
            <a:normAutofit/>
          </a:bodyPr>
          <a:lstStyle/>
          <a:p>
            <a:pPr marL="0" indent="0" algn="l">
              <a:lnSpc>
                <a:spcPct val="109459"/>
              </a:lnSpc>
              <a:buNone/>
            </a:pPr>
            <a:r>
              <a:rPr lang="en-US" sz="1500" dirty="0">
                <a:solidFill>
                  <a:srgbClr val="063C67"/>
                </a:solidFill>
                <a:latin typeface="Calibri" pitchFamily="34" charset="0"/>
                <a:ea typeface="Calibri" pitchFamily="34" charset="-122"/>
                <a:cs typeface="Calibri" pitchFamily="34" charset="-120"/>
              </a:rPr>
              <a:t>The flag comes from an </a:t>
            </a:r>
            <a:r>
              <a:rPr lang="en-US" sz="1500" b="1" dirty="0">
                <a:solidFill>
                  <a:srgbClr val="063C67"/>
                </a:solidFill>
                <a:latin typeface="Calibri" pitchFamily="34" charset="0"/>
                <a:ea typeface="Calibri" pitchFamily="34" charset="-122"/>
                <a:cs typeface="Calibri" pitchFamily="34" charset="-120"/>
              </a:rPr>
              <a:t>optimistic declaration against a computed state that is not </a:t>
            </a:r>
            <a:r>
              <a:rPr lang="en-US" sz="1500" dirty="0">
                <a:solidFill>
                  <a:srgbClr val="063C67"/>
                </a:solidFill>
                <a:latin typeface="Calibri" pitchFamily="34" charset="0"/>
                <a:ea typeface="Calibri" pitchFamily="34" charset="-122"/>
                <a:cs typeface="Calibri" pitchFamily="34" charset="-120"/>
              </a:rPr>
              <a:t>. From turn 6 precision falls to 0.50 or below: the crisis becomes public, everyone raises their declaration, and a difference closes mechanically.</a:t>
            </a:r>
            <a:endParaRPr lang="en-US" sz="1500" dirty="0"/>
          </a:p>
        </p:txBody>
      </p:sp>
      <p:sp>
        <p:nvSpPr>
          <p:cNvPr id="22" name="Shape 18"/>
          <p:cNvSpPr/>
          <p:nvPr/>
        </p:nvSpPr>
        <p:spPr>
          <a:xfrm>
            <a:off x="381000" y="6200775"/>
            <a:ext cx="6667500" cy="489545"/>
          </a:xfrm>
          <a:prstGeom prst="rect">
            <a:avLst/>
          </a:prstGeom>
          <a:solidFill>
            <a:srgbClr val="FFDA65"/>
          </a:solidFill>
          <a:ln/>
        </p:spPr>
        <p:txBody>
          <a:bodyPr/>
          <a:lstStyle/>
          <a:p>
            <a:endParaRPr lang="fr-FR"/>
          </a:p>
        </p:txBody>
      </p:sp>
      <p:sp>
        <p:nvSpPr>
          <p:cNvPr id="23" name="Text 19"/>
          <p:cNvSpPr/>
          <p:nvPr/>
        </p:nvSpPr>
        <p:spPr>
          <a:xfrm>
            <a:off x="552450" y="6334125"/>
            <a:ext cx="6524625"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b="1" dirty="0">
                <a:solidFill>
                  <a:srgbClr val="063C67"/>
                </a:solidFill>
                <a:latin typeface="Calibri" pitchFamily="34" charset="0"/>
                <a:ea typeface="Calibri" pitchFamily="34" charset="-122"/>
                <a:cs typeface="Calibri" pitchFamily="34" charset="-120"/>
              </a:rPr>
              <a:t>Early warning, not crisis management. Encouraging on eight nodes, not a rate.</a:t>
            </a:r>
            <a:r>
              <a:rPr lang="en-US" sz="1350" dirty="0">
                <a:solidFill>
                  <a:srgbClr val="063C67"/>
                </a:solidFill>
                <a:highlight>
                  <a:srgbClr val="FFDA65"/>
                </a:highlight>
                <a:latin typeface="Calibri" pitchFamily="34" charset="0"/>
                <a:ea typeface="Calibri" pitchFamily="34" charset="-122"/>
                <a:cs typeface="Calibri" pitchFamily="34" charset="-120"/>
              </a:rPr>
              <a:t/>
            </a:r>
            <a:endParaRPr lang="en-US" sz="1350" dirty="0"/>
          </a:p>
        </p:txBody>
      </p:sp>
      <p:sp>
        <p:nvSpPr>
          <p:cNvPr id="24" name="Text 20"/>
          <p:cNvSpPr/>
          <p:nvPr/>
        </p:nvSpPr>
        <p:spPr>
          <a:xfrm>
            <a:off x="7381875" y="4305300"/>
            <a:ext cx="4693920"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26" dirty="0">
                <a:solidFill>
                  <a:srgbClr val="1D93C9"/>
                </a:solidFill>
                <a:latin typeface="Arial" pitchFamily="34" charset="0"/>
                <a:ea typeface="Arial" pitchFamily="34" charset="-122"/>
                <a:cs typeface="Arial" pitchFamily="34" charset="-120"/>
              </a:rPr>
              <a:t>THE DASHBOARD THE COORDINATOR READS</a:t>
            </a:r>
            <a:endParaRPr lang="en-US" sz="1050" dirty="0"/>
          </a:p>
        </p:txBody>
      </p:sp>
      <p:sp>
        <p:nvSpPr>
          <p:cNvPr id="25" name="Shape 21"/>
          <p:cNvSpPr/>
          <p:nvPr/>
        </p:nvSpPr>
        <p:spPr>
          <a:xfrm>
            <a:off x="7381875" y="4574778"/>
            <a:ext cx="4279900" cy="1517650"/>
          </a:xfrm>
          <a:prstGeom prst="rect">
            <a:avLst/>
          </a:prstGeom>
          <a:ln w="6350">
            <a:solidFill>
              <a:srgbClr val="C0C0C8"/>
            </a:solidFill>
            <a:prstDash val="solid"/>
          </a:ln>
        </p:spPr>
        <p:txBody>
          <a:bodyPr/>
          <a:lstStyle/>
          <a:p>
            <a:endParaRPr lang="fr-FR"/>
          </a:p>
        </p:txBody>
      </p:sp>
      <p:pic>
        <p:nvPicPr>
          <p:cNvPr id="26" name="Image 2" descr="preencoded.png"/>
          <p:cNvPicPr>
            <a:picLocks noChangeAspect="1"/>
          </p:cNvPicPr>
          <p:nvPr/>
        </p:nvPicPr>
        <p:blipFill>
          <a:blip r:embed="rId5"/>
          <a:stretch>
            <a:fillRect/>
          </a:stretch>
        </p:blipFill>
        <p:spPr>
          <a:xfrm>
            <a:off x="7381875" y="4574778"/>
            <a:ext cx="4279900" cy="1819374"/>
          </a:xfrm>
          <a:prstGeom prst="rect">
            <a:avLst/>
          </a:prstGeom>
        </p:spPr>
      </p:pic>
      <p:pic>
        <p:nvPicPr>
          <p:cNvPr id="27" name="Image 3" descr="preencoded.png"/>
          <p:cNvPicPr>
            <a:picLocks noChangeAspect="1"/>
          </p:cNvPicPr>
          <p:nvPr/>
        </p:nvPicPr>
        <p:blipFill>
          <a:blip r:embed="rId6"/>
          <a:stretch>
            <a:fillRect/>
          </a:stretch>
        </p:blipFill>
        <p:spPr>
          <a:xfrm>
            <a:off x="11229975" y="6567488"/>
            <a:ext cx="714375" cy="71438"/>
          </a:xfrm>
          <a:prstGeom prst="rect">
            <a:avLst/>
          </a:prstGeom>
        </p:spPr>
      </p:pic>
      <p:sp>
        <p:nvSpPr>
          <p:cNvPr id="28" name="Text 22"/>
          <p:cNvSpPr/>
          <p:nvPr/>
        </p:nvSpPr>
        <p:spPr>
          <a:xfrm>
            <a:off x="10505679" y="6465590"/>
            <a:ext cx="524272"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C0C0C8"/>
                </a:solidFill>
                <a:latin typeface="Calibri" pitchFamily="34" charset="0"/>
                <a:ea typeface="Calibri" pitchFamily="34" charset="-122"/>
                <a:cs typeface="Calibri" pitchFamily="34" charset="-120"/>
              </a:rPr>
              <a:t>14 | 20</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9380746"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RESULT 2: ONE BLOCK EXPLAINED IT</a:t>
            </a:r>
            <a:endParaRPr lang="en-US" sz="3225" dirty="0"/>
          </a:p>
        </p:txBody>
      </p:sp>
      <p:sp>
        <p:nvSpPr>
          <p:cNvPr id="4" name="Text 2"/>
          <p:cNvSpPr/>
          <p:nvPr/>
        </p:nvSpPr>
        <p:spPr>
          <a:xfrm>
            <a:off x="352425" y="666750"/>
            <a:ext cx="8961209"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Scored → diagnosed → repaired → re-measured, on the same 120 frozen forecasts</a:t>
            </a:r>
            <a:endParaRPr lang="en-US" sz="1725" dirty="0"/>
          </a:p>
        </p:txBody>
      </p:sp>
      <p:pic>
        <p:nvPicPr>
          <p:cNvPr id="5" name="Image 0" descr="preencoded.png"/>
          <p:cNvPicPr>
            <a:picLocks noChangeAspect="1"/>
          </p:cNvPicPr>
          <p:nvPr/>
        </p:nvPicPr>
        <p:blipFill>
          <a:blip r:embed="rId3"/>
          <a:srcRect l="-6337" r="-6337"/>
          <a:stretch/>
        </p:blipFill>
        <p:spPr>
          <a:xfrm>
            <a:off x="276225" y="1143000"/>
            <a:ext cx="6172200" cy="4343400"/>
          </a:xfrm>
          <a:prstGeom prst="rect">
            <a:avLst/>
          </a:prstGeom>
        </p:spPr>
      </p:pic>
      <p:sp>
        <p:nvSpPr>
          <p:cNvPr id="6" name="Shape 3"/>
          <p:cNvSpPr/>
          <p:nvPr/>
        </p:nvSpPr>
        <p:spPr>
          <a:xfrm>
            <a:off x="276225" y="5505450"/>
            <a:ext cx="5962650" cy="674291"/>
          </a:xfrm>
          <a:prstGeom prst="rect">
            <a:avLst/>
          </a:prstGeom>
          <a:solidFill>
            <a:srgbClr val="063C67"/>
          </a:solidFill>
          <a:ln/>
        </p:spPr>
        <p:txBody>
          <a:bodyPr/>
          <a:lstStyle/>
          <a:p>
            <a:endParaRPr lang="fr-FR"/>
          </a:p>
        </p:txBody>
      </p:sp>
      <p:sp>
        <p:nvSpPr>
          <p:cNvPr id="7" name="Text 4"/>
          <p:cNvSpPr/>
          <p:nvPr/>
        </p:nvSpPr>
        <p:spPr>
          <a:xfrm>
            <a:off x="428625" y="5619750"/>
            <a:ext cx="5667375" cy="483791"/>
          </a:xfrm>
          <a:prstGeom prst="rect">
            <a:avLst/>
          </a:prstGeom>
          <a:noFill/>
          <a:ln/>
        </p:spPr>
        <p:txBody>
          <a:bodyPr wrap="square" lIns="25400" tIns="25400" rIns="25400" bIns="25400" rtlCol="0" anchor="t">
            <a:normAutofit/>
          </a:bodyPr>
          <a:lstStyle/>
          <a:p>
            <a:pPr marL="0" indent="0" algn="l">
              <a:lnSpc>
                <a:spcPct val="106364"/>
              </a:lnSpc>
              <a:buNone/>
            </a:pPr>
            <a:r>
              <a:rPr lang="en-US" sz="1350" b="1" dirty="0">
                <a:solidFill>
                  <a:srgbClr val="FFFFFF"/>
                </a:solidFill>
                <a:latin typeface="Calibri" pitchFamily="34" charset="0"/>
                <a:ea typeface="Calibri" pitchFamily="34" charset="-122"/>
                <a:cs typeface="Calibri" pitchFamily="34" charset="-120"/>
              </a:rPr>
              <a:t>Diagnosed: </a:t>
            </a:r>
            <a:r>
              <a:rPr lang="en-US" sz="1350" dirty="0">
                <a:solidFill>
                  <a:srgbClr val="FFFFFF"/>
                </a:solidFill>
                <a:highlight>
                  <a:srgbClr val="063C67"/>
                </a:highlight>
                <a:latin typeface="Calibri" pitchFamily="34" charset="0"/>
                <a:ea typeface="Calibri" pitchFamily="34" charset="-122"/>
                <a:cs typeface="Calibri" pitchFamily="34" charset="-120"/>
              </a:rPr>
              <a:t>events never write to the time axis. Across </a:t>
            </a:r>
            <a:r>
              <a:rPr lang="en-US" sz="1350" b="1" dirty="0">
                <a:solidFill>
                  <a:srgbClr val="FFFFFF"/>
                </a:solidFill>
                <a:latin typeface="Calibri" pitchFamily="34" charset="0"/>
                <a:ea typeface="Calibri" pitchFamily="34" charset="-122"/>
                <a:cs typeface="Calibri" pitchFamily="34" charset="-120"/>
              </a:rPr>
              <a:t>328 indicator snapshots </a:t>
            </a:r>
            <a:r>
              <a:rPr lang="en-US" sz="1350" dirty="0">
                <a:solidFill>
                  <a:srgbClr val="FFFFFF"/>
                </a:solidFill>
                <a:highlight>
                  <a:srgbClr val="063C67"/>
                </a:highlight>
                <a:latin typeface="Calibri" pitchFamily="34" charset="0"/>
                <a:ea typeface="Calibri" pitchFamily="34" charset="-122"/>
                <a:cs typeface="Calibri" pitchFamily="34" charset="-120"/>
              </a:rPr>
              <a:t>the accumulated-delay field was written </a:t>
            </a:r>
            <a:r>
              <a:rPr lang="en-US" sz="1350" b="1" dirty="0">
                <a:solidFill>
                  <a:srgbClr val="FFFFFF"/>
                </a:solidFill>
                <a:latin typeface="Calibri" pitchFamily="34" charset="0"/>
                <a:ea typeface="Calibri" pitchFamily="34" charset="-122"/>
                <a:cs typeface="Calibri" pitchFamily="34" charset="-120"/>
              </a:rPr>
              <a:t>zero times</a:t>
            </a:r>
            <a:endParaRPr lang="en-US" sz="1350" dirty="0"/>
          </a:p>
        </p:txBody>
      </p:sp>
      <p:sp>
        <p:nvSpPr>
          <p:cNvPr id="8" name="Shape 5"/>
          <p:cNvSpPr/>
          <p:nvPr/>
        </p:nvSpPr>
        <p:spPr>
          <a:xfrm>
            <a:off x="276225" y="6265466"/>
            <a:ext cx="5962650" cy="451445"/>
          </a:xfrm>
          <a:prstGeom prst="rect">
            <a:avLst/>
          </a:prstGeom>
          <a:solidFill>
            <a:srgbClr val="FFF6DA"/>
          </a:solidFill>
          <a:ln/>
        </p:spPr>
        <p:txBody>
          <a:bodyPr/>
          <a:lstStyle/>
          <a:p>
            <a:endParaRPr lang="fr-FR"/>
          </a:p>
        </p:txBody>
      </p:sp>
      <p:sp>
        <p:nvSpPr>
          <p:cNvPr id="9" name="Text 6"/>
          <p:cNvSpPr/>
          <p:nvPr/>
        </p:nvSpPr>
        <p:spPr>
          <a:xfrm>
            <a:off x="428625" y="6379766"/>
            <a:ext cx="5836730" cy="260945"/>
          </a:xfrm>
          <a:prstGeom prst="rect">
            <a:avLst/>
          </a:prstGeom>
          <a:noFill/>
          <a:ln/>
        </p:spPr>
        <p:txBody>
          <a:bodyPr wrap="square" lIns="25400" tIns="25400" rIns="25400" bIns="25400" rtlCol="0" anchor="t">
            <a:normAutofit/>
          </a:bodyPr>
          <a:lstStyle/>
          <a:p>
            <a:pPr marL="0" indent="0" algn="l">
              <a:lnSpc>
                <a:spcPct val="106364"/>
              </a:lnSpc>
              <a:buNone/>
            </a:pPr>
            <a:r>
              <a:rPr lang="en-US" sz="1350" b="1" dirty="0">
                <a:solidFill>
                  <a:srgbClr val="063C67"/>
                </a:solidFill>
                <a:latin typeface="Calibri" pitchFamily="34" charset="0"/>
                <a:ea typeface="Calibri" pitchFamily="34" charset="-122"/>
                <a:cs typeface="Calibri" pitchFamily="34" charset="-120"/>
              </a:rPr>
              <a:t>Repaired: </a:t>
            </a:r>
            <a:r>
              <a:rPr lang="en-US" sz="1350" dirty="0">
                <a:solidFill>
                  <a:srgbClr val="063C67"/>
                </a:solidFill>
                <a:highlight>
                  <a:srgbClr val="FFF6DA"/>
                </a:highlight>
                <a:latin typeface="Calibri" pitchFamily="34" charset="0"/>
                <a:ea typeface="Calibri" pitchFamily="34" charset="-122"/>
                <a:cs typeface="Calibri" pitchFamily="34" charset="-120"/>
              </a:rPr>
              <a:t>lost time is additive. </a:t>
            </a:r>
            <a:r>
              <a:rPr lang="en-US" sz="1350" i="1" dirty="0">
                <a:solidFill>
                  <a:srgbClr val="063C67"/>
                </a:solidFill>
                <a:latin typeface="Calibri" pitchFamily="34" charset="0"/>
                <a:ea typeface="Calibri" pitchFamily="34" charset="-122"/>
                <a:cs typeface="Calibri" pitchFamily="34" charset="-120"/>
              </a:rPr>
              <a:t>completion = t + (1 − progress) × lead + lost time</a:t>
            </a:r>
            <a:endParaRPr lang="en-US" sz="1350" dirty="0"/>
          </a:p>
        </p:txBody>
      </p:sp>
      <p:sp>
        <p:nvSpPr>
          <p:cNvPr id="10" name="Text 7"/>
          <p:cNvSpPr/>
          <p:nvPr/>
        </p:nvSpPr>
        <p:spPr>
          <a:xfrm>
            <a:off x="6600825" y="1143000"/>
            <a:ext cx="551116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BRIER SKILL, BEFORE → AFTER</a:t>
            </a:r>
            <a:endParaRPr lang="en-US" sz="1050" dirty="0"/>
          </a:p>
        </p:txBody>
      </p:sp>
      <p:sp>
        <p:nvSpPr>
          <p:cNvPr id="11" name="Text 8"/>
          <p:cNvSpPr/>
          <p:nvPr/>
        </p:nvSpPr>
        <p:spPr>
          <a:xfrm>
            <a:off x="6657975" y="1526778"/>
            <a:ext cx="876300" cy="286643"/>
          </a:xfrm>
          <a:prstGeom prst="rect">
            <a:avLst/>
          </a:prstGeom>
          <a:noFill/>
          <a:ln/>
        </p:spPr>
        <p:txBody>
          <a:bodyPr wrap="square" lIns="25400" tIns="25400" rIns="25400" bIns="25400" rtlCol="0" anchor="t">
            <a:normAutofit/>
          </a:bodyPr>
          <a:lstStyle/>
          <a:p>
            <a:pPr marL="0" indent="0" algn="l">
              <a:lnSpc>
                <a:spcPct val="117115"/>
              </a:lnSpc>
              <a:buNone/>
            </a:pPr>
            <a:r>
              <a:rPr lang="en-US" sz="1050" b="1" kern="0" spc="105" dirty="0">
                <a:solidFill>
                  <a:srgbClr val="858591"/>
                </a:solidFill>
                <a:latin typeface="Calibri" pitchFamily="34" charset="0"/>
                <a:ea typeface="Calibri" pitchFamily="34" charset="-122"/>
                <a:cs typeface="Calibri" pitchFamily="34" charset="-120"/>
              </a:rPr>
              <a:t>HORIZON</a:t>
            </a:r>
            <a:endParaRPr lang="en-US" sz="1050" dirty="0"/>
          </a:p>
        </p:txBody>
      </p:sp>
      <p:sp>
        <p:nvSpPr>
          <p:cNvPr id="12" name="Text 9"/>
          <p:cNvSpPr/>
          <p:nvPr/>
        </p:nvSpPr>
        <p:spPr>
          <a:xfrm>
            <a:off x="7534275" y="1526778"/>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858591"/>
                </a:solidFill>
                <a:latin typeface="Calibri" pitchFamily="34" charset="0"/>
                <a:ea typeface="Calibri" pitchFamily="34" charset="-122"/>
                <a:cs typeface="Calibri" pitchFamily="34" charset="-120"/>
              </a:rPr>
              <a:t>before</a:t>
            </a:r>
            <a:endParaRPr lang="en-US" sz="1350" dirty="0"/>
          </a:p>
        </p:txBody>
      </p:sp>
      <p:sp>
        <p:nvSpPr>
          <p:cNvPr id="13" name="Text 10"/>
          <p:cNvSpPr/>
          <p:nvPr/>
        </p:nvSpPr>
        <p:spPr>
          <a:xfrm>
            <a:off x="8899525" y="1526778"/>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858591"/>
                </a:solidFill>
                <a:latin typeface="Calibri" pitchFamily="34" charset="0"/>
                <a:ea typeface="Calibri" pitchFamily="34" charset="-122"/>
                <a:cs typeface="Calibri" pitchFamily="34" charset="-120"/>
              </a:rPr>
              <a:t>structure</a:t>
            </a:r>
            <a:endParaRPr lang="en-US" sz="1350" dirty="0"/>
          </a:p>
        </p:txBody>
      </p:sp>
      <p:sp>
        <p:nvSpPr>
          <p:cNvPr id="14" name="Text 11"/>
          <p:cNvSpPr/>
          <p:nvPr/>
        </p:nvSpPr>
        <p:spPr>
          <a:xfrm>
            <a:off x="10264776" y="1526778"/>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858591"/>
                </a:solidFill>
                <a:latin typeface="Calibri" pitchFamily="34" charset="0"/>
                <a:ea typeface="Calibri" pitchFamily="34" charset="-122"/>
                <a:cs typeface="Calibri" pitchFamily="34" charset="-120"/>
              </a:rPr>
              <a:t>+ uncert.</a:t>
            </a:r>
            <a:endParaRPr lang="en-US" sz="1350" dirty="0"/>
          </a:p>
        </p:txBody>
      </p:sp>
      <p:sp>
        <p:nvSpPr>
          <p:cNvPr id="15" name="Shape 12"/>
          <p:cNvSpPr/>
          <p:nvPr/>
        </p:nvSpPr>
        <p:spPr>
          <a:xfrm>
            <a:off x="6600825" y="1851521"/>
            <a:ext cx="914400" cy="9525"/>
          </a:xfrm>
          <a:prstGeom prst="rect">
            <a:avLst/>
          </a:prstGeom>
          <a:solidFill>
            <a:srgbClr val="C0C0C8"/>
          </a:solidFill>
          <a:ln/>
        </p:spPr>
        <p:txBody>
          <a:bodyPr/>
          <a:lstStyle/>
          <a:p>
            <a:endParaRPr lang="fr-FR"/>
          </a:p>
        </p:txBody>
      </p:sp>
      <p:sp>
        <p:nvSpPr>
          <p:cNvPr id="16" name="Text 13"/>
          <p:cNvSpPr/>
          <p:nvPr/>
        </p:nvSpPr>
        <p:spPr>
          <a:xfrm>
            <a:off x="6657975" y="1962646"/>
            <a:ext cx="87630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1 week</a:t>
            </a:r>
            <a:endParaRPr lang="en-US" sz="1350" dirty="0"/>
          </a:p>
        </p:txBody>
      </p:sp>
      <p:sp>
        <p:nvSpPr>
          <p:cNvPr id="17" name="Shape 14"/>
          <p:cNvSpPr/>
          <p:nvPr/>
        </p:nvSpPr>
        <p:spPr>
          <a:xfrm>
            <a:off x="7515225" y="1851521"/>
            <a:ext cx="1365250" cy="9525"/>
          </a:xfrm>
          <a:prstGeom prst="rect">
            <a:avLst/>
          </a:prstGeom>
          <a:solidFill>
            <a:srgbClr val="C0C0C8"/>
          </a:solidFill>
          <a:ln/>
        </p:spPr>
        <p:txBody>
          <a:bodyPr/>
          <a:lstStyle/>
          <a:p>
            <a:endParaRPr lang="fr-FR"/>
          </a:p>
        </p:txBody>
      </p:sp>
      <p:sp>
        <p:nvSpPr>
          <p:cNvPr id="18" name="Text 15"/>
          <p:cNvSpPr/>
          <p:nvPr/>
        </p:nvSpPr>
        <p:spPr>
          <a:xfrm>
            <a:off x="7534275" y="1962646"/>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−1.278</a:t>
            </a:r>
            <a:endParaRPr lang="en-US" sz="1350" dirty="0"/>
          </a:p>
        </p:txBody>
      </p:sp>
      <p:sp>
        <p:nvSpPr>
          <p:cNvPr id="19" name="Shape 16"/>
          <p:cNvSpPr/>
          <p:nvPr/>
        </p:nvSpPr>
        <p:spPr>
          <a:xfrm>
            <a:off x="8880475" y="1851521"/>
            <a:ext cx="1365250" cy="464443"/>
          </a:xfrm>
          <a:prstGeom prst="rect">
            <a:avLst/>
          </a:prstGeom>
          <a:solidFill>
            <a:srgbClr val="FFF6DA"/>
          </a:solidFill>
          <a:ln/>
        </p:spPr>
        <p:txBody>
          <a:bodyPr/>
          <a:lstStyle/>
          <a:p>
            <a:endParaRPr lang="fr-FR"/>
          </a:p>
        </p:txBody>
      </p:sp>
      <p:sp>
        <p:nvSpPr>
          <p:cNvPr id="20" name="Shape 17"/>
          <p:cNvSpPr/>
          <p:nvPr/>
        </p:nvSpPr>
        <p:spPr>
          <a:xfrm>
            <a:off x="8880475" y="1851521"/>
            <a:ext cx="1365250" cy="9525"/>
          </a:xfrm>
          <a:prstGeom prst="rect">
            <a:avLst/>
          </a:prstGeom>
          <a:solidFill>
            <a:srgbClr val="C0C0C8"/>
          </a:solidFill>
          <a:ln/>
        </p:spPr>
        <p:txBody>
          <a:bodyPr/>
          <a:lstStyle/>
          <a:p>
            <a:endParaRPr lang="fr-FR"/>
          </a:p>
        </p:txBody>
      </p:sp>
      <p:sp>
        <p:nvSpPr>
          <p:cNvPr id="21" name="Text 18"/>
          <p:cNvSpPr/>
          <p:nvPr/>
        </p:nvSpPr>
        <p:spPr>
          <a:xfrm>
            <a:off x="8899525" y="1962646"/>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063C67"/>
                </a:solidFill>
                <a:latin typeface="Calibri" pitchFamily="34" charset="0"/>
                <a:ea typeface="Calibri" pitchFamily="34" charset="-122"/>
                <a:cs typeface="Calibri" pitchFamily="34" charset="-120"/>
              </a:rPr>
              <a:t>−0.646</a:t>
            </a:r>
            <a:endParaRPr lang="en-US" sz="1350" dirty="0"/>
          </a:p>
        </p:txBody>
      </p:sp>
      <p:sp>
        <p:nvSpPr>
          <p:cNvPr id="22" name="Shape 19"/>
          <p:cNvSpPr/>
          <p:nvPr/>
        </p:nvSpPr>
        <p:spPr>
          <a:xfrm>
            <a:off x="10245726" y="1851521"/>
            <a:ext cx="1365250" cy="9525"/>
          </a:xfrm>
          <a:prstGeom prst="rect">
            <a:avLst/>
          </a:prstGeom>
          <a:solidFill>
            <a:srgbClr val="C0C0C8"/>
          </a:solidFill>
          <a:ln/>
        </p:spPr>
        <p:txBody>
          <a:bodyPr/>
          <a:lstStyle/>
          <a:p>
            <a:endParaRPr lang="fr-FR"/>
          </a:p>
        </p:txBody>
      </p:sp>
      <p:sp>
        <p:nvSpPr>
          <p:cNvPr id="23" name="Text 20"/>
          <p:cNvSpPr/>
          <p:nvPr/>
        </p:nvSpPr>
        <p:spPr>
          <a:xfrm>
            <a:off x="10264776" y="1962646"/>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−0.687</a:t>
            </a:r>
            <a:endParaRPr lang="en-US" sz="1350" dirty="0"/>
          </a:p>
        </p:txBody>
      </p:sp>
      <p:sp>
        <p:nvSpPr>
          <p:cNvPr id="24" name="Shape 21"/>
          <p:cNvSpPr/>
          <p:nvPr/>
        </p:nvSpPr>
        <p:spPr>
          <a:xfrm>
            <a:off x="6600825" y="2315964"/>
            <a:ext cx="914400" cy="9525"/>
          </a:xfrm>
          <a:prstGeom prst="rect">
            <a:avLst/>
          </a:prstGeom>
          <a:solidFill>
            <a:srgbClr val="C0C0C8"/>
          </a:solidFill>
          <a:ln/>
        </p:spPr>
        <p:txBody>
          <a:bodyPr/>
          <a:lstStyle/>
          <a:p>
            <a:endParaRPr lang="fr-FR"/>
          </a:p>
        </p:txBody>
      </p:sp>
      <p:sp>
        <p:nvSpPr>
          <p:cNvPr id="25" name="Text 22"/>
          <p:cNvSpPr/>
          <p:nvPr/>
        </p:nvSpPr>
        <p:spPr>
          <a:xfrm>
            <a:off x="6657975" y="2427089"/>
            <a:ext cx="87630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2 weeks</a:t>
            </a:r>
            <a:endParaRPr lang="en-US" sz="1350" dirty="0"/>
          </a:p>
        </p:txBody>
      </p:sp>
      <p:sp>
        <p:nvSpPr>
          <p:cNvPr id="26" name="Shape 23"/>
          <p:cNvSpPr/>
          <p:nvPr/>
        </p:nvSpPr>
        <p:spPr>
          <a:xfrm>
            <a:off x="7515225" y="2315964"/>
            <a:ext cx="1365250" cy="9525"/>
          </a:xfrm>
          <a:prstGeom prst="rect">
            <a:avLst/>
          </a:prstGeom>
          <a:solidFill>
            <a:srgbClr val="C0C0C8"/>
          </a:solidFill>
          <a:ln/>
        </p:spPr>
        <p:txBody>
          <a:bodyPr/>
          <a:lstStyle/>
          <a:p>
            <a:endParaRPr lang="fr-FR"/>
          </a:p>
        </p:txBody>
      </p:sp>
      <p:sp>
        <p:nvSpPr>
          <p:cNvPr id="27" name="Text 24"/>
          <p:cNvSpPr/>
          <p:nvPr/>
        </p:nvSpPr>
        <p:spPr>
          <a:xfrm>
            <a:off x="7534275" y="2427089"/>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−0.690</a:t>
            </a:r>
            <a:endParaRPr lang="en-US" sz="1350" dirty="0"/>
          </a:p>
        </p:txBody>
      </p:sp>
      <p:sp>
        <p:nvSpPr>
          <p:cNvPr id="28" name="Shape 25"/>
          <p:cNvSpPr/>
          <p:nvPr/>
        </p:nvSpPr>
        <p:spPr>
          <a:xfrm>
            <a:off x="8880475" y="2315964"/>
            <a:ext cx="1365250" cy="9525"/>
          </a:xfrm>
          <a:prstGeom prst="rect">
            <a:avLst/>
          </a:prstGeom>
          <a:solidFill>
            <a:srgbClr val="C0C0C8"/>
          </a:solidFill>
          <a:ln/>
        </p:spPr>
        <p:txBody>
          <a:bodyPr/>
          <a:lstStyle/>
          <a:p>
            <a:endParaRPr lang="fr-FR"/>
          </a:p>
        </p:txBody>
      </p:sp>
      <p:sp>
        <p:nvSpPr>
          <p:cNvPr id="29" name="Text 26"/>
          <p:cNvSpPr/>
          <p:nvPr/>
        </p:nvSpPr>
        <p:spPr>
          <a:xfrm>
            <a:off x="8899525" y="2427089"/>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−0.401</a:t>
            </a:r>
            <a:endParaRPr lang="en-US" sz="1350" dirty="0"/>
          </a:p>
        </p:txBody>
      </p:sp>
      <p:sp>
        <p:nvSpPr>
          <p:cNvPr id="30" name="Shape 27"/>
          <p:cNvSpPr/>
          <p:nvPr/>
        </p:nvSpPr>
        <p:spPr>
          <a:xfrm>
            <a:off x="10245726" y="2315964"/>
            <a:ext cx="1365250" cy="464443"/>
          </a:xfrm>
          <a:prstGeom prst="rect">
            <a:avLst/>
          </a:prstGeom>
          <a:solidFill>
            <a:srgbClr val="FFF6DA"/>
          </a:solidFill>
          <a:ln/>
        </p:spPr>
        <p:txBody>
          <a:bodyPr/>
          <a:lstStyle/>
          <a:p>
            <a:endParaRPr lang="fr-FR"/>
          </a:p>
        </p:txBody>
      </p:sp>
      <p:sp>
        <p:nvSpPr>
          <p:cNvPr id="31" name="Shape 28"/>
          <p:cNvSpPr/>
          <p:nvPr/>
        </p:nvSpPr>
        <p:spPr>
          <a:xfrm>
            <a:off x="10245726" y="2315964"/>
            <a:ext cx="1365250" cy="9525"/>
          </a:xfrm>
          <a:prstGeom prst="rect">
            <a:avLst/>
          </a:prstGeom>
          <a:solidFill>
            <a:srgbClr val="C0C0C8"/>
          </a:solidFill>
          <a:ln/>
        </p:spPr>
        <p:txBody>
          <a:bodyPr/>
          <a:lstStyle/>
          <a:p>
            <a:endParaRPr lang="fr-FR"/>
          </a:p>
        </p:txBody>
      </p:sp>
      <p:sp>
        <p:nvSpPr>
          <p:cNvPr id="32" name="Text 29"/>
          <p:cNvSpPr/>
          <p:nvPr/>
        </p:nvSpPr>
        <p:spPr>
          <a:xfrm>
            <a:off x="10264776" y="2427089"/>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063C67"/>
                </a:solidFill>
                <a:latin typeface="Calibri" pitchFamily="34" charset="0"/>
                <a:ea typeface="Calibri" pitchFamily="34" charset="-122"/>
                <a:cs typeface="Calibri" pitchFamily="34" charset="-120"/>
              </a:rPr>
              <a:t>−0.367</a:t>
            </a:r>
            <a:endParaRPr lang="en-US" sz="1350" dirty="0"/>
          </a:p>
        </p:txBody>
      </p:sp>
      <p:sp>
        <p:nvSpPr>
          <p:cNvPr id="33" name="Shape 30"/>
          <p:cNvSpPr/>
          <p:nvPr/>
        </p:nvSpPr>
        <p:spPr>
          <a:xfrm>
            <a:off x="6600825" y="2780407"/>
            <a:ext cx="914400" cy="9525"/>
          </a:xfrm>
          <a:prstGeom prst="rect">
            <a:avLst/>
          </a:prstGeom>
          <a:solidFill>
            <a:srgbClr val="C0C0C8"/>
          </a:solidFill>
          <a:ln/>
        </p:spPr>
        <p:txBody>
          <a:bodyPr/>
          <a:lstStyle/>
          <a:p>
            <a:endParaRPr lang="fr-FR"/>
          </a:p>
        </p:txBody>
      </p:sp>
      <p:sp>
        <p:nvSpPr>
          <p:cNvPr id="34" name="Text 31"/>
          <p:cNvSpPr/>
          <p:nvPr/>
        </p:nvSpPr>
        <p:spPr>
          <a:xfrm>
            <a:off x="6657975" y="2891532"/>
            <a:ext cx="87630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3 weeks</a:t>
            </a:r>
            <a:endParaRPr lang="en-US" sz="1350" dirty="0"/>
          </a:p>
        </p:txBody>
      </p:sp>
      <p:sp>
        <p:nvSpPr>
          <p:cNvPr id="35" name="Shape 32"/>
          <p:cNvSpPr/>
          <p:nvPr/>
        </p:nvSpPr>
        <p:spPr>
          <a:xfrm>
            <a:off x="7515225" y="2780407"/>
            <a:ext cx="1365250" cy="9525"/>
          </a:xfrm>
          <a:prstGeom prst="rect">
            <a:avLst/>
          </a:prstGeom>
          <a:solidFill>
            <a:srgbClr val="C0C0C8"/>
          </a:solidFill>
          <a:ln/>
        </p:spPr>
        <p:txBody>
          <a:bodyPr/>
          <a:lstStyle/>
          <a:p>
            <a:endParaRPr lang="fr-FR"/>
          </a:p>
        </p:txBody>
      </p:sp>
      <p:sp>
        <p:nvSpPr>
          <p:cNvPr id="36" name="Text 33"/>
          <p:cNvSpPr/>
          <p:nvPr/>
        </p:nvSpPr>
        <p:spPr>
          <a:xfrm>
            <a:off x="7534275" y="2891532"/>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−0.654</a:t>
            </a:r>
            <a:endParaRPr lang="en-US" sz="1350" dirty="0"/>
          </a:p>
        </p:txBody>
      </p:sp>
      <p:sp>
        <p:nvSpPr>
          <p:cNvPr id="37" name="Shape 34"/>
          <p:cNvSpPr/>
          <p:nvPr/>
        </p:nvSpPr>
        <p:spPr>
          <a:xfrm>
            <a:off x="8880475" y="2780407"/>
            <a:ext cx="1365250" cy="9525"/>
          </a:xfrm>
          <a:prstGeom prst="rect">
            <a:avLst/>
          </a:prstGeom>
          <a:solidFill>
            <a:srgbClr val="C0C0C8"/>
          </a:solidFill>
          <a:ln/>
        </p:spPr>
        <p:txBody>
          <a:bodyPr/>
          <a:lstStyle/>
          <a:p>
            <a:endParaRPr lang="fr-FR"/>
          </a:p>
        </p:txBody>
      </p:sp>
      <p:sp>
        <p:nvSpPr>
          <p:cNvPr id="38" name="Text 35"/>
          <p:cNvSpPr/>
          <p:nvPr/>
        </p:nvSpPr>
        <p:spPr>
          <a:xfrm>
            <a:off x="8899525" y="2891532"/>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−0.360</a:t>
            </a:r>
            <a:endParaRPr lang="en-US" sz="1350" dirty="0"/>
          </a:p>
        </p:txBody>
      </p:sp>
      <p:sp>
        <p:nvSpPr>
          <p:cNvPr id="39" name="Shape 36"/>
          <p:cNvSpPr/>
          <p:nvPr/>
        </p:nvSpPr>
        <p:spPr>
          <a:xfrm>
            <a:off x="10245726" y="2780407"/>
            <a:ext cx="1365250" cy="464443"/>
          </a:xfrm>
          <a:prstGeom prst="rect">
            <a:avLst/>
          </a:prstGeom>
          <a:solidFill>
            <a:srgbClr val="FFF6DA"/>
          </a:solidFill>
          <a:ln/>
        </p:spPr>
        <p:txBody>
          <a:bodyPr/>
          <a:lstStyle/>
          <a:p>
            <a:endParaRPr lang="fr-FR"/>
          </a:p>
        </p:txBody>
      </p:sp>
      <p:sp>
        <p:nvSpPr>
          <p:cNvPr id="40" name="Shape 37"/>
          <p:cNvSpPr/>
          <p:nvPr/>
        </p:nvSpPr>
        <p:spPr>
          <a:xfrm>
            <a:off x="10245726" y="2780407"/>
            <a:ext cx="1365250" cy="9525"/>
          </a:xfrm>
          <a:prstGeom prst="rect">
            <a:avLst/>
          </a:prstGeom>
          <a:solidFill>
            <a:srgbClr val="C0C0C8"/>
          </a:solidFill>
          <a:ln/>
        </p:spPr>
        <p:txBody>
          <a:bodyPr/>
          <a:lstStyle/>
          <a:p>
            <a:endParaRPr lang="fr-FR"/>
          </a:p>
        </p:txBody>
      </p:sp>
      <p:sp>
        <p:nvSpPr>
          <p:cNvPr id="41" name="Text 38"/>
          <p:cNvSpPr/>
          <p:nvPr/>
        </p:nvSpPr>
        <p:spPr>
          <a:xfrm>
            <a:off x="10264776" y="2891532"/>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063C67"/>
                </a:solidFill>
                <a:latin typeface="Calibri" pitchFamily="34" charset="0"/>
                <a:ea typeface="Calibri" pitchFamily="34" charset="-122"/>
                <a:cs typeface="Calibri" pitchFamily="34" charset="-120"/>
              </a:rPr>
              <a:t>−0.286</a:t>
            </a:r>
            <a:endParaRPr lang="en-US" sz="1350" dirty="0"/>
          </a:p>
        </p:txBody>
      </p:sp>
      <p:sp>
        <p:nvSpPr>
          <p:cNvPr id="42" name="Shape 39"/>
          <p:cNvSpPr/>
          <p:nvPr/>
        </p:nvSpPr>
        <p:spPr>
          <a:xfrm>
            <a:off x="6600825" y="3709293"/>
            <a:ext cx="914400" cy="9525"/>
          </a:xfrm>
          <a:prstGeom prst="rect">
            <a:avLst/>
          </a:prstGeom>
          <a:solidFill>
            <a:srgbClr val="C0C0C8"/>
          </a:solidFill>
          <a:ln/>
        </p:spPr>
        <p:txBody>
          <a:bodyPr/>
          <a:lstStyle/>
          <a:p>
            <a:endParaRPr lang="fr-FR"/>
          </a:p>
        </p:txBody>
      </p:sp>
      <p:sp>
        <p:nvSpPr>
          <p:cNvPr id="43" name="Shape 40"/>
          <p:cNvSpPr/>
          <p:nvPr/>
        </p:nvSpPr>
        <p:spPr>
          <a:xfrm>
            <a:off x="6600825" y="3244850"/>
            <a:ext cx="914400" cy="9525"/>
          </a:xfrm>
          <a:prstGeom prst="rect">
            <a:avLst/>
          </a:prstGeom>
          <a:solidFill>
            <a:srgbClr val="C0C0C8"/>
          </a:solidFill>
          <a:ln/>
        </p:spPr>
        <p:txBody>
          <a:bodyPr/>
          <a:lstStyle/>
          <a:p>
            <a:endParaRPr lang="fr-FR"/>
          </a:p>
        </p:txBody>
      </p:sp>
      <p:sp>
        <p:nvSpPr>
          <p:cNvPr id="44" name="Text 41"/>
          <p:cNvSpPr/>
          <p:nvPr/>
        </p:nvSpPr>
        <p:spPr>
          <a:xfrm>
            <a:off x="6657975" y="3355975"/>
            <a:ext cx="876300"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4 weeks</a:t>
            </a:r>
            <a:endParaRPr lang="en-US" sz="1350" dirty="0"/>
          </a:p>
        </p:txBody>
      </p:sp>
      <p:sp>
        <p:nvSpPr>
          <p:cNvPr id="45" name="Shape 42"/>
          <p:cNvSpPr/>
          <p:nvPr/>
        </p:nvSpPr>
        <p:spPr>
          <a:xfrm>
            <a:off x="7515225" y="3709293"/>
            <a:ext cx="1365250" cy="9525"/>
          </a:xfrm>
          <a:prstGeom prst="rect">
            <a:avLst/>
          </a:prstGeom>
          <a:solidFill>
            <a:srgbClr val="C0C0C8"/>
          </a:solidFill>
          <a:ln/>
        </p:spPr>
        <p:txBody>
          <a:bodyPr/>
          <a:lstStyle/>
          <a:p>
            <a:endParaRPr lang="fr-FR"/>
          </a:p>
        </p:txBody>
      </p:sp>
      <p:sp>
        <p:nvSpPr>
          <p:cNvPr id="46" name="Shape 43"/>
          <p:cNvSpPr/>
          <p:nvPr/>
        </p:nvSpPr>
        <p:spPr>
          <a:xfrm>
            <a:off x="7515225" y="3244850"/>
            <a:ext cx="1365250" cy="9525"/>
          </a:xfrm>
          <a:prstGeom prst="rect">
            <a:avLst/>
          </a:prstGeom>
          <a:solidFill>
            <a:srgbClr val="C0C0C8"/>
          </a:solidFill>
          <a:ln/>
        </p:spPr>
        <p:txBody>
          <a:bodyPr/>
          <a:lstStyle/>
          <a:p>
            <a:endParaRPr lang="fr-FR"/>
          </a:p>
        </p:txBody>
      </p:sp>
      <p:sp>
        <p:nvSpPr>
          <p:cNvPr id="47" name="Text 44"/>
          <p:cNvSpPr/>
          <p:nvPr/>
        </p:nvSpPr>
        <p:spPr>
          <a:xfrm>
            <a:off x="7534275" y="3355975"/>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−0.553</a:t>
            </a:r>
            <a:endParaRPr lang="en-US" sz="1350" dirty="0"/>
          </a:p>
        </p:txBody>
      </p:sp>
      <p:sp>
        <p:nvSpPr>
          <p:cNvPr id="48" name="Shape 45"/>
          <p:cNvSpPr/>
          <p:nvPr/>
        </p:nvSpPr>
        <p:spPr>
          <a:xfrm>
            <a:off x="8880475" y="3709293"/>
            <a:ext cx="1365250" cy="9525"/>
          </a:xfrm>
          <a:prstGeom prst="rect">
            <a:avLst/>
          </a:prstGeom>
          <a:solidFill>
            <a:srgbClr val="C0C0C8"/>
          </a:solidFill>
          <a:ln/>
        </p:spPr>
        <p:txBody>
          <a:bodyPr/>
          <a:lstStyle/>
          <a:p>
            <a:endParaRPr lang="fr-FR"/>
          </a:p>
        </p:txBody>
      </p:sp>
      <p:sp>
        <p:nvSpPr>
          <p:cNvPr id="49" name="Shape 46"/>
          <p:cNvSpPr/>
          <p:nvPr/>
        </p:nvSpPr>
        <p:spPr>
          <a:xfrm>
            <a:off x="8880475" y="3244850"/>
            <a:ext cx="1365250" cy="9525"/>
          </a:xfrm>
          <a:prstGeom prst="rect">
            <a:avLst/>
          </a:prstGeom>
          <a:solidFill>
            <a:srgbClr val="C0C0C8"/>
          </a:solidFill>
          <a:ln/>
        </p:spPr>
        <p:txBody>
          <a:bodyPr/>
          <a:lstStyle/>
          <a:p>
            <a:endParaRPr lang="fr-FR"/>
          </a:p>
        </p:txBody>
      </p:sp>
      <p:sp>
        <p:nvSpPr>
          <p:cNvPr id="50" name="Text 47"/>
          <p:cNvSpPr/>
          <p:nvPr/>
        </p:nvSpPr>
        <p:spPr>
          <a:xfrm>
            <a:off x="8899525" y="3355975"/>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dirty="0">
                <a:solidFill>
                  <a:srgbClr val="063C67"/>
                </a:solidFill>
                <a:latin typeface="Calibri" pitchFamily="34" charset="0"/>
                <a:ea typeface="Calibri" pitchFamily="34" charset="-122"/>
                <a:cs typeface="Calibri" pitchFamily="34" charset="-120"/>
              </a:rPr>
              <a:t>−0.272</a:t>
            </a:r>
            <a:endParaRPr lang="en-US" sz="1350" dirty="0"/>
          </a:p>
        </p:txBody>
      </p:sp>
      <p:sp>
        <p:nvSpPr>
          <p:cNvPr id="51" name="Shape 48"/>
          <p:cNvSpPr/>
          <p:nvPr/>
        </p:nvSpPr>
        <p:spPr>
          <a:xfrm>
            <a:off x="10245726" y="3244850"/>
            <a:ext cx="1365250" cy="470793"/>
          </a:xfrm>
          <a:prstGeom prst="rect">
            <a:avLst/>
          </a:prstGeom>
          <a:solidFill>
            <a:srgbClr val="FFF6DA"/>
          </a:solidFill>
          <a:ln/>
        </p:spPr>
        <p:txBody>
          <a:bodyPr/>
          <a:lstStyle/>
          <a:p>
            <a:endParaRPr lang="fr-FR"/>
          </a:p>
        </p:txBody>
      </p:sp>
      <p:sp>
        <p:nvSpPr>
          <p:cNvPr id="52" name="Shape 49"/>
          <p:cNvSpPr/>
          <p:nvPr/>
        </p:nvSpPr>
        <p:spPr>
          <a:xfrm>
            <a:off x="10245726" y="3709293"/>
            <a:ext cx="1365250" cy="9525"/>
          </a:xfrm>
          <a:prstGeom prst="rect">
            <a:avLst/>
          </a:prstGeom>
          <a:solidFill>
            <a:srgbClr val="C0C0C8"/>
          </a:solidFill>
          <a:ln/>
        </p:spPr>
        <p:txBody>
          <a:bodyPr/>
          <a:lstStyle/>
          <a:p>
            <a:endParaRPr lang="fr-FR"/>
          </a:p>
        </p:txBody>
      </p:sp>
      <p:sp>
        <p:nvSpPr>
          <p:cNvPr id="53" name="Shape 50"/>
          <p:cNvSpPr/>
          <p:nvPr/>
        </p:nvSpPr>
        <p:spPr>
          <a:xfrm>
            <a:off x="10245726" y="3244850"/>
            <a:ext cx="1365250" cy="9525"/>
          </a:xfrm>
          <a:prstGeom prst="rect">
            <a:avLst/>
          </a:prstGeom>
          <a:solidFill>
            <a:srgbClr val="C0C0C8"/>
          </a:solidFill>
          <a:ln/>
        </p:spPr>
        <p:txBody>
          <a:bodyPr/>
          <a:lstStyle/>
          <a:p>
            <a:endParaRPr lang="fr-FR"/>
          </a:p>
        </p:txBody>
      </p:sp>
      <p:sp>
        <p:nvSpPr>
          <p:cNvPr id="54" name="Text 51"/>
          <p:cNvSpPr/>
          <p:nvPr/>
        </p:nvSpPr>
        <p:spPr>
          <a:xfrm>
            <a:off x="10264776" y="3355975"/>
            <a:ext cx="1327150" cy="286643"/>
          </a:xfrm>
          <a:prstGeom prst="rect">
            <a:avLst/>
          </a:prstGeom>
          <a:noFill/>
          <a:ln/>
        </p:spPr>
        <p:txBody>
          <a:bodyPr wrap="square" lIns="25400" tIns="25400" rIns="25400" bIns="25400" rtlCol="0" anchor="t">
            <a:normAutofit/>
          </a:bodyPr>
          <a:lstStyle/>
          <a:p>
            <a:pPr marL="0" indent="0" algn="ctr">
              <a:lnSpc>
                <a:spcPct val="118636"/>
              </a:lnSpc>
              <a:buNone/>
            </a:pPr>
            <a:r>
              <a:rPr lang="en-US" sz="1350" b="1" dirty="0">
                <a:solidFill>
                  <a:srgbClr val="063C67"/>
                </a:solidFill>
                <a:latin typeface="Calibri" pitchFamily="34" charset="0"/>
                <a:ea typeface="Calibri" pitchFamily="34" charset="-122"/>
                <a:cs typeface="Calibri" pitchFamily="34" charset="-120"/>
              </a:rPr>
              <a:t>−0.216</a:t>
            </a:r>
            <a:endParaRPr lang="en-US" sz="1350" dirty="0"/>
          </a:p>
        </p:txBody>
      </p:sp>
      <p:sp>
        <p:nvSpPr>
          <p:cNvPr id="55" name="Text 52"/>
          <p:cNvSpPr/>
          <p:nvPr/>
        </p:nvSpPr>
        <p:spPr>
          <a:xfrm>
            <a:off x="6600825" y="3868043"/>
            <a:ext cx="5160455" cy="770930"/>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The calibration deficit roughly halved at every horizon. </a:t>
            </a:r>
            <a:r>
              <a:rPr lang="en-US" sz="1425" b="1" dirty="0">
                <a:solidFill>
                  <a:srgbClr val="063C67"/>
                </a:solidFill>
                <a:latin typeface="Calibri" pitchFamily="34" charset="0"/>
                <a:ea typeface="Calibri" pitchFamily="34" charset="-122"/>
                <a:cs typeface="Calibri" pitchFamily="34" charset="-120"/>
              </a:rPr>
              <a:t>AUC movement is not interpretable at this sample size </a:t>
            </a:r>
            <a:r>
              <a:rPr lang="en-US" sz="1425" dirty="0">
                <a:solidFill>
                  <a:srgbClr val="063C67"/>
                </a:solidFill>
                <a:latin typeface="Calibri" pitchFamily="34" charset="0"/>
                <a:ea typeface="Calibri" pitchFamily="34" charset="-122"/>
                <a:cs typeface="Calibri" pitchFamily="34" charset="-120"/>
              </a:rPr>
              <a:t>: with twenty-six positives the four-week interval runs from 0.21 to 0.87.</a:t>
            </a:r>
            <a:endParaRPr lang="en-US" sz="1425" dirty="0"/>
          </a:p>
        </p:txBody>
      </p:sp>
      <p:sp>
        <p:nvSpPr>
          <p:cNvPr id="56" name="Shape 53"/>
          <p:cNvSpPr/>
          <p:nvPr/>
        </p:nvSpPr>
        <p:spPr>
          <a:xfrm>
            <a:off x="6600825" y="4765973"/>
            <a:ext cx="5010150" cy="725686"/>
          </a:xfrm>
          <a:prstGeom prst="rect">
            <a:avLst/>
          </a:prstGeom>
          <a:solidFill>
            <a:srgbClr val="F4F4F6"/>
          </a:solidFill>
          <a:ln/>
        </p:spPr>
        <p:txBody>
          <a:bodyPr/>
          <a:lstStyle/>
          <a:p>
            <a:endParaRPr lang="fr-FR"/>
          </a:p>
        </p:txBody>
      </p:sp>
      <p:pic>
        <p:nvPicPr>
          <p:cNvPr id="57" name="Image 1" descr="preencoded.png"/>
          <p:cNvPicPr>
            <a:picLocks noChangeAspect="1"/>
          </p:cNvPicPr>
          <p:nvPr/>
        </p:nvPicPr>
        <p:blipFill>
          <a:blip r:embed="rId4"/>
          <a:stretch>
            <a:fillRect/>
          </a:stretch>
        </p:blipFill>
        <p:spPr>
          <a:xfrm>
            <a:off x="6753225" y="4954191"/>
            <a:ext cx="324545" cy="323850"/>
          </a:xfrm>
          <a:prstGeom prst="rect">
            <a:avLst/>
          </a:prstGeom>
        </p:spPr>
      </p:pic>
      <p:sp>
        <p:nvSpPr>
          <p:cNvPr id="58" name="Text 54"/>
          <p:cNvSpPr/>
          <p:nvPr/>
        </p:nvSpPr>
        <p:spPr>
          <a:xfrm>
            <a:off x="7211120" y="4867573"/>
            <a:ext cx="4374879" cy="535186"/>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Progress now drawn per replicate, widened by each node’s own hidden risk, so </a:t>
            </a:r>
            <a:r>
              <a:rPr lang="en-US" sz="1350" b="1" dirty="0">
                <a:solidFill>
                  <a:srgbClr val="063C67"/>
                </a:solidFill>
                <a:latin typeface="Calibri" pitchFamily="34" charset="0"/>
                <a:ea typeface="Calibri" pitchFamily="34" charset="-122"/>
                <a:cs typeface="Calibri" pitchFamily="34" charset="-120"/>
              </a:rPr>
              <a:t>the tool calibrates itself</a:t>
            </a:r>
            <a:endParaRPr lang="en-US" sz="1350" dirty="0"/>
          </a:p>
        </p:txBody>
      </p:sp>
      <p:sp>
        <p:nvSpPr>
          <p:cNvPr id="59" name="Shape 55"/>
          <p:cNvSpPr/>
          <p:nvPr/>
        </p:nvSpPr>
        <p:spPr>
          <a:xfrm>
            <a:off x="6600825" y="5583734"/>
            <a:ext cx="5010150" cy="725686"/>
          </a:xfrm>
          <a:prstGeom prst="rect">
            <a:avLst/>
          </a:prstGeom>
          <a:solidFill>
            <a:srgbClr val="F4F4F6"/>
          </a:solidFill>
          <a:ln/>
        </p:spPr>
        <p:txBody>
          <a:bodyPr/>
          <a:lstStyle/>
          <a:p>
            <a:endParaRPr lang="fr-FR"/>
          </a:p>
        </p:txBody>
      </p:sp>
      <p:pic>
        <p:nvPicPr>
          <p:cNvPr id="60" name="Image 2" descr="preencoded.png"/>
          <p:cNvPicPr>
            <a:picLocks noChangeAspect="1"/>
          </p:cNvPicPr>
          <p:nvPr/>
        </p:nvPicPr>
        <p:blipFill>
          <a:blip r:embed="rId5"/>
          <a:stretch>
            <a:fillRect/>
          </a:stretch>
        </p:blipFill>
        <p:spPr>
          <a:xfrm>
            <a:off x="6753225" y="5784652"/>
            <a:ext cx="503039" cy="323850"/>
          </a:xfrm>
          <a:prstGeom prst="rect">
            <a:avLst/>
          </a:prstGeom>
        </p:spPr>
      </p:pic>
      <p:sp>
        <p:nvSpPr>
          <p:cNvPr id="61" name="Text 56"/>
          <p:cNvSpPr/>
          <p:nvPr/>
        </p:nvSpPr>
        <p:spPr>
          <a:xfrm>
            <a:off x="7389614" y="5698034"/>
            <a:ext cx="4191030" cy="535186"/>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Indicator coverage rose 25.6 % → 49.1 %. </a:t>
            </a:r>
            <a:r>
              <a:rPr lang="en-US" sz="1350" b="1" dirty="0">
                <a:solidFill>
                  <a:srgbClr val="063C67"/>
                </a:solidFill>
                <a:latin typeface="Calibri" pitchFamily="34" charset="0"/>
                <a:ea typeface="Calibri" pitchFamily="34" charset="-122"/>
                <a:cs typeface="Calibri" pitchFamily="34" charset="-120"/>
              </a:rPr>
              <a:t>An empty database hides the model’s errors</a:t>
            </a:r>
            <a:endParaRPr lang="en-US" sz="1350" dirty="0"/>
          </a:p>
        </p:txBody>
      </p:sp>
      <p:sp>
        <p:nvSpPr>
          <p:cNvPr id="62" name="Shape 57"/>
          <p:cNvSpPr/>
          <p:nvPr/>
        </p:nvSpPr>
        <p:spPr>
          <a:xfrm>
            <a:off x="6600825" y="6363395"/>
            <a:ext cx="5010150" cy="552450"/>
          </a:xfrm>
          <a:prstGeom prst="rect">
            <a:avLst/>
          </a:prstGeom>
          <a:solidFill>
            <a:srgbClr val="FFDA65"/>
          </a:solidFill>
          <a:ln/>
        </p:spPr>
        <p:txBody>
          <a:bodyPr/>
          <a:lstStyle/>
          <a:p>
            <a:endParaRPr lang="fr-FR"/>
          </a:p>
        </p:txBody>
      </p:sp>
      <p:pic>
        <p:nvPicPr>
          <p:cNvPr id="63" name="Image 3" descr="preencoded.png"/>
          <p:cNvPicPr>
            <a:picLocks noChangeAspect="1"/>
          </p:cNvPicPr>
          <p:nvPr/>
        </p:nvPicPr>
        <p:blipFill>
          <a:blip r:embed="rId6"/>
          <a:stretch>
            <a:fillRect/>
          </a:stretch>
        </p:blipFill>
        <p:spPr>
          <a:xfrm>
            <a:off x="6753225" y="6414195"/>
            <a:ext cx="143272" cy="323850"/>
          </a:xfrm>
          <a:prstGeom prst="rect">
            <a:avLst/>
          </a:prstGeom>
        </p:spPr>
      </p:pic>
      <p:sp>
        <p:nvSpPr>
          <p:cNvPr id="64" name="Text 58"/>
          <p:cNvSpPr/>
          <p:nvPr/>
        </p:nvSpPr>
        <p:spPr>
          <a:xfrm>
            <a:off x="7029847" y="6451799"/>
            <a:ext cx="3698448"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Still negative at every horizon. Reported as such.</a:t>
            </a:r>
            <a:endParaRPr lang="en-US" sz="1350" dirty="0"/>
          </a:p>
        </p:txBody>
      </p:sp>
      <p:pic>
        <p:nvPicPr>
          <p:cNvPr id="65" name="Image 4" descr="preencoded.png"/>
          <p:cNvPicPr>
            <a:picLocks noChangeAspect="1"/>
          </p:cNvPicPr>
          <p:nvPr/>
        </p:nvPicPr>
        <p:blipFill>
          <a:blip r:embed="rId7"/>
          <a:stretch>
            <a:fillRect/>
          </a:stretch>
        </p:blipFill>
        <p:spPr>
          <a:xfrm>
            <a:off x="11229975" y="6567488"/>
            <a:ext cx="714375" cy="71438"/>
          </a:xfrm>
          <a:prstGeom prst="rect">
            <a:avLst/>
          </a:prstGeom>
        </p:spPr>
      </p:pic>
      <p:sp>
        <p:nvSpPr>
          <p:cNvPr id="66" name="Text 59"/>
          <p:cNvSpPr/>
          <p:nvPr/>
        </p:nvSpPr>
        <p:spPr>
          <a:xfrm>
            <a:off x="10505679" y="6465590"/>
            <a:ext cx="524272"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C0C0C8"/>
                </a:solidFill>
                <a:latin typeface="Calibri" pitchFamily="34" charset="0"/>
                <a:ea typeface="Calibri" pitchFamily="34" charset="-122"/>
                <a:cs typeface="Calibri" pitchFamily="34" charset="-120"/>
              </a:rPr>
              <a:t>15 | 20</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9607759"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a:solidFill>
                  <a:srgbClr val="043962"/>
                </a:solidFill>
                <a:latin typeface="Arial Black" pitchFamily="34" charset="0"/>
                <a:ea typeface="Arial Black" pitchFamily="34" charset="-122"/>
                <a:cs typeface="Arial Black" pitchFamily="34" charset="-120"/>
              </a:rPr>
              <a:t>RESULT 3: </a:t>
            </a:r>
            <a:r>
              <a:rPr lang="en-US" sz="3225" b="1" dirty="0">
                <a:solidFill>
                  <a:srgbClr val="043962"/>
                </a:solidFill>
                <a:latin typeface="Arial Black" pitchFamily="34" charset="0"/>
                <a:ea typeface="Arial Black" pitchFamily="34" charset="-122"/>
                <a:cs typeface="Arial Black" pitchFamily="34" charset="-120"/>
              </a:rPr>
              <a:t>THE DOMAIN ESTABLISHED</a:t>
            </a:r>
            <a:endParaRPr lang="en-US" sz="3225" dirty="0"/>
          </a:p>
        </p:txBody>
      </p:sp>
      <p:sp>
        <p:nvSpPr>
          <p:cNvPr id="4" name="Text 2"/>
          <p:cNvSpPr/>
          <p:nvPr/>
        </p:nvSpPr>
        <p:spPr>
          <a:xfrm>
            <a:off x="352425" y="666750"/>
            <a:ext cx="8091686"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A second chain, and the cheapest thing that could replace the forecast layer</a:t>
            </a:r>
            <a:endParaRPr lang="en-US" sz="1725" dirty="0"/>
          </a:p>
        </p:txBody>
      </p:sp>
      <p:sp>
        <p:nvSpPr>
          <p:cNvPr id="5" name="Text 3"/>
          <p:cNvSpPr/>
          <p:nvPr/>
        </p:nvSpPr>
        <p:spPr>
          <a:xfrm>
            <a:off x="352425" y="1428750"/>
            <a:ext cx="6244590"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WHICH RANKING FINDS THE THREE FAILING SUPPLIERS?</a:t>
            </a:r>
            <a:endParaRPr lang="en-US" sz="1050" dirty="0"/>
          </a:p>
        </p:txBody>
      </p:sp>
      <p:sp>
        <p:nvSpPr>
          <p:cNvPr id="6" name="Shape 4"/>
          <p:cNvSpPr/>
          <p:nvPr/>
        </p:nvSpPr>
        <p:spPr>
          <a:xfrm>
            <a:off x="352425" y="1736328"/>
            <a:ext cx="4552950" cy="9525"/>
          </a:xfrm>
          <a:prstGeom prst="rect">
            <a:avLst/>
          </a:prstGeom>
          <a:solidFill>
            <a:srgbClr val="C0C0C8"/>
          </a:solidFill>
          <a:ln/>
        </p:spPr>
        <p:txBody>
          <a:bodyPr/>
          <a:lstStyle/>
          <a:p>
            <a:endParaRPr lang="fr-FR"/>
          </a:p>
        </p:txBody>
      </p:sp>
      <p:sp>
        <p:nvSpPr>
          <p:cNvPr id="7" name="Text 5"/>
          <p:cNvSpPr/>
          <p:nvPr/>
        </p:nvSpPr>
        <p:spPr>
          <a:xfrm>
            <a:off x="390525" y="1866503"/>
            <a:ext cx="4613339"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dirty="0">
                <a:solidFill>
                  <a:srgbClr val="063C67"/>
                </a:solidFill>
                <a:latin typeface="Calibri" pitchFamily="34" charset="0"/>
                <a:ea typeface="Calibri" pitchFamily="34" charset="-122"/>
                <a:cs typeface="Calibri" pitchFamily="34" charset="-120"/>
              </a:rPr>
              <a:t>Adequacy score</a:t>
            </a:r>
            <a:endParaRPr lang="en-US" sz="1425" dirty="0"/>
          </a:p>
        </p:txBody>
      </p:sp>
      <p:sp>
        <p:nvSpPr>
          <p:cNvPr id="8" name="Shape 6"/>
          <p:cNvSpPr/>
          <p:nvPr/>
        </p:nvSpPr>
        <p:spPr>
          <a:xfrm>
            <a:off x="4905375" y="1736328"/>
            <a:ext cx="1123950" cy="9525"/>
          </a:xfrm>
          <a:prstGeom prst="rect">
            <a:avLst/>
          </a:prstGeom>
          <a:solidFill>
            <a:srgbClr val="C0C0C8"/>
          </a:solidFill>
          <a:ln/>
        </p:spPr>
        <p:txBody>
          <a:bodyPr/>
          <a:lstStyle/>
          <a:p>
            <a:endParaRPr lang="fr-FR"/>
          </a:p>
        </p:txBody>
      </p:sp>
      <p:sp>
        <p:nvSpPr>
          <p:cNvPr id="9" name="Text 7"/>
          <p:cNvSpPr/>
          <p:nvPr/>
        </p:nvSpPr>
        <p:spPr>
          <a:xfrm>
            <a:off x="4867275" y="1866503"/>
            <a:ext cx="1123950" cy="300434"/>
          </a:xfrm>
          <a:prstGeom prst="rect">
            <a:avLst/>
          </a:prstGeom>
          <a:noFill/>
          <a:ln/>
        </p:spPr>
        <p:txBody>
          <a:bodyPr wrap="square" lIns="25400" tIns="25400" rIns="25400" bIns="25400" rtlCol="0" anchor="t">
            <a:normAutofit/>
          </a:bodyPr>
          <a:lstStyle/>
          <a:p>
            <a:pPr marL="0" indent="0" algn="r">
              <a:lnSpc>
                <a:spcPct val="118071"/>
              </a:lnSpc>
              <a:buNone/>
            </a:pPr>
            <a:r>
              <a:rPr lang="en-US" sz="1425" b="1" dirty="0">
                <a:solidFill>
                  <a:srgbClr val="063C67"/>
                </a:solidFill>
                <a:latin typeface="Calibri" pitchFamily="34" charset="0"/>
                <a:ea typeface="Calibri" pitchFamily="34" charset="-122"/>
                <a:cs typeface="Calibri" pitchFamily="34" charset="-120"/>
              </a:rPr>
              <a:t>0.00</a:t>
            </a:r>
            <a:endParaRPr lang="en-US" sz="1425" dirty="0"/>
          </a:p>
        </p:txBody>
      </p:sp>
      <p:sp>
        <p:nvSpPr>
          <p:cNvPr id="10" name="Shape 8"/>
          <p:cNvSpPr/>
          <p:nvPr/>
        </p:nvSpPr>
        <p:spPr>
          <a:xfrm>
            <a:off x="352425" y="2252663"/>
            <a:ext cx="4552950" cy="9525"/>
          </a:xfrm>
          <a:prstGeom prst="rect">
            <a:avLst/>
          </a:prstGeom>
          <a:solidFill>
            <a:srgbClr val="C0C0C8"/>
          </a:solidFill>
          <a:ln/>
        </p:spPr>
        <p:txBody>
          <a:bodyPr/>
          <a:lstStyle/>
          <a:p>
            <a:endParaRPr lang="fr-FR"/>
          </a:p>
        </p:txBody>
      </p:sp>
      <p:sp>
        <p:nvSpPr>
          <p:cNvPr id="11" name="Text 9"/>
          <p:cNvSpPr/>
          <p:nvPr/>
        </p:nvSpPr>
        <p:spPr>
          <a:xfrm>
            <a:off x="390525" y="2382838"/>
            <a:ext cx="4613339"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dirty="0">
                <a:solidFill>
                  <a:srgbClr val="063C67"/>
                </a:solidFill>
                <a:latin typeface="Calibri" pitchFamily="34" charset="0"/>
                <a:ea typeface="Calibri" pitchFamily="34" charset="-122"/>
                <a:cs typeface="Calibri" pitchFamily="34" charset="-120"/>
              </a:rPr>
              <a:t>Hidden risk</a:t>
            </a:r>
            <a:endParaRPr lang="en-US" sz="1425" dirty="0"/>
          </a:p>
        </p:txBody>
      </p:sp>
      <p:sp>
        <p:nvSpPr>
          <p:cNvPr id="12" name="Shape 10"/>
          <p:cNvSpPr/>
          <p:nvPr/>
        </p:nvSpPr>
        <p:spPr>
          <a:xfrm>
            <a:off x="4905375" y="2252663"/>
            <a:ext cx="1123950" cy="9525"/>
          </a:xfrm>
          <a:prstGeom prst="rect">
            <a:avLst/>
          </a:prstGeom>
          <a:solidFill>
            <a:srgbClr val="C0C0C8"/>
          </a:solidFill>
          <a:ln/>
        </p:spPr>
        <p:txBody>
          <a:bodyPr/>
          <a:lstStyle/>
          <a:p>
            <a:endParaRPr lang="fr-FR"/>
          </a:p>
        </p:txBody>
      </p:sp>
      <p:sp>
        <p:nvSpPr>
          <p:cNvPr id="13" name="Text 11"/>
          <p:cNvSpPr/>
          <p:nvPr/>
        </p:nvSpPr>
        <p:spPr>
          <a:xfrm>
            <a:off x="4867275" y="2382838"/>
            <a:ext cx="1123950" cy="300434"/>
          </a:xfrm>
          <a:prstGeom prst="rect">
            <a:avLst/>
          </a:prstGeom>
          <a:noFill/>
          <a:ln/>
        </p:spPr>
        <p:txBody>
          <a:bodyPr wrap="square" lIns="25400" tIns="25400" rIns="25400" bIns="25400" rtlCol="0" anchor="t">
            <a:normAutofit/>
          </a:bodyPr>
          <a:lstStyle/>
          <a:p>
            <a:pPr marL="0" indent="0" algn="r">
              <a:lnSpc>
                <a:spcPct val="118071"/>
              </a:lnSpc>
              <a:buNone/>
            </a:pPr>
            <a:r>
              <a:rPr lang="en-US" sz="1425" b="1" dirty="0">
                <a:solidFill>
                  <a:srgbClr val="063C67"/>
                </a:solidFill>
                <a:latin typeface="Calibri" pitchFamily="34" charset="0"/>
                <a:ea typeface="Calibri" pitchFamily="34" charset="-122"/>
                <a:cs typeface="Calibri" pitchFamily="34" charset="-120"/>
              </a:rPr>
              <a:t>0.00</a:t>
            </a:r>
            <a:endParaRPr lang="en-US" sz="1425" dirty="0"/>
          </a:p>
        </p:txBody>
      </p:sp>
      <p:sp>
        <p:nvSpPr>
          <p:cNvPr id="14" name="Shape 12"/>
          <p:cNvSpPr/>
          <p:nvPr/>
        </p:nvSpPr>
        <p:spPr>
          <a:xfrm>
            <a:off x="352425" y="2768997"/>
            <a:ext cx="4552950" cy="516334"/>
          </a:xfrm>
          <a:prstGeom prst="rect">
            <a:avLst/>
          </a:prstGeom>
          <a:solidFill>
            <a:srgbClr val="FFF6DA"/>
          </a:solidFill>
          <a:ln/>
        </p:spPr>
        <p:txBody>
          <a:bodyPr/>
          <a:lstStyle/>
          <a:p>
            <a:endParaRPr lang="fr-FR"/>
          </a:p>
        </p:txBody>
      </p:sp>
      <p:sp>
        <p:nvSpPr>
          <p:cNvPr id="15" name="Shape 13"/>
          <p:cNvSpPr/>
          <p:nvPr/>
        </p:nvSpPr>
        <p:spPr>
          <a:xfrm>
            <a:off x="352425" y="2768997"/>
            <a:ext cx="4552950" cy="9525"/>
          </a:xfrm>
          <a:prstGeom prst="rect">
            <a:avLst/>
          </a:prstGeom>
          <a:solidFill>
            <a:srgbClr val="C0C0C8"/>
          </a:solidFill>
          <a:ln/>
        </p:spPr>
        <p:txBody>
          <a:bodyPr/>
          <a:lstStyle/>
          <a:p>
            <a:endParaRPr lang="fr-FR"/>
          </a:p>
        </p:txBody>
      </p:sp>
      <p:sp>
        <p:nvSpPr>
          <p:cNvPr id="16" name="Text 14"/>
          <p:cNvSpPr/>
          <p:nvPr/>
        </p:nvSpPr>
        <p:spPr>
          <a:xfrm>
            <a:off x="390525" y="2899172"/>
            <a:ext cx="4613339" cy="300434"/>
          </a:xfrm>
          <a:prstGeom prst="rect">
            <a:avLst/>
          </a:prstGeom>
          <a:noFill/>
          <a:ln/>
        </p:spPr>
        <p:txBody>
          <a:bodyPr wrap="square" lIns="25400" tIns="25400" rIns="25400" bIns="25400" rtlCol="0" anchor="t">
            <a:normAutofit/>
          </a:bodyPr>
          <a:lstStyle/>
          <a:p>
            <a:pPr marL="0" indent="0" algn="l">
              <a:lnSpc>
                <a:spcPct val="118071"/>
              </a:lnSpc>
              <a:buNone/>
            </a:pPr>
            <a:r>
              <a:rPr lang="en-US" sz="1425" dirty="0">
                <a:solidFill>
                  <a:srgbClr val="063C67"/>
                </a:solidFill>
                <a:latin typeface="Calibri" pitchFamily="34" charset="0"/>
                <a:ea typeface="Calibri" pitchFamily="34" charset="-122"/>
                <a:cs typeface="Calibri" pitchFamily="34" charset="-120"/>
              </a:rPr>
              <a:t>Forecast probability</a:t>
            </a:r>
            <a:endParaRPr lang="en-US" sz="1425" dirty="0"/>
          </a:p>
        </p:txBody>
      </p:sp>
      <p:sp>
        <p:nvSpPr>
          <p:cNvPr id="17" name="Shape 15"/>
          <p:cNvSpPr/>
          <p:nvPr/>
        </p:nvSpPr>
        <p:spPr>
          <a:xfrm>
            <a:off x="4905375" y="2768997"/>
            <a:ext cx="1123950" cy="516334"/>
          </a:xfrm>
          <a:prstGeom prst="rect">
            <a:avLst/>
          </a:prstGeom>
          <a:solidFill>
            <a:srgbClr val="FFF6DA"/>
          </a:solidFill>
          <a:ln/>
        </p:spPr>
        <p:txBody>
          <a:bodyPr/>
          <a:lstStyle/>
          <a:p>
            <a:endParaRPr lang="fr-FR"/>
          </a:p>
        </p:txBody>
      </p:sp>
      <p:sp>
        <p:nvSpPr>
          <p:cNvPr id="18" name="Shape 16"/>
          <p:cNvSpPr/>
          <p:nvPr/>
        </p:nvSpPr>
        <p:spPr>
          <a:xfrm>
            <a:off x="4905375" y="2768997"/>
            <a:ext cx="1123950" cy="9525"/>
          </a:xfrm>
          <a:prstGeom prst="rect">
            <a:avLst/>
          </a:prstGeom>
          <a:solidFill>
            <a:srgbClr val="C0C0C8"/>
          </a:solidFill>
          <a:ln/>
        </p:spPr>
        <p:txBody>
          <a:bodyPr/>
          <a:lstStyle/>
          <a:p>
            <a:endParaRPr lang="fr-FR"/>
          </a:p>
        </p:txBody>
      </p:sp>
      <p:sp>
        <p:nvSpPr>
          <p:cNvPr id="19" name="Text 17"/>
          <p:cNvSpPr/>
          <p:nvPr/>
        </p:nvSpPr>
        <p:spPr>
          <a:xfrm>
            <a:off x="4867275" y="2899172"/>
            <a:ext cx="1123950" cy="300434"/>
          </a:xfrm>
          <a:prstGeom prst="rect">
            <a:avLst/>
          </a:prstGeom>
          <a:noFill/>
          <a:ln/>
        </p:spPr>
        <p:txBody>
          <a:bodyPr wrap="square" lIns="25400" tIns="25400" rIns="25400" bIns="25400" rtlCol="0" anchor="t">
            <a:normAutofit/>
          </a:bodyPr>
          <a:lstStyle/>
          <a:p>
            <a:pPr marL="0" indent="0" algn="r">
              <a:lnSpc>
                <a:spcPct val="118071"/>
              </a:lnSpc>
              <a:buNone/>
            </a:pPr>
            <a:r>
              <a:rPr lang="en-US" sz="1425" b="1" dirty="0">
                <a:solidFill>
                  <a:srgbClr val="063C67"/>
                </a:solidFill>
                <a:latin typeface="Calibri" pitchFamily="34" charset="0"/>
                <a:ea typeface="Calibri" pitchFamily="34" charset="-122"/>
                <a:cs typeface="Calibri" pitchFamily="34" charset="-120"/>
              </a:rPr>
              <a:t>0.56</a:t>
            </a:r>
            <a:endParaRPr lang="en-US" sz="1425" dirty="0"/>
          </a:p>
        </p:txBody>
      </p:sp>
      <p:sp>
        <p:nvSpPr>
          <p:cNvPr id="20" name="Shape 18"/>
          <p:cNvSpPr/>
          <p:nvPr/>
        </p:nvSpPr>
        <p:spPr>
          <a:xfrm>
            <a:off x="352425" y="3801666"/>
            <a:ext cx="4552950" cy="9525"/>
          </a:xfrm>
          <a:prstGeom prst="rect">
            <a:avLst/>
          </a:prstGeom>
          <a:solidFill>
            <a:srgbClr val="C0C0C8"/>
          </a:solidFill>
          <a:ln/>
        </p:spPr>
        <p:txBody>
          <a:bodyPr/>
          <a:lstStyle/>
          <a:p>
            <a:endParaRPr lang="fr-FR"/>
          </a:p>
        </p:txBody>
      </p:sp>
      <p:sp>
        <p:nvSpPr>
          <p:cNvPr id="21" name="Shape 19"/>
          <p:cNvSpPr/>
          <p:nvPr/>
        </p:nvSpPr>
        <p:spPr>
          <a:xfrm>
            <a:off x="352425" y="3285331"/>
            <a:ext cx="4552950" cy="9525"/>
          </a:xfrm>
          <a:prstGeom prst="rect">
            <a:avLst/>
          </a:prstGeom>
          <a:solidFill>
            <a:srgbClr val="C0C0C8"/>
          </a:solidFill>
          <a:ln/>
        </p:spPr>
        <p:txBody>
          <a:bodyPr/>
          <a:lstStyle/>
          <a:p>
            <a:endParaRPr lang="fr-FR"/>
          </a:p>
        </p:txBody>
      </p:sp>
      <p:sp>
        <p:nvSpPr>
          <p:cNvPr id="23" name="Shape 21"/>
          <p:cNvSpPr/>
          <p:nvPr/>
        </p:nvSpPr>
        <p:spPr>
          <a:xfrm>
            <a:off x="4905375" y="3801666"/>
            <a:ext cx="1123950" cy="9525"/>
          </a:xfrm>
          <a:prstGeom prst="rect">
            <a:avLst/>
          </a:prstGeom>
          <a:solidFill>
            <a:srgbClr val="C0C0C8"/>
          </a:solidFill>
          <a:ln/>
        </p:spPr>
        <p:txBody>
          <a:bodyPr/>
          <a:lstStyle/>
          <a:p>
            <a:endParaRPr lang="fr-FR"/>
          </a:p>
        </p:txBody>
      </p:sp>
      <p:sp>
        <p:nvSpPr>
          <p:cNvPr id="24" name="Shape 22"/>
          <p:cNvSpPr/>
          <p:nvPr/>
        </p:nvSpPr>
        <p:spPr>
          <a:xfrm>
            <a:off x="4905375" y="3285331"/>
            <a:ext cx="1123950" cy="9525"/>
          </a:xfrm>
          <a:prstGeom prst="rect">
            <a:avLst/>
          </a:prstGeom>
          <a:solidFill>
            <a:srgbClr val="C0C0C8"/>
          </a:solidFill>
          <a:ln/>
        </p:spPr>
        <p:txBody>
          <a:bodyPr/>
          <a:lstStyle/>
          <a:p>
            <a:endParaRPr lang="fr-FR"/>
          </a:p>
        </p:txBody>
      </p:sp>
      <p:sp>
        <p:nvSpPr>
          <p:cNvPr id="27" name="Shape 25"/>
          <p:cNvSpPr/>
          <p:nvPr/>
        </p:nvSpPr>
        <p:spPr>
          <a:xfrm>
            <a:off x="352425" y="3496469"/>
            <a:ext cx="5676900" cy="3071912"/>
          </a:xfrm>
          <a:prstGeom prst="rect">
            <a:avLst/>
          </a:prstGeom>
          <a:solidFill>
            <a:srgbClr val="063C67"/>
          </a:solidFill>
          <a:ln/>
        </p:spPr>
        <p:txBody>
          <a:bodyPr/>
          <a:lstStyle/>
          <a:p>
            <a:endParaRPr lang="fr-FR"/>
          </a:p>
        </p:txBody>
      </p:sp>
      <p:sp>
        <p:nvSpPr>
          <p:cNvPr id="28" name="Text 26"/>
          <p:cNvSpPr/>
          <p:nvPr/>
        </p:nvSpPr>
        <p:spPr>
          <a:xfrm>
            <a:off x="561975" y="3693319"/>
            <a:ext cx="3080371" cy="260350"/>
          </a:xfrm>
          <a:prstGeom prst="rect">
            <a:avLst/>
          </a:prstGeom>
          <a:noFill/>
          <a:ln/>
        </p:spPr>
        <p:txBody>
          <a:bodyPr wrap="square" lIns="0" tIns="0" rIns="0" bIns="0" rtlCol="0" anchor="t">
            <a:normAutofit/>
          </a:bodyPr>
          <a:lstStyle/>
          <a:p>
            <a:pPr marL="0" indent="0" algn="l">
              <a:lnSpc>
                <a:spcPct val="109929"/>
              </a:lnSpc>
              <a:buNone/>
            </a:pPr>
            <a:r>
              <a:rPr lang="en-US" sz="1425" dirty="0">
                <a:solidFill>
                  <a:srgbClr val="FFFFFF"/>
                </a:solidFill>
                <a:latin typeface="Calibri" pitchFamily="34" charset="0"/>
                <a:ea typeface="Calibri" pitchFamily="34" charset="-122"/>
                <a:cs typeface="Calibri" pitchFamily="34" charset="-120"/>
              </a:rPr>
              <a:t>The three suppliers that miss declare the</a:t>
            </a:r>
            <a:endParaRPr lang="en-US" sz="1425" dirty="0"/>
          </a:p>
        </p:txBody>
      </p:sp>
      <p:sp>
        <p:nvSpPr>
          <p:cNvPr id="29" name="Text 27"/>
          <p:cNvSpPr/>
          <p:nvPr/>
        </p:nvSpPr>
        <p:spPr>
          <a:xfrm>
            <a:off x="3593505" y="3693319"/>
            <a:ext cx="1985050" cy="260350"/>
          </a:xfrm>
          <a:prstGeom prst="rect">
            <a:avLst/>
          </a:prstGeom>
          <a:noFill/>
          <a:ln/>
        </p:spPr>
        <p:txBody>
          <a:bodyPr wrap="square" lIns="25400" tIns="25400" rIns="25400" bIns="25400" rtlCol="0" anchor="t">
            <a:normAutofit fontScale="92500"/>
          </a:bodyPr>
          <a:lstStyle/>
          <a:p>
            <a:pPr marL="0" indent="0" algn="l">
              <a:lnSpc>
                <a:spcPct val="109929"/>
              </a:lnSpc>
              <a:buNone/>
            </a:pPr>
            <a:r>
              <a:rPr lang="en-US" sz="1425" b="1" dirty="0">
                <a:solidFill>
                  <a:srgbClr val="FFFFFF"/>
                </a:solidFill>
                <a:latin typeface="Calibri" pitchFamily="34" charset="0"/>
                <a:ea typeface="Calibri" pitchFamily="34" charset="-122"/>
                <a:cs typeface="Calibri" pitchFamily="34" charset="-120"/>
              </a:rPr>
              <a:t>1st, 2nd and 4th highest</a:t>
            </a:r>
            <a:endParaRPr lang="en-US" sz="1425" dirty="0"/>
          </a:p>
        </p:txBody>
      </p:sp>
      <p:sp>
        <p:nvSpPr>
          <p:cNvPr id="30" name="Text 28"/>
          <p:cNvSpPr/>
          <p:nvPr/>
        </p:nvSpPr>
        <p:spPr>
          <a:xfrm>
            <a:off x="561975" y="3937596"/>
            <a:ext cx="5165973" cy="1220191"/>
          </a:xfrm>
          <a:prstGeom prst="rect">
            <a:avLst/>
          </a:prstGeom>
          <a:noFill/>
          <a:ln/>
        </p:spPr>
        <p:txBody>
          <a:bodyPr wrap="square" lIns="0" tIns="0" rIns="0" bIns="0" rtlCol="0" anchor="t">
            <a:normAutofit/>
          </a:bodyPr>
          <a:lstStyle/>
          <a:p>
            <a:pPr>
              <a:lnSpc>
                <a:spcPct val="109929"/>
              </a:lnSpc>
            </a:pPr>
            <a:r>
              <a:rPr lang="en-US" sz="1425" dirty="0">
                <a:solidFill>
                  <a:srgbClr val="FFFFFF"/>
                </a:solidFill>
                <a:latin typeface="Calibri" pitchFamily="34" charset="0"/>
                <a:ea typeface="Calibri" pitchFamily="34" charset="-122"/>
                <a:cs typeface="Calibri" pitchFamily="34" charset="-120"/>
              </a:rPr>
              <a:t>urgencies from the opening turn. At turn 0 they declare 0.982, 0.941 and 0.876 against computed states of 0.655, 0.838 and 0.542. Hidden risk is computed minus declared, clipped at zero, so nothing selects them against a base rate of 0.20. Their free text says they meant to wait for a recovery plan.</a:t>
            </a:r>
            <a:endParaRPr lang="en-US" sz="1425" dirty="0"/>
          </a:p>
          <a:p>
            <a:pPr marL="0" indent="0" algn="l">
              <a:lnSpc>
                <a:spcPct val="109929"/>
              </a:lnSpc>
              <a:buNone/>
            </a:pPr>
            <a:endParaRPr lang="en-US" sz="1425" dirty="0"/>
          </a:p>
        </p:txBody>
      </p:sp>
      <p:sp>
        <p:nvSpPr>
          <p:cNvPr id="32" name="Text 30"/>
          <p:cNvSpPr/>
          <p:nvPr/>
        </p:nvSpPr>
        <p:spPr>
          <a:xfrm>
            <a:off x="547361" y="4729857"/>
            <a:ext cx="5180587" cy="748903"/>
          </a:xfrm>
          <a:prstGeom prst="rect">
            <a:avLst/>
          </a:prstGeom>
          <a:noFill/>
          <a:ln/>
        </p:spPr>
        <p:txBody>
          <a:bodyPr wrap="square" lIns="0" tIns="0" rIns="0" bIns="0" rtlCol="0" anchor="t">
            <a:normAutofit/>
          </a:bodyPr>
          <a:lstStyle/>
          <a:p>
            <a:pPr marL="0" indent="0" algn="l">
              <a:lnSpc>
                <a:spcPct val="109929"/>
              </a:lnSpc>
              <a:buNone/>
            </a:pPr>
            <a:endParaRPr lang="en-US" sz="1425" dirty="0"/>
          </a:p>
        </p:txBody>
      </p:sp>
      <p:sp>
        <p:nvSpPr>
          <p:cNvPr id="33" name="Text 31"/>
          <p:cNvSpPr/>
          <p:nvPr/>
        </p:nvSpPr>
        <p:spPr>
          <a:xfrm>
            <a:off x="561975" y="5285979"/>
            <a:ext cx="5783580" cy="320973"/>
          </a:xfrm>
          <a:prstGeom prst="rect">
            <a:avLst/>
          </a:prstGeom>
          <a:noFill/>
          <a:ln/>
        </p:spPr>
        <p:txBody>
          <a:bodyPr wrap="square" lIns="25400" tIns="25400" rIns="25400" bIns="25400" rtlCol="0" anchor="t">
            <a:normAutofit/>
          </a:bodyPr>
          <a:lstStyle/>
          <a:p>
            <a:pPr marL="0" indent="0" algn="l">
              <a:lnSpc>
                <a:spcPct val="96848"/>
              </a:lnSpc>
              <a:buNone/>
            </a:pPr>
            <a:r>
              <a:rPr lang="en-US" sz="1650" b="1" dirty="0">
                <a:solidFill>
                  <a:srgbClr val="FFDA65"/>
                </a:solidFill>
                <a:latin typeface="Arial Black" pitchFamily="34" charset="0"/>
                <a:ea typeface="Arial Black" pitchFamily="34" charset="-122"/>
                <a:cs typeface="Arial Black" pitchFamily="34" charset="-120"/>
              </a:rPr>
              <a:t>THE MISPERCEPTION BOUNDARY</a:t>
            </a:r>
            <a:endParaRPr lang="en-US" sz="1650" dirty="0"/>
          </a:p>
        </p:txBody>
      </p:sp>
      <p:sp>
        <p:nvSpPr>
          <p:cNvPr id="34" name="Text 32"/>
          <p:cNvSpPr/>
          <p:nvPr/>
        </p:nvSpPr>
        <p:spPr>
          <a:xfrm>
            <a:off x="561975" y="5645051"/>
            <a:ext cx="5415534" cy="770930"/>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FFFFFF"/>
                </a:solidFill>
                <a:latin typeface="Calibri" pitchFamily="34" charset="0"/>
                <a:ea typeface="Calibri" pitchFamily="34" charset="-122"/>
                <a:cs typeface="Calibri" pitchFamily="34" charset="-120"/>
              </a:rPr>
              <a:t>The tool measures </a:t>
            </a:r>
            <a:r>
              <a:rPr lang="en-US" sz="1425" b="1" dirty="0">
                <a:solidFill>
                  <a:srgbClr val="FFFFFF"/>
                </a:solidFill>
                <a:latin typeface="Calibri" pitchFamily="34" charset="0"/>
                <a:ea typeface="Calibri" pitchFamily="34" charset="-122"/>
                <a:cs typeface="Calibri" pitchFamily="34" charset="-120"/>
              </a:rPr>
              <a:t>misperception</a:t>
            </a:r>
            <a:r>
              <a:rPr lang="en-US" sz="1425" dirty="0">
                <a:solidFill>
                  <a:srgbClr val="FFFFFF"/>
                </a:solidFill>
                <a:latin typeface="Calibri" pitchFamily="34" charset="0"/>
                <a:ea typeface="Calibri" pitchFamily="34" charset="-122"/>
                <a:cs typeface="Calibri" pitchFamily="34" charset="-120"/>
              </a:rPr>
              <a:t>, not </a:t>
            </a:r>
            <a:r>
              <a:rPr lang="en-US" sz="1425" b="1" dirty="0">
                <a:solidFill>
                  <a:srgbClr val="FFFFFF"/>
                </a:solidFill>
                <a:latin typeface="Calibri" pitchFamily="34" charset="0"/>
                <a:ea typeface="Calibri" pitchFamily="34" charset="-122"/>
                <a:cs typeface="Calibri" pitchFamily="34" charset="-120"/>
              </a:rPr>
              <a:t>non-disclosure </a:t>
            </a:r>
            <a:r>
              <a:rPr lang="en-US" sz="1425" dirty="0">
                <a:solidFill>
                  <a:srgbClr val="FFFFFF"/>
                </a:solidFill>
                <a:latin typeface="Calibri" pitchFamily="34" charset="0"/>
                <a:ea typeface="Calibri" pitchFamily="34" charset="-122"/>
                <a:cs typeface="Calibri" pitchFamily="34" charset="-120"/>
              </a:rPr>
              <a:t>. Precision 1.00 on chain 1 and 0.00 on chain 2 do not contradict: they name the domain.</a:t>
            </a:r>
            <a:endParaRPr lang="en-US" sz="1425" dirty="0"/>
          </a:p>
        </p:txBody>
      </p:sp>
      <p:sp>
        <p:nvSpPr>
          <p:cNvPr id="35" name="Text 33"/>
          <p:cNvSpPr/>
          <p:nvPr/>
        </p:nvSpPr>
        <p:spPr>
          <a:xfrm>
            <a:off x="6334125" y="1428750"/>
            <a:ext cx="584644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500 MONTE CARLO TRAJECTORIES VS. A TWO-NUMBER RATIO</a:t>
            </a:r>
            <a:endParaRPr lang="en-US" sz="1050" dirty="0"/>
          </a:p>
        </p:txBody>
      </p:sp>
      <p:sp>
        <p:nvSpPr>
          <p:cNvPr id="36" name="Shape 34"/>
          <p:cNvSpPr/>
          <p:nvPr/>
        </p:nvSpPr>
        <p:spPr>
          <a:xfrm>
            <a:off x="6334125" y="1755378"/>
            <a:ext cx="2581275" cy="1952625"/>
          </a:xfrm>
          <a:prstGeom prst="rect">
            <a:avLst/>
          </a:prstGeom>
          <a:solidFill>
            <a:srgbClr val="FFDA65"/>
          </a:solidFill>
          <a:ln/>
        </p:spPr>
        <p:txBody>
          <a:bodyPr/>
          <a:lstStyle/>
          <a:p>
            <a:endParaRPr lang="fr-FR"/>
          </a:p>
        </p:txBody>
      </p:sp>
      <p:pic>
        <p:nvPicPr>
          <p:cNvPr id="37" name="Image 0" descr="preencoded.png"/>
          <p:cNvPicPr>
            <a:picLocks noChangeAspect="1"/>
          </p:cNvPicPr>
          <p:nvPr/>
        </p:nvPicPr>
        <p:blipFill>
          <a:blip r:embed="rId3"/>
          <a:stretch>
            <a:fillRect/>
          </a:stretch>
        </p:blipFill>
        <p:spPr>
          <a:xfrm>
            <a:off x="6543675" y="1926828"/>
            <a:ext cx="232470" cy="323850"/>
          </a:xfrm>
          <a:prstGeom prst="rect">
            <a:avLst/>
          </a:prstGeom>
        </p:spPr>
      </p:pic>
      <p:sp>
        <p:nvSpPr>
          <p:cNvPr id="38" name="Text 35"/>
          <p:cNvSpPr/>
          <p:nvPr/>
        </p:nvSpPr>
        <p:spPr>
          <a:xfrm>
            <a:off x="6543675" y="2370038"/>
            <a:ext cx="2378393" cy="415230"/>
          </a:xfrm>
          <a:prstGeom prst="rect">
            <a:avLst/>
          </a:prstGeom>
          <a:noFill/>
          <a:ln/>
        </p:spPr>
        <p:txBody>
          <a:bodyPr wrap="square" lIns="25400" tIns="25400" rIns="25400" bIns="25400" rtlCol="0" anchor="t">
            <a:normAutofit/>
          </a:bodyPr>
          <a:lstStyle/>
          <a:p>
            <a:pPr marL="0" indent="0" algn="l">
              <a:lnSpc>
                <a:spcPct val="63871"/>
              </a:lnSpc>
              <a:buNone/>
            </a:pPr>
            <a:r>
              <a:rPr lang="en-US" sz="3300" b="1" dirty="0">
                <a:solidFill>
                  <a:srgbClr val="063C67"/>
                </a:solidFill>
                <a:latin typeface="Arial Black" pitchFamily="34" charset="0"/>
                <a:ea typeface="Arial Black" pitchFamily="34" charset="-122"/>
                <a:cs typeface="Arial Black" pitchFamily="34" charset="-120"/>
              </a:rPr>
              <a:t>6 / 8</a:t>
            </a:r>
            <a:endParaRPr lang="en-US" sz="3300" dirty="0"/>
          </a:p>
        </p:txBody>
      </p:sp>
      <p:sp>
        <p:nvSpPr>
          <p:cNvPr id="39" name="Text 36"/>
          <p:cNvSpPr/>
          <p:nvPr/>
        </p:nvSpPr>
        <p:spPr>
          <a:xfrm>
            <a:off x="6543675" y="2842419"/>
            <a:ext cx="2238375" cy="732234"/>
          </a:xfrm>
          <a:prstGeom prst="rect">
            <a:avLst/>
          </a:prstGeom>
          <a:noFill/>
          <a:ln/>
        </p:spPr>
        <p:txBody>
          <a:bodyPr wrap="square" lIns="25400" tIns="25400" rIns="25400" bIns="25400" rtlCol="0" anchor="t">
            <a:normAutofit/>
          </a:bodyPr>
          <a:lstStyle/>
          <a:p>
            <a:pPr marL="0" indent="0" algn="l">
              <a:lnSpc>
                <a:spcPct val="110455"/>
              </a:lnSpc>
              <a:buNone/>
            </a:pPr>
            <a:r>
              <a:rPr lang="en-US" sz="1350" dirty="0">
                <a:solidFill>
                  <a:srgbClr val="063C67"/>
                </a:solidFill>
                <a:latin typeface="Calibri" pitchFamily="34" charset="0"/>
                <a:ea typeface="Calibri" pitchFamily="34" charset="-122"/>
                <a:cs typeface="Calibri" pitchFamily="34" charset="-120"/>
              </a:rPr>
              <a:t>horizons where the </a:t>
            </a:r>
            <a:r>
              <a:rPr lang="en-US" sz="1350" b="1" dirty="0">
                <a:solidFill>
                  <a:srgbClr val="063C67"/>
                </a:solidFill>
                <a:latin typeface="Calibri" pitchFamily="34" charset="0"/>
                <a:ea typeface="Calibri" pitchFamily="34" charset="-122"/>
                <a:cs typeface="Calibri" pitchFamily="34" charset="-120"/>
              </a:rPr>
              <a:t>baseline ranks better </a:t>
            </a:r>
            <a:r>
              <a:rPr lang="en-US" sz="1350" dirty="0">
                <a:solidFill>
                  <a:srgbClr val="063C67"/>
                </a:solidFill>
                <a:latin typeface="Calibri" pitchFamily="34" charset="0"/>
                <a:ea typeface="Calibri" pitchFamily="34" charset="-122"/>
                <a:cs typeface="Calibri" pitchFamily="34" charset="-120"/>
              </a:rPr>
              <a:t>, by 0.082 of AUC at one week</a:t>
            </a:r>
            <a:endParaRPr lang="en-US" sz="1350" dirty="0"/>
          </a:p>
        </p:txBody>
      </p:sp>
      <p:sp>
        <p:nvSpPr>
          <p:cNvPr id="40" name="Shape 37"/>
          <p:cNvSpPr/>
          <p:nvPr/>
        </p:nvSpPr>
        <p:spPr>
          <a:xfrm>
            <a:off x="9067800" y="1755378"/>
            <a:ext cx="2581275" cy="1952625"/>
          </a:xfrm>
          <a:prstGeom prst="rect">
            <a:avLst/>
          </a:prstGeom>
          <a:solidFill>
            <a:srgbClr val="F4F4F6"/>
          </a:solidFill>
          <a:ln/>
        </p:spPr>
        <p:txBody>
          <a:bodyPr/>
          <a:lstStyle/>
          <a:p>
            <a:endParaRPr lang="fr-FR"/>
          </a:p>
        </p:txBody>
      </p:sp>
      <p:pic>
        <p:nvPicPr>
          <p:cNvPr id="41" name="Image 1" descr="preencoded.png"/>
          <p:cNvPicPr>
            <a:picLocks noChangeAspect="1"/>
          </p:cNvPicPr>
          <p:nvPr/>
        </p:nvPicPr>
        <p:blipFill>
          <a:blip r:embed="rId4"/>
          <a:stretch>
            <a:fillRect/>
          </a:stretch>
        </p:blipFill>
        <p:spPr>
          <a:xfrm>
            <a:off x="9277350" y="1926828"/>
            <a:ext cx="364034" cy="323850"/>
          </a:xfrm>
          <a:prstGeom prst="rect">
            <a:avLst/>
          </a:prstGeom>
        </p:spPr>
      </p:pic>
      <p:sp>
        <p:nvSpPr>
          <p:cNvPr id="42" name="Text 38"/>
          <p:cNvSpPr/>
          <p:nvPr/>
        </p:nvSpPr>
        <p:spPr>
          <a:xfrm>
            <a:off x="9277350" y="2370038"/>
            <a:ext cx="2378393" cy="415230"/>
          </a:xfrm>
          <a:prstGeom prst="rect">
            <a:avLst/>
          </a:prstGeom>
          <a:noFill/>
          <a:ln/>
        </p:spPr>
        <p:txBody>
          <a:bodyPr wrap="square" lIns="25400" tIns="25400" rIns="25400" bIns="25400" rtlCol="0" anchor="t">
            <a:normAutofit/>
          </a:bodyPr>
          <a:lstStyle/>
          <a:p>
            <a:pPr marL="0" indent="0" algn="l">
              <a:lnSpc>
                <a:spcPct val="63871"/>
              </a:lnSpc>
              <a:buNone/>
            </a:pPr>
            <a:r>
              <a:rPr lang="en-US" sz="3300" b="1" dirty="0">
                <a:solidFill>
                  <a:srgbClr val="043962"/>
                </a:solidFill>
                <a:latin typeface="Arial Black" pitchFamily="34" charset="0"/>
                <a:ea typeface="Arial Black" pitchFamily="34" charset="-122"/>
                <a:cs typeface="Arial Black" pitchFamily="34" charset="-120"/>
              </a:rPr>
              <a:t>−1.60</a:t>
            </a:r>
            <a:endParaRPr lang="en-US" sz="3300" dirty="0"/>
          </a:p>
        </p:txBody>
      </p:sp>
      <p:sp>
        <p:nvSpPr>
          <p:cNvPr id="43" name="Text 39"/>
          <p:cNvSpPr/>
          <p:nvPr/>
        </p:nvSpPr>
        <p:spPr>
          <a:xfrm>
            <a:off x="9277350" y="2842419"/>
            <a:ext cx="2238375" cy="732234"/>
          </a:xfrm>
          <a:prstGeom prst="rect">
            <a:avLst/>
          </a:prstGeom>
          <a:noFill/>
          <a:ln/>
        </p:spPr>
        <p:txBody>
          <a:bodyPr wrap="square" lIns="25400" tIns="25400" rIns="25400" bIns="25400" rtlCol="0" anchor="t">
            <a:normAutofit/>
          </a:bodyPr>
          <a:lstStyle/>
          <a:p>
            <a:pPr marL="0" indent="0" algn="l">
              <a:lnSpc>
                <a:spcPct val="110455"/>
              </a:lnSpc>
              <a:buNone/>
            </a:pPr>
            <a:r>
              <a:rPr lang="en-US" sz="1350" dirty="0">
                <a:solidFill>
                  <a:srgbClr val="063C67"/>
                </a:solidFill>
                <a:latin typeface="Calibri" pitchFamily="34" charset="0"/>
                <a:ea typeface="Calibri" pitchFamily="34" charset="-122"/>
                <a:cs typeface="Calibri" pitchFamily="34" charset="-120"/>
              </a:rPr>
              <a:t>simulation Brier skill vs. </a:t>
            </a:r>
            <a:r>
              <a:rPr lang="en-US" sz="1350" b="1" dirty="0">
                <a:solidFill>
                  <a:srgbClr val="063C67"/>
                </a:solidFill>
                <a:latin typeface="Calibri" pitchFamily="34" charset="0"/>
                <a:ea typeface="Calibri" pitchFamily="34" charset="-122"/>
                <a:cs typeface="Calibri" pitchFamily="34" charset="-120"/>
              </a:rPr>
              <a:t>−4.85 </a:t>
            </a:r>
            <a:r>
              <a:rPr lang="en-US" sz="1350" dirty="0">
                <a:solidFill>
                  <a:srgbClr val="063C67"/>
                </a:solidFill>
                <a:latin typeface="Calibri" pitchFamily="34" charset="0"/>
                <a:ea typeface="Calibri" pitchFamily="34" charset="-122"/>
                <a:cs typeface="Calibri" pitchFamily="34" charset="-120"/>
              </a:rPr>
              <a:t>for the baseline. The trajectories buy calibration</a:t>
            </a:r>
            <a:endParaRPr lang="en-US" sz="1350" dirty="0"/>
          </a:p>
        </p:txBody>
      </p:sp>
      <p:sp>
        <p:nvSpPr>
          <p:cNvPr id="44" name="Shape 40"/>
          <p:cNvSpPr/>
          <p:nvPr/>
        </p:nvSpPr>
        <p:spPr>
          <a:xfrm>
            <a:off x="6334125" y="4003675"/>
            <a:ext cx="1532037" cy="477143"/>
          </a:xfrm>
          <a:prstGeom prst="rect">
            <a:avLst/>
          </a:prstGeom>
          <a:solidFill>
            <a:srgbClr val="F4F4F6"/>
          </a:solidFill>
          <a:ln/>
        </p:spPr>
        <p:txBody>
          <a:bodyPr/>
          <a:lstStyle/>
          <a:p>
            <a:endParaRPr lang="fr-FR"/>
          </a:p>
        </p:txBody>
      </p:sp>
      <p:sp>
        <p:nvSpPr>
          <p:cNvPr id="45" name="Text 41"/>
          <p:cNvSpPr/>
          <p:nvPr/>
        </p:nvSpPr>
        <p:spPr>
          <a:xfrm>
            <a:off x="6477000" y="4117975"/>
            <a:ext cx="1322487"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six urgency blocks</a:t>
            </a:r>
            <a:endParaRPr lang="en-US" sz="1350" dirty="0"/>
          </a:p>
        </p:txBody>
      </p:sp>
      <p:sp>
        <p:nvSpPr>
          <p:cNvPr id="46" name="Shape 42"/>
          <p:cNvSpPr/>
          <p:nvPr/>
        </p:nvSpPr>
        <p:spPr>
          <a:xfrm>
            <a:off x="7999512" y="4159746"/>
            <a:ext cx="120650" cy="165100"/>
          </a:xfrm>
          <a:prstGeom prst="rect">
            <a:avLst/>
          </a:prstGeom>
          <a:solidFill>
            <a:srgbClr val="1D93C9"/>
          </a:solidFill>
          <a:ln/>
        </p:spPr>
        <p:txBody>
          <a:bodyPr/>
          <a:lstStyle/>
          <a:p>
            <a:endParaRPr lang="fr-FR"/>
          </a:p>
        </p:txBody>
      </p:sp>
      <p:sp>
        <p:nvSpPr>
          <p:cNvPr id="47" name="Shape 43"/>
          <p:cNvSpPr/>
          <p:nvPr/>
        </p:nvSpPr>
        <p:spPr>
          <a:xfrm>
            <a:off x="8253512" y="4003675"/>
            <a:ext cx="1049635" cy="477143"/>
          </a:xfrm>
          <a:prstGeom prst="rect">
            <a:avLst/>
          </a:prstGeom>
          <a:solidFill>
            <a:srgbClr val="F4F4F6"/>
          </a:solidFill>
          <a:ln/>
        </p:spPr>
        <p:txBody>
          <a:bodyPr/>
          <a:lstStyle/>
          <a:p>
            <a:endParaRPr lang="fr-FR"/>
          </a:p>
        </p:txBody>
      </p:sp>
      <p:sp>
        <p:nvSpPr>
          <p:cNvPr id="48" name="Text 44"/>
          <p:cNvSpPr/>
          <p:nvPr/>
        </p:nvSpPr>
        <p:spPr>
          <a:xfrm>
            <a:off x="8396387" y="4117975"/>
            <a:ext cx="840085"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AR(1) state</a:t>
            </a:r>
            <a:endParaRPr lang="en-US" sz="1350" dirty="0"/>
          </a:p>
        </p:txBody>
      </p:sp>
      <p:sp>
        <p:nvSpPr>
          <p:cNvPr id="49" name="Shape 45"/>
          <p:cNvSpPr/>
          <p:nvPr/>
        </p:nvSpPr>
        <p:spPr>
          <a:xfrm>
            <a:off x="9436497" y="4159746"/>
            <a:ext cx="120650" cy="165100"/>
          </a:xfrm>
          <a:prstGeom prst="rect">
            <a:avLst/>
          </a:prstGeom>
          <a:solidFill>
            <a:srgbClr val="1D93C9"/>
          </a:solidFill>
          <a:ln/>
        </p:spPr>
        <p:txBody>
          <a:bodyPr/>
          <a:lstStyle/>
          <a:p>
            <a:endParaRPr lang="fr-FR"/>
          </a:p>
        </p:txBody>
      </p:sp>
      <p:sp>
        <p:nvSpPr>
          <p:cNvPr id="50" name="Shape 46"/>
          <p:cNvSpPr/>
          <p:nvPr/>
        </p:nvSpPr>
        <p:spPr>
          <a:xfrm>
            <a:off x="9690497" y="3879453"/>
            <a:ext cx="1782167" cy="725686"/>
          </a:xfrm>
          <a:prstGeom prst="rect">
            <a:avLst/>
          </a:prstGeom>
          <a:solidFill>
            <a:srgbClr val="E9F5FB"/>
          </a:solidFill>
          <a:ln/>
        </p:spPr>
        <p:txBody>
          <a:bodyPr/>
          <a:lstStyle/>
          <a:p>
            <a:endParaRPr lang="fr-FR"/>
          </a:p>
        </p:txBody>
      </p:sp>
      <p:sp>
        <p:nvSpPr>
          <p:cNvPr id="51" name="Text 47"/>
          <p:cNvSpPr/>
          <p:nvPr/>
        </p:nvSpPr>
        <p:spPr>
          <a:xfrm>
            <a:off x="9833372" y="3993753"/>
            <a:ext cx="1572617" cy="535186"/>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highlight>
                  <a:srgbClr val="E9F5FB"/>
                </a:highlight>
                <a:latin typeface="Calibri" pitchFamily="34" charset="0"/>
                <a:ea typeface="Calibri" pitchFamily="34" charset="-122"/>
                <a:cs typeface="Calibri" pitchFamily="34" charset="-120"/>
              </a:rPr>
              <a:t>client-impact channel </a:t>
            </a:r>
            <a:r>
              <a:rPr lang="en-US" sz="1200" dirty="0">
                <a:solidFill>
                  <a:srgbClr val="858591"/>
                </a:solidFill>
                <a:latin typeface="Calibri" pitchFamily="34" charset="0"/>
                <a:ea typeface="Calibri" pitchFamily="34" charset="-122"/>
                <a:cs typeface="Calibri" pitchFamily="34" charset="-120"/>
              </a:rPr>
              <a:t>displayed, never scored</a:t>
            </a:r>
            <a:endParaRPr lang="en-US" sz="1350" dirty="0"/>
          </a:p>
        </p:txBody>
      </p:sp>
      <p:sp>
        <p:nvSpPr>
          <p:cNvPr id="52" name="Shape 48"/>
          <p:cNvSpPr/>
          <p:nvPr/>
        </p:nvSpPr>
        <p:spPr>
          <a:xfrm>
            <a:off x="6334125" y="4719439"/>
            <a:ext cx="1341537" cy="477143"/>
          </a:xfrm>
          <a:prstGeom prst="rect">
            <a:avLst/>
          </a:prstGeom>
          <a:solidFill>
            <a:srgbClr val="F4F4F6"/>
          </a:solidFill>
          <a:ln/>
        </p:spPr>
        <p:txBody>
          <a:bodyPr/>
          <a:lstStyle/>
          <a:p>
            <a:endParaRPr lang="fr-FR"/>
          </a:p>
        </p:txBody>
      </p:sp>
      <p:sp>
        <p:nvSpPr>
          <p:cNvPr id="53" name="Text 49"/>
          <p:cNvSpPr/>
          <p:nvPr/>
        </p:nvSpPr>
        <p:spPr>
          <a:xfrm>
            <a:off x="6477000" y="4833739"/>
            <a:ext cx="1131987"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lead-time draw</a:t>
            </a:r>
            <a:endParaRPr lang="en-US" sz="1350" dirty="0"/>
          </a:p>
        </p:txBody>
      </p:sp>
      <p:sp>
        <p:nvSpPr>
          <p:cNvPr id="54" name="Shape 50"/>
          <p:cNvSpPr/>
          <p:nvPr/>
        </p:nvSpPr>
        <p:spPr>
          <a:xfrm>
            <a:off x="7809012" y="4875411"/>
            <a:ext cx="120650" cy="165100"/>
          </a:xfrm>
          <a:prstGeom prst="rect">
            <a:avLst/>
          </a:prstGeom>
          <a:solidFill>
            <a:srgbClr val="1D93C9"/>
          </a:solidFill>
          <a:ln/>
        </p:spPr>
        <p:txBody>
          <a:bodyPr/>
          <a:lstStyle/>
          <a:p>
            <a:endParaRPr lang="fr-FR"/>
          </a:p>
        </p:txBody>
      </p:sp>
      <p:sp>
        <p:nvSpPr>
          <p:cNvPr id="55" name="Shape 51"/>
          <p:cNvSpPr/>
          <p:nvPr/>
        </p:nvSpPr>
        <p:spPr>
          <a:xfrm>
            <a:off x="8063012" y="4719439"/>
            <a:ext cx="1349871" cy="477143"/>
          </a:xfrm>
          <a:prstGeom prst="rect">
            <a:avLst/>
          </a:prstGeom>
          <a:solidFill>
            <a:srgbClr val="F4F4F6"/>
          </a:solidFill>
          <a:ln/>
        </p:spPr>
        <p:txBody>
          <a:bodyPr/>
          <a:lstStyle/>
          <a:p>
            <a:endParaRPr lang="fr-FR"/>
          </a:p>
        </p:txBody>
      </p:sp>
      <p:sp>
        <p:nvSpPr>
          <p:cNvPr id="56" name="Text 52"/>
          <p:cNvSpPr/>
          <p:nvPr/>
        </p:nvSpPr>
        <p:spPr>
          <a:xfrm>
            <a:off x="8205887" y="4833739"/>
            <a:ext cx="1140321" cy="286643"/>
          </a:xfrm>
          <a:prstGeom prst="rect">
            <a:avLst/>
          </a:prstGeom>
          <a:noFill/>
          <a:ln/>
        </p:spPr>
        <p:txBody>
          <a:bodyPr wrap="square" lIns="25400" tIns="25400" rIns="25400" bIns="25400" rtlCol="0" anchor="t">
            <a:normAutofit/>
          </a:bodyPr>
          <a:lstStyle/>
          <a:p>
            <a:pPr marL="0" indent="0" algn="l">
              <a:lnSpc>
                <a:spcPct val="118636"/>
              </a:lnSpc>
              <a:buNone/>
            </a:pPr>
            <a:r>
              <a:rPr lang="en-US" sz="1350" dirty="0">
                <a:solidFill>
                  <a:srgbClr val="063C67"/>
                </a:solidFill>
                <a:latin typeface="Calibri" pitchFamily="34" charset="0"/>
                <a:ea typeface="Calibri" pitchFamily="34" charset="-122"/>
                <a:cs typeface="Calibri" pitchFamily="34" charset="-120"/>
              </a:rPr>
              <a:t>milestone term</a:t>
            </a:r>
            <a:endParaRPr lang="en-US" sz="1350" dirty="0"/>
          </a:p>
        </p:txBody>
      </p:sp>
      <p:sp>
        <p:nvSpPr>
          <p:cNvPr id="57" name="Shape 53"/>
          <p:cNvSpPr/>
          <p:nvPr/>
        </p:nvSpPr>
        <p:spPr>
          <a:xfrm>
            <a:off x="9546233" y="4875411"/>
            <a:ext cx="120650" cy="165100"/>
          </a:xfrm>
          <a:prstGeom prst="rect">
            <a:avLst/>
          </a:prstGeom>
          <a:solidFill>
            <a:srgbClr val="1D93C9"/>
          </a:solidFill>
          <a:ln/>
        </p:spPr>
        <p:txBody>
          <a:bodyPr/>
          <a:lstStyle/>
          <a:p>
            <a:endParaRPr lang="fr-FR"/>
          </a:p>
        </p:txBody>
      </p:sp>
      <p:sp>
        <p:nvSpPr>
          <p:cNvPr id="58" name="Shape 54"/>
          <p:cNvSpPr/>
          <p:nvPr/>
        </p:nvSpPr>
        <p:spPr>
          <a:xfrm>
            <a:off x="9710243" y="4690417"/>
            <a:ext cx="2378394" cy="477143"/>
          </a:xfrm>
          <a:prstGeom prst="rect">
            <a:avLst/>
          </a:prstGeom>
          <a:solidFill>
            <a:srgbClr val="FFDA65"/>
          </a:solidFill>
          <a:ln/>
        </p:spPr>
        <p:txBody>
          <a:bodyPr/>
          <a:lstStyle/>
          <a:p>
            <a:endParaRPr lang="fr-FR"/>
          </a:p>
        </p:txBody>
      </p:sp>
      <p:sp>
        <p:nvSpPr>
          <p:cNvPr id="59" name="Text 55"/>
          <p:cNvSpPr/>
          <p:nvPr/>
        </p:nvSpPr>
        <p:spPr>
          <a:xfrm>
            <a:off x="9853117" y="4804717"/>
            <a:ext cx="2193497" cy="286643"/>
          </a:xfrm>
          <a:prstGeom prst="rect">
            <a:avLst/>
          </a:prstGeom>
          <a:noFill/>
          <a:ln/>
        </p:spPr>
        <p:txBody>
          <a:bodyPr wrap="square" lIns="25400" tIns="25400" rIns="25400" bIns="25400" rtlCol="0" anchor="t">
            <a:normAutofit fontScale="92500"/>
          </a:bodyPr>
          <a:lstStyle/>
          <a:p>
            <a:pPr marL="0" indent="0" algn="l">
              <a:lnSpc>
                <a:spcPct val="118636"/>
              </a:lnSpc>
              <a:buNone/>
            </a:pPr>
            <a:r>
              <a:rPr lang="en-US" sz="1350" b="1" dirty="0">
                <a:solidFill>
                  <a:srgbClr val="063C67"/>
                </a:solidFill>
                <a:latin typeface="Calibri" pitchFamily="34" charset="0"/>
                <a:ea typeface="Calibri" pitchFamily="34" charset="-122"/>
                <a:cs typeface="Calibri" pitchFamily="34" charset="-120"/>
              </a:rPr>
              <a:t>the quantity that is scored</a:t>
            </a:r>
            <a:r>
              <a:rPr lang="en-US" sz="1350" dirty="0">
                <a:solidFill>
                  <a:srgbClr val="063C67"/>
                </a:solidFill>
                <a:highlight>
                  <a:srgbClr val="FFDA65"/>
                </a:highlight>
                <a:latin typeface="Calibri" pitchFamily="34" charset="0"/>
                <a:ea typeface="Calibri" pitchFamily="34" charset="-122"/>
                <a:cs typeface="Calibri" pitchFamily="34" charset="-120"/>
              </a:rPr>
              <a:t/>
            </a:r>
            <a:endParaRPr lang="en-US" sz="1350" dirty="0"/>
          </a:p>
        </p:txBody>
      </p:sp>
      <p:sp>
        <p:nvSpPr>
          <p:cNvPr id="60" name="Shape 56"/>
          <p:cNvSpPr/>
          <p:nvPr/>
        </p:nvSpPr>
        <p:spPr>
          <a:xfrm>
            <a:off x="6347918" y="5416054"/>
            <a:ext cx="5314950" cy="1037630"/>
          </a:xfrm>
          <a:prstGeom prst="rect">
            <a:avLst/>
          </a:prstGeom>
          <a:solidFill>
            <a:srgbClr val="F4F4F6"/>
          </a:solidFill>
          <a:ln/>
        </p:spPr>
        <p:txBody>
          <a:bodyPr/>
          <a:lstStyle/>
          <a:p>
            <a:endParaRPr lang="fr-FR"/>
          </a:p>
        </p:txBody>
      </p:sp>
      <p:sp>
        <p:nvSpPr>
          <p:cNvPr id="61" name="Shape 57"/>
          <p:cNvSpPr/>
          <p:nvPr/>
        </p:nvSpPr>
        <p:spPr>
          <a:xfrm>
            <a:off x="6371236" y="5404148"/>
            <a:ext cx="57150" cy="1037630"/>
          </a:xfrm>
          <a:prstGeom prst="rect">
            <a:avLst/>
          </a:prstGeom>
          <a:solidFill>
            <a:srgbClr val="1D93C9"/>
          </a:solidFill>
          <a:ln/>
        </p:spPr>
        <p:txBody>
          <a:bodyPr/>
          <a:lstStyle/>
          <a:p>
            <a:endParaRPr lang="fr-FR"/>
          </a:p>
        </p:txBody>
      </p:sp>
      <p:sp>
        <p:nvSpPr>
          <p:cNvPr id="62" name="Text 58"/>
          <p:cNvSpPr/>
          <p:nvPr/>
        </p:nvSpPr>
        <p:spPr>
          <a:xfrm>
            <a:off x="6595568" y="5568454"/>
            <a:ext cx="5036249" cy="770930"/>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highlight>
                  <a:srgbClr val="F4F4F6"/>
                </a:highlight>
                <a:latin typeface="Calibri" pitchFamily="34" charset="0"/>
                <a:ea typeface="Calibri" pitchFamily="34" charset="-122"/>
                <a:cs typeface="Calibri" pitchFamily="34" charset="-120"/>
              </a:rPr>
              <a:t>On this chain the forecast layer is a </a:t>
            </a:r>
            <a:r>
              <a:rPr lang="en-US" sz="1425" b="1" dirty="0">
                <a:solidFill>
                  <a:srgbClr val="063C67"/>
                </a:solidFill>
                <a:latin typeface="Calibri" pitchFamily="34" charset="0"/>
                <a:ea typeface="Calibri" pitchFamily="34" charset="-122"/>
                <a:cs typeface="Calibri" pitchFamily="34" charset="-120"/>
              </a:rPr>
              <a:t>calibration wrapper around a lead-time ratio </a:t>
            </a:r>
            <a:r>
              <a:rPr lang="en-US" sz="1425" dirty="0">
                <a:solidFill>
                  <a:srgbClr val="063C67"/>
                </a:solidFill>
                <a:highlight>
                  <a:srgbClr val="F4F4F6"/>
                </a:highlight>
                <a:latin typeface="Calibri" pitchFamily="34" charset="0"/>
                <a:ea typeface="Calibri" pitchFamily="34" charset="-122"/>
                <a:cs typeface="Calibri" pitchFamily="34" charset="-120"/>
              </a:rPr>
              <a:t>. Defensible, but not what the interface presents. The fix is one line: the AR state must reach the milestone term.</a:t>
            </a:r>
            <a:endParaRPr lang="en-US" sz="1425" dirty="0"/>
          </a:p>
        </p:txBody>
      </p:sp>
      <p:pic>
        <p:nvPicPr>
          <p:cNvPr id="63" name="Image 2" descr="preencoded.png"/>
          <p:cNvPicPr>
            <a:picLocks noChangeAspect="1"/>
          </p:cNvPicPr>
          <p:nvPr/>
        </p:nvPicPr>
        <p:blipFill>
          <a:blip r:embed="rId5"/>
          <a:stretch>
            <a:fillRect/>
          </a:stretch>
        </p:blipFill>
        <p:spPr>
          <a:xfrm>
            <a:off x="11229975" y="6567488"/>
            <a:ext cx="714375" cy="71438"/>
          </a:xfrm>
          <a:prstGeom prst="rect">
            <a:avLst/>
          </a:prstGeom>
        </p:spPr>
      </p:pic>
      <p:sp>
        <p:nvSpPr>
          <p:cNvPr id="64" name="Text 59"/>
          <p:cNvSpPr/>
          <p:nvPr/>
        </p:nvSpPr>
        <p:spPr>
          <a:xfrm>
            <a:off x="10505679" y="6465590"/>
            <a:ext cx="524272"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C0C0C8"/>
                </a:solidFill>
                <a:latin typeface="Calibri" pitchFamily="34" charset="0"/>
                <a:ea typeface="Calibri" pitchFamily="34" charset="-122"/>
                <a:cs typeface="Calibri" pitchFamily="34" charset="-120"/>
              </a:rPr>
              <a:t>16 | 20</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8020745"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THE RESULT NOBODY PLANNED</a:t>
            </a:r>
            <a:endParaRPr lang="en-US" sz="3225" dirty="0"/>
          </a:p>
        </p:txBody>
      </p:sp>
      <p:sp>
        <p:nvSpPr>
          <p:cNvPr id="4" name="Text 2"/>
          <p:cNvSpPr/>
          <p:nvPr/>
        </p:nvSpPr>
        <p:spPr>
          <a:xfrm>
            <a:off x="352425" y="666750"/>
            <a:ext cx="8185219"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Showing the forecast before asking for a declaration changes the declaration</a:t>
            </a:r>
            <a:endParaRPr lang="en-US" sz="1725" dirty="0"/>
          </a:p>
        </p:txBody>
      </p:sp>
      <p:pic>
        <p:nvPicPr>
          <p:cNvPr id="5" name="Image 0" descr="preencoded.png"/>
          <p:cNvPicPr>
            <a:picLocks noChangeAspect="1"/>
          </p:cNvPicPr>
          <p:nvPr/>
        </p:nvPicPr>
        <p:blipFill>
          <a:blip r:embed="rId3"/>
          <a:srcRect t="-417" b="-417"/>
          <a:stretch/>
        </p:blipFill>
        <p:spPr>
          <a:xfrm>
            <a:off x="209550" y="1257300"/>
            <a:ext cx="6248400" cy="4400550"/>
          </a:xfrm>
          <a:prstGeom prst="rect">
            <a:avLst/>
          </a:prstGeom>
        </p:spPr>
      </p:pic>
      <p:sp>
        <p:nvSpPr>
          <p:cNvPr id="7" name="Shape 4"/>
          <p:cNvSpPr/>
          <p:nvPr/>
        </p:nvSpPr>
        <p:spPr>
          <a:xfrm>
            <a:off x="6667500" y="1295400"/>
            <a:ext cx="4981575" cy="38100"/>
          </a:xfrm>
          <a:prstGeom prst="rect">
            <a:avLst/>
          </a:prstGeom>
          <a:solidFill>
            <a:srgbClr val="063C67"/>
          </a:solidFill>
          <a:ln/>
        </p:spPr>
        <p:txBody>
          <a:bodyPr/>
          <a:lstStyle/>
          <a:p>
            <a:endParaRPr lang="fr-FR"/>
          </a:p>
        </p:txBody>
      </p:sp>
      <p:sp>
        <p:nvSpPr>
          <p:cNvPr id="8" name="Text 5"/>
          <p:cNvSpPr/>
          <p:nvPr/>
        </p:nvSpPr>
        <p:spPr>
          <a:xfrm>
            <a:off x="6667500" y="1466850"/>
            <a:ext cx="5479733" cy="312341"/>
          </a:xfrm>
          <a:prstGeom prst="rect">
            <a:avLst/>
          </a:prstGeom>
          <a:noFill/>
          <a:ln/>
        </p:spPr>
        <p:txBody>
          <a:bodyPr wrap="square" lIns="25400" tIns="25400" rIns="25400" bIns="25400" rtlCol="0" anchor="t">
            <a:normAutofit/>
          </a:bodyPr>
          <a:lstStyle/>
          <a:p>
            <a:pPr marL="0" indent="0" algn="l">
              <a:lnSpc>
                <a:spcPct val="63529"/>
              </a:lnSpc>
              <a:buNone/>
            </a:pPr>
            <a:r>
              <a:rPr lang="en-US" sz="2400" b="1" dirty="0">
                <a:solidFill>
                  <a:srgbClr val="043962"/>
                </a:solidFill>
                <a:latin typeface="Arial Black" pitchFamily="34" charset="0"/>
                <a:ea typeface="Arial Black" pitchFamily="34" charset="-122"/>
                <a:cs typeface="Arial Black" pitchFamily="34" charset="-120"/>
              </a:rPr>
              <a:t>5 down · 3 confirmed · 0 up</a:t>
            </a:r>
            <a:endParaRPr lang="en-US" sz="2400" dirty="0"/>
          </a:p>
        </p:txBody>
      </p:sp>
      <p:sp>
        <p:nvSpPr>
          <p:cNvPr id="9" name="Text 6"/>
          <p:cNvSpPr/>
          <p:nvPr/>
        </p:nvSpPr>
        <p:spPr>
          <a:xfrm>
            <a:off x="6667500" y="1836341"/>
            <a:ext cx="5131022"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At first contact all eight declarants record an influence and </a:t>
            </a:r>
            <a:r>
              <a:rPr lang="en-US" sz="1425" b="1" dirty="0">
                <a:solidFill>
                  <a:srgbClr val="063C67"/>
                </a:solidFill>
                <a:latin typeface="Calibri" pitchFamily="34" charset="0"/>
                <a:ea typeface="Calibri" pitchFamily="34" charset="-122"/>
                <a:cs typeface="Calibri" pitchFamily="34" charset="-120"/>
              </a:rPr>
              <a:t>not one revises upward </a:t>
            </a:r>
            <a:r>
              <a:rPr lang="en-US" sz="1425" dirty="0">
                <a:solidFill>
                  <a:srgbClr val="063C67"/>
                </a:solidFill>
                <a:latin typeface="Calibri" pitchFamily="34" charset="0"/>
                <a:ea typeface="Calibri" pitchFamily="34" charset="-122"/>
                <a:cs typeface="Calibri" pitchFamily="34" charset="-120"/>
              </a:rPr>
              <a:t>. Reproduced exactly in the repaired run.</a:t>
            </a:r>
            <a:endParaRPr lang="en-US" sz="1425" dirty="0"/>
          </a:p>
        </p:txBody>
      </p:sp>
      <p:sp>
        <p:nvSpPr>
          <p:cNvPr id="10" name="Shape 7"/>
          <p:cNvSpPr/>
          <p:nvPr/>
        </p:nvSpPr>
        <p:spPr>
          <a:xfrm>
            <a:off x="6667500" y="2477294"/>
            <a:ext cx="4981575" cy="38100"/>
          </a:xfrm>
          <a:prstGeom prst="rect">
            <a:avLst/>
          </a:prstGeom>
          <a:solidFill>
            <a:srgbClr val="063C67"/>
          </a:solidFill>
          <a:ln/>
        </p:spPr>
        <p:txBody>
          <a:bodyPr/>
          <a:lstStyle/>
          <a:p>
            <a:endParaRPr lang="fr-FR"/>
          </a:p>
        </p:txBody>
      </p:sp>
      <p:sp>
        <p:nvSpPr>
          <p:cNvPr id="11" name="Text 8"/>
          <p:cNvSpPr/>
          <p:nvPr/>
        </p:nvSpPr>
        <p:spPr>
          <a:xfrm>
            <a:off x="6667500" y="2648744"/>
            <a:ext cx="5479733" cy="312341"/>
          </a:xfrm>
          <a:prstGeom prst="rect">
            <a:avLst/>
          </a:prstGeom>
          <a:noFill/>
          <a:ln/>
        </p:spPr>
        <p:txBody>
          <a:bodyPr wrap="square" lIns="25400" tIns="25400" rIns="25400" bIns="25400" rtlCol="0" anchor="t">
            <a:normAutofit/>
          </a:bodyPr>
          <a:lstStyle/>
          <a:p>
            <a:pPr marL="0" indent="0" algn="l">
              <a:lnSpc>
                <a:spcPct val="63529"/>
              </a:lnSpc>
              <a:buNone/>
            </a:pPr>
            <a:r>
              <a:rPr lang="en-US" sz="2400" b="1" dirty="0">
                <a:solidFill>
                  <a:srgbClr val="043962"/>
                </a:solidFill>
                <a:latin typeface="Arial Black" pitchFamily="34" charset="0"/>
                <a:ea typeface="Arial Black" pitchFamily="34" charset="-122"/>
                <a:cs typeface="Arial Black" pitchFamily="34" charset="-120"/>
              </a:rPr>
              <a:t>15 up · 16 down</a:t>
            </a:r>
            <a:endParaRPr lang="en-US" sz="2400" dirty="0"/>
          </a:p>
        </p:txBody>
      </p:sp>
      <p:sp>
        <p:nvSpPr>
          <p:cNvPr id="12" name="Text 9"/>
          <p:cNvSpPr/>
          <p:nvPr/>
        </p:nvSpPr>
        <p:spPr>
          <a:xfrm>
            <a:off x="6667500" y="3018234"/>
            <a:ext cx="5131022" cy="770930"/>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Over the full campaign the balance is even. The one-sided effect belongs to </a:t>
            </a:r>
            <a:r>
              <a:rPr lang="en-US" sz="1425" b="1" dirty="0">
                <a:solidFill>
                  <a:srgbClr val="063C67"/>
                </a:solidFill>
                <a:latin typeface="Calibri" pitchFamily="34" charset="0"/>
                <a:ea typeface="Calibri" pitchFamily="34" charset="-122"/>
                <a:cs typeface="Calibri" pitchFamily="34" charset="-120"/>
              </a:rPr>
              <a:t>first contact </a:t>
            </a:r>
            <a:r>
              <a:rPr lang="en-US" sz="1425" dirty="0">
                <a:solidFill>
                  <a:srgbClr val="063C67"/>
                </a:solidFill>
                <a:latin typeface="Calibri" pitchFamily="34" charset="0"/>
                <a:ea typeface="Calibri" pitchFamily="34" charset="-122"/>
                <a:cs typeface="Calibri" pitchFamily="34" charset="-120"/>
              </a:rPr>
              <a:t>, shown as a probability with a confidence interval.</a:t>
            </a:r>
            <a:endParaRPr lang="en-US" sz="1425" dirty="0"/>
          </a:p>
        </p:txBody>
      </p:sp>
      <p:sp>
        <p:nvSpPr>
          <p:cNvPr id="13" name="Shape 10"/>
          <p:cNvSpPr/>
          <p:nvPr/>
        </p:nvSpPr>
        <p:spPr>
          <a:xfrm>
            <a:off x="6667500" y="3903464"/>
            <a:ext cx="4981575" cy="38100"/>
          </a:xfrm>
          <a:prstGeom prst="rect">
            <a:avLst/>
          </a:prstGeom>
          <a:solidFill>
            <a:srgbClr val="FFC800"/>
          </a:solidFill>
          <a:ln/>
        </p:spPr>
        <p:txBody>
          <a:bodyPr/>
          <a:lstStyle/>
          <a:p>
            <a:endParaRPr lang="fr-FR"/>
          </a:p>
        </p:txBody>
      </p:sp>
      <p:sp>
        <p:nvSpPr>
          <p:cNvPr id="14" name="Text 11"/>
          <p:cNvSpPr/>
          <p:nvPr/>
        </p:nvSpPr>
        <p:spPr>
          <a:xfrm>
            <a:off x="6667500" y="4074914"/>
            <a:ext cx="5479733" cy="312341"/>
          </a:xfrm>
          <a:prstGeom prst="rect">
            <a:avLst/>
          </a:prstGeom>
          <a:noFill/>
          <a:ln/>
        </p:spPr>
        <p:txBody>
          <a:bodyPr wrap="square" lIns="25400" tIns="25400" rIns="25400" bIns="25400" rtlCol="0" anchor="t">
            <a:normAutofit/>
          </a:bodyPr>
          <a:lstStyle/>
          <a:p>
            <a:pPr marL="0" indent="0" algn="l">
              <a:lnSpc>
                <a:spcPct val="63529"/>
              </a:lnSpc>
              <a:buNone/>
            </a:pPr>
            <a:r>
              <a:rPr lang="en-US" sz="2400" b="1" dirty="0">
                <a:solidFill>
                  <a:srgbClr val="043962"/>
                </a:solidFill>
                <a:latin typeface="Arial Black" pitchFamily="34" charset="0"/>
                <a:ea typeface="Arial Black" pitchFamily="34" charset="-122"/>
                <a:cs typeface="Arial Black" pitchFamily="34" charset="-120"/>
              </a:rPr>
              <a:t>1 in 10 · max 0.93</a:t>
            </a:r>
            <a:endParaRPr lang="en-US" sz="2400" dirty="0"/>
          </a:p>
        </p:txBody>
      </p:sp>
      <p:sp>
        <p:nvSpPr>
          <p:cNvPr id="15" name="Text 12"/>
          <p:cNvSpPr/>
          <p:nvPr/>
        </p:nvSpPr>
        <p:spPr>
          <a:xfrm>
            <a:off x="6667500" y="4444405"/>
            <a:ext cx="5131022"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On the second chain, turn-to-turn jumps above 0.20 on unchanged terrain. </a:t>
            </a:r>
            <a:r>
              <a:rPr lang="en-US" sz="1425" b="1" dirty="0">
                <a:solidFill>
                  <a:srgbClr val="063C67"/>
                </a:solidFill>
                <a:latin typeface="Calibri" pitchFamily="34" charset="0"/>
                <a:ea typeface="Calibri" pitchFamily="34" charset="-122"/>
                <a:cs typeface="Calibri" pitchFamily="34" charset="-120"/>
              </a:rPr>
              <a:t>Disengagement is the rational response</a:t>
            </a:r>
            <a:r>
              <a:rPr lang="en-US" sz="1425" dirty="0">
                <a:solidFill>
                  <a:srgbClr val="063C67"/>
                </a:solidFill>
                <a:latin typeface="Calibri" pitchFamily="34" charset="0"/>
                <a:ea typeface="Calibri" pitchFamily="34" charset="-122"/>
                <a:cs typeface="Calibri" pitchFamily="34" charset="-120"/>
              </a:rPr>
              <a:t>, not negligence.</a:t>
            </a:r>
            <a:endParaRPr lang="en-US" sz="1425" dirty="0"/>
          </a:p>
        </p:txBody>
      </p:sp>
      <p:pic>
        <p:nvPicPr>
          <p:cNvPr id="17" name="Image 1" descr="preencoded.png"/>
          <p:cNvPicPr>
            <a:picLocks noChangeAspect="1"/>
          </p:cNvPicPr>
          <p:nvPr/>
        </p:nvPicPr>
        <p:blipFill>
          <a:blip r:embed="rId4"/>
          <a:stretch>
            <a:fillRect/>
          </a:stretch>
        </p:blipFill>
        <p:spPr>
          <a:xfrm>
            <a:off x="11229975" y="6567488"/>
            <a:ext cx="714375" cy="71438"/>
          </a:xfrm>
          <a:prstGeom prst="rect">
            <a:avLst/>
          </a:prstGeom>
        </p:spPr>
      </p:pic>
      <p:sp>
        <p:nvSpPr>
          <p:cNvPr id="18" name="Text 14"/>
          <p:cNvSpPr/>
          <p:nvPr/>
        </p:nvSpPr>
        <p:spPr>
          <a:xfrm>
            <a:off x="10505679" y="6465590"/>
            <a:ext cx="524272"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C0C0C8"/>
                </a:solidFill>
                <a:latin typeface="Calibri" pitchFamily="34" charset="0"/>
                <a:ea typeface="Calibri" pitchFamily="34" charset="-122"/>
                <a:cs typeface="Calibri" pitchFamily="34" charset="-120"/>
              </a:rPr>
              <a:t>17 | 20</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7192476"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OBJECTIVES VS. OUTCOMES</a:t>
            </a:r>
            <a:endParaRPr lang="en-US" sz="3225" dirty="0"/>
          </a:p>
        </p:txBody>
      </p:sp>
      <p:sp>
        <p:nvSpPr>
          <p:cNvPr id="4" name="Text 2"/>
          <p:cNvSpPr/>
          <p:nvPr/>
        </p:nvSpPr>
        <p:spPr>
          <a:xfrm>
            <a:off x="352425" y="666750"/>
            <a:ext cx="7367429"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2 campaigns · 2 chains · 23 nodes · 33 milestones · 510 declarations</a:t>
            </a:r>
            <a:endParaRPr lang="en-US" sz="1725" dirty="0"/>
          </a:p>
        </p:txBody>
      </p:sp>
      <p:sp>
        <p:nvSpPr>
          <p:cNvPr id="5" name="Shape 3"/>
          <p:cNvSpPr/>
          <p:nvPr/>
        </p:nvSpPr>
        <p:spPr>
          <a:xfrm>
            <a:off x="352425" y="1428750"/>
            <a:ext cx="438150" cy="9525"/>
          </a:xfrm>
          <a:prstGeom prst="rect">
            <a:avLst/>
          </a:prstGeom>
          <a:solidFill>
            <a:srgbClr val="C0C0C8"/>
          </a:solidFill>
          <a:ln/>
        </p:spPr>
        <p:txBody>
          <a:bodyPr/>
          <a:lstStyle/>
          <a:p>
            <a:endParaRPr lang="fr-FR"/>
          </a:p>
        </p:txBody>
      </p:sp>
      <p:sp>
        <p:nvSpPr>
          <p:cNvPr id="6" name="Text 4"/>
          <p:cNvSpPr/>
          <p:nvPr/>
        </p:nvSpPr>
        <p:spPr>
          <a:xfrm>
            <a:off x="352425" y="1568450"/>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O1</a:t>
            </a:r>
            <a:endParaRPr lang="en-US" sz="1500" dirty="0"/>
          </a:p>
        </p:txBody>
      </p:sp>
      <p:sp>
        <p:nvSpPr>
          <p:cNvPr id="7" name="Shape 5"/>
          <p:cNvSpPr/>
          <p:nvPr/>
        </p:nvSpPr>
        <p:spPr>
          <a:xfrm>
            <a:off x="981075" y="1428750"/>
            <a:ext cx="2381250" cy="9525"/>
          </a:xfrm>
          <a:prstGeom prst="rect">
            <a:avLst/>
          </a:prstGeom>
          <a:solidFill>
            <a:srgbClr val="C0C0C8"/>
          </a:solidFill>
          <a:ln/>
        </p:spPr>
        <p:txBody>
          <a:bodyPr/>
          <a:lstStyle/>
          <a:p>
            <a:endParaRPr lang="fr-FR"/>
          </a:p>
        </p:txBody>
      </p:sp>
      <p:sp>
        <p:nvSpPr>
          <p:cNvPr id="8" name="Shape 6"/>
          <p:cNvSpPr/>
          <p:nvPr/>
        </p:nvSpPr>
        <p:spPr>
          <a:xfrm>
            <a:off x="981075" y="1565275"/>
            <a:ext cx="506710" cy="254000"/>
          </a:xfrm>
          <a:prstGeom prst="rect">
            <a:avLst/>
          </a:prstGeom>
          <a:solidFill>
            <a:srgbClr val="E9F5FB"/>
          </a:solidFill>
          <a:ln/>
        </p:spPr>
        <p:txBody>
          <a:bodyPr/>
          <a:lstStyle/>
          <a:p>
            <a:endParaRPr lang="fr-FR"/>
          </a:p>
        </p:txBody>
      </p:sp>
      <p:sp>
        <p:nvSpPr>
          <p:cNvPr id="9" name="Text 7"/>
          <p:cNvSpPr/>
          <p:nvPr/>
        </p:nvSpPr>
        <p:spPr>
          <a:xfrm>
            <a:off x="1095375" y="1593850"/>
            <a:ext cx="328781"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a:t>
            </a:r>
            <a:endParaRPr lang="en-US" sz="1275" dirty="0"/>
          </a:p>
        </p:txBody>
      </p:sp>
      <p:sp>
        <p:nvSpPr>
          <p:cNvPr id="10" name="Shape 8"/>
          <p:cNvSpPr/>
          <p:nvPr/>
        </p:nvSpPr>
        <p:spPr>
          <a:xfrm>
            <a:off x="3552825" y="1428750"/>
            <a:ext cx="8096250" cy="9525"/>
          </a:xfrm>
          <a:prstGeom prst="rect">
            <a:avLst/>
          </a:prstGeom>
          <a:solidFill>
            <a:srgbClr val="C0C0C8"/>
          </a:solidFill>
          <a:ln/>
        </p:spPr>
        <p:txBody>
          <a:bodyPr/>
          <a:lstStyle/>
          <a:p>
            <a:endParaRPr lang="fr-FR"/>
          </a:p>
        </p:txBody>
      </p:sp>
      <p:sp>
        <p:nvSpPr>
          <p:cNvPr id="11" name="Text 9"/>
          <p:cNvSpPr/>
          <p:nvPr/>
        </p:nvSpPr>
        <p:spPr>
          <a:xfrm>
            <a:off x="3552825" y="1568450"/>
            <a:ext cx="8339137" cy="285750"/>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Six blocks, bidirectional propagation, asymmetric score — every term decomposable</a:t>
            </a:r>
            <a:endParaRPr lang="en-US" sz="1425" dirty="0"/>
          </a:p>
        </p:txBody>
      </p:sp>
      <p:sp>
        <p:nvSpPr>
          <p:cNvPr id="12" name="Shape 10"/>
          <p:cNvSpPr/>
          <p:nvPr/>
        </p:nvSpPr>
        <p:spPr>
          <a:xfrm>
            <a:off x="352425" y="1949450"/>
            <a:ext cx="438150" cy="9525"/>
          </a:xfrm>
          <a:prstGeom prst="rect">
            <a:avLst/>
          </a:prstGeom>
          <a:solidFill>
            <a:srgbClr val="C0C0C8"/>
          </a:solidFill>
          <a:ln/>
        </p:spPr>
        <p:txBody>
          <a:bodyPr/>
          <a:lstStyle/>
          <a:p>
            <a:endParaRPr lang="fr-FR"/>
          </a:p>
        </p:txBody>
      </p:sp>
      <p:sp>
        <p:nvSpPr>
          <p:cNvPr id="13" name="Text 11"/>
          <p:cNvSpPr/>
          <p:nvPr/>
        </p:nvSpPr>
        <p:spPr>
          <a:xfrm>
            <a:off x="352425" y="2089150"/>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O2</a:t>
            </a:r>
            <a:endParaRPr lang="en-US" sz="1500" dirty="0"/>
          </a:p>
        </p:txBody>
      </p:sp>
      <p:sp>
        <p:nvSpPr>
          <p:cNvPr id="14" name="Shape 12"/>
          <p:cNvSpPr/>
          <p:nvPr/>
        </p:nvSpPr>
        <p:spPr>
          <a:xfrm>
            <a:off x="981075" y="1949450"/>
            <a:ext cx="2381250" cy="9525"/>
          </a:xfrm>
          <a:prstGeom prst="rect">
            <a:avLst/>
          </a:prstGeom>
          <a:solidFill>
            <a:srgbClr val="C0C0C8"/>
          </a:solidFill>
          <a:ln/>
        </p:spPr>
        <p:txBody>
          <a:bodyPr/>
          <a:lstStyle/>
          <a:p>
            <a:endParaRPr lang="fr-FR"/>
          </a:p>
        </p:txBody>
      </p:sp>
      <p:sp>
        <p:nvSpPr>
          <p:cNvPr id="15" name="Shape 13"/>
          <p:cNvSpPr/>
          <p:nvPr/>
        </p:nvSpPr>
        <p:spPr>
          <a:xfrm>
            <a:off x="981075" y="2085975"/>
            <a:ext cx="506710" cy="254000"/>
          </a:xfrm>
          <a:prstGeom prst="rect">
            <a:avLst/>
          </a:prstGeom>
          <a:solidFill>
            <a:srgbClr val="E9F5FB"/>
          </a:solidFill>
          <a:ln/>
        </p:spPr>
        <p:txBody>
          <a:bodyPr/>
          <a:lstStyle/>
          <a:p>
            <a:endParaRPr lang="fr-FR"/>
          </a:p>
        </p:txBody>
      </p:sp>
      <p:sp>
        <p:nvSpPr>
          <p:cNvPr id="16" name="Text 14"/>
          <p:cNvSpPr/>
          <p:nvPr/>
        </p:nvSpPr>
        <p:spPr>
          <a:xfrm>
            <a:off x="1095375" y="2114550"/>
            <a:ext cx="328781"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a:t>
            </a:r>
            <a:endParaRPr lang="en-US" sz="1275" dirty="0"/>
          </a:p>
        </p:txBody>
      </p:sp>
      <p:sp>
        <p:nvSpPr>
          <p:cNvPr id="17" name="Shape 15"/>
          <p:cNvSpPr/>
          <p:nvPr/>
        </p:nvSpPr>
        <p:spPr>
          <a:xfrm>
            <a:off x="3552825" y="1949450"/>
            <a:ext cx="8096250" cy="9525"/>
          </a:xfrm>
          <a:prstGeom prst="rect">
            <a:avLst/>
          </a:prstGeom>
          <a:solidFill>
            <a:srgbClr val="C0C0C8"/>
          </a:solidFill>
          <a:ln/>
        </p:spPr>
        <p:txBody>
          <a:bodyPr/>
          <a:lstStyle/>
          <a:p>
            <a:endParaRPr lang="fr-FR"/>
          </a:p>
        </p:txBody>
      </p:sp>
      <p:sp>
        <p:nvSpPr>
          <p:cNvPr id="18" name="Text 16"/>
          <p:cNvSpPr/>
          <p:nvPr/>
        </p:nvSpPr>
        <p:spPr>
          <a:xfrm>
            <a:off x="3552825" y="2089150"/>
            <a:ext cx="8339137" cy="285750"/>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SupplyScore delivered: multi-tenant, every write audited, tested, documented</a:t>
            </a:r>
            <a:endParaRPr lang="en-US" sz="1425" dirty="0"/>
          </a:p>
        </p:txBody>
      </p:sp>
      <p:sp>
        <p:nvSpPr>
          <p:cNvPr id="19" name="Shape 17"/>
          <p:cNvSpPr/>
          <p:nvPr/>
        </p:nvSpPr>
        <p:spPr>
          <a:xfrm>
            <a:off x="352425" y="2470150"/>
            <a:ext cx="438150" cy="9525"/>
          </a:xfrm>
          <a:prstGeom prst="rect">
            <a:avLst/>
          </a:prstGeom>
          <a:solidFill>
            <a:srgbClr val="C0C0C8"/>
          </a:solidFill>
          <a:ln/>
        </p:spPr>
        <p:txBody>
          <a:bodyPr/>
          <a:lstStyle/>
          <a:p>
            <a:endParaRPr lang="fr-FR"/>
          </a:p>
        </p:txBody>
      </p:sp>
      <p:sp>
        <p:nvSpPr>
          <p:cNvPr id="20" name="Text 18"/>
          <p:cNvSpPr/>
          <p:nvPr/>
        </p:nvSpPr>
        <p:spPr>
          <a:xfrm>
            <a:off x="352425" y="2609850"/>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O3</a:t>
            </a:r>
            <a:endParaRPr lang="en-US" sz="1500" dirty="0"/>
          </a:p>
        </p:txBody>
      </p:sp>
      <p:sp>
        <p:nvSpPr>
          <p:cNvPr id="21" name="Shape 19"/>
          <p:cNvSpPr/>
          <p:nvPr/>
        </p:nvSpPr>
        <p:spPr>
          <a:xfrm>
            <a:off x="981075" y="2470150"/>
            <a:ext cx="2381250" cy="9525"/>
          </a:xfrm>
          <a:prstGeom prst="rect">
            <a:avLst/>
          </a:prstGeom>
          <a:solidFill>
            <a:srgbClr val="C0C0C8"/>
          </a:solidFill>
          <a:ln/>
        </p:spPr>
        <p:txBody>
          <a:bodyPr/>
          <a:lstStyle/>
          <a:p>
            <a:endParaRPr lang="fr-FR"/>
          </a:p>
        </p:txBody>
      </p:sp>
      <p:sp>
        <p:nvSpPr>
          <p:cNvPr id="22" name="Shape 20"/>
          <p:cNvSpPr/>
          <p:nvPr/>
        </p:nvSpPr>
        <p:spPr>
          <a:xfrm>
            <a:off x="981075" y="2606675"/>
            <a:ext cx="506710" cy="254000"/>
          </a:xfrm>
          <a:prstGeom prst="rect">
            <a:avLst/>
          </a:prstGeom>
          <a:solidFill>
            <a:srgbClr val="E9F5FB"/>
          </a:solidFill>
          <a:ln/>
        </p:spPr>
        <p:txBody>
          <a:bodyPr/>
          <a:lstStyle/>
          <a:p>
            <a:endParaRPr lang="fr-FR"/>
          </a:p>
        </p:txBody>
      </p:sp>
      <p:sp>
        <p:nvSpPr>
          <p:cNvPr id="23" name="Text 21"/>
          <p:cNvSpPr/>
          <p:nvPr/>
        </p:nvSpPr>
        <p:spPr>
          <a:xfrm>
            <a:off x="1095375" y="2635250"/>
            <a:ext cx="328781"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a:t>
            </a:r>
            <a:endParaRPr lang="en-US" sz="1275" dirty="0"/>
          </a:p>
        </p:txBody>
      </p:sp>
      <p:sp>
        <p:nvSpPr>
          <p:cNvPr id="24" name="Shape 22"/>
          <p:cNvSpPr/>
          <p:nvPr/>
        </p:nvSpPr>
        <p:spPr>
          <a:xfrm>
            <a:off x="3552825" y="2470150"/>
            <a:ext cx="8096250" cy="9525"/>
          </a:xfrm>
          <a:prstGeom prst="rect">
            <a:avLst/>
          </a:prstGeom>
          <a:solidFill>
            <a:srgbClr val="C0C0C8"/>
          </a:solidFill>
          <a:ln/>
        </p:spPr>
        <p:txBody>
          <a:bodyPr/>
          <a:lstStyle/>
          <a:p>
            <a:endParaRPr lang="fr-FR"/>
          </a:p>
        </p:txBody>
      </p:sp>
      <p:sp>
        <p:nvSpPr>
          <p:cNvPr id="25" name="Text 23"/>
          <p:cNvSpPr/>
          <p:nvPr/>
        </p:nvSpPr>
        <p:spPr>
          <a:xfrm>
            <a:off x="3552825" y="2609850"/>
            <a:ext cx="8339137" cy="285750"/>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Propagation and criticality operational; the saturation collapse found and repaired</a:t>
            </a:r>
            <a:endParaRPr lang="en-US" sz="1425" dirty="0"/>
          </a:p>
        </p:txBody>
      </p:sp>
      <p:sp>
        <p:nvSpPr>
          <p:cNvPr id="26" name="Shape 24"/>
          <p:cNvSpPr/>
          <p:nvPr/>
        </p:nvSpPr>
        <p:spPr>
          <a:xfrm>
            <a:off x="352425" y="2990850"/>
            <a:ext cx="438150" cy="743545"/>
          </a:xfrm>
          <a:prstGeom prst="rect">
            <a:avLst/>
          </a:prstGeom>
          <a:solidFill>
            <a:srgbClr val="063C67"/>
          </a:solidFill>
          <a:ln/>
        </p:spPr>
        <p:txBody>
          <a:bodyPr/>
          <a:lstStyle/>
          <a:p>
            <a:endParaRPr lang="fr-FR"/>
          </a:p>
        </p:txBody>
      </p:sp>
      <p:sp>
        <p:nvSpPr>
          <p:cNvPr id="27" name="Shape 25"/>
          <p:cNvSpPr/>
          <p:nvPr/>
        </p:nvSpPr>
        <p:spPr>
          <a:xfrm>
            <a:off x="352425" y="2990850"/>
            <a:ext cx="438150" cy="9525"/>
          </a:xfrm>
          <a:prstGeom prst="rect">
            <a:avLst/>
          </a:prstGeom>
          <a:solidFill>
            <a:srgbClr val="C0C0C8"/>
          </a:solidFill>
          <a:ln/>
        </p:spPr>
        <p:txBody>
          <a:bodyPr/>
          <a:lstStyle/>
          <a:p>
            <a:endParaRPr lang="fr-FR"/>
          </a:p>
        </p:txBody>
      </p:sp>
      <p:sp>
        <p:nvSpPr>
          <p:cNvPr id="28" name="Text 26"/>
          <p:cNvSpPr/>
          <p:nvPr/>
        </p:nvSpPr>
        <p:spPr>
          <a:xfrm>
            <a:off x="314325" y="3130550"/>
            <a:ext cx="514350" cy="508595"/>
          </a:xfrm>
          <a:prstGeom prst="rect">
            <a:avLst/>
          </a:prstGeom>
          <a:noFill/>
          <a:ln/>
        </p:spPr>
        <p:txBody>
          <a:bodyPr wrap="square" lIns="25400" tIns="25400" rIns="25400" bIns="25400" rtlCol="0" anchor="t">
            <a:normAutofit/>
          </a:bodyPr>
          <a:lstStyle/>
          <a:p>
            <a:pPr marL="0" indent="0" algn="ctr">
              <a:lnSpc>
                <a:spcPct val="92857"/>
              </a:lnSpc>
              <a:buNone/>
            </a:pPr>
            <a:r>
              <a:rPr lang="en-US" sz="1500" b="1" dirty="0">
                <a:solidFill>
                  <a:srgbClr val="FFC800"/>
                </a:solidFill>
                <a:latin typeface="Arial Black" pitchFamily="34" charset="0"/>
                <a:ea typeface="Arial Black" pitchFamily="34" charset="-122"/>
                <a:cs typeface="Arial Black" pitchFamily="34" charset="-120"/>
              </a:rPr>
              <a:t>O4</a:t>
            </a:r>
            <a:endParaRPr lang="en-US" sz="1500" dirty="0"/>
          </a:p>
        </p:txBody>
      </p:sp>
      <p:sp>
        <p:nvSpPr>
          <p:cNvPr id="29" name="Shape 27"/>
          <p:cNvSpPr/>
          <p:nvPr/>
        </p:nvSpPr>
        <p:spPr>
          <a:xfrm>
            <a:off x="981075" y="2990850"/>
            <a:ext cx="2381250" cy="743545"/>
          </a:xfrm>
          <a:prstGeom prst="rect">
            <a:avLst/>
          </a:prstGeom>
          <a:solidFill>
            <a:srgbClr val="FFF6DA"/>
          </a:solidFill>
          <a:ln/>
        </p:spPr>
        <p:txBody>
          <a:bodyPr/>
          <a:lstStyle/>
          <a:p>
            <a:endParaRPr lang="fr-FR"/>
          </a:p>
        </p:txBody>
      </p:sp>
      <p:sp>
        <p:nvSpPr>
          <p:cNvPr id="30" name="Shape 28"/>
          <p:cNvSpPr/>
          <p:nvPr/>
        </p:nvSpPr>
        <p:spPr>
          <a:xfrm>
            <a:off x="981075" y="2990850"/>
            <a:ext cx="2381250" cy="9525"/>
          </a:xfrm>
          <a:prstGeom prst="rect">
            <a:avLst/>
          </a:prstGeom>
          <a:solidFill>
            <a:srgbClr val="C0C0C8"/>
          </a:solidFill>
          <a:ln/>
        </p:spPr>
        <p:txBody>
          <a:bodyPr/>
          <a:lstStyle/>
          <a:p>
            <a:endParaRPr lang="fr-FR"/>
          </a:p>
        </p:txBody>
      </p:sp>
      <p:sp>
        <p:nvSpPr>
          <p:cNvPr id="31" name="Shape 29"/>
          <p:cNvSpPr/>
          <p:nvPr/>
        </p:nvSpPr>
        <p:spPr>
          <a:xfrm>
            <a:off x="981075" y="3127375"/>
            <a:ext cx="1899047" cy="254000"/>
          </a:xfrm>
          <a:prstGeom prst="rect">
            <a:avLst/>
          </a:prstGeom>
          <a:solidFill>
            <a:srgbClr val="FFDA65"/>
          </a:solidFill>
          <a:ln/>
        </p:spPr>
        <p:txBody>
          <a:bodyPr/>
          <a:lstStyle/>
          <a:p>
            <a:endParaRPr lang="fr-FR"/>
          </a:p>
        </p:txBody>
      </p:sp>
      <p:sp>
        <p:nvSpPr>
          <p:cNvPr id="32" name="Text 30"/>
          <p:cNvSpPr/>
          <p:nvPr/>
        </p:nvSpPr>
        <p:spPr>
          <a:xfrm>
            <a:off x="1095375" y="3155950"/>
            <a:ext cx="1860352"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 domain established</a:t>
            </a:r>
            <a:endParaRPr lang="en-US" sz="1275" dirty="0"/>
          </a:p>
        </p:txBody>
      </p:sp>
      <p:sp>
        <p:nvSpPr>
          <p:cNvPr id="33" name="Shape 31"/>
          <p:cNvSpPr/>
          <p:nvPr/>
        </p:nvSpPr>
        <p:spPr>
          <a:xfrm>
            <a:off x="3552825" y="2990850"/>
            <a:ext cx="8096250" cy="743545"/>
          </a:xfrm>
          <a:prstGeom prst="rect">
            <a:avLst/>
          </a:prstGeom>
          <a:solidFill>
            <a:srgbClr val="FFF6DA"/>
          </a:solidFill>
          <a:ln/>
        </p:spPr>
        <p:txBody>
          <a:bodyPr/>
          <a:lstStyle/>
          <a:p>
            <a:endParaRPr lang="fr-FR"/>
          </a:p>
        </p:txBody>
      </p:sp>
      <p:sp>
        <p:nvSpPr>
          <p:cNvPr id="34" name="Shape 32"/>
          <p:cNvSpPr/>
          <p:nvPr/>
        </p:nvSpPr>
        <p:spPr>
          <a:xfrm>
            <a:off x="3552825" y="2990850"/>
            <a:ext cx="8096250" cy="9525"/>
          </a:xfrm>
          <a:prstGeom prst="rect">
            <a:avLst/>
          </a:prstGeom>
          <a:solidFill>
            <a:srgbClr val="C0C0C8"/>
          </a:solidFill>
          <a:ln/>
        </p:spPr>
        <p:txBody>
          <a:bodyPr/>
          <a:lstStyle/>
          <a:p>
            <a:endParaRPr lang="fr-FR"/>
          </a:p>
        </p:txBody>
      </p:sp>
      <p:sp>
        <p:nvSpPr>
          <p:cNvPr id="35" name="Text 33"/>
          <p:cNvSpPr/>
          <p:nvPr/>
        </p:nvSpPr>
        <p:spPr>
          <a:xfrm>
            <a:off x="3552825" y="3130550"/>
            <a:ext cx="8339137" cy="508595"/>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Right at node level on chain 1; scored, located, repaired, re-measured; then bounded by chain 2 and the baseline</a:t>
            </a:r>
            <a:endParaRPr lang="en-US" sz="1425" dirty="0"/>
          </a:p>
        </p:txBody>
      </p:sp>
      <p:sp>
        <p:nvSpPr>
          <p:cNvPr id="36" name="Shape 34"/>
          <p:cNvSpPr/>
          <p:nvPr/>
        </p:nvSpPr>
        <p:spPr>
          <a:xfrm>
            <a:off x="352425" y="3734395"/>
            <a:ext cx="438150" cy="9525"/>
          </a:xfrm>
          <a:prstGeom prst="rect">
            <a:avLst/>
          </a:prstGeom>
          <a:solidFill>
            <a:srgbClr val="C0C0C8"/>
          </a:solidFill>
          <a:ln/>
        </p:spPr>
        <p:txBody>
          <a:bodyPr/>
          <a:lstStyle/>
          <a:p>
            <a:endParaRPr lang="fr-FR"/>
          </a:p>
        </p:txBody>
      </p:sp>
      <p:sp>
        <p:nvSpPr>
          <p:cNvPr id="37" name="Text 35"/>
          <p:cNvSpPr/>
          <p:nvPr/>
        </p:nvSpPr>
        <p:spPr>
          <a:xfrm>
            <a:off x="352425" y="3874095"/>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O5</a:t>
            </a:r>
            <a:endParaRPr lang="en-US" sz="1500" dirty="0"/>
          </a:p>
        </p:txBody>
      </p:sp>
      <p:sp>
        <p:nvSpPr>
          <p:cNvPr id="38" name="Shape 36"/>
          <p:cNvSpPr/>
          <p:nvPr/>
        </p:nvSpPr>
        <p:spPr>
          <a:xfrm>
            <a:off x="981075" y="3734395"/>
            <a:ext cx="2381250" cy="9525"/>
          </a:xfrm>
          <a:prstGeom prst="rect">
            <a:avLst/>
          </a:prstGeom>
          <a:solidFill>
            <a:srgbClr val="C0C0C8"/>
          </a:solidFill>
          <a:ln/>
        </p:spPr>
        <p:txBody>
          <a:bodyPr/>
          <a:lstStyle/>
          <a:p>
            <a:endParaRPr lang="fr-FR"/>
          </a:p>
        </p:txBody>
      </p:sp>
      <p:sp>
        <p:nvSpPr>
          <p:cNvPr id="39" name="Shape 37"/>
          <p:cNvSpPr/>
          <p:nvPr/>
        </p:nvSpPr>
        <p:spPr>
          <a:xfrm>
            <a:off x="981075" y="3870920"/>
            <a:ext cx="506710" cy="254000"/>
          </a:xfrm>
          <a:prstGeom prst="rect">
            <a:avLst/>
          </a:prstGeom>
          <a:solidFill>
            <a:srgbClr val="E9F5FB"/>
          </a:solidFill>
          <a:ln/>
        </p:spPr>
        <p:txBody>
          <a:bodyPr/>
          <a:lstStyle/>
          <a:p>
            <a:endParaRPr lang="fr-FR"/>
          </a:p>
        </p:txBody>
      </p:sp>
      <p:sp>
        <p:nvSpPr>
          <p:cNvPr id="40" name="Text 38"/>
          <p:cNvSpPr/>
          <p:nvPr/>
        </p:nvSpPr>
        <p:spPr>
          <a:xfrm>
            <a:off x="1095375" y="3899495"/>
            <a:ext cx="328781"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a:t>
            </a:r>
            <a:endParaRPr lang="en-US" sz="1275" dirty="0"/>
          </a:p>
        </p:txBody>
      </p:sp>
      <p:sp>
        <p:nvSpPr>
          <p:cNvPr id="41" name="Shape 39"/>
          <p:cNvSpPr/>
          <p:nvPr/>
        </p:nvSpPr>
        <p:spPr>
          <a:xfrm>
            <a:off x="3552825" y="3734395"/>
            <a:ext cx="8096250" cy="9525"/>
          </a:xfrm>
          <a:prstGeom prst="rect">
            <a:avLst/>
          </a:prstGeom>
          <a:solidFill>
            <a:srgbClr val="C0C0C8"/>
          </a:solidFill>
          <a:ln/>
        </p:spPr>
        <p:txBody>
          <a:bodyPr/>
          <a:lstStyle/>
          <a:p>
            <a:endParaRPr lang="fr-FR"/>
          </a:p>
        </p:txBody>
      </p:sp>
      <p:sp>
        <p:nvSpPr>
          <p:cNvPr id="42" name="Text 40"/>
          <p:cNvSpPr/>
          <p:nvPr/>
        </p:nvSpPr>
        <p:spPr>
          <a:xfrm>
            <a:off x="3552825" y="3874095"/>
            <a:ext cx="8339137" cy="285750"/>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Every reported figure regenerated from raw artefacts by script, not transcribed</a:t>
            </a:r>
            <a:endParaRPr lang="en-US" sz="1425" dirty="0"/>
          </a:p>
        </p:txBody>
      </p:sp>
      <p:sp>
        <p:nvSpPr>
          <p:cNvPr id="43" name="Shape 41"/>
          <p:cNvSpPr/>
          <p:nvPr/>
        </p:nvSpPr>
        <p:spPr>
          <a:xfrm>
            <a:off x="352425" y="4775796"/>
            <a:ext cx="438150" cy="9525"/>
          </a:xfrm>
          <a:prstGeom prst="rect">
            <a:avLst/>
          </a:prstGeom>
          <a:solidFill>
            <a:srgbClr val="C0C0C8"/>
          </a:solidFill>
          <a:ln/>
        </p:spPr>
        <p:txBody>
          <a:bodyPr/>
          <a:lstStyle/>
          <a:p>
            <a:endParaRPr lang="fr-FR"/>
          </a:p>
        </p:txBody>
      </p:sp>
      <p:sp>
        <p:nvSpPr>
          <p:cNvPr id="44" name="Shape 42"/>
          <p:cNvSpPr/>
          <p:nvPr/>
        </p:nvSpPr>
        <p:spPr>
          <a:xfrm>
            <a:off x="352425" y="4255096"/>
            <a:ext cx="438150" cy="9525"/>
          </a:xfrm>
          <a:prstGeom prst="rect">
            <a:avLst/>
          </a:prstGeom>
          <a:solidFill>
            <a:srgbClr val="C0C0C8"/>
          </a:solidFill>
          <a:ln/>
        </p:spPr>
        <p:txBody>
          <a:bodyPr/>
          <a:lstStyle/>
          <a:p>
            <a:endParaRPr lang="fr-FR"/>
          </a:p>
        </p:txBody>
      </p:sp>
      <p:sp>
        <p:nvSpPr>
          <p:cNvPr id="45" name="Text 43"/>
          <p:cNvSpPr/>
          <p:nvPr/>
        </p:nvSpPr>
        <p:spPr>
          <a:xfrm>
            <a:off x="352425" y="4394796"/>
            <a:ext cx="514350" cy="285750"/>
          </a:xfrm>
          <a:prstGeom prst="rect">
            <a:avLst/>
          </a:prstGeom>
          <a:noFill/>
          <a:ln/>
        </p:spPr>
        <p:txBody>
          <a:bodyPr wrap="square" lIns="25400" tIns="25400" rIns="25400" bIns="25400" rtlCol="0" anchor="t">
            <a:normAutofit/>
          </a:bodyPr>
          <a:lstStyle/>
          <a:p>
            <a:pPr marL="0" indent="0" algn="l">
              <a:lnSpc>
                <a:spcPct val="92857"/>
              </a:lnSpc>
              <a:buNone/>
            </a:pPr>
            <a:r>
              <a:rPr lang="en-US" sz="1500" b="1" dirty="0">
                <a:solidFill>
                  <a:srgbClr val="1D93C9"/>
                </a:solidFill>
                <a:latin typeface="Arial Black" pitchFamily="34" charset="0"/>
                <a:ea typeface="Arial Black" pitchFamily="34" charset="-122"/>
                <a:cs typeface="Arial Black" pitchFamily="34" charset="-120"/>
              </a:rPr>
              <a:t>O6</a:t>
            </a:r>
            <a:endParaRPr lang="en-US" sz="1500" dirty="0"/>
          </a:p>
        </p:txBody>
      </p:sp>
      <p:sp>
        <p:nvSpPr>
          <p:cNvPr id="46" name="Shape 44"/>
          <p:cNvSpPr/>
          <p:nvPr/>
        </p:nvSpPr>
        <p:spPr>
          <a:xfrm>
            <a:off x="981075" y="4775796"/>
            <a:ext cx="2381250" cy="9525"/>
          </a:xfrm>
          <a:prstGeom prst="rect">
            <a:avLst/>
          </a:prstGeom>
          <a:solidFill>
            <a:srgbClr val="C0C0C8"/>
          </a:solidFill>
          <a:ln/>
        </p:spPr>
        <p:txBody>
          <a:bodyPr/>
          <a:lstStyle/>
          <a:p>
            <a:endParaRPr lang="fr-FR"/>
          </a:p>
        </p:txBody>
      </p:sp>
      <p:sp>
        <p:nvSpPr>
          <p:cNvPr id="47" name="Shape 45"/>
          <p:cNvSpPr/>
          <p:nvPr/>
        </p:nvSpPr>
        <p:spPr>
          <a:xfrm>
            <a:off x="981075" y="4255096"/>
            <a:ext cx="2381250" cy="9525"/>
          </a:xfrm>
          <a:prstGeom prst="rect">
            <a:avLst/>
          </a:prstGeom>
          <a:solidFill>
            <a:srgbClr val="C0C0C8"/>
          </a:solidFill>
          <a:ln/>
        </p:spPr>
        <p:txBody>
          <a:bodyPr/>
          <a:lstStyle/>
          <a:p>
            <a:endParaRPr lang="fr-FR"/>
          </a:p>
        </p:txBody>
      </p:sp>
      <p:sp>
        <p:nvSpPr>
          <p:cNvPr id="48" name="Shape 46"/>
          <p:cNvSpPr/>
          <p:nvPr/>
        </p:nvSpPr>
        <p:spPr>
          <a:xfrm>
            <a:off x="981075" y="4391620"/>
            <a:ext cx="1206401" cy="254000"/>
          </a:xfrm>
          <a:prstGeom prst="rect">
            <a:avLst/>
          </a:prstGeom>
          <a:solidFill>
            <a:srgbClr val="FFDA65"/>
          </a:solidFill>
          <a:ln/>
        </p:spPr>
        <p:txBody>
          <a:bodyPr/>
          <a:lstStyle/>
          <a:p>
            <a:endParaRPr lang="fr-FR"/>
          </a:p>
        </p:txBody>
      </p:sp>
      <p:sp>
        <p:nvSpPr>
          <p:cNvPr id="49" name="Text 47"/>
          <p:cNvSpPr/>
          <p:nvPr/>
        </p:nvSpPr>
        <p:spPr>
          <a:xfrm>
            <a:off x="1095375" y="4420195"/>
            <a:ext cx="1098441" cy="234950"/>
          </a:xfrm>
          <a:prstGeom prst="rect">
            <a:avLst/>
          </a:prstGeom>
          <a:noFill/>
          <a:ln/>
        </p:spPr>
        <p:txBody>
          <a:bodyPr wrap="square" lIns="25400" tIns="25400" rIns="25400" bIns="25400" rtlCol="0" anchor="t">
            <a:normAutofit fontScale="92500" lnSpcReduction="10000"/>
          </a:bodyPr>
          <a:lstStyle/>
          <a:p>
            <a:pPr marL="0" indent="0" algn="l">
              <a:lnSpc>
                <a:spcPct val="106935"/>
              </a:lnSpc>
              <a:buNone/>
            </a:pPr>
            <a:r>
              <a:rPr lang="en-US" sz="1275" b="1" dirty="0">
                <a:solidFill>
                  <a:srgbClr val="063C67"/>
                </a:solidFill>
                <a:latin typeface="Calibri" pitchFamily="34" charset="0"/>
                <a:ea typeface="Calibri" pitchFamily="34" charset="-122"/>
                <a:cs typeface="Calibri" pitchFamily="34" charset="-120"/>
              </a:rPr>
              <a:t>Met, reframed</a:t>
            </a:r>
            <a:endParaRPr lang="en-US" sz="1275" dirty="0"/>
          </a:p>
        </p:txBody>
      </p:sp>
      <p:sp>
        <p:nvSpPr>
          <p:cNvPr id="50" name="Shape 48"/>
          <p:cNvSpPr/>
          <p:nvPr/>
        </p:nvSpPr>
        <p:spPr>
          <a:xfrm>
            <a:off x="3552825" y="4775796"/>
            <a:ext cx="8096250" cy="9525"/>
          </a:xfrm>
          <a:prstGeom prst="rect">
            <a:avLst/>
          </a:prstGeom>
          <a:solidFill>
            <a:srgbClr val="C0C0C8"/>
          </a:solidFill>
          <a:ln/>
        </p:spPr>
        <p:txBody>
          <a:bodyPr/>
          <a:lstStyle/>
          <a:p>
            <a:endParaRPr lang="fr-FR"/>
          </a:p>
        </p:txBody>
      </p:sp>
      <p:sp>
        <p:nvSpPr>
          <p:cNvPr id="51" name="Shape 49"/>
          <p:cNvSpPr/>
          <p:nvPr/>
        </p:nvSpPr>
        <p:spPr>
          <a:xfrm>
            <a:off x="3552825" y="4255096"/>
            <a:ext cx="8096250" cy="9525"/>
          </a:xfrm>
          <a:prstGeom prst="rect">
            <a:avLst/>
          </a:prstGeom>
          <a:solidFill>
            <a:srgbClr val="C0C0C8"/>
          </a:solidFill>
          <a:ln/>
        </p:spPr>
        <p:txBody>
          <a:bodyPr/>
          <a:lstStyle/>
          <a:p>
            <a:endParaRPr lang="fr-FR"/>
          </a:p>
        </p:txBody>
      </p:sp>
      <p:sp>
        <p:nvSpPr>
          <p:cNvPr id="52" name="Text 50"/>
          <p:cNvSpPr/>
          <p:nvPr/>
        </p:nvSpPr>
        <p:spPr>
          <a:xfrm>
            <a:off x="3552825" y="4394796"/>
            <a:ext cx="8339137" cy="285750"/>
          </a:xfrm>
          <a:prstGeom prst="rect">
            <a:avLst/>
          </a:prstGeom>
          <a:noFill/>
          <a:ln/>
        </p:spPr>
        <p:txBody>
          <a:bodyPr wrap="square" lIns="25400" tIns="25400" rIns="25400" bIns="25400" rtlCol="0" anchor="t">
            <a:normAutofit/>
          </a:bodyPr>
          <a:lstStyle/>
          <a:p>
            <a:pPr marL="0" indent="0" algn="l">
              <a:lnSpc>
                <a:spcPct val="105857"/>
              </a:lnSpc>
              <a:buNone/>
            </a:pPr>
            <a:r>
              <a:rPr lang="en-US" sz="1425" dirty="0">
                <a:solidFill>
                  <a:srgbClr val="063C67"/>
                </a:solidFill>
                <a:latin typeface="Calibri" pitchFamily="34" charset="0"/>
                <a:ea typeface="Calibri" pitchFamily="34" charset="-122"/>
                <a:cs typeface="Calibri" pitchFamily="34" charset="-120"/>
              </a:rPr>
              <a:t>Docks cannot be counted from nadir, established by measurement. Segmentation reaches −35 % bias</a:t>
            </a:r>
            <a:endParaRPr lang="en-US" sz="1425" dirty="0"/>
          </a:p>
        </p:txBody>
      </p:sp>
      <p:sp>
        <p:nvSpPr>
          <p:cNvPr id="53" name="Shape 51"/>
          <p:cNvSpPr/>
          <p:nvPr/>
        </p:nvSpPr>
        <p:spPr>
          <a:xfrm>
            <a:off x="314325" y="4953000"/>
            <a:ext cx="11334750" cy="1298178"/>
          </a:xfrm>
          <a:prstGeom prst="rect">
            <a:avLst/>
          </a:prstGeom>
          <a:solidFill>
            <a:srgbClr val="063C67"/>
          </a:solidFill>
          <a:ln/>
        </p:spPr>
        <p:txBody>
          <a:bodyPr/>
          <a:lstStyle/>
          <a:p>
            <a:endParaRPr lang="fr-FR"/>
          </a:p>
        </p:txBody>
      </p:sp>
      <p:sp>
        <p:nvSpPr>
          <p:cNvPr id="54" name="Text 52"/>
          <p:cNvSpPr/>
          <p:nvPr/>
        </p:nvSpPr>
        <p:spPr>
          <a:xfrm>
            <a:off x="619125" y="5181600"/>
            <a:ext cx="1242631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FFDA65"/>
                </a:solidFill>
                <a:latin typeface="Arial" pitchFamily="34" charset="0"/>
                <a:ea typeface="Arial" pitchFamily="34" charset="-122"/>
                <a:cs typeface="Arial" pitchFamily="34" charset="-120"/>
              </a:rPr>
              <a:t>WHAT THE PROGRAMME CAN NOW SAY ABOUT SUPPLYSCORE</a:t>
            </a:r>
            <a:endParaRPr lang="en-US" sz="1050" dirty="0"/>
          </a:p>
        </p:txBody>
      </p:sp>
      <p:pic>
        <p:nvPicPr>
          <p:cNvPr id="55" name="Image 0" descr="preencoded.png"/>
          <p:cNvPicPr>
            <a:picLocks noChangeAspect="1"/>
          </p:cNvPicPr>
          <p:nvPr/>
        </p:nvPicPr>
        <p:blipFill>
          <a:blip r:embed="rId3"/>
          <a:stretch>
            <a:fillRect/>
          </a:stretch>
        </p:blipFill>
        <p:spPr>
          <a:xfrm>
            <a:off x="619125" y="5555853"/>
            <a:ext cx="402332" cy="419100"/>
          </a:xfrm>
          <a:prstGeom prst="rect">
            <a:avLst/>
          </a:prstGeom>
        </p:spPr>
      </p:pic>
      <p:sp>
        <p:nvSpPr>
          <p:cNvPr id="56" name="Text 53"/>
          <p:cNvSpPr/>
          <p:nvPr/>
        </p:nvSpPr>
        <p:spPr>
          <a:xfrm>
            <a:off x="1173857" y="5636816"/>
            <a:ext cx="3217466" cy="295275"/>
          </a:xfrm>
          <a:prstGeom prst="rect">
            <a:avLst/>
          </a:prstGeom>
          <a:noFill/>
          <a:ln/>
        </p:spPr>
        <p:txBody>
          <a:bodyPr wrap="square" lIns="25400" tIns="25400" rIns="25400" bIns="25400" rtlCol="0" anchor="t">
            <a:normAutofit/>
          </a:bodyPr>
          <a:lstStyle/>
          <a:p>
            <a:pPr marL="0" indent="0" algn="l">
              <a:lnSpc>
                <a:spcPct val="109459"/>
              </a:lnSpc>
              <a:buNone/>
            </a:pPr>
            <a:r>
              <a:rPr lang="en-US" sz="1500" dirty="0">
                <a:solidFill>
                  <a:srgbClr val="FFFFFF"/>
                </a:solidFill>
                <a:latin typeface="Calibri" pitchFamily="34" charset="0"/>
                <a:ea typeface="Calibri" pitchFamily="34" charset="-122"/>
                <a:cs typeface="Calibri" pitchFamily="34" charset="-120"/>
              </a:rPr>
              <a:t>Detects misperception, not non-disclosure</a:t>
            </a:r>
            <a:r>
              <a:rPr lang="en-US" sz="1500" b="1" dirty="0">
                <a:solidFill>
                  <a:srgbClr val="FFFFFF"/>
                </a:solidFill>
                <a:latin typeface="Calibri" pitchFamily="34" charset="0"/>
                <a:ea typeface="Calibri" pitchFamily="34" charset="-122"/>
                <a:cs typeface="Calibri" pitchFamily="34" charset="-120"/>
              </a:rPr>
              <a:t/>
            </a:r>
            <a:r>
              <a:rPr lang="en-US" sz="1500" dirty="0">
                <a:solidFill>
                  <a:srgbClr val="FFFFFF"/>
                </a:solidFill>
                <a:latin typeface="Calibri" pitchFamily="34" charset="0"/>
                <a:ea typeface="Calibri" pitchFamily="34" charset="-122"/>
                <a:cs typeface="Calibri" pitchFamily="34" charset="-120"/>
              </a:rPr>
              <a:t/>
            </a:r>
            <a:endParaRPr lang="en-US" sz="1500" dirty="0"/>
          </a:p>
        </p:txBody>
      </p:sp>
      <p:pic>
        <p:nvPicPr>
          <p:cNvPr id="57" name="Image 1" descr="preencoded.png"/>
          <p:cNvPicPr>
            <a:picLocks noChangeAspect="1"/>
          </p:cNvPicPr>
          <p:nvPr/>
        </p:nvPicPr>
        <p:blipFill>
          <a:blip r:embed="rId4"/>
          <a:stretch>
            <a:fillRect/>
          </a:stretch>
        </p:blipFill>
        <p:spPr>
          <a:xfrm>
            <a:off x="4460875" y="5555853"/>
            <a:ext cx="331093" cy="419100"/>
          </a:xfrm>
          <a:prstGeom prst="rect">
            <a:avLst/>
          </a:prstGeom>
        </p:spPr>
      </p:pic>
      <p:sp>
        <p:nvSpPr>
          <p:cNvPr id="58" name="Text 54"/>
          <p:cNvSpPr/>
          <p:nvPr/>
        </p:nvSpPr>
        <p:spPr>
          <a:xfrm>
            <a:off x="4944368" y="5508228"/>
            <a:ext cx="3223547" cy="552450"/>
          </a:xfrm>
          <a:prstGeom prst="rect">
            <a:avLst/>
          </a:prstGeom>
          <a:noFill/>
          <a:ln/>
        </p:spPr>
        <p:txBody>
          <a:bodyPr wrap="square" lIns="25400" tIns="25400" rIns="25400" bIns="25400" rtlCol="0" anchor="t">
            <a:normAutofit/>
          </a:bodyPr>
          <a:lstStyle/>
          <a:p>
            <a:pPr marL="0" indent="0" algn="l">
              <a:lnSpc>
                <a:spcPct val="109459"/>
              </a:lnSpc>
              <a:buNone/>
            </a:pPr>
            <a:r>
              <a:rPr lang="en-US" sz="1500" dirty="0">
                <a:solidFill>
                  <a:srgbClr val="FFFFFF"/>
                </a:solidFill>
                <a:latin typeface="Calibri" pitchFamily="34" charset="0"/>
                <a:ea typeface="Calibri" pitchFamily="34" charset="-122"/>
                <a:cs typeface="Calibri" pitchFamily="34" charset="-120"/>
              </a:rPr>
              <a:t>An early-warning tool that closes once a crisis is public</a:t>
            </a:r>
            <a:r>
              <a:rPr lang="en-US" sz="1500" b="1" dirty="0">
                <a:solidFill>
                  <a:srgbClr val="FFFFFF"/>
                </a:solidFill>
                <a:latin typeface="Calibri" pitchFamily="34" charset="0"/>
                <a:ea typeface="Calibri" pitchFamily="34" charset="-122"/>
                <a:cs typeface="Calibri" pitchFamily="34" charset="-120"/>
              </a:rPr>
              <a:t/>
            </a:r>
            <a:r>
              <a:rPr lang="en-US" sz="1500" dirty="0">
                <a:solidFill>
                  <a:srgbClr val="FFFFFF"/>
                </a:solidFill>
                <a:latin typeface="Calibri" pitchFamily="34" charset="0"/>
                <a:ea typeface="Calibri" pitchFamily="34" charset="-122"/>
                <a:cs typeface="Calibri" pitchFamily="34" charset="-120"/>
              </a:rPr>
              <a:t/>
            </a:r>
            <a:endParaRPr lang="en-US" sz="1500" dirty="0"/>
          </a:p>
        </p:txBody>
      </p:sp>
      <p:pic>
        <p:nvPicPr>
          <p:cNvPr id="59" name="Image 2" descr="preencoded.png"/>
          <p:cNvPicPr>
            <a:picLocks noChangeAspect="1"/>
          </p:cNvPicPr>
          <p:nvPr/>
        </p:nvPicPr>
        <p:blipFill>
          <a:blip r:embed="rId5"/>
          <a:stretch>
            <a:fillRect/>
          </a:stretch>
        </p:blipFill>
        <p:spPr>
          <a:xfrm>
            <a:off x="8302625" y="5555853"/>
            <a:ext cx="419100" cy="419100"/>
          </a:xfrm>
          <a:prstGeom prst="rect">
            <a:avLst/>
          </a:prstGeom>
        </p:spPr>
      </p:pic>
      <p:sp>
        <p:nvSpPr>
          <p:cNvPr id="60" name="Text 55"/>
          <p:cNvSpPr/>
          <p:nvPr/>
        </p:nvSpPr>
        <p:spPr>
          <a:xfrm>
            <a:off x="8874125" y="5508228"/>
            <a:ext cx="2844502" cy="552450"/>
          </a:xfrm>
          <a:prstGeom prst="rect">
            <a:avLst/>
          </a:prstGeom>
          <a:noFill/>
          <a:ln/>
        </p:spPr>
        <p:txBody>
          <a:bodyPr wrap="square" lIns="25400" tIns="25400" rIns="25400" bIns="25400" rtlCol="0" anchor="t">
            <a:normAutofit/>
          </a:bodyPr>
          <a:lstStyle/>
          <a:p>
            <a:pPr marL="0" indent="0" algn="l">
              <a:lnSpc>
                <a:spcPct val="109459"/>
              </a:lnSpc>
              <a:buNone/>
            </a:pPr>
            <a:r>
              <a:rPr lang="en-US" sz="1500" dirty="0">
                <a:solidFill>
                  <a:srgbClr val="FFFFFF"/>
                </a:solidFill>
                <a:latin typeface="Calibri" pitchFamily="34" charset="0"/>
                <a:ea typeface="Calibri" pitchFamily="34" charset="-122"/>
                <a:cs typeface="Calibri" pitchFamily="34" charset="-120"/>
              </a:rPr>
              <a:t>Its forecast buys </a:t>
            </a:r>
            <a:r>
              <a:rPr lang="en-US" sz="1500" b="1" dirty="0">
                <a:solidFill>
                  <a:srgbClr val="FFFFFF"/>
                </a:solidFill>
                <a:latin typeface="Calibri" pitchFamily="34" charset="0"/>
                <a:ea typeface="Calibri" pitchFamily="34" charset="-122"/>
                <a:cs typeface="Calibri" pitchFamily="34" charset="-120"/>
              </a:rPr>
              <a:t>calibration </a:t>
            </a:r>
            <a:r>
              <a:rPr lang="en-US" sz="1500" dirty="0">
                <a:solidFill>
                  <a:srgbClr val="FFFFFF"/>
                </a:solidFill>
                <a:latin typeface="Calibri" pitchFamily="34" charset="0"/>
                <a:ea typeface="Calibri" pitchFamily="34" charset="-122"/>
                <a:cs typeface="Calibri" pitchFamily="34" charset="-120"/>
              </a:rPr>
              <a:t>, not short-horizon discrimination</a:t>
            </a:r>
            <a:endParaRPr lang="en-US" sz="1500" dirty="0"/>
          </a:p>
        </p:txBody>
      </p:sp>
      <p:pic>
        <p:nvPicPr>
          <p:cNvPr id="61" name="Image 3" descr="preencoded.png"/>
          <p:cNvPicPr>
            <a:picLocks noChangeAspect="1"/>
          </p:cNvPicPr>
          <p:nvPr/>
        </p:nvPicPr>
        <p:blipFill>
          <a:blip r:embed="rId6"/>
          <a:stretch>
            <a:fillRect/>
          </a:stretch>
        </p:blipFill>
        <p:spPr>
          <a:xfrm>
            <a:off x="11229975" y="6567488"/>
            <a:ext cx="714375" cy="71438"/>
          </a:xfrm>
          <a:prstGeom prst="rect">
            <a:avLst/>
          </a:prstGeom>
        </p:spPr>
      </p:pic>
      <p:sp>
        <p:nvSpPr>
          <p:cNvPr id="62" name="Text 56"/>
          <p:cNvSpPr/>
          <p:nvPr/>
        </p:nvSpPr>
        <p:spPr>
          <a:xfrm>
            <a:off x="10505679" y="6465590"/>
            <a:ext cx="524272"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C0C0C8"/>
                </a:solidFill>
                <a:latin typeface="Calibri" pitchFamily="34" charset="0"/>
                <a:ea typeface="Calibri" pitchFamily="34" charset="-122"/>
                <a:cs typeface="Calibri" pitchFamily="34" charset="-120"/>
              </a:rPr>
              <a:t>18 | 20</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04775" cy="6858000"/>
          </a:xfrm>
          <a:prstGeom prst="rect">
            <a:avLst/>
          </a:prstGeom>
          <a:solidFill>
            <a:srgbClr val="063C67"/>
          </a:solidFill>
          <a:ln/>
        </p:spPr>
        <p:txBody>
          <a:bodyPr/>
          <a:lstStyle/>
          <a:p>
            <a:endParaRPr lang="fr-FR"/>
          </a:p>
        </p:txBody>
      </p:sp>
      <p:sp>
        <p:nvSpPr>
          <p:cNvPr id="3" name="Text 1"/>
          <p:cNvSpPr/>
          <p:nvPr/>
        </p:nvSpPr>
        <p:spPr>
          <a:xfrm>
            <a:off x="352425" y="171450"/>
            <a:ext cx="7297470" cy="406698"/>
          </a:xfrm>
          <a:prstGeom prst="rect">
            <a:avLst/>
          </a:prstGeom>
          <a:noFill/>
          <a:ln/>
        </p:spPr>
        <p:txBody>
          <a:bodyPr wrap="square" lIns="25400" tIns="25400" rIns="25400" bIns="25400" rtlCol="0" anchor="t">
            <a:normAutofit/>
          </a:bodyPr>
          <a:lstStyle/>
          <a:p>
            <a:pPr marL="0" indent="0" algn="l">
              <a:lnSpc>
                <a:spcPct val="63791"/>
              </a:lnSpc>
              <a:buNone/>
            </a:pPr>
            <a:r>
              <a:rPr lang="en-US" sz="3225" b="1" dirty="0">
                <a:solidFill>
                  <a:srgbClr val="043962"/>
                </a:solidFill>
                <a:latin typeface="Arial Black" pitchFamily="34" charset="0"/>
                <a:ea typeface="Arial Black" pitchFamily="34" charset="-122"/>
                <a:cs typeface="Arial Black" pitchFamily="34" charset="-120"/>
              </a:rPr>
              <a:t>LIMITS · NEXT · WHAT I TAKE</a:t>
            </a:r>
            <a:endParaRPr lang="en-US" sz="3225" dirty="0"/>
          </a:p>
        </p:txBody>
      </p:sp>
      <p:sp>
        <p:nvSpPr>
          <p:cNvPr id="4" name="Text 2"/>
          <p:cNvSpPr/>
          <p:nvPr/>
        </p:nvSpPr>
        <p:spPr>
          <a:xfrm>
            <a:off x="352425" y="666750"/>
            <a:ext cx="8063637" cy="355699"/>
          </a:xfrm>
          <a:prstGeom prst="rect">
            <a:avLst/>
          </a:prstGeom>
          <a:noFill/>
          <a:ln/>
        </p:spPr>
        <p:txBody>
          <a:bodyPr wrap="square" lIns="25400" tIns="25400" rIns="25400" bIns="25400" rtlCol="0" anchor="t">
            <a:normAutofit lnSpcReduction="10000"/>
          </a:bodyPr>
          <a:lstStyle/>
          <a:p>
            <a:pPr marL="0" indent="0" algn="l">
              <a:lnSpc>
                <a:spcPct val="128269"/>
              </a:lnSpc>
              <a:buNone/>
            </a:pPr>
            <a:r>
              <a:rPr lang="en-US" sz="1725" dirty="0">
                <a:solidFill>
                  <a:srgbClr val="1D93C9"/>
                </a:solidFill>
                <a:latin typeface="Arial" pitchFamily="34" charset="0"/>
                <a:ea typeface="Arial" pitchFamily="34" charset="-122"/>
                <a:cs typeface="Arial" pitchFamily="34" charset="-120"/>
              </a:rPr>
              <a:t>Three limits of sample, one of method, and a list produced by measurement</a:t>
            </a:r>
            <a:endParaRPr lang="en-US" sz="1725" dirty="0"/>
          </a:p>
        </p:txBody>
      </p:sp>
      <p:sp>
        <p:nvSpPr>
          <p:cNvPr id="5" name="Text 3"/>
          <p:cNvSpPr/>
          <p:nvPr/>
        </p:nvSpPr>
        <p:spPr>
          <a:xfrm>
            <a:off x="352425" y="1466850"/>
            <a:ext cx="3708464"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LIMITS</a:t>
            </a:r>
            <a:endParaRPr lang="en-US" sz="1050" dirty="0"/>
          </a:p>
        </p:txBody>
      </p:sp>
      <p:sp>
        <p:nvSpPr>
          <p:cNvPr id="6" name="Shape 4"/>
          <p:cNvSpPr/>
          <p:nvPr/>
        </p:nvSpPr>
        <p:spPr>
          <a:xfrm>
            <a:off x="352425" y="1774428"/>
            <a:ext cx="3600450" cy="552450"/>
          </a:xfrm>
          <a:prstGeom prst="rect">
            <a:avLst/>
          </a:prstGeom>
          <a:solidFill>
            <a:srgbClr val="F4F4F6"/>
          </a:solidFill>
          <a:ln/>
        </p:spPr>
        <p:txBody>
          <a:bodyPr/>
          <a:lstStyle/>
          <a:p>
            <a:endParaRPr lang="fr-FR"/>
          </a:p>
        </p:txBody>
      </p:sp>
      <p:pic>
        <p:nvPicPr>
          <p:cNvPr id="7" name="Image 0" descr="preencoded.png"/>
          <p:cNvPicPr>
            <a:picLocks noChangeAspect="1"/>
          </p:cNvPicPr>
          <p:nvPr/>
        </p:nvPicPr>
        <p:blipFill>
          <a:blip r:embed="rId3"/>
          <a:stretch>
            <a:fillRect/>
          </a:stretch>
        </p:blipFill>
        <p:spPr>
          <a:xfrm>
            <a:off x="504825" y="1888728"/>
            <a:ext cx="336947" cy="323850"/>
          </a:xfrm>
          <a:prstGeom prst="rect">
            <a:avLst/>
          </a:prstGeom>
        </p:spPr>
      </p:pic>
      <p:sp>
        <p:nvSpPr>
          <p:cNvPr id="8" name="Text 5"/>
          <p:cNvSpPr/>
          <p:nvPr/>
        </p:nvSpPr>
        <p:spPr>
          <a:xfrm>
            <a:off x="975122" y="1938536"/>
            <a:ext cx="2357835" cy="260350"/>
          </a:xfrm>
          <a:prstGeom prst="rect">
            <a:avLst/>
          </a:prstGeom>
          <a:noFill/>
          <a:ln/>
        </p:spPr>
        <p:txBody>
          <a:bodyPr wrap="square" lIns="0" tIns="0" rIns="0" bIns="0" rtlCol="0" anchor="t">
            <a:normAutofit/>
          </a:bodyPr>
          <a:lstStyle/>
          <a:p>
            <a:pPr marL="0" indent="0" algn="l">
              <a:lnSpc>
                <a:spcPct val="118071"/>
              </a:lnSpc>
              <a:buNone/>
            </a:pPr>
            <a:r>
              <a:rPr lang="en-US" sz="1425" dirty="0">
                <a:solidFill>
                  <a:srgbClr val="063C67"/>
                </a:solidFill>
                <a:latin typeface="Calibri" pitchFamily="34" charset="0"/>
                <a:ea typeface="Calibri" pitchFamily="34" charset="-122"/>
                <a:cs typeface="Calibri" pitchFamily="34" charset="-120"/>
              </a:rPr>
              <a:t>Agents, not human consultants</a:t>
            </a:r>
            <a:endParaRPr lang="en-US" sz="1425" dirty="0"/>
          </a:p>
        </p:txBody>
      </p:sp>
      <p:sp>
        <p:nvSpPr>
          <p:cNvPr id="9" name="Shape 6"/>
          <p:cNvSpPr/>
          <p:nvPr/>
        </p:nvSpPr>
        <p:spPr>
          <a:xfrm>
            <a:off x="352425" y="2431653"/>
            <a:ext cx="3600450" cy="552450"/>
          </a:xfrm>
          <a:prstGeom prst="rect">
            <a:avLst/>
          </a:prstGeom>
          <a:solidFill>
            <a:srgbClr val="F4F4F6"/>
          </a:solidFill>
          <a:ln/>
        </p:spPr>
        <p:txBody>
          <a:bodyPr/>
          <a:lstStyle/>
          <a:p>
            <a:endParaRPr lang="fr-FR"/>
          </a:p>
        </p:txBody>
      </p:sp>
      <p:pic>
        <p:nvPicPr>
          <p:cNvPr id="10" name="Image 1" descr="preencoded.png"/>
          <p:cNvPicPr>
            <a:picLocks noChangeAspect="1"/>
          </p:cNvPicPr>
          <p:nvPr/>
        </p:nvPicPr>
        <p:blipFill>
          <a:blip r:embed="rId4"/>
          <a:stretch>
            <a:fillRect/>
          </a:stretch>
        </p:blipFill>
        <p:spPr>
          <a:xfrm>
            <a:off x="504825" y="2545953"/>
            <a:ext cx="323850" cy="323850"/>
          </a:xfrm>
          <a:prstGeom prst="rect">
            <a:avLst/>
          </a:prstGeom>
        </p:spPr>
      </p:pic>
      <p:sp>
        <p:nvSpPr>
          <p:cNvPr id="11" name="Text 7"/>
          <p:cNvSpPr/>
          <p:nvPr/>
        </p:nvSpPr>
        <p:spPr>
          <a:xfrm>
            <a:off x="962025" y="2595761"/>
            <a:ext cx="2574528" cy="260350"/>
          </a:xfrm>
          <a:prstGeom prst="rect">
            <a:avLst/>
          </a:prstGeom>
          <a:noFill/>
          <a:ln/>
        </p:spPr>
        <p:txBody>
          <a:bodyPr wrap="square" lIns="0" tIns="0" rIns="0" bIns="0" rtlCol="0" anchor="t">
            <a:normAutofit/>
          </a:bodyPr>
          <a:lstStyle/>
          <a:p>
            <a:pPr marL="0" indent="0" algn="l">
              <a:lnSpc>
                <a:spcPct val="118071"/>
              </a:lnSpc>
              <a:buNone/>
            </a:pPr>
            <a:r>
              <a:rPr lang="en-US" sz="1425" dirty="0">
                <a:solidFill>
                  <a:srgbClr val="063C67"/>
                </a:solidFill>
                <a:latin typeface="Calibri" pitchFamily="34" charset="0"/>
                <a:ea typeface="Calibri" pitchFamily="34" charset="-122"/>
                <a:cs typeface="Calibri" pitchFamily="34" charset="-120"/>
              </a:rPr>
              <a:t>Small positive class: 4 of 8, 3 of 15</a:t>
            </a:r>
            <a:endParaRPr lang="en-US" sz="1425" dirty="0"/>
          </a:p>
        </p:txBody>
      </p:sp>
      <p:sp>
        <p:nvSpPr>
          <p:cNvPr id="12" name="Shape 8"/>
          <p:cNvSpPr/>
          <p:nvPr/>
        </p:nvSpPr>
        <p:spPr>
          <a:xfrm>
            <a:off x="352425" y="3088878"/>
            <a:ext cx="3600450" cy="753269"/>
          </a:xfrm>
          <a:prstGeom prst="rect">
            <a:avLst/>
          </a:prstGeom>
          <a:solidFill>
            <a:srgbClr val="F4F4F6"/>
          </a:solidFill>
          <a:ln/>
        </p:spPr>
        <p:txBody>
          <a:bodyPr/>
          <a:lstStyle/>
          <a:p>
            <a:endParaRPr lang="fr-FR"/>
          </a:p>
        </p:txBody>
      </p:sp>
      <p:pic>
        <p:nvPicPr>
          <p:cNvPr id="13" name="Image 2" descr="preencoded.png"/>
          <p:cNvPicPr>
            <a:picLocks noChangeAspect="1"/>
          </p:cNvPicPr>
          <p:nvPr/>
        </p:nvPicPr>
        <p:blipFill>
          <a:blip r:embed="rId5"/>
          <a:stretch>
            <a:fillRect/>
          </a:stretch>
        </p:blipFill>
        <p:spPr>
          <a:xfrm>
            <a:off x="504825" y="3303588"/>
            <a:ext cx="323850" cy="323850"/>
          </a:xfrm>
          <a:prstGeom prst="rect">
            <a:avLst/>
          </a:prstGeom>
        </p:spPr>
      </p:pic>
      <p:sp>
        <p:nvSpPr>
          <p:cNvPr id="14" name="Text 9"/>
          <p:cNvSpPr/>
          <p:nvPr/>
        </p:nvSpPr>
        <p:spPr>
          <a:xfrm>
            <a:off x="962025" y="3203178"/>
            <a:ext cx="2923604" cy="562769"/>
          </a:xfrm>
          <a:prstGeom prst="rect">
            <a:avLst/>
          </a:prstGeom>
          <a:noFill/>
          <a:ln/>
        </p:spPr>
        <p:txBody>
          <a:bodyPr wrap="square" lIns="25400" tIns="25400" rIns="25400" bIns="25400" rtlCol="0" anchor="t">
            <a:normAutofit/>
          </a:bodyPr>
          <a:lstStyle/>
          <a:p>
            <a:pPr marL="0" indent="0" algn="l">
              <a:lnSpc>
                <a:spcPct val="118071"/>
              </a:lnSpc>
              <a:buNone/>
            </a:pPr>
            <a:r>
              <a:rPr lang="en-US" sz="1425" dirty="0">
                <a:solidFill>
                  <a:srgbClr val="063C67"/>
                </a:solidFill>
                <a:latin typeface="Calibri" pitchFamily="34" charset="0"/>
                <a:ea typeface="Calibri" pitchFamily="34" charset="-122"/>
                <a:cs typeface="Calibri" pitchFamily="34" charset="-120"/>
              </a:rPr>
              <a:t>Carbon block least exercised, for want of node-level data</a:t>
            </a:r>
            <a:endParaRPr lang="en-US" sz="1425" dirty="0"/>
          </a:p>
        </p:txBody>
      </p:sp>
      <p:sp>
        <p:nvSpPr>
          <p:cNvPr id="15" name="Shape 10"/>
          <p:cNvSpPr/>
          <p:nvPr/>
        </p:nvSpPr>
        <p:spPr>
          <a:xfrm>
            <a:off x="352425" y="3946922"/>
            <a:ext cx="3600450" cy="999530"/>
          </a:xfrm>
          <a:prstGeom prst="rect">
            <a:avLst/>
          </a:prstGeom>
          <a:solidFill>
            <a:srgbClr val="FFDA65"/>
          </a:solidFill>
          <a:ln/>
        </p:spPr>
        <p:txBody>
          <a:bodyPr/>
          <a:lstStyle/>
          <a:p>
            <a:endParaRPr lang="fr-FR"/>
          </a:p>
        </p:txBody>
      </p:sp>
      <p:sp>
        <p:nvSpPr>
          <p:cNvPr id="16" name="Text 11"/>
          <p:cNvSpPr/>
          <p:nvPr/>
        </p:nvSpPr>
        <p:spPr>
          <a:xfrm>
            <a:off x="504825" y="4080272"/>
            <a:ext cx="3403664" cy="770930"/>
          </a:xfrm>
          <a:prstGeom prst="rect">
            <a:avLst/>
          </a:prstGeom>
          <a:noFill/>
          <a:ln/>
        </p:spPr>
        <p:txBody>
          <a:bodyPr wrap="square" lIns="25400" tIns="25400" rIns="25400" bIns="25400" rtlCol="0" anchor="t">
            <a:normAutofit/>
          </a:bodyPr>
          <a:lstStyle/>
          <a:p>
            <a:pPr marL="0" indent="0" algn="l">
              <a:lnSpc>
                <a:spcPct val="109929"/>
              </a:lnSpc>
              <a:buNone/>
            </a:pPr>
            <a:r>
              <a:rPr lang="en-US" sz="1425" b="1" dirty="0">
                <a:solidFill>
                  <a:srgbClr val="063C67"/>
                </a:solidFill>
                <a:latin typeface="Calibri" pitchFamily="34" charset="0"/>
                <a:ea typeface="Calibri" pitchFamily="34" charset="-122"/>
                <a:cs typeface="Calibri" pitchFamily="34" charset="-120"/>
              </a:rPr>
              <a:t>Methodological, and it does not dissolve with data: </a:t>
            </a:r>
            <a:r>
              <a:rPr lang="en-US" sz="1425" dirty="0">
                <a:solidFill>
                  <a:srgbClr val="063C67"/>
                </a:solidFill>
                <a:highlight>
                  <a:srgbClr val="FFDA65"/>
                </a:highlight>
                <a:latin typeface="Calibri" pitchFamily="34" charset="0"/>
                <a:ea typeface="Calibri" pitchFamily="34" charset="-122"/>
                <a:cs typeface="Calibri" pitchFamily="34" charset="-120"/>
              </a:rPr>
              <a:t>no number holds without its outcome definition</a:t>
            </a:r>
            <a:endParaRPr lang="en-US" sz="1425" dirty="0"/>
          </a:p>
        </p:txBody>
      </p:sp>
      <p:sp>
        <p:nvSpPr>
          <p:cNvPr id="17" name="Text 12"/>
          <p:cNvSpPr/>
          <p:nvPr/>
        </p:nvSpPr>
        <p:spPr>
          <a:xfrm>
            <a:off x="4276725" y="1466850"/>
            <a:ext cx="3708464"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FOR ALTEN, IN ORDER</a:t>
            </a:r>
            <a:endParaRPr lang="en-US" sz="1050" dirty="0"/>
          </a:p>
        </p:txBody>
      </p:sp>
      <p:sp>
        <p:nvSpPr>
          <p:cNvPr id="18" name="Shape 13"/>
          <p:cNvSpPr/>
          <p:nvPr/>
        </p:nvSpPr>
        <p:spPr>
          <a:xfrm>
            <a:off x="4276725" y="1774428"/>
            <a:ext cx="3600450" cy="999530"/>
          </a:xfrm>
          <a:prstGeom prst="rect">
            <a:avLst/>
          </a:prstGeom>
          <a:solidFill>
            <a:srgbClr val="F4F4F6"/>
          </a:solidFill>
          <a:ln/>
        </p:spPr>
        <p:txBody>
          <a:bodyPr/>
          <a:lstStyle/>
          <a:p>
            <a:endParaRPr lang="fr-FR"/>
          </a:p>
        </p:txBody>
      </p:sp>
      <p:sp>
        <p:nvSpPr>
          <p:cNvPr id="19" name="Text 14"/>
          <p:cNvSpPr/>
          <p:nvPr/>
        </p:nvSpPr>
        <p:spPr>
          <a:xfrm>
            <a:off x="4429125" y="1907778"/>
            <a:ext cx="167977" cy="770930"/>
          </a:xfrm>
          <a:prstGeom prst="rect">
            <a:avLst/>
          </a:prstGeom>
          <a:noFill/>
          <a:ln/>
        </p:spPr>
        <p:txBody>
          <a:bodyPr wrap="square" lIns="25400" tIns="25400" rIns="25400" bIns="25400" rtlCol="0" anchor="t">
            <a:normAutofit/>
          </a:bodyPr>
          <a:lstStyle/>
          <a:p>
            <a:pPr marL="0" indent="0" algn="l">
              <a:lnSpc>
                <a:spcPct val="109929"/>
              </a:lnSpc>
              <a:buNone/>
            </a:pPr>
            <a:r>
              <a:rPr lang="en-US" sz="1425" b="1" dirty="0">
                <a:solidFill>
                  <a:srgbClr val="1D93C9"/>
                </a:solidFill>
                <a:latin typeface="Calibri" pitchFamily="34" charset="0"/>
                <a:ea typeface="Calibri" pitchFamily="34" charset="-122"/>
                <a:cs typeface="Calibri" pitchFamily="34" charset="-120"/>
              </a:rPr>
              <a:t>1</a:t>
            </a:r>
            <a:endParaRPr lang="en-US" sz="1425" dirty="0"/>
          </a:p>
        </p:txBody>
      </p:sp>
      <p:pic>
        <p:nvPicPr>
          <p:cNvPr id="20" name="Image 3" descr="preencoded.png"/>
          <p:cNvPicPr>
            <a:picLocks noChangeAspect="1"/>
          </p:cNvPicPr>
          <p:nvPr/>
        </p:nvPicPr>
        <p:blipFill>
          <a:blip r:embed="rId6"/>
          <a:stretch>
            <a:fillRect/>
          </a:stretch>
        </p:blipFill>
        <p:spPr>
          <a:xfrm>
            <a:off x="4654253" y="1907778"/>
            <a:ext cx="348853" cy="285750"/>
          </a:xfrm>
          <a:prstGeom prst="rect">
            <a:avLst/>
          </a:prstGeom>
        </p:spPr>
      </p:pic>
      <p:sp>
        <p:nvSpPr>
          <p:cNvPr id="21" name="Text 15"/>
          <p:cNvSpPr/>
          <p:nvPr/>
        </p:nvSpPr>
        <p:spPr>
          <a:xfrm>
            <a:off x="5136456" y="1907778"/>
            <a:ext cx="2665969" cy="770930"/>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Connect computed urgency to the forecast quantity. </a:t>
            </a:r>
            <a:r>
              <a:rPr lang="en-US" sz="1425" b="1" dirty="0">
                <a:solidFill>
                  <a:srgbClr val="063C67"/>
                </a:solidFill>
                <a:latin typeface="Calibri" pitchFamily="34" charset="0"/>
                <a:ea typeface="Calibri" pitchFamily="34" charset="-122"/>
                <a:cs typeface="Calibri" pitchFamily="34" charset="-120"/>
              </a:rPr>
              <a:t>One afternoon of work.</a:t>
            </a:r>
            <a:endParaRPr lang="en-US" sz="1425" dirty="0"/>
          </a:p>
        </p:txBody>
      </p:sp>
      <p:sp>
        <p:nvSpPr>
          <p:cNvPr id="22" name="Shape 16"/>
          <p:cNvSpPr/>
          <p:nvPr/>
        </p:nvSpPr>
        <p:spPr>
          <a:xfrm>
            <a:off x="4276725" y="2878733"/>
            <a:ext cx="3600450" cy="755253"/>
          </a:xfrm>
          <a:prstGeom prst="rect">
            <a:avLst/>
          </a:prstGeom>
          <a:solidFill>
            <a:srgbClr val="F4F4F6"/>
          </a:solidFill>
          <a:ln/>
        </p:spPr>
        <p:txBody>
          <a:bodyPr/>
          <a:lstStyle/>
          <a:p>
            <a:endParaRPr lang="fr-FR"/>
          </a:p>
        </p:txBody>
      </p:sp>
      <p:sp>
        <p:nvSpPr>
          <p:cNvPr id="23" name="Text 17"/>
          <p:cNvSpPr/>
          <p:nvPr/>
        </p:nvSpPr>
        <p:spPr>
          <a:xfrm>
            <a:off x="4429125" y="3012083"/>
            <a:ext cx="167977"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b="1" dirty="0">
                <a:solidFill>
                  <a:srgbClr val="1D93C9"/>
                </a:solidFill>
                <a:latin typeface="Calibri" pitchFamily="34" charset="0"/>
                <a:ea typeface="Calibri" pitchFamily="34" charset="-122"/>
                <a:cs typeface="Calibri" pitchFamily="34" charset="-120"/>
              </a:rPr>
              <a:t>2</a:t>
            </a:r>
            <a:endParaRPr lang="en-US" sz="1425" dirty="0"/>
          </a:p>
        </p:txBody>
      </p:sp>
      <p:pic>
        <p:nvPicPr>
          <p:cNvPr id="24" name="Image 4" descr="preencoded.png"/>
          <p:cNvPicPr>
            <a:picLocks noChangeAspect="1"/>
          </p:cNvPicPr>
          <p:nvPr/>
        </p:nvPicPr>
        <p:blipFill>
          <a:blip r:embed="rId7"/>
          <a:stretch>
            <a:fillRect/>
          </a:stretch>
        </p:blipFill>
        <p:spPr>
          <a:xfrm>
            <a:off x="4654253" y="3012083"/>
            <a:ext cx="443805" cy="285750"/>
          </a:xfrm>
          <a:prstGeom prst="rect">
            <a:avLst/>
          </a:prstGeom>
        </p:spPr>
      </p:pic>
      <p:sp>
        <p:nvSpPr>
          <p:cNvPr id="25" name="Text 18"/>
          <p:cNvSpPr/>
          <p:nvPr/>
        </p:nvSpPr>
        <p:spPr>
          <a:xfrm>
            <a:off x="5231408" y="3012083"/>
            <a:ext cx="2569567"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Fill the indicators before calibrating anything</a:t>
            </a:r>
            <a:endParaRPr lang="en-US" sz="1425" dirty="0"/>
          </a:p>
        </p:txBody>
      </p:sp>
      <p:sp>
        <p:nvSpPr>
          <p:cNvPr id="26" name="Shape 19"/>
          <p:cNvSpPr/>
          <p:nvPr/>
        </p:nvSpPr>
        <p:spPr>
          <a:xfrm>
            <a:off x="4276725" y="3738761"/>
            <a:ext cx="3600450" cy="755253"/>
          </a:xfrm>
          <a:prstGeom prst="rect">
            <a:avLst/>
          </a:prstGeom>
          <a:solidFill>
            <a:srgbClr val="F4F4F6"/>
          </a:solidFill>
          <a:ln/>
        </p:spPr>
        <p:txBody>
          <a:bodyPr/>
          <a:lstStyle/>
          <a:p>
            <a:endParaRPr lang="fr-FR"/>
          </a:p>
        </p:txBody>
      </p:sp>
      <p:sp>
        <p:nvSpPr>
          <p:cNvPr id="27" name="Text 20"/>
          <p:cNvSpPr/>
          <p:nvPr/>
        </p:nvSpPr>
        <p:spPr>
          <a:xfrm>
            <a:off x="4429125" y="3872111"/>
            <a:ext cx="167977"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b="1" dirty="0">
                <a:solidFill>
                  <a:srgbClr val="1D93C9"/>
                </a:solidFill>
                <a:latin typeface="Calibri" pitchFamily="34" charset="0"/>
                <a:ea typeface="Calibri" pitchFamily="34" charset="-122"/>
                <a:cs typeface="Calibri" pitchFamily="34" charset="-120"/>
              </a:rPr>
              <a:t>3</a:t>
            </a:r>
            <a:endParaRPr lang="en-US" sz="1425" dirty="0"/>
          </a:p>
        </p:txBody>
      </p:sp>
      <p:pic>
        <p:nvPicPr>
          <p:cNvPr id="28" name="Image 5" descr="preencoded.png"/>
          <p:cNvPicPr>
            <a:picLocks noChangeAspect="1"/>
          </p:cNvPicPr>
          <p:nvPr/>
        </p:nvPicPr>
        <p:blipFill>
          <a:blip r:embed="rId8"/>
          <a:stretch>
            <a:fillRect/>
          </a:stretch>
        </p:blipFill>
        <p:spPr>
          <a:xfrm>
            <a:off x="4654253" y="3872111"/>
            <a:ext cx="225723" cy="285750"/>
          </a:xfrm>
          <a:prstGeom prst="rect">
            <a:avLst/>
          </a:prstGeom>
        </p:spPr>
      </p:pic>
      <p:sp>
        <p:nvSpPr>
          <p:cNvPr id="29" name="Text 21"/>
          <p:cNvSpPr/>
          <p:nvPr/>
        </p:nvSpPr>
        <p:spPr>
          <a:xfrm>
            <a:off x="5013325" y="3872111"/>
            <a:ext cx="2792794"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Make the forecast state its own ignorance; smooth the alarm</a:t>
            </a:r>
            <a:endParaRPr lang="en-US" sz="1425" dirty="0"/>
          </a:p>
        </p:txBody>
      </p:sp>
      <p:sp>
        <p:nvSpPr>
          <p:cNvPr id="30" name="Shape 22"/>
          <p:cNvSpPr/>
          <p:nvPr/>
        </p:nvSpPr>
        <p:spPr>
          <a:xfrm>
            <a:off x="4276725" y="4598789"/>
            <a:ext cx="3600450" cy="755253"/>
          </a:xfrm>
          <a:prstGeom prst="rect">
            <a:avLst/>
          </a:prstGeom>
          <a:solidFill>
            <a:srgbClr val="F4F4F6"/>
          </a:solidFill>
          <a:ln/>
        </p:spPr>
        <p:txBody>
          <a:bodyPr/>
          <a:lstStyle/>
          <a:p>
            <a:endParaRPr lang="fr-FR"/>
          </a:p>
        </p:txBody>
      </p:sp>
      <p:sp>
        <p:nvSpPr>
          <p:cNvPr id="31" name="Text 23"/>
          <p:cNvSpPr/>
          <p:nvPr/>
        </p:nvSpPr>
        <p:spPr>
          <a:xfrm>
            <a:off x="4429125" y="4732139"/>
            <a:ext cx="167977"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b="1" dirty="0">
                <a:solidFill>
                  <a:srgbClr val="1D93C9"/>
                </a:solidFill>
                <a:latin typeface="Calibri" pitchFamily="34" charset="0"/>
                <a:ea typeface="Calibri" pitchFamily="34" charset="-122"/>
                <a:cs typeface="Calibri" pitchFamily="34" charset="-120"/>
              </a:rPr>
              <a:t>4</a:t>
            </a:r>
            <a:endParaRPr lang="en-US" sz="1425" dirty="0"/>
          </a:p>
        </p:txBody>
      </p:sp>
      <p:pic>
        <p:nvPicPr>
          <p:cNvPr id="32" name="Image 6" descr="preencoded.png"/>
          <p:cNvPicPr>
            <a:picLocks noChangeAspect="1"/>
          </p:cNvPicPr>
          <p:nvPr/>
        </p:nvPicPr>
        <p:blipFill>
          <a:blip r:embed="rId3"/>
          <a:stretch>
            <a:fillRect/>
          </a:stretch>
        </p:blipFill>
        <p:spPr>
          <a:xfrm>
            <a:off x="4654253" y="4732139"/>
            <a:ext cx="297259" cy="285750"/>
          </a:xfrm>
          <a:prstGeom prst="rect">
            <a:avLst/>
          </a:prstGeom>
        </p:spPr>
      </p:pic>
      <p:sp>
        <p:nvSpPr>
          <p:cNvPr id="33" name="Text 24"/>
          <p:cNvSpPr/>
          <p:nvPr/>
        </p:nvSpPr>
        <p:spPr>
          <a:xfrm>
            <a:off x="5084862" y="4732139"/>
            <a:ext cx="2719111" cy="526653"/>
          </a:xfrm>
          <a:prstGeom prst="rect">
            <a:avLst/>
          </a:prstGeom>
          <a:noFill/>
          <a:ln/>
        </p:spPr>
        <p:txBody>
          <a:bodyPr wrap="square" lIns="25400" tIns="25400" rIns="25400" bIns="25400" rtlCol="0" anchor="t">
            <a:normAutofit/>
          </a:bodyPr>
          <a:lstStyle/>
          <a:p>
            <a:pPr marL="0" indent="0" algn="l">
              <a:lnSpc>
                <a:spcPct val="109929"/>
              </a:lnSpc>
              <a:buNone/>
            </a:pPr>
            <a:r>
              <a:rPr lang="en-US" sz="1425" dirty="0">
                <a:solidFill>
                  <a:srgbClr val="063C67"/>
                </a:solidFill>
                <a:latin typeface="Calibri" pitchFamily="34" charset="0"/>
                <a:ea typeface="Calibri" pitchFamily="34" charset="-122"/>
                <a:cs typeface="Calibri" pitchFamily="34" charset="-120"/>
              </a:rPr>
              <a:t>Run the campaign with humans, the only run that decides</a:t>
            </a:r>
            <a:endParaRPr lang="en-US" sz="1425" dirty="0"/>
          </a:p>
        </p:txBody>
      </p:sp>
      <p:sp>
        <p:nvSpPr>
          <p:cNvPr id="34" name="Shape 25"/>
          <p:cNvSpPr/>
          <p:nvPr/>
        </p:nvSpPr>
        <p:spPr>
          <a:xfrm>
            <a:off x="8201025" y="1466850"/>
            <a:ext cx="3448050" cy="2728417"/>
          </a:xfrm>
          <a:prstGeom prst="rect">
            <a:avLst/>
          </a:prstGeom>
          <a:solidFill>
            <a:srgbClr val="063C67"/>
          </a:solidFill>
          <a:ln/>
        </p:spPr>
        <p:txBody>
          <a:bodyPr/>
          <a:lstStyle/>
          <a:p>
            <a:endParaRPr lang="fr-FR"/>
          </a:p>
        </p:txBody>
      </p:sp>
      <p:sp>
        <p:nvSpPr>
          <p:cNvPr id="35" name="Text 26"/>
          <p:cNvSpPr/>
          <p:nvPr/>
        </p:nvSpPr>
        <p:spPr>
          <a:xfrm>
            <a:off x="8429625" y="1676400"/>
            <a:ext cx="328993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FFDA65"/>
                </a:solidFill>
                <a:latin typeface="Arial" pitchFamily="34" charset="0"/>
                <a:ea typeface="Arial" pitchFamily="34" charset="-122"/>
                <a:cs typeface="Arial" pitchFamily="34" charset="-120"/>
              </a:rPr>
              <a:t>THE LESSON I KEEP</a:t>
            </a:r>
            <a:endParaRPr lang="en-US" sz="1050" dirty="0"/>
          </a:p>
        </p:txBody>
      </p:sp>
      <p:sp>
        <p:nvSpPr>
          <p:cNvPr id="36" name="Text 27"/>
          <p:cNvSpPr/>
          <p:nvPr/>
        </p:nvSpPr>
        <p:spPr>
          <a:xfrm>
            <a:off x="8429625" y="1983978"/>
            <a:ext cx="3080576" cy="798016"/>
          </a:xfrm>
          <a:prstGeom prst="rect">
            <a:avLst/>
          </a:prstGeom>
          <a:noFill/>
          <a:ln/>
        </p:spPr>
        <p:txBody>
          <a:bodyPr wrap="square" lIns="25400" tIns="25400" rIns="25400" bIns="25400" rtlCol="0" anchor="t">
            <a:normAutofit/>
          </a:bodyPr>
          <a:lstStyle/>
          <a:p>
            <a:pPr marL="0" indent="0" algn="l">
              <a:lnSpc>
                <a:spcPct val="114000"/>
              </a:lnSpc>
              <a:buNone/>
            </a:pPr>
            <a:r>
              <a:rPr lang="en-US" sz="1425" dirty="0">
                <a:solidFill>
                  <a:srgbClr val="FFFFFF"/>
                </a:solidFill>
                <a:latin typeface="Calibri" pitchFamily="34" charset="0"/>
                <a:ea typeface="Calibri" pitchFamily="34" charset="-122"/>
                <a:cs typeface="Calibri" pitchFamily="34" charset="-120"/>
              </a:rPr>
              <a:t>An early dry run derived the declared value from the computed one, and had to be discarded.</a:t>
            </a:r>
            <a:r>
              <a:rPr lang="en-US" sz="1425" b="1" dirty="0">
                <a:solidFill>
                  <a:srgbClr val="FFFFFF"/>
                </a:solidFill>
                <a:latin typeface="Calibri" pitchFamily="34" charset="0"/>
                <a:ea typeface="Calibri" pitchFamily="34" charset="-122"/>
                <a:cs typeface="Calibri" pitchFamily="34" charset="-120"/>
              </a:rPr>
              <a:t/>
            </a:r>
            <a:r>
              <a:rPr lang="en-US" sz="1425" dirty="0">
                <a:solidFill>
                  <a:srgbClr val="FFFFFF"/>
                </a:solidFill>
                <a:latin typeface="Calibri" pitchFamily="34" charset="0"/>
                <a:ea typeface="Calibri" pitchFamily="34" charset="-122"/>
                <a:cs typeface="Calibri" pitchFamily="34" charset="-120"/>
              </a:rPr>
              <a:t/>
            </a:r>
            <a:endParaRPr lang="en-US" sz="1425" dirty="0"/>
          </a:p>
        </p:txBody>
      </p:sp>
      <p:sp>
        <p:nvSpPr>
          <p:cNvPr id="37" name="Text 28"/>
          <p:cNvSpPr/>
          <p:nvPr/>
        </p:nvSpPr>
        <p:spPr>
          <a:xfrm>
            <a:off x="8429625" y="2858195"/>
            <a:ext cx="3080576" cy="544711"/>
          </a:xfrm>
          <a:prstGeom prst="rect">
            <a:avLst/>
          </a:prstGeom>
          <a:noFill/>
          <a:ln/>
        </p:spPr>
        <p:txBody>
          <a:bodyPr wrap="square" lIns="25400" tIns="25400" rIns="25400" bIns="25400" rtlCol="0" anchor="t">
            <a:normAutofit/>
          </a:bodyPr>
          <a:lstStyle/>
          <a:p>
            <a:pPr marL="0" indent="0" algn="l">
              <a:lnSpc>
                <a:spcPct val="114000"/>
              </a:lnSpc>
              <a:buNone/>
            </a:pPr>
            <a:r>
              <a:rPr lang="en-US" sz="1425" dirty="0">
                <a:solidFill>
                  <a:srgbClr val="FFFFFF"/>
                </a:solidFill>
                <a:latin typeface="Calibri" pitchFamily="34" charset="0"/>
                <a:ea typeface="Calibri" pitchFamily="34" charset="-122"/>
                <a:cs typeface="Calibri" pitchFamily="34" charset="-120"/>
              </a:rPr>
              <a:t>I would now design the independence of two signals </a:t>
            </a:r>
            <a:r>
              <a:rPr lang="en-US" sz="1425" b="1" dirty="0">
                <a:solidFill>
                  <a:srgbClr val="FFFFFF"/>
                </a:solidFill>
                <a:latin typeface="Calibri" pitchFamily="34" charset="0"/>
                <a:ea typeface="Calibri" pitchFamily="34" charset="-122"/>
                <a:cs typeface="Calibri" pitchFamily="34" charset="-120"/>
              </a:rPr>
              <a:t>before </a:t>
            </a:r>
            <a:r>
              <a:rPr lang="en-US" sz="1425" dirty="0">
                <a:solidFill>
                  <a:srgbClr val="FFFFFF"/>
                </a:solidFill>
                <a:latin typeface="Calibri" pitchFamily="34" charset="0"/>
                <a:ea typeface="Calibri" pitchFamily="34" charset="-122"/>
                <a:cs typeface="Calibri" pitchFamily="34" charset="-120"/>
              </a:rPr>
              <a:t>designing either.</a:t>
            </a:r>
            <a:endParaRPr lang="en-US" sz="1425" dirty="0"/>
          </a:p>
        </p:txBody>
      </p:sp>
      <p:sp>
        <p:nvSpPr>
          <p:cNvPr id="38" name="Text 29"/>
          <p:cNvSpPr/>
          <p:nvPr/>
        </p:nvSpPr>
        <p:spPr>
          <a:xfrm>
            <a:off x="8429625" y="3479106"/>
            <a:ext cx="3080576" cy="544711"/>
          </a:xfrm>
          <a:prstGeom prst="rect">
            <a:avLst/>
          </a:prstGeom>
          <a:noFill/>
          <a:ln/>
        </p:spPr>
        <p:txBody>
          <a:bodyPr wrap="square" lIns="25400" tIns="25400" rIns="25400" bIns="25400" rtlCol="0" anchor="t">
            <a:normAutofit/>
          </a:bodyPr>
          <a:lstStyle/>
          <a:p>
            <a:pPr marL="0" indent="0" algn="l">
              <a:lnSpc>
                <a:spcPct val="114000"/>
              </a:lnSpc>
              <a:buNone/>
            </a:pPr>
            <a:r>
              <a:rPr lang="en-US" sz="1425" dirty="0">
                <a:solidFill>
                  <a:srgbClr val="FFFFFF"/>
                </a:solidFill>
                <a:latin typeface="Calibri" pitchFamily="34" charset="0"/>
                <a:ea typeface="Calibri" pitchFamily="34" charset="-122"/>
                <a:cs typeface="Calibri" pitchFamily="34" charset="-120"/>
              </a:rPr>
              <a:t>And: before trusting a component, write the cheapest thing that could replace it.</a:t>
            </a:r>
            <a:endParaRPr lang="en-US" sz="1425" dirty="0"/>
          </a:p>
        </p:txBody>
      </p:sp>
      <p:sp>
        <p:nvSpPr>
          <p:cNvPr id="39" name="Text 30"/>
          <p:cNvSpPr/>
          <p:nvPr/>
        </p:nvSpPr>
        <p:spPr>
          <a:xfrm>
            <a:off x="8201025" y="4366717"/>
            <a:ext cx="3792855" cy="231378"/>
          </a:xfrm>
          <a:prstGeom prst="rect">
            <a:avLst/>
          </a:prstGeom>
          <a:noFill/>
          <a:ln/>
        </p:spPr>
        <p:txBody>
          <a:bodyPr wrap="square" lIns="25400" tIns="25400" rIns="25400" bIns="25400" rtlCol="0" anchor="t">
            <a:normAutofit lnSpcReduction="10000"/>
          </a:bodyPr>
          <a:lstStyle/>
          <a:p>
            <a:pPr marL="0" indent="0" algn="l">
              <a:lnSpc>
                <a:spcPct val="126875"/>
              </a:lnSpc>
              <a:buNone/>
            </a:pPr>
            <a:r>
              <a:rPr lang="en-US" sz="1050" b="1" kern="0" spc="147" dirty="0">
                <a:solidFill>
                  <a:srgbClr val="1D93C9"/>
                </a:solidFill>
                <a:latin typeface="Arial" pitchFamily="34" charset="0"/>
                <a:ea typeface="Arial" pitchFamily="34" charset="-122"/>
                <a:cs typeface="Arial" pitchFamily="34" charset="-120"/>
              </a:rPr>
              <a:t>ESTIA COMPETENCY FRAMEWORK</a:t>
            </a:r>
            <a:endParaRPr lang="en-US" sz="1050" dirty="0"/>
          </a:p>
        </p:txBody>
      </p:sp>
      <p:sp>
        <p:nvSpPr>
          <p:cNvPr id="40" name="Shape 31"/>
          <p:cNvSpPr/>
          <p:nvPr/>
        </p:nvSpPr>
        <p:spPr>
          <a:xfrm>
            <a:off x="8201025" y="4664770"/>
            <a:ext cx="458688" cy="368102"/>
          </a:xfrm>
          <a:prstGeom prst="rect">
            <a:avLst/>
          </a:prstGeom>
          <a:solidFill>
            <a:srgbClr val="E9F5FB"/>
          </a:solidFill>
          <a:ln/>
        </p:spPr>
        <p:txBody>
          <a:bodyPr/>
          <a:lstStyle/>
          <a:p>
            <a:endParaRPr lang="fr-FR"/>
          </a:p>
        </p:txBody>
      </p:sp>
      <p:sp>
        <p:nvSpPr>
          <p:cNvPr id="41" name="Text 32"/>
          <p:cNvSpPr/>
          <p:nvPr/>
        </p:nvSpPr>
        <p:spPr>
          <a:xfrm>
            <a:off x="8324850" y="4731445"/>
            <a:ext cx="287238"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CI1</a:t>
            </a:r>
            <a:endParaRPr lang="en-US" sz="1275" dirty="0"/>
          </a:p>
        </p:txBody>
      </p:sp>
      <p:sp>
        <p:nvSpPr>
          <p:cNvPr id="42" name="Shape 33"/>
          <p:cNvSpPr/>
          <p:nvPr/>
        </p:nvSpPr>
        <p:spPr>
          <a:xfrm>
            <a:off x="8735913" y="4664770"/>
            <a:ext cx="458688" cy="368102"/>
          </a:xfrm>
          <a:prstGeom prst="rect">
            <a:avLst/>
          </a:prstGeom>
          <a:solidFill>
            <a:srgbClr val="E9F5FB"/>
          </a:solidFill>
          <a:ln/>
        </p:spPr>
        <p:txBody>
          <a:bodyPr/>
          <a:lstStyle/>
          <a:p>
            <a:endParaRPr lang="fr-FR"/>
          </a:p>
        </p:txBody>
      </p:sp>
      <p:sp>
        <p:nvSpPr>
          <p:cNvPr id="43" name="Text 34"/>
          <p:cNvSpPr/>
          <p:nvPr/>
        </p:nvSpPr>
        <p:spPr>
          <a:xfrm>
            <a:off x="8859738" y="4731445"/>
            <a:ext cx="287238"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CI3</a:t>
            </a:r>
            <a:endParaRPr lang="en-US" sz="1275" dirty="0"/>
          </a:p>
        </p:txBody>
      </p:sp>
      <p:sp>
        <p:nvSpPr>
          <p:cNvPr id="44" name="Shape 35"/>
          <p:cNvSpPr/>
          <p:nvPr/>
        </p:nvSpPr>
        <p:spPr>
          <a:xfrm>
            <a:off x="9270802" y="4664770"/>
            <a:ext cx="458688" cy="368102"/>
          </a:xfrm>
          <a:prstGeom prst="rect">
            <a:avLst/>
          </a:prstGeom>
          <a:solidFill>
            <a:srgbClr val="E9F5FB"/>
          </a:solidFill>
          <a:ln/>
        </p:spPr>
        <p:txBody>
          <a:bodyPr/>
          <a:lstStyle/>
          <a:p>
            <a:endParaRPr lang="fr-FR"/>
          </a:p>
        </p:txBody>
      </p:sp>
      <p:sp>
        <p:nvSpPr>
          <p:cNvPr id="45" name="Text 36"/>
          <p:cNvSpPr/>
          <p:nvPr/>
        </p:nvSpPr>
        <p:spPr>
          <a:xfrm>
            <a:off x="9394627" y="4731445"/>
            <a:ext cx="287238"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CI5</a:t>
            </a:r>
            <a:endParaRPr lang="en-US" sz="1275" dirty="0"/>
          </a:p>
        </p:txBody>
      </p:sp>
      <p:sp>
        <p:nvSpPr>
          <p:cNvPr id="46" name="Shape 37"/>
          <p:cNvSpPr/>
          <p:nvPr/>
        </p:nvSpPr>
        <p:spPr>
          <a:xfrm>
            <a:off x="9805690" y="4664770"/>
            <a:ext cx="494506" cy="368102"/>
          </a:xfrm>
          <a:prstGeom prst="rect">
            <a:avLst/>
          </a:prstGeom>
          <a:solidFill>
            <a:srgbClr val="E9F5FB"/>
          </a:solidFill>
          <a:ln/>
        </p:spPr>
        <p:txBody>
          <a:bodyPr/>
          <a:lstStyle/>
          <a:p>
            <a:endParaRPr lang="fr-FR"/>
          </a:p>
        </p:txBody>
      </p:sp>
      <p:sp>
        <p:nvSpPr>
          <p:cNvPr id="47" name="Text 38"/>
          <p:cNvSpPr/>
          <p:nvPr/>
        </p:nvSpPr>
        <p:spPr>
          <a:xfrm>
            <a:off x="9929515" y="4731445"/>
            <a:ext cx="323056"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CE3</a:t>
            </a:r>
            <a:endParaRPr lang="en-US" sz="1275" dirty="0"/>
          </a:p>
        </p:txBody>
      </p:sp>
      <p:sp>
        <p:nvSpPr>
          <p:cNvPr id="48" name="Shape 39"/>
          <p:cNvSpPr/>
          <p:nvPr/>
        </p:nvSpPr>
        <p:spPr>
          <a:xfrm>
            <a:off x="10376397" y="4664770"/>
            <a:ext cx="494506" cy="368102"/>
          </a:xfrm>
          <a:prstGeom prst="rect">
            <a:avLst/>
          </a:prstGeom>
          <a:solidFill>
            <a:srgbClr val="E9F5FB"/>
          </a:solidFill>
          <a:ln/>
        </p:spPr>
        <p:txBody>
          <a:bodyPr/>
          <a:lstStyle/>
          <a:p>
            <a:endParaRPr lang="fr-FR"/>
          </a:p>
        </p:txBody>
      </p:sp>
      <p:sp>
        <p:nvSpPr>
          <p:cNvPr id="49" name="Text 40"/>
          <p:cNvSpPr/>
          <p:nvPr/>
        </p:nvSpPr>
        <p:spPr>
          <a:xfrm>
            <a:off x="10500222" y="4731445"/>
            <a:ext cx="323056"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CE4</a:t>
            </a:r>
            <a:endParaRPr lang="en-US" sz="1275" dirty="0"/>
          </a:p>
        </p:txBody>
      </p:sp>
      <p:sp>
        <p:nvSpPr>
          <p:cNvPr id="50" name="Shape 41"/>
          <p:cNvSpPr/>
          <p:nvPr/>
        </p:nvSpPr>
        <p:spPr>
          <a:xfrm>
            <a:off x="10947103" y="4664770"/>
            <a:ext cx="494506" cy="368102"/>
          </a:xfrm>
          <a:prstGeom prst="rect">
            <a:avLst/>
          </a:prstGeom>
          <a:solidFill>
            <a:srgbClr val="E9F5FB"/>
          </a:solidFill>
          <a:ln/>
        </p:spPr>
        <p:txBody>
          <a:bodyPr/>
          <a:lstStyle/>
          <a:p>
            <a:endParaRPr lang="fr-FR"/>
          </a:p>
        </p:txBody>
      </p:sp>
      <p:sp>
        <p:nvSpPr>
          <p:cNvPr id="51" name="Text 42"/>
          <p:cNvSpPr/>
          <p:nvPr/>
        </p:nvSpPr>
        <p:spPr>
          <a:xfrm>
            <a:off x="11070928" y="4731445"/>
            <a:ext cx="323056"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CE5</a:t>
            </a:r>
            <a:endParaRPr lang="en-US" sz="1275" dirty="0"/>
          </a:p>
        </p:txBody>
      </p:sp>
      <p:sp>
        <p:nvSpPr>
          <p:cNvPr id="52" name="Shape 43"/>
          <p:cNvSpPr/>
          <p:nvPr/>
        </p:nvSpPr>
        <p:spPr>
          <a:xfrm>
            <a:off x="8201025" y="5109071"/>
            <a:ext cx="570607" cy="368102"/>
          </a:xfrm>
          <a:prstGeom prst="rect">
            <a:avLst/>
          </a:prstGeom>
          <a:solidFill>
            <a:srgbClr val="E9F5FB"/>
          </a:solidFill>
          <a:ln/>
        </p:spPr>
        <p:txBody>
          <a:bodyPr/>
          <a:lstStyle/>
          <a:p>
            <a:endParaRPr lang="fr-FR"/>
          </a:p>
        </p:txBody>
      </p:sp>
      <p:sp>
        <p:nvSpPr>
          <p:cNvPr id="53" name="Text 44"/>
          <p:cNvSpPr/>
          <p:nvPr/>
        </p:nvSpPr>
        <p:spPr>
          <a:xfrm>
            <a:off x="8324850" y="5175746"/>
            <a:ext cx="399157"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CST1</a:t>
            </a:r>
            <a:endParaRPr lang="en-US" sz="1275" dirty="0"/>
          </a:p>
        </p:txBody>
      </p:sp>
      <p:sp>
        <p:nvSpPr>
          <p:cNvPr id="54" name="Shape 45"/>
          <p:cNvSpPr/>
          <p:nvPr/>
        </p:nvSpPr>
        <p:spPr>
          <a:xfrm>
            <a:off x="8847832" y="5109071"/>
            <a:ext cx="570607" cy="368102"/>
          </a:xfrm>
          <a:prstGeom prst="rect">
            <a:avLst/>
          </a:prstGeom>
          <a:solidFill>
            <a:srgbClr val="E9F5FB"/>
          </a:solidFill>
          <a:ln/>
        </p:spPr>
        <p:txBody>
          <a:bodyPr/>
          <a:lstStyle/>
          <a:p>
            <a:endParaRPr lang="fr-FR"/>
          </a:p>
        </p:txBody>
      </p:sp>
      <p:sp>
        <p:nvSpPr>
          <p:cNvPr id="55" name="Text 46"/>
          <p:cNvSpPr/>
          <p:nvPr/>
        </p:nvSpPr>
        <p:spPr>
          <a:xfrm>
            <a:off x="8971657" y="5175746"/>
            <a:ext cx="399157"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CST2</a:t>
            </a:r>
            <a:endParaRPr lang="en-US" sz="1275" dirty="0"/>
          </a:p>
        </p:txBody>
      </p:sp>
      <p:sp>
        <p:nvSpPr>
          <p:cNvPr id="56" name="Shape 47"/>
          <p:cNvSpPr/>
          <p:nvPr/>
        </p:nvSpPr>
        <p:spPr>
          <a:xfrm>
            <a:off x="9494639" y="5109071"/>
            <a:ext cx="570607" cy="368102"/>
          </a:xfrm>
          <a:prstGeom prst="rect">
            <a:avLst/>
          </a:prstGeom>
          <a:solidFill>
            <a:srgbClr val="E9F5FB"/>
          </a:solidFill>
          <a:ln/>
        </p:spPr>
        <p:txBody>
          <a:bodyPr/>
          <a:lstStyle/>
          <a:p>
            <a:endParaRPr lang="fr-FR"/>
          </a:p>
        </p:txBody>
      </p:sp>
      <p:sp>
        <p:nvSpPr>
          <p:cNvPr id="57" name="Text 48"/>
          <p:cNvSpPr/>
          <p:nvPr/>
        </p:nvSpPr>
        <p:spPr>
          <a:xfrm>
            <a:off x="9618464" y="5175746"/>
            <a:ext cx="399157" cy="272852"/>
          </a:xfrm>
          <a:prstGeom prst="rect">
            <a:avLst/>
          </a:prstGeom>
          <a:noFill/>
          <a:ln/>
        </p:spPr>
        <p:txBody>
          <a:bodyPr wrap="square" lIns="25400" tIns="25400" rIns="25400" bIns="25400" rtlCol="0" anchor="t">
            <a:normAutofit/>
          </a:bodyPr>
          <a:lstStyle/>
          <a:p>
            <a:pPr marL="0" indent="0" algn="l">
              <a:lnSpc>
                <a:spcPct val="119274"/>
              </a:lnSpc>
              <a:buNone/>
            </a:pPr>
            <a:r>
              <a:rPr lang="en-US" sz="1275" b="1" dirty="0">
                <a:solidFill>
                  <a:srgbClr val="063C67"/>
                </a:solidFill>
                <a:latin typeface="Calibri" pitchFamily="34" charset="0"/>
                <a:ea typeface="Calibri" pitchFamily="34" charset="-122"/>
                <a:cs typeface="Calibri" pitchFamily="34" charset="-120"/>
              </a:rPr>
              <a:t>CST7</a:t>
            </a:r>
            <a:endParaRPr lang="en-US" sz="1275" dirty="0"/>
          </a:p>
        </p:txBody>
      </p:sp>
      <p:sp>
        <p:nvSpPr>
          <p:cNvPr id="58" name="Text 49"/>
          <p:cNvSpPr/>
          <p:nvPr/>
        </p:nvSpPr>
        <p:spPr>
          <a:xfrm>
            <a:off x="8201025" y="5610523"/>
            <a:ext cx="3551492" cy="732234"/>
          </a:xfrm>
          <a:prstGeom prst="rect">
            <a:avLst/>
          </a:prstGeom>
          <a:noFill/>
          <a:ln/>
        </p:spPr>
        <p:txBody>
          <a:bodyPr wrap="square" lIns="25400" tIns="25400" rIns="25400" bIns="25400" rtlCol="0" anchor="t">
            <a:normAutofit/>
          </a:bodyPr>
          <a:lstStyle/>
          <a:p>
            <a:pPr marL="0" indent="0" algn="l">
              <a:lnSpc>
                <a:spcPct val="110455"/>
              </a:lnSpc>
              <a:buNone/>
            </a:pPr>
            <a:r>
              <a:rPr lang="en-US" sz="1350" dirty="0">
                <a:solidFill>
                  <a:srgbClr val="063C67"/>
                </a:solidFill>
                <a:latin typeface="Calibri" pitchFamily="34" charset="0"/>
                <a:ea typeface="Calibri" pitchFamily="34" charset="-122"/>
                <a:cs typeface="Calibri" pitchFamily="34" charset="-120"/>
              </a:rPr>
              <a:t>The difficulty was never the mathematics. It sits at the two joins: model to world, and output to the person who acts on it.</a:t>
            </a:r>
            <a:endParaRPr lang="en-US" sz="1350" dirty="0"/>
          </a:p>
        </p:txBody>
      </p:sp>
      <p:pic>
        <p:nvPicPr>
          <p:cNvPr id="59" name="Image 7" descr="preencoded.png"/>
          <p:cNvPicPr>
            <a:picLocks noChangeAspect="1"/>
          </p:cNvPicPr>
          <p:nvPr/>
        </p:nvPicPr>
        <p:blipFill>
          <a:blip r:embed="rId9"/>
          <a:stretch>
            <a:fillRect/>
          </a:stretch>
        </p:blipFill>
        <p:spPr>
          <a:xfrm>
            <a:off x="11229975" y="6567488"/>
            <a:ext cx="714375" cy="71438"/>
          </a:xfrm>
          <a:prstGeom prst="rect">
            <a:avLst/>
          </a:prstGeom>
        </p:spPr>
      </p:pic>
      <p:sp>
        <p:nvSpPr>
          <p:cNvPr id="60" name="Text 50"/>
          <p:cNvSpPr/>
          <p:nvPr/>
        </p:nvSpPr>
        <p:spPr>
          <a:xfrm>
            <a:off x="10505679" y="6465590"/>
            <a:ext cx="524272"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C0C0C8"/>
                </a:solidFill>
                <a:latin typeface="Calibri" pitchFamily="34" charset="0"/>
                <a:ea typeface="Calibri" pitchFamily="34" charset="-122"/>
                <a:cs typeface="Calibri" pitchFamily="34" charset="-120"/>
              </a:rPr>
              <a:t>19 | 20</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63C67"/>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l="5970" r="597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63C67">
                  <a:alpha val="95000"/>
                </a:srgbClr>
              </a:gs>
              <a:gs pos="48000">
                <a:srgbClr val="063C67">
                  <a:alpha val="88000"/>
                </a:srgbClr>
              </a:gs>
              <a:gs pos="100000">
                <a:srgbClr val="063C67">
                  <a:alpha val="58000"/>
                </a:srgbClr>
              </a:gs>
            </a:gsLst>
            <a:lin ang="0" scaled="0"/>
          </a:gradFill>
          <a:ln/>
        </p:spPr>
        <p:txBody>
          <a:bodyPr/>
          <a:lstStyle/>
          <a:p>
            <a:endParaRPr lang="fr-FR"/>
          </a:p>
        </p:txBody>
      </p:sp>
      <p:sp>
        <p:nvSpPr>
          <p:cNvPr id="4" name="Shape 1"/>
          <p:cNvSpPr/>
          <p:nvPr/>
        </p:nvSpPr>
        <p:spPr>
          <a:xfrm>
            <a:off x="0" y="6772275"/>
            <a:ext cx="12192000" cy="85725"/>
          </a:xfrm>
          <a:prstGeom prst="rect">
            <a:avLst/>
          </a:prstGeom>
          <a:gradFill rotWithShape="1">
            <a:gsLst>
              <a:gs pos="0">
                <a:srgbClr val="063C67">
                  <a:alpha val="100000"/>
                </a:srgbClr>
              </a:gs>
              <a:gs pos="67000">
                <a:srgbClr val="1D93C9">
                  <a:alpha val="100000"/>
                </a:srgbClr>
              </a:gs>
              <a:gs pos="100000">
                <a:srgbClr val="FFDA65">
                  <a:alpha val="100000"/>
                </a:srgbClr>
              </a:gs>
            </a:gsLst>
            <a:lin ang="0" scaled="0"/>
          </a:gradFill>
          <a:ln/>
        </p:spPr>
        <p:txBody>
          <a:bodyPr/>
          <a:lstStyle/>
          <a:p>
            <a:endParaRPr lang="fr-FR"/>
          </a:p>
        </p:txBody>
      </p:sp>
      <p:sp>
        <p:nvSpPr>
          <p:cNvPr id="5" name="Shape 2"/>
          <p:cNvSpPr/>
          <p:nvPr/>
        </p:nvSpPr>
        <p:spPr>
          <a:xfrm>
            <a:off x="0" y="0"/>
            <a:ext cx="104775" cy="6858000"/>
          </a:xfrm>
          <a:prstGeom prst="rect">
            <a:avLst/>
          </a:prstGeom>
          <a:solidFill>
            <a:srgbClr val="FFFFFF"/>
          </a:solidFill>
          <a:ln/>
        </p:spPr>
        <p:txBody>
          <a:bodyPr/>
          <a:lstStyle/>
          <a:p>
            <a:endParaRPr lang="fr-FR"/>
          </a:p>
        </p:txBody>
      </p:sp>
      <p:sp>
        <p:nvSpPr>
          <p:cNvPr id="6" name="Text 3"/>
          <p:cNvSpPr/>
          <p:nvPr/>
        </p:nvSpPr>
        <p:spPr>
          <a:xfrm>
            <a:off x="352425" y="2305050"/>
            <a:ext cx="7962900" cy="575270"/>
          </a:xfrm>
          <a:prstGeom prst="rect">
            <a:avLst/>
          </a:prstGeom>
          <a:noFill/>
          <a:ln/>
        </p:spPr>
        <p:txBody>
          <a:bodyPr wrap="square" lIns="25400" tIns="25400" rIns="25400" bIns="25400" rtlCol="0" anchor="t">
            <a:normAutofit/>
          </a:bodyPr>
          <a:lstStyle/>
          <a:p>
            <a:pPr marL="0" indent="0" algn="l">
              <a:lnSpc>
                <a:spcPct val="66614"/>
              </a:lnSpc>
              <a:buNone/>
            </a:pPr>
            <a:r>
              <a:rPr lang="en-US" sz="4500" b="1" dirty="0">
                <a:solidFill>
                  <a:srgbClr val="FFFFFF"/>
                </a:solidFill>
                <a:latin typeface="Arial Black" pitchFamily="34" charset="0"/>
                <a:ea typeface="Arial Black" pitchFamily="34" charset="-122"/>
                <a:cs typeface="Arial Black" pitchFamily="34" charset="-120"/>
              </a:rPr>
              <a:t>THANK YOU</a:t>
            </a:r>
            <a:endParaRPr lang="en-US" sz="4500" dirty="0"/>
          </a:p>
        </p:txBody>
      </p:sp>
      <p:sp>
        <p:nvSpPr>
          <p:cNvPr id="7" name="Text 4"/>
          <p:cNvSpPr/>
          <p:nvPr/>
        </p:nvSpPr>
        <p:spPr>
          <a:xfrm>
            <a:off x="352425" y="3108920"/>
            <a:ext cx="7962900" cy="369491"/>
          </a:xfrm>
          <a:prstGeom prst="rect">
            <a:avLst/>
          </a:prstGeom>
          <a:noFill/>
          <a:ln/>
        </p:spPr>
        <p:txBody>
          <a:bodyPr wrap="square" lIns="25400" tIns="25400" rIns="25400" bIns="25400" rtlCol="0" anchor="t">
            <a:normAutofit/>
          </a:bodyPr>
          <a:lstStyle/>
          <a:p>
            <a:pPr marL="0" indent="0" algn="l">
              <a:lnSpc>
                <a:spcPct val="124286"/>
              </a:lnSpc>
              <a:buNone/>
            </a:pPr>
            <a:r>
              <a:rPr lang="en-US" sz="1800" kern="0" spc="270" dirty="0">
                <a:solidFill>
                  <a:srgbClr val="7ECBEE"/>
                </a:solidFill>
                <a:latin typeface="Arial" pitchFamily="34" charset="0"/>
                <a:ea typeface="Arial" pitchFamily="34" charset="-122"/>
                <a:cs typeface="Arial" pitchFamily="34" charset="-120"/>
              </a:rPr>
              <a:t>QUESTIONS</a:t>
            </a:r>
            <a:endParaRPr lang="en-US" sz="1800" dirty="0"/>
          </a:p>
        </p:txBody>
      </p:sp>
      <p:sp>
        <p:nvSpPr>
          <p:cNvPr id="8" name="Shape 5"/>
          <p:cNvSpPr/>
          <p:nvPr/>
        </p:nvSpPr>
        <p:spPr>
          <a:xfrm>
            <a:off x="352425" y="3745111"/>
            <a:ext cx="7239000" cy="9525"/>
          </a:xfrm>
          <a:prstGeom prst="rect">
            <a:avLst/>
          </a:prstGeom>
          <a:solidFill>
            <a:srgbClr val="FFFFFF">
              <a:alpha val="35000"/>
            </a:srgbClr>
          </a:solidFill>
          <a:ln/>
        </p:spPr>
        <p:txBody>
          <a:bodyPr/>
          <a:lstStyle/>
          <a:p>
            <a:endParaRPr lang="fr-FR"/>
          </a:p>
        </p:txBody>
      </p:sp>
      <p:sp>
        <p:nvSpPr>
          <p:cNvPr id="9" name="Text 6"/>
          <p:cNvSpPr/>
          <p:nvPr/>
        </p:nvSpPr>
        <p:spPr>
          <a:xfrm>
            <a:off x="352425" y="3961011"/>
            <a:ext cx="7456170" cy="852488"/>
          </a:xfrm>
          <a:prstGeom prst="rect">
            <a:avLst/>
          </a:prstGeom>
          <a:noFill/>
          <a:ln/>
        </p:spPr>
        <p:txBody>
          <a:bodyPr wrap="square" lIns="25400" tIns="25400" rIns="25400" bIns="25400" rtlCol="0" anchor="t">
            <a:normAutofit/>
          </a:bodyPr>
          <a:lstStyle/>
          <a:p>
            <a:pPr marL="0" indent="0" algn="l">
              <a:lnSpc>
                <a:spcPct val="122143"/>
              </a:lnSpc>
              <a:buNone/>
            </a:pPr>
            <a:r>
              <a:rPr lang="en-US" sz="1425" dirty="0">
                <a:solidFill>
                  <a:srgbClr val="FFFFFF"/>
                </a:solidFill>
                <a:latin typeface="Calibri" pitchFamily="34" charset="0"/>
                <a:ea typeface="Calibri" pitchFamily="34" charset="-122"/>
                <a:cs typeface="Calibri" pitchFamily="34" charset="-120"/>
              </a:rPr>
              <a:t>HOARAU John · Promotion 2026 ALTEN Sud-Ouest · Direction de l’Innovation · Lab de Toulouse 13 April → 16 October 2026</a:t>
            </a:r>
            <a:endParaRPr lang="en-US" sz="1425" dirty="0"/>
          </a:p>
        </p:txBody>
      </p:sp>
      <p:pic>
        <p:nvPicPr>
          <p:cNvPr id="10" name="Image 1" descr="preencoded.png"/>
          <p:cNvPicPr>
            <a:picLocks noChangeAspect="1"/>
          </p:cNvPicPr>
          <p:nvPr/>
        </p:nvPicPr>
        <p:blipFill>
          <a:blip r:embed="rId4"/>
          <a:stretch>
            <a:fillRect/>
          </a:stretch>
        </p:blipFill>
        <p:spPr>
          <a:xfrm>
            <a:off x="10327284" y="2381250"/>
            <a:ext cx="1121767" cy="1866900"/>
          </a:xfrm>
          <a:prstGeom prst="rect">
            <a:avLst/>
          </a:prstGeom>
        </p:spPr>
      </p:pic>
      <p:sp>
        <p:nvSpPr>
          <p:cNvPr id="11" name="Shape 7"/>
          <p:cNvSpPr/>
          <p:nvPr/>
        </p:nvSpPr>
        <p:spPr>
          <a:xfrm>
            <a:off x="9953725" y="4686300"/>
            <a:ext cx="1495326" cy="723900"/>
          </a:xfrm>
          <a:prstGeom prst="rect">
            <a:avLst/>
          </a:prstGeom>
          <a:solidFill>
            <a:srgbClr val="FFFFFF"/>
          </a:solidFill>
          <a:ln/>
        </p:spPr>
        <p:txBody>
          <a:bodyPr/>
          <a:lstStyle/>
          <a:p>
            <a:endParaRPr lang="fr-FR"/>
          </a:p>
        </p:txBody>
      </p:sp>
      <p:pic>
        <p:nvPicPr>
          <p:cNvPr id="12" name="Image 2" descr="preencoded.png"/>
          <p:cNvPicPr>
            <a:picLocks noChangeAspect="1"/>
          </p:cNvPicPr>
          <p:nvPr/>
        </p:nvPicPr>
        <p:blipFill>
          <a:blip r:embed="rId5"/>
          <a:stretch>
            <a:fillRect/>
          </a:stretch>
        </p:blipFill>
        <p:spPr>
          <a:xfrm>
            <a:off x="9953725" y="4686300"/>
            <a:ext cx="1495326" cy="723900"/>
          </a:xfrm>
          <a:prstGeom prst="rect">
            <a:avLst/>
          </a:prstGeom>
        </p:spPr>
      </p:pic>
      <p:pic>
        <p:nvPicPr>
          <p:cNvPr id="13" name="Image 3" descr="preencoded.png"/>
          <p:cNvPicPr>
            <a:picLocks noChangeAspect="1"/>
          </p:cNvPicPr>
          <p:nvPr/>
        </p:nvPicPr>
        <p:blipFill>
          <a:blip r:embed="rId6"/>
          <a:stretch>
            <a:fillRect/>
          </a:stretch>
        </p:blipFill>
        <p:spPr>
          <a:xfrm>
            <a:off x="11229975" y="6567488"/>
            <a:ext cx="714375" cy="71438"/>
          </a:xfrm>
          <a:prstGeom prst="rect">
            <a:avLst/>
          </a:prstGeom>
        </p:spPr>
      </p:pic>
      <p:sp>
        <p:nvSpPr>
          <p:cNvPr id="14" name="Text 8"/>
          <p:cNvSpPr/>
          <p:nvPr/>
        </p:nvSpPr>
        <p:spPr>
          <a:xfrm>
            <a:off x="10505679" y="6465590"/>
            <a:ext cx="524272" cy="259060"/>
          </a:xfrm>
          <a:prstGeom prst="rect">
            <a:avLst/>
          </a:prstGeom>
          <a:noFill/>
          <a:ln/>
        </p:spPr>
        <p:txBody>
          <a:bodyPr wrap="square" lIns="25400" tIns="25400" rIns="25400" bIns="25400" rtlCol="0" anchor="t">
            <a:normAutofit/>
          </a:bodyPr>
          <a:lstStyle/>
          <a:p>
            <a:pPr marL="0" indent="0" algn="l">
              <a:lnSpc>
                <a:spcPct val="120000"/>
              </a:lnSpc>
              <a:buNone/>
            </a:pPr>
            <a:r>
              <a:rPr lang="en-US" sz="1200" dirty="0">
                <a:solidFill>
                  <a:srgbClr val="7ECBEE"/>
                </a:solidFill>
                <a:latin typeface="Calibri" pitchFamily="34" charset="0"/>
                <a:ea typeface="Calibri" pitchFamily="34" charset="-122"/>
                <a:cs typeface="Calibri" pitchFamily="34" charset="-120"/>
              </a:rPr>
              <a:t>20 | 20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f9646e7-a2b7-4055-b37c-fae88eceb046}" enabled="1" method="Privileged" siteId="{9bc3d1cd-55ca-4e13-b5a2-a9e9deaeba3f}" contentBits="2" removed="0"/>
</clbl:labelList>
</file>

<file path=docProps/app.xml><?xml version="1.0" encoding="utf-8"?>
<Properties xmlns="http://schemas.openxmlformats.org/officeDocument/2006/extended-properties" xmlns:vt="http://schemas.openxmlformats.org/officeDocument/2006/docPropsVTypes">
  <TotalTime>7</TotalTime>
  <Words>2439</Words>
  <Application>Microsoft Office PowerPoint</Application>
  <PresentationFormat>Grand écran</PresentationFormat>
  <Paragraphs>417</Paragraphs>
  <Slides>20</Slides>
  <Notes>20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20</vt:i4>
      </vt:variant>
    </vt:vector>
  </HeadingPairs>
  <TitlesOfParts>
    <vt:vector size="26" baseType="lpstr">
      <vt:lpstr>Aptos</vt:lpstr>
      <vt:lpstr>Arial</vt:lpstr>
      <vt:lpstr>Arial Black</vt:lpstr>
      <vt:lpstr>Calibri</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John HOARAU</cp:lastModifiedBy>
  <cp:revision>3</cp:revision>
  <dcterms:created xsi:type="dcterms:W3CDTF">2026-08-21T15:08:16Z</dcterms:created>
  <dcterms:modified xsi:type="dcterms:W3CDTF">2026-08-24T08:48:01Z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Theme:3</vt:lpwstr>
  </property>
  <property fmtid="{D5CDD505-2E9C-101B-9397-08002B2CF9AE}" pid="3" name="ClassificationContentMarkingFooterText">
    <vt:lpwstr>Sensitivity: C1-Internal</vt:lpwstr>
  </property>
</Properties>
</file>