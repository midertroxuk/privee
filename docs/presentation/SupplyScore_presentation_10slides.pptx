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Accroche : tous vos tableaux de bord montrent des chiffres. Aucun ne montre l'écart entre ce que les équipes DÉCLARENT et ce que les chiffres DISENT. C'est cet écart qui tue les chaînes d'approvisionnement. 20 minutes : 8 min de concept, 8 min de démo live, 4 min limites et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Analogie du quotidien : la fausse alerte incendie (on évacue pour rien, c'est pénible mais on s'en remet) vs le détecteur débranché (personne ne sonne, et c'est le drame). Insister : ces deux erreurs ne coûtent pas le même prix.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Vulgarisation des 3 briques : Ud = questionnaire AHP ; Ur = 6 blocs KPI en OU probabiliste (analogie détecteurs de fumée : l'alarme ne fait pas la moyenne) ; A = Prospect Theory, 2,25 n'est pas un réglage maison mais la constante d'aversion à la perte de Kahneman-Tversky. Propagation : analogie autoroute (l'appel d'air descend, le bouchon remonte).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usages. Pour un public non technique, le plus parlant : « Tracer » (chaque chiffre se justifie) et « Former » (le serious game, qui est le banc d'essai du projet). Le chef de projet retiendra « Prioriser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AERIS comme une histoire : un programme de drone cargo, 10 entreprises fictives mais réalistes. Bien annoncer : données simulées, générées par le moteur de test du projet. La dramaturgie est calibrée pour montrer les deux maladies en même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Bascule vers l'app en direct (http://127.0.0.1:8060/dashboard). Dérouler : cartes du haut, DAG coloré, tableau détaillé (colonnes F et H), priorités. Si l'app ne répond pas : cette capture est le plan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/node/powerchip/explication. Lire l'alerte rouge à voix haute. Montrer la phrase de gouvernance sous l'équation : « le danger invisible est pire que la fausse urgence ». C'est la réponse aux sceptiques : aucun score n'est une boîte noire.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moment fort de la démo live : opérateur « Mei » &gt; Projets &gt; « Avancer d'une semaine » &gt; Hebdo PowerChip (monter les notes AHP, clôturer le jalon Proto, tracer la décision) &gt; Dashboard : H fond, A remonte. Puis Simulation : Lithium Andes, « Défaillance totale », Simuler, et la tornado de criticité.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crédibilité : on annonce les limites soi-même AVANT qu'on nous les oppose. Distinction clé : les limites portent sur le MODÈLE (calibration, fraîcheur) ; le LOGICIEL, lui, est éprouvé (tests, couverture,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Terminer par la question ouverte au public — elle lance le Q&amp;A. Si on demande un calendrier : prochaine étape immédiate = la session de serious game réelle ; le reste dépend de ce qu'elle révèle.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3F"/>
        </a:solidFill>
      </p:bgPr>
    </p:bg>
    <p:spTree>
      <p:nvGrpSpPr>
        <p:cNvPr id="1" name=""/>
        <p:cNvGrpSpPr/>
        <p:nvPr/>
      </p:nvGrpSpPr>
      <p:grpSpPr>
        <a:xfrm>
          <a:off x="0" y="0"/>
          <a:ext cx="0" cy="0"/>
          <a:chOff x="0" y="0"/>
          <a:chExt cx="0" cy="0"/>
        </a:xfrm>
      </p:grpSpPr>
      <p:sp>
        <p:nvSpPr>
          <p:cNvPr id="2" name="Text 0"/>
          <p:cNvSpPr/>
          <p:nvPr/>
        </p:nvSpPr>
        <p:spPr>
          <a:xfrm>
            <a:off x="640080" y="914400"/>
            <a:ext cx="7863840" cy="320040"/>
          </a:xfrm>
          <a:prstGeom prst="rect">
            <a:avLst/>
          </a:prstGeom>
          <a:noFill/>
          <a:ln/>
        </p:spPr>
        <p:txBody>
          <a:bodyPr wrap="square" lIns="0" tIns="0" rIns="0" bIns="0" rtlCol="0" anchor="ctr"/>
          <a:lstStyle/>
          <a:p>
            <a:pPr indent="0" marL="0">
              <a:buNone/>
            </a:pPr>
            <a:r>
              <a:rPr lang="en-US" sz="1300" b="1" spc="400" kern="0" dirty="0">
                <a:solidFill>
                  <a:srgbClr val="9FC0D4"/>
                </a:solidFill>
                <a:latin typeface="Calibri" pitchFamily="34" charset="0"/>
                <a:ea typeface="Calibri" pitchFamily="34" charset="-122"/>
                <a:cs typeface="Calibri" pitchFamily="34" charset="-120"/>
              </a:rPr>
              <a:t>PROJET SUPPLYSCORE</a:t>
            </a:r>
            <a:endParaRPr lang="en-US" sz="1300" dirty="0"/>
          </a:p>
        </p:txBody>
      </p:sp>
      <p:sp>
        <p:nvSpPr>
          <p:cNvPr id="3" name="Text 1"/>
          <p:cNvSpPr/>
          <p:nvPr/>
        </p:nvSpPr>
        <p:spPr>
          <a:xfrm>
            <a:off x="640080" y="1280160"/>
            <a:ext cx="7863840" cy="137160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Voir ce que les tableaux de bord ne voient pas</a:t>
            </a:r>
            <a:endParaRPr lang="en-US" sz="3800" dirty="0"/>
          </a:p>
        </p:txBody>
      </p:sp>
      <p:sp>
        <p:nvSpPr>
          <p:cNvPr id="4" name="Text 2"/>
          <p:cNvSpPr/>
          <p:nvPr/>
        </p:nvSpPr>
        <p:spPr>
          <a:xfrm>
            <a:off x="640080" y="2651760"/>
            <a:ext cx="6949440" cy="731520"/>
          </a:xfrm>
          <a:prstGeom prst="rect">
            <a:avLst/>
          </a:prstGeom>
          <a:noFill/>
          <a:ln/>
        </p:spPr>
        <p:txBody>
          <a:bodyPr wrap="square" lIns="0" tIns="0" rIns="0" bIns="0" rtlCol="0" anchor="ctr"/>
          <a:lstStyle/>
          <a:p>
            <a:pPr indent="0" marL="0">
              <a:buNone/>
            </a:pPr>
            <a:r>
              <a:rPr lang="en-US" sz="1600" dirty="0">
                <a:solidFill>
                  <a:srgbClr val="D8E5EE"/>
                </a:solidFill>
                <a:latin typeface="Calibri" pitchFamily="34" charset="0"/>
                <a:ea typeface="Calibri" pitchFamily="34" charset="-122"/>
                <a:cs typeface="Calibri" pitchFamily="34" charset="-120"/>
              </a:rPr>
              <a:t>Mesurer l'écart entre ce que les gens déclarent et ce que les données montrent — sur toute une chaîne d'approvisionnement.</a:t>
            </a:r>
            <a:endParaRPr lang="en-US" sz="1600" dirty="0"/>
          </a:p>
        </p:txBody>
      </p:sp>
      <p:sp>
        <p:nvSpPr>
          <p:cNvPr id="5" name="Shape 3"/>
          <p:cNvSpPr/>
          <p:nvPr/>
        </p:nvSpPr>
        <p:spPr>
          <a:xfrm>
            <a:off x="640080" y="3794760"/>
            <a:ext cx="2542032" cy="868680"/>
          </a:xfrm>
          <a:prstGeom prst="roundRect">
            <a:avLst>
              <a:gd name="adj" fmla="val 7368"/>
            </a:avLst>
          </a:prstGeom>
          <a:solidFill>
            <a:srgbClr val="1F3D52"/>
          </a:solidFill>
          <a:ln/>
          <a:effectLst>
            <a:outerShdw sx="100000" sy="100000" kx="0" ky="0" algn="bl" rotWithShape="0" blurRad="88900" dist="25400" dir="2700000">
              <a:srgbClr val="000000">
                <a:alpha val="14000"/>
              </a:srgbClr>
            </a:outerShdw>
          </a:effectLst>
        </p:spPr>
      </p:sp>
      <p:sp>
        <p:nvSpPr>
          <p:cNvPr id="6" name="Text 4"/>
          <p:cNvSpPr/>
          <p:nvPr/>
        </p:nvSpPr>
        <p:spPr>
          <a:xfrm>
            <a:off x="804672" y="3931920"/>
            <a:ext cx="22402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20 minutes</a:t>
            </a:r>
            <a:endParaRPr lang="en-US" sz="1300" dirty="0"/>
          </a:p>
        </p:txBody>
      </p:sp>
      <p:sp>
        <p:nvSpPr>
          <p:cNvPr id="7" name="Text 5"/>
          <p:cNvSpPr/>
          <p:nvPr/>
        </p:nvSpPr>
        <p:spPr>
          <a:xfrm>
            <a:off x="804672" y="4187952"/>
            <a:ext cx="2240280" cy="411480"/>
          </a:xfrm>
          <a:prstGeom prst="rect">
            <a:avLst/>
          </a:prstGeom>
          <a:noFill/>
          <a:ln/>
        </p:spPr>
        <p:txBody>
          <a:bodyPr wrap="square" lIns="0" tIns="0" rIns="0" bIns="0" rtlCol="0" anchor="ctr"/>
          <a:lstStyle/>
          <a:p>
            <a:pPr indent="0" marL="0">
              <a:buNone/>
            </a:pPr>
            <a:r>
              <a:rPr lang="en-US" sz="1050" dirty="0">
                <a:solidFill>
                  <a:srgbClr val="B9CDDA"/>
                </a:solidFill>
                <a:latin typeface="Calibri" pitchFamily="34" charset="0"/>
                <a:ea typeface="Calibri" pitchFamily="34" charset="-122"/>
                <a:cs typeface="Calibri" pitchFamily="34" charset="-120"/>
              </a:rPr>
              <a:t>le projet expliqué, puis une démo en direct</a:t>
            </a:r>
            <a:endParaRPr lang="en-US" sz="1050" dirty="0"/>
          </a:p>
        </p:txBody>
      </p:sp>
      <p:sp>
        <p:nvSpPr>
          <p:cNvPr id="8" name="Shape 6"/>
          <p:cNvSpPr/>
          <p:nvPr/>
        </p:nvSpPr>
        <p:spPr>
          <a:xfrm>
            <a:off x="3364992" y="3794760"/>
            <a:ext cx="2542032" cy="868680"/>
          </a:xfrm>
          <a:prstGeom prst="roundRect">
            <a:avLst>
              <a:gd name="adj" fmla="val 7368"/>
            </a:avLst>
          </a:prstGeom>
          <a:solidFill>
            <a:srgbClr val="1F3D52"/>
          </a:solidFill>
          <a:ln/>
          <a:effectLst>
            <a:outerShdw sx="100000" sy="100000" kx="0" ky="0" algn="bl" rotWithShape="0" blurRad="88900" dist="25400" dir="2700000">
              <a:srgbClr val="000000">
                <a:alpha val="14000"/>
              </a:srgbClr>
            </a:outerShdw>
          </a:effectLst>
        </p:spPr>
      </p:sp>
      <p:sp>
        <p:nvSpPr>
          <p:cNvPr id="9" name="Text 7"/>
          <p:cNvSpPr/>
          <p:nvPr/>
        </p:nvSpPr>
        <p:spPr>
          <a:xfrm>
            <a:off x="3529584" y="3931920"/>
            <a:ext cx="22402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Programme AERIS</a:t>
            </a:r>
            <a:endParaRPr lang="en-US" sz="1300" dirty="0"/>
          </a:p>
        </p:txBody>
      </p:sp>
      <p:sp>
        <p:nvSpPr>
          <p:cNvPr id="10" name="Text 8"/>
          <p:cNvSpPr/>
          <p:nvPr/>
        </p:nvSpPr>
        <p:spPr>
          <a:xfrm>
            <a:off x="3529584" y="4187952"/>
            <a:ext cx="2240280" cy="411480"/>
          </a:xfrm>
          <a:prstGeom prst="rect">
            <a:avLst/>
          </a:prstGeom>
          <a:noFill/>
          <a:ln/>
        </p:spPr>
        <p:txBody>
          <a:bodyPr wrap="square" lIns="0" tIns="0" rIns="0" bIns="0" rtlCol="0" anchor="ctr"/>
          <a:lstStyle/>
          <a:p>
            <a:pPr indent="0" marL="0">
              <a:buNone/>
            </a:pPr>
            <a:r>
              <a:rPr lang="en-US" sz="1050" dirty="0">
                <a:solidFill>
                  <a:srgbClr val="B9CDDA"/>
                </a:solidFill>
                <a:latin typeface="Calibri" pitchFamily="34" charset="0"/>
                <a:ea typeface="Calibri" pitchFamily="34" charset="-122"/>
                <a:cs typeface="Calibri" pitchFamily="34" charset="-120"/>
              </a:rPr>
              <a:t>un drone cargo, 10 acteurs, une histoire jouée</a:t>
            </a:r>
            <a:endParaRPr lang="en-US" sz="1050" dirty="0"/>
          </a:p>
        </p:txBody>
      </p:sp>
      <p:sp>
        <p:nvSpPr>
          <p:cNvPr id="11" name="Shape 9"/>
          <p:cNvSpPr/>
          <p:nvPr/>
        </p:nvSpPr>
        <p:spPr>
          <a:xfrm>
            <a:off x="6089904" y="3794760"/>
            <a:ext cx="2542032" cy="868680"/>
          </a:xfrm>
          <a:prstGeom prst="roundRect">
            <a:avLst>
              <a:gd name="adj" fmla="val 7368"/>
            </a:avLst>
          </a:prstGeom>
          <a:solidFill>
            <a:srgbClr val="1F3D52"/>
          </a:solidFill>
          <a:ln/>
          <a:effectLst>
            <a:outerShdw sx="100000" sy="100000" kx="0" ky="0" algn="bl" rotWithShape="0" blurRad="88900" dist="25400" dir="2700000">
              <a:srgbClr val="000000">
                <a:alpha val="14000"/>
              </a:srgbClr>
            </a:outerShdw>
          </a:effectLst>
        </p:spPr>
      </p:sp>
      <p:sp>
        <p:nvSpPr>
          <p:cNvPr id="12" name="Text 10"/>
          <p:cNvSpPr/>
          <p:nvPr/>
        </p:nvSpPr>
        <p:spPr>
          <a:xfrm>
            <a:off x="6254496" y="3931920"/>
            <a:ext cx="22402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Transparence</a:t>
            </a:r>
            <a:endParaRPr lang="en-US" sz="1300" dirty="0"/>
          </a:p>
        </p:txBody>
      </p:sp>
      <p:sp>
        <p:nvSpPr>
          <p:cNvPr id="13" name="Text 11"/>
          <p:cNvSpPr/>
          <p:nvPr/>
        </p:nvSpPr>
        <p:spPr>
          <a:xfrm>
            <a:off x="6254496" y="4187952"/>
            <a:ext cx="2240280" cy="411480"/>
          </a:xfrm>
          <a:prstGeom prst="rect">
            <a:avLst/>
          </a:prstGeom>
          <a:noFill/>
          <a:ln/>
        </p:spPr>
        <p:txBody>
          <a:bodyPr wrap="square" lIns="0" tIns="0" rIns="0" bIns="0" rtlCol="0" anchor="ctr"/>
          <a:lstStyle/>
          <a:p>
            <a:pPr indent="0" marL="0">
              <a:buNone/>
            </a:pPr>
            <a:r>
              <a:rPr lang="en-US" sz="1050" dirty="0">
                <a:solidFill>
                  <a:srgbClr val="B9CDDA"/>
                </a:solidFill>
                <a:latin typeface="Calibri" pitchFamily="34" charset="0"/>
                <a:ea typeface="Calibri" pitchFamily="34" charset="-122"/>
                <a:cs typeface="Calibri" pitchFamily="34" charset="-120"/>
              </a:rPr>
              <a:t>données simulées, annoncées comme telles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b="1" spc="300" kern="0" dirty="0">
                <a:solidFill>
                  <a:srgbClr val="2C5F7C"/>
                </a:solidFill>
                <a:latin typeface="Calibri" pitchFamily="34" charset="0"/>
                <a:ea typeface="Calibri" pitchFamily="34" charset="-122"/>
                <a:cs typeface="Calibri" pitchFamily="34" charset="-120"/>
              </a:rPr>
              <a:t>LE POINT DE DÉPART</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700" b="1" dirty="0">
                <a:solidFill>
                  <a:srgbClr val="1C2B36"/>
                </a:solidFill>
                <a:latin typeface="Calibri" pitchFamily="34" charset="0"/>
                <a:ea typeface="Calibri" pitchFamily="34" charset="-122"/>
                <a:cs typeface="Calibri" pitchFamily="34" charset="-120"/>
              </a:rPr>
              <a:t>Le problème : deux maladies invisibles</a:t>
            </a:r>
            <a:endParaRPr lang="en-US" sz="2700" dirty="0"/>
          </a:p>
        </p:txBody>
      </p:sp>
      <p:sp>
        <p:nvSpPr>
          <p:cNvPr id="4" name="Text 2"/>
          <p:cNvSpPr/>
          <p:nvPr/>
        </p:nvSpPr>
        <p:spPr>
          <a:xfrm>
            <a:off x="502920" y="1207008"/>
            <a:ext cx="8138160" cy="566928"/>
          </a:xfrm>
          <a:prstGeom prst="rect">
            <a:avLst/>
          </a:prstGeom>
          <a:noFill/>
          <a:ln/>
        </p:spPr>
        <p:txBody>
          <a:bodyPr wrap="square" lIns="0" tIns="0" rIns="0" bIns="0" rtlCol="0" anchor="ctr"/>
          <a:lstStyle/>
          <a:p>
            <a:pPr indent="0" marL="0">
              <a:buNone/>
            </a:pPr>
            <a:r>
              <a:rPr lang="en-US" sz="1300" dirty="0">
                <a:solidFill>
                  <a:srgbClr val="5C6F7C"/>
                </a:solidFill>
                <a:latin typeface="Calibri" pitchFamily="34" charset="0"/>
                <a:ea typeface="Calibri" pitchFamily="34" charset="-122"/>
                <a:cs typeface="Calibri" pitchFamily="34" charset="-120"/>
              </a:rPr>
              <a:t>Dix usines et fournisseurs fabriquent ensemble un drone : chacun dépend des autres. Chaque semaine, chacun déclare son niveau d'urgence — et les humains se trompent, dans les deux sens.</a:t>
            </a:r>
            <a:endParaRPr lang="en-US" sz="1300" dirty="0"/>
          </a:p>
        </p:txBody>
      </p:sp>
      <p:sp>
        <p:nvSpPr>
          <p:cNvPr id="5" name="Shape 3"/>
          <p:cNvSpPr/>
          <p:nvPr/>
        </p:nvSpPr>
        <p:spPr>
          <a:xfrm>
            <a:off x="502920" y="1920240"/>
            <a:ext cx="3950208" cy="2011680"/>
          </a:xfrm>
          <a:prstGeom prst="roundRect">
            <a:avLst>
              <a:gd name="adj" fmla="val 3182"/>
            </a:avLst>
          </a:prstGeom>
          <a:solidFill>
            <a:srgbClr val="FBF1E4"/>
          </a:solidFill>
          <a:ln/>
          <a:effectLst>
            <a:outerShdw sx="100000" sy="100000" kx="0" ky="0" algn="bl" rotWithShape="0" blurRad="88900" dist="25400" dir="2700000">
              <a:srgbClr val="000000">
                <a:alpha val="14000"/>
              </a:srgbClr>
            </a:outerShdw>
          </a:effectLst>
        </p:spPr>
      </p:sp>
      <p:sp>
        <p:nvSpPr>
          <p:cNvPr id="6" name="Text 4"/>
          <p:cNvSpPr/>
          <p:nvPr/>
        </p:nvSpPr>
        <p:spPr>
          <a:xfrm>
            <a:off x="731520" y="2121408"/>
            <a:ext cx="640080" cy="640080"/>
          </a:xfrm>
          <a:prstGeom prst="rect">
            <a:avLst/>
          </a:prstGeom>
          <a:noFill/>
          <a:ln/>
        </p:spPr>
        <p:txBody>
          <a:bodyPr wrap="square" lIns="0" tIns="0" rIns="0" bIns="0" rtlCol="0" anchor="ctr"/>
          <a:lstStyle/>
          <a:p>
            <a:pPr indent="0" marL="0">
              <a:buNone/>
            </a:pPr>
            <a:r>
              <a:rPr lang="en-US" sz="4000" b="1" dirty="0">
                <a:solidFill>
                  <a:srgbClr val="B06000"/>
                </a:solidFill>
                <a:latin typeface="Calibri" pitchFamily="34" charset="0"/>
                <a:ea typeface="Calibri" pitchFamily="34" charset="-122"/>
                <a:cs typeface="Calibri" pitchFamily="34" charset="-120"/>
              </a:rPr>
              <a:t>F</a:t>
            </a:r>
            <a:endParaRPr lang="en-US" sz="4000" dirty="0"/>
          </a:p>
        </p:txBody>
      </p:sp>
      <p:sp>
        <p:nvSpPr>
          <p:cNvPr id="7" name="Text 5"/>
          <p:cNvSpPr/>
          <p:nvPr/>
        </p:nvSpPr>
        <p:spPr>
          <a:xfrm>
            <a:off x="1417320" y="2212848"/>
            <a:ext cx="2880360" cy="502920"/>
          </a:xfrm>
          <a:prstGeom prst="rect">
            <a:avLst/>
          </a:prstGeom>
          <a:noFill/>
          <a:ln/>
        </p:spPr>
        <p:txBody>
          <a:bodyPr wrap="square" lIns="0" tIns="0" rIns="0" bIns="0" rtlCol="0" anchor="ctr"/>
          <a:lstStyle/>
          <a:p>
            <a:pPr indent="0" marL="0">
              <a:buNone/>
            </a:pPr>
            <a:r>
              <a:rPr lang="en-US" sz="1450" b="1" dirty="0">
                <a:solidFill>
                  <a:srgbClr val="1C2B36"/>
                </a:solidFill>
                <a:latin typeface="Calibri" pitchFamily="34" charset="0"/>
                <a:ea typeface="Calibri" pitchFamily="34" charset="-122"/>
                <a:cs typeface="Calibri" pitchFamily="34" charset="-120"/>
              </a:rPr>
              <a:t>Crier au loup — la fausse urgence</a:t>
            </a:r>
            <a:endParaRPr lang="en-US" sz="1450" dirty="0"/>
          </a:p>
        </p:txBody>
      </p:sp>
      <p:sp>
        <p:nvSpPr>
          <p:cNvPr id="8" name="Text 6"/>
          <p:cNvSpPr/>
          <p:nvPr/>
        </p:nvSpPr>
        <p:spPr>
          <a:xfrm>
            <a:off x="731520" y="2880360"/>
            <a:ext cx="3520440" cy="914400"/>
          </a:xfrm>
          <a:prstGeom prst="rect">
            <a:avLst/>
          </a:prstGeom>
          <a:noFill/>
          <a:ln/>
        </p:spPr>
        <p:txBody>
          <a:bodyPr wrap="square" lIns="0" tIns="0" rIns="0" bIns="0" rtlCol="0" anchor="ctr"/>
          <a:lstStyle/>
          <a:p>
            <a:pPr indent="0" marL="0">
              <a:buNone/>
            </a:pPr>
            <a:r>
              <a:rPr lang="en-US" sz="1250" dirty="0">
                <a:solidFill>
                  <a:srgbClr val="1C2B36"/>
                </a:solidFill>
                <a:latin typeface="Calibri" pitchFamily="34" charset="0"/>
                <a:ea typeface="Calibri" pitchFamily="34" charset="-122"/>
                <a:cs typeface="Calibri" pitchFamily="34" charset="-120"/>
              </a:rPr>
              <a:t>On panique pour rien : stocks tampons, surcoûts, heures supplémentaires…</a:t>
            </a:r>
            <a:endParaRPr lang="en-US" sz="1250" dirty="0"/>
          </a:p>
          <a:p>
            <a:pPr indent="0" marL="0">
              <a:buNone/>
            </a:pPr>
            <a:r>
              <a:rPr lang="en-US" sz="1250" dirty="0">
                <a:solidFill>
                  <a:srgbClr val="1C2B36"/>
                </a:solidFill>
                <a:latin typeface="Calibri" pitchFamily="34" charset="0"/>
                <a:ea typeface="Calibri" pitchFamily="34" charset="-122"/>
                <a:cs typeface="Calibri" pitchFamily="34" charset="-120"/>
              </a:rPr>
              <a:t>C'est cher — mais récupérable.</a:t>
            </a:r>
            <a:endParaRPr lang="en-US" sz="1250" dirty="0"/>
          </a:p>
        </p:txBody>
      </p:sp>
      <p:sp>
        <p:nvSpPr>
          <p:cNvPr id="9" name="Shape 7"/>
          <p:cNvSpPr/>
          <p:nvPr/>
        </p:nvSpPr>
        <p:spPr>
          <a:xfrm>
            <a:off x="4690872" y="1920240"/>
            <a:ext cx="3950208" cy="2011680"/>
          </a:xfrm>
          <a:prstGeom prst="roundRect">
            <a:avLst>
              <a:gd name="adj" fmla="val 3182"/>
            </a:avLst>
          </a:prstGeom>
          <a:solidFill>
            <a:srgbClr val="F8EAEA"/>
          </a:solidFill>
          <a:ln/>
          <a:effectLst>
            <a:outerShdw sx="100000" sy="100000" kx="0" ky="0" algn="bl" rotWithShape="0" blurRad="88900" dist="25400" dir="2700000">
              <a:srgbClr val="000000">
                <a:alpha val="14000"/>
              </a:srgbClr>
            </a:outerShdw>
          </a:effectLst>
        </p:spPr>
      </p:sp>
      <p:sp>
        <p:nvSpPr>
          <p:cNvPr id="10" name="Text 8"/>
          <p:cNvSpPr/>
          <p:nvPr/>
        </p:nvSpPr>
        <p:spPr>
          <a:xfrm>
            <a:off x="4919472" y="2121408"/>
            <a:ext cx="640080" cy="640080"/>
          </a:xfrm>
          <a:prstGeom prst="rect">
            <a:avLst/>
          </a:prstGeom>
          <a:noFill/>
          <a:ln/>
        </p:spPr>
        <p:txBody>
          <a:bodyPr wrap="square" lIns="0" tIns="0" rIns="0" bIns="0" rtlCol="0" anchor="ctr"/>
          <a:lstStyle/>
          <a:p>
            <a:pPr indent="0" marL="0">
              <a:buNone/>
            </a:pPr>
            <a:r>
              <a:rPr lang="en-US" sz="4000" b="1" dirty="0">
                <a:solidFill>
                  <a:srgbClr val="A93535"/>
                </a:solidFill>
                <a:latin typeface="Calibri" pitchFamily="34" charset="0"/>
                <a:ea typeface="Calibri" pitchFamily="34" charset="-122"/>
                <a:cs typeface="Calibri" pitchFamily="34" charset="-120"/>
              </a:rPr>
              <a:t>H</a:t>
            </a:r>
            <a:endParaRPr lang="en-US" sz="4000" dirty="0"/>
          </a:p>
        </p:txBody>
      </p:sp>
      <p:sp>
        <p:nvSpPr>
          <p:cNvPr id="11" name="Text 9"/>
          <p:cNvSpPr/>
          <p:nvPr/>
        </p:nvSpPr>
        <p:spPr>
          <a:xfrm>
            <a:off x="5605272" y="2212848"/>
            <a:ext cx="2880360" cy="502920"/>
          </a:xfrm>
          <a:prstGeom prst="rect">
            <a:avLst/>
          </a:prstGeom>
          <a:noFill/>
          <a:ln/>
        </p:spPr>
        <p:txBody>
          <a:bodyPr wrap="square" lIns="0" tIns="0" rIns="0" bIns="0" rtlCol="0" anchor="ctr"/>
          <a:lstStyle/>
          <a:p>
            <a:pPr indent="0" marL="0">
              <a:buNone/>
            </a:pPr>
            <a:r>
              <a:rPr lang="en-US" sz="1450" b="1" dirty="0">
                <a:solidFill>
                  <a:srgbClr val="1C2B36"/>
                </a:solidFill>
                <a:latin typeface="Calibri" pitchFamily="34" charset="0"/>
                <a:ea typeface="Calibri" pitchFamily="34" charset="-122"/>
                <a:cs typeface="Calibri" pitchFamily="34" charset="-120"/>
              </a:rPr>
              <a:t>Le danger silencieux — le risque caché</a:t>
            </a:r>
            <a:endParaRPr lang="en-US" sz="1450" dirty="0"/>
          </a:p>
        </p:txBody>
      </p:sp>
      <p:sp>
        <p:nvSpPr>
          <p:cNvPr id="12" name="Text 10"/>
          <p:cNvSpPr/>
          <p:nvPr/>
        </p:nvSpPr>
        <p:spPr>
          <a:xfrm>
            <a:off x="4919472" y="2880360"/>
            <a:ext cx="3520440" cy="914400"/>
          </a:xfrm>
          <a:prstGeom prst="rect">
            <a:avLst/>
          </a:prstGeom>
          <a:noFill/>
          <a:ln/>
        </p:spPr>
        <p:txBody>
          <a:bodyPr wrap="square" lIns="0" tIns="0" rIns="0" bIns="0" rtlCol="0" anchor="ctr"/>
          <a:lstStyle/>
          <a:p>
            <a:pPr indent="0" marL="0">
              <a:buNone/>
            </a:pPr>
            <a:r>
              <a:rPr lang="en-US" sz="1250" dirty="0">
                <a:solidFill>
                  <a:srgbClr val="1C2B36"/>
                </a:solidFill>
                <a:latin typeface="Calibri" pitchFamily="34" charset="0"/>
                <a:ea typeface="Calibri" pitchFamily="34" charset="-122"/>
                <a:cs typeface="Calibri" pitchFamily="34" charset="-120"/>
              </a:rPr>
              <a:t>Les chiffres hurlent, mais personne ne le dit. On découvre la rupture quand il est trop tard : irrécupérable.</a:t>
            </a:r>
            <a:endParaRPr lang="en-US" sz="1250" dirty="0"/>
          </a:p>
        </p:txBody>
      </p:sp>
      <p:sp>
        <p:nvSpPr>
          <p:cNvPr id="13" name="Text 11"/>
          <p:cNvSpPr/>
          <p:nvPr/>
        </p:nvSpPr>
        <p:spPr>
          <a:xfrm>
            <a:off x="502920" y="4224528"/>
            <a:ext cx="8138160" cy="457200"/>
          </a:xfrm>
          <a:prstGeom prst="rect">
            <a:avLst/>
          </a:prstGeom>
          <a:noFill/>
          <a:ln/>
        </p:spPr>
        <p:txBody>
          <a:bodyPr wrap="square" lIns="0" tIns="0" rIns="0" bIns="0" rtlCol="0" anchor="ctr"/>
          <a:lstStyle/>
          <a:p>
            <a:pPr algn="ctr" indent="0" marL="0">
              <a:buNone/>
            </a:pPr>
            <a:r>
              <a:rPr lang="en-US" sz="1450" b="1" dirty="0">
                <a:solidFill>
                  <a:srgbClr val="2C5F7C"/>
                </a:solidFill>
                <a:latin typeface="Calibri" pitchFamily="34" charset="0"/>
                <a:ea typeface="Calibri" pitchFamily="34" charset="-122"/>
                <a:cs typeface="Calibri" pitchFamily="34" charset="-120"/>
              </a:rPr>
              <a:t>Les outils du marché surveillent les données OU les déclarations — jamais l'écart entre les deux.</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b="1" spc="300" kern="0" dirty="0">
                <a:solidFill>
                  <a:srgbClr val="2C5F7C"/>
                </a:solidFill>
                <a:latin typeface="Calibri" pitchFamily="34" charset="0"/>
                <a:ea typeface="Calibri" pitchFamily="34" charset="-122"/>
                <a:cs typeface="Calibri" pitchFamily="34" charset="-120"/>
              </a:rPr>
              <a:t>LE PRINCIPE</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700" b="1" dirty="0">
                <a:solidFill>
                  <a:srgbClr val="1C2B36"/>
                </a:solidFill>
                <a:latin typeface="Calibri" pitchFamily="34" charset="0"/>
                <a:ea typeface="Calibri" pitchFamily="34" charset="-122"/>
                <a:cs typeface="Calibri" pitchFamily="34" charset="-120"/>
              </a:rPr>
              <a:t>Comment ça marche, en 3 idées simples</a:t>
            </a:r>
            <a:endParaRPr lang="en-US" sz="2700" dirty="0"/>
          </a:p>
        </p:txBody>
      </p:sp>
      <p:sp>
        <p:nvSpPr>
          <p:cNvPr id="4" name="Shape 2"/>
          <p:cNvSpPr/>
          <p:nvPr/>
        </p:nvSpPr>
        <p:spPr>
          <a:xfrm>
            <a:off x="502920" y="1371600"/>
            <a:ext cx="2624328" cy="2331720"/>
          </a:xfrm>
          <a:prstGeom prst="roundRect">
            <a:avLst>
              <a:gd name="adj" fmla="val 2745"/>
            </a:avLst>
          </a:prstGeom>
          <a:solidFill>
            <a:srgbClr val="EAF1F6"/>
          </a:solidFill>
          <a:ln/>
          <a:effectLst>
            <a:outerShdw sx="100000" sy="100000" kx="0" ky="0" algn="bl" rotWithShape="0" blurRad="88900" dist="25400" dir="2700000">
              <a:srgbClr val="000000">
                <a:alpha val="14000"/>
              </a:srgbClr>
            </a:outerShdw>
          </a:effectLst>
        </p:spPr>
      </p:sp>
      <p:sp>
        <p:nvSpPr>
          <p:cNvPr id="5" name="Shape 3"/>
          <p:cNvSpPr/>
          <p:nvPr/>
        </p:nvSpPr>
        <p:spPr>
          <a:xfrm>
            <a:off x="704088" y="1572768"/>
            <a:ext cx="420624" cy="420624"/>
          </a:xfrm>
          <a:prstGeom prst="ellipse">
            <a:avLst/>
          </a:prstGeom>
          <a:solidFill>
            <a:srgbClr val="2C5F7C"/>
          </a:solidFill>
          <a:ln/>
        </p:spPr>
      </p:sp>
      <p:sp>
        <p:nvSpPr>
          <p:cNvPr id="6" name="Text 4"/>
          <p:cNvSpPr/>
          <p:nvPr/>
        </p:nvSpPr>
        <p:spPr>
          <a:xfrm>
            <a:off x="704088" y="15727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234440" y="1627632"/>
            <a:ext cx="1828800" cy="365760"/>
          </a:xfrm>
          <a:prstGeom prst="rect">
            <a:avLst/>
          </a:prstGeom>
          <a:noFill/>
          <a:ln/>
        </p:spPr>
        <p:txBody>
          <a:bodyPr wrap="square" lIns="0" tIns="0" rIns="0" bIns="0" rtlCol="0" anchor="ctr"/>
          <a:lstStyle/>
          <a:p>
            <a:pPr indent="0" marL="0">
              <a:buNone/>
            </a:pPr>
            <a:r>
              <a:rPr lang="en-US" sz="1450" b="1" dirty="0">
                <a:solidFill>
                  <a:srgbClr val="1C2B36"/>
                </a:solidFill>
                <a:latin typeface="Calibri" pitchFamily="34" charset="0"/>
                <a:ea typeface="Calibri" pitchFamily="34" charset="-122"/>
                <a:cs typeface="Calibri" pitchFamily="34" charset="-120"/>
              </a:rPr>
              <a:t>Ce qu'on déclare</a:t>
            </a:r>
            <a:endParaRPr lang="en-US" sz="1450" dirty="0"/>
          </a:p>
        </p:txBody>
      </p:sp>
      <p:sp>
        <p:nvSpPr>
          <p:cNvPr id="8" name="Text 6"/>
          <p:cNvSpPr/>
          <p:nvPr/>
        </p:nvSpPr>
        <p:spPr>
          <a:xfrm>
            <a:off x="704088" y="2176272"/>
            <a:ext cx="2240280" cy="1417320"/>
          </a:xfrm>
          <a:prstGeom prst="rect">
            <a:avLst/>
          </a:prstGeom>
          <a:noFill/>
          <a:ln/>
        </p:spPr>
        <p:txBody>
          <a:bodyPr wrap="square" lIns="0" tIns="0" rIns="0" bIns="0" rtlCol="0" anchor="ctr"/>
          <a:lstStyle/>
          <a:p>
            <a:pPr indent="0" marL="0">
              <a:lnSpc>
                <a:spcPct val="108000"/>
              </a:lnSpc>
              <a:buNone/>
            </a:pPr>
            <a:r>
              <a:rPr lang="en-US" sz="1150" dirty="0">
                <a:solidFill>
                  <a:srgbClr val="1C2B36"/>
                </a:solidFill>
                <a:latin typeface="Calibri" pitchFamily="34" charset="0"/>
                <a:ea typeface="Calibri" pitchFamily="34" charset="-122"/>
                <a:cs typeface="Calibri" pitchFamily="34" charset="-120"/>
              </a:rPr>
              <a:t>Chaque acteur remplit un court questionnaire d'urgence chaque semaine. Méthode éprouvée : les réponses incohérentes sont rejetées automatiquement.</a:t>
            </a:r>
            <a:endParaRPr lang="en-US" sz="1150" dirty="0"/>
          </a:p>
        </p:txBody>
      </p:sp>
      <p:sp>
        <p:nvSpPr>
          <p:cNvPr id="9" name="Shape 7"/>
          <p:cNvSpPr/>
          <p:nvPr/>
        </p:nvSpPr>
        <p:spPr>
          <a:xfrm>
            <a:off x="3310128" y="1371600"/>
            <a:ext cx="2624328" cy="2331720"/>
          </a:xfrm>
          <a:prstGeom prst="roundRect">
            <a:avLst>
              <a:gd name="adj" fmla="val 2745"/>
            </a:avLst>
          </a:prstGeom>
          <a:solidFill>
            <a:srgbClr val="EAF1F6"/>
          </a:solidFill>
          <a:ln/>
          <a:effectLst>
            <a:outerShdw sx="100000" sy="100000" kx="0" ky="0" algn="bl" rotWithShape="0" blurRad="88900" dist="25400" dir="2700000">
              <a:srgbClr val="000000">
                <a:alpha val="14000"/>
              </a:srgbClr>
            </a:outerShdw>
          </a:effectLst>
        </p:spPr>
      </p:sp>
      <p:sp>
        <p:nvSpPr>
          <p:cNvPr id="10" name="Shape 8"/>
          <p:cNvSpPr/>
          <p:nvPr/>
        </p:nvSpPr>
        <p:spPr>
          <a:xfrm>
            <a:off x="3511296" y="1572768"/>
            <a:ext cx="420624" cy="420624"/>
          </a:xfrm>
          <a:prstGeom prst="ellipse">
            <a:avLst/>
          </a:prstGeom>
          <a:solidFill>
            <a:srgbClr val="2C5F7C"/>
          </a:solidFill>
          <a:ln/>
        </p:spPr>
      </p:sp>
      <p:sp>
        <p:nvSpPr>
          <p:cNvPr id="11" name="Text 9"/>
          <p:cNvSpPr/>
          <p:nvPr/>
        </p:nvSpPr>
        <p:spPr>
          <a:xfrm>
            <a:off x="3511296" y="15727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4041648" y="1627632"/>
            <a:ext cx="1828800" cy="365760"/>
          </a:xfrm>
          <a:prstGeom prst="rect">
            <a:avLst/>
          </a:prstGeom>
          <a:noFill/>
          <a:ln/>
        </p:spPr>
        <p:txBody>
          <a:bodyPr wrap="square" lIns="0" tIns="0" rIns="0" bIns="0" rtlCol="0" anchor="ctr"/>
          <a:lstStyle/>
          <a:p>
            <a:pPr indent="0" marL="0">
              <a:buNone/>
            </a:pPr>
            <a:r>
              <a:rPr lang="en-US" sz="1450" b="1" dirty="0">
                <a:solidFill>
                  <a:srgbClr val="1C2B36"/>
                </a:solidFill>
                <a:latin typeface="Calibri" pitchFamily="34" charset="0"/>
                <a:ea typeface="Calibri" pitchFamily="34" charset="-122"/>
                <a:cs typeface="Calibri" pitchFamily="34" charset="-120"/>
              </a:rPr>
              <a:t>Ce qu'on mesure</a:t>
            </a:r>
            <a:endParaRPr lang="en-US" sz="1450" dirty="0"/>
          </a:p>
        </p:txBody>
      </p:sp>
      <p:sp>
        <p:nvSpPr>
          <p:cNvPr id="13" name="Text 11"/>
          <p:cNvSpPr/>
          <p:nvPr/>
        </p:nvSpPr>
        <p:spPr>
          <a:xfrm>
            <a:off x="3511296" y="2176272"/>
            <a:ext cx="2240280" cy="1417320"/>
          </a:xfrm>
          <a:prstGeom prst="rect">
            <a:avLst/>
          </a:prstGeom>
          <a:noFill/>
          <a:ln/>
        </p:spPr>
        <p:txBody>
          <a:bodyPr wrap="square" lIns="0" tIns="0" rIns="0" bIns="0" rtlCol="0" anchor="ctr"/>
          <a:lstStyle/>
          <a:p>
            <a:pPr indent="0" marL="0">
              <a:lnSpc>
                <a:spcPct val="108000"/>
              </a:lnSpc>
              <a:buNone/>
            </a:pPr>
            <a:r>
              <a:rPr lang="en-US" sz="1150" dirty="0">
                <a:solidFill>
                  <a:srgbClr val="1C2B36"/>
                </a:solidFill>
                <a:latin typeface="Calibri" pitchFamily="34" charset="0"/>
                <a:ea typeface="Calibri" pitchFamily="34" charset="-122"/>
                <a:cs typeface="Calibri" pitchFamily="34" charset="-120"/>
              </a:rPr>
              <a:t>Six « détecteurs de fumée » lisent les indicateurs réels : délais, capacité, qualité, risque, coût, CO₂. Un seul détecteur saturé suffit à déclencher l'alarme.</a:t>
            </a:r>
            <a:endParaRPr lang="en-US" sz="1150" dirty="0"/>
          </a:p>
        </p:txBody>
      </p:sp>
      <p:sp>
        <p:nvSpPr>
          <p:cNvPr id="14" name="Shape 12"/>
          <p:cNvSpPr/>
          <p:nvPr/>
        </p:nvSpPr>
        <p:spPr>
          <a:xfrm>
            <a:off x="6117336" y="1371600"/>
            <a:ext cx="2624328" cy="2331720"/>
          </a:xfrm>
          <a:prstGeom prst="roundRect">
            <a:avLst>
              <a:gd name="adj" fmla="val 2745"/>
            </a:avLst>
          </a:prstGeom>
          <a:solidFill>
            <a:srgbClr val="EAF1F6"/>
          </a:solidFill>
          <a:ln/>
          <a:effectLst>
            <a:outerShdw sx="100000" sy="100000" kx="0" ky="0" algn="bl" rotWithShape="0" blurRad="88900" dist="25400" dir="2700000">
              <a:srgbClr val="000000">
                <a:alpha val="14000"/>
              </a:srgbClr>
            </a:outerShdw>
          </a:effectLst>
        </p:spPr>
      </p:sp>
      <p:sp>
        <p:nvSpPr>
          <p:cNvPr id="15" name="Shape 13"/>
          <p:cNvSpPr/>
          <p:nvPr/>
        </p:nvSpPr>
        <p:spPr>
          <a:xfrm>
            <a:off x="6318504" y="1572768"/>
            <a:ext cx="420624" cy="420624"/>
          </a:xfrm>
          <a:prstGeom prst="ellipse">
            <a:avLst/>
          </a:prstGeom>
          <a:solidFill>
            <a:srgbClr val="A93535"/>
          </a:solidFill>
          <a:ln/>
        </p:spPr>
      </p:sp>
      <p:sp>
        <p:nvSpPr>
          <p:cNvPr id="16" name="Text 14"/>
          <p:cNvSpPr/>
          <p:nvPr/>
        </p:nvSpPr>
        <p:spPr>
          <a:xfrm>
            <a:off x="6318504" y="15727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6848856" y="1627632"/>
            <a:ext cx="1828800" cy="365760"/>
          </a:xfrm>
          <a:prstGeom prst="rect">
            <a:avLst/>
          </a:prstGeom>
          <a:noFill/>
          <a:ln/>
        </p:spPr>
        <p:txBody>
          <a:bodyPr wrap="square" lIns="0" tIns="0" rIns="0" bIns="0" rtlCol="0" anchor="ctr"/>
          <a:lstStyle/>
          <a:p>
            <a:pPr indent="0" marL="0">
              <a:buNone/>
            </a:pPr>
            <a:r>
              <a:rPr lang="en-US" sz="1450" b="1" dirty="0">
                <a:solidFill>
                  <a:srgbClr val="1C2B36"/>
                </a:solidFill>
                <a:latin typeface="Calibri" pitchFamily="34" charset="0"/>
                <a:ea typeface="Calibri" pitchFamily="34" charset="-122"/>
                <a:cs typeface="Calibri" pitchFamily="34" charset="-120"/>
              </a:rPr>
              <a:t>La confrontation</a:t>
            </a:r>
            <a:endParaRPr lang="en-US" sz="1450" dirty="0"/>
          </a:p>
        </p:txBody>
      </p:sp>
      <p:sp>
        <p:nvSpPr>
          <p:cNvPr id="18" name="Text 16"/>
          <p:cNvSpPr/>
          <p:nvPr/>
        </p:nvSpPr>
        <p:spPr>
          <a:xfrm>
            <a:off x="6318504" y="2176272"/>
            <a:ext cx="2240280" cy="1417320"/>
          </a:xfrm>
          <a:prstGeom prst="rect">
            <a:avLst/>
          </a:prstGeom>
          <a:noFill/>
          <a:ln/>
        </p:spPr>
        <p:txBody>
          <a:bodyPr wrap="square" lIns="0" tIns="0" rIns="0" bIns="0" rtlCol="0" anchor="ctr"/>
          <a:lstStyle/>
          <a:p>
            <a:pPr indent="0" marL="0">
              <a:lnSpc>
                <a:spcPct val="108000"/>
              </a:lnSpc>
              <a:buNone/>
            </a:pPr>
            <a:r>
              <a:rPr lang="en-US" sz="1150" dirty="0">
                <a:solidFill>
                  <a:srgbClr val="1C2B36"/>
                </a:solidFill>
                <a:latin typeface="Calibri" pitchFamily="34" charset="0"/>
                <a:ea typeface="Calibri" pitchFamily="34" charset="-122"/>
                <a:cs typeface="Calibri" pitchFamily="34" charset="-120"/>
              </a:rPr>
              <a:t>Un score de 0 à 100 compare les deux. Sous-estimer le danger est pénalisé 2,25 fois plus fort que paniquer (constante mesurée par Kahneman &amp; Tversky, prix Nobel).</a:t>
            </a:r>
            <a:endParaRPr lang="en-US" sz="1150" dirty="0"/>
          </a:p>
        </p:txBody>
      </p:sp>
      <p:sp>
        <p:nvSpPr>
          <p:cNvPr id="19" name="Shape 17"/>
          <p:cNvSpPr/>
          <p:nvPr/>
        </p:nvSpPr>
        <p:spPr>
          <a:xfrm>
            <a:off x="502920" y="3977640"/>
            <a:ext cx="8138160" cy="713232"/>
          </a:xfrm>
          <a:prstGeom prst="roundRect">
            <a:avLst>
              <a:gd name="adj" fmla="val 8974"/>
            </a:avLst>
          </a:prstGeom>
          <a:solidFill>
            <a:srgbClr val="F4F8FA"/>
          </a:solidFill>
          <a:ln/>
          <a:effectLst>
            <a:outerShdw sx="100000" sy="100000" kx="0" ky="0" algn="bl" rotWithShape="0" blurRad="88900" dist="25400" dir="2700000">
              <a:srgbClr val="000000">
                <a:alpha val="14000"/>
              </a:srgbClr>
            </a:outerShdw>
          </a:effectLst>
        </p:spPr>
      </p:sp>
      <p:sp>
        <p:nvSpPr>
          <p:cNvPr id="20" name="Text 18"/>
          <p:cNvSpPr/>
          <p:nvPr/>
        </p:nvSpPr>
        <p:spPr>
          <a:xfrm>
            <a:off x="777240" y="4087368"/>
            <a:ext cx="7589520" cy="502920"/>
          </a:xfrm>
          <a:prstGeom prst="rect">
            <a:avLst/>
          </a:prstGeom>
          <a:noFill/>
          <a:ln/>
        </p:spPr>
        <p:txBody>
          <a:bodyPr wrap="square" lIns="0" tIns="0" rIns="0" bIns="0" rtlCol="0" anchor="ctr"/>
          <a:lstStyle/>
          <a:p>
            <a:pPr indent="0" marL="0">
              <a:buNone/>
            </a:pPr>
            <a:r>
              <a:rPr lang="en-US" sz="1300" b="1" dirty="0">
                <a:solidFill>
                  <a:srgbClr val="1C2B36"/>
                </a:solidFill>
                <a:latin typeface="Calibri" pitchFamily="34" charset="0"/>
                <a:ea typeface="Calibri" pitchFamily="34" charset="-122"/>
                <a:cs typeface="Calibri" pitchFamily="34" charset="-120"/>
              </a:rPr>
              <a:t>Et tout se propage sur la chaîne : </a:t>
            </a:r>
            <a:pPr indent="0" marL="0">
              <a:buNone/>
            </a:pPr>
            <a:r>
              <a:rPr lang="en-US" sz="1300" dirty="0">
                <a:solidFill>
                  <a:srgbClr val="1C2B36"/>
                </a:solidFill>
                <a:latin typeface="Calibri" pitchFamily="34" charset="0"/>
                <a:ea typeface="Calibri" pitchFamily="34" charset="-122"/>
                <a:cs typeface="Calibri" pitchFamily="34" charset="-120"/>
              </a:rPr>
              <a:t>le besoin descend vers les fournisseurs, le risque remonte vers le client — comme un bouchon remonte une autoroute.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b="1" spc="300" kern="0" dirty="0">
                <a:solidFill>
                  <a:srgbClr val="2C5F7C"/>
                </a:solidFill>
                <a:latin typeface="Calibri" pitchFamily="34" charset="0"/>
                <a:ea typeface="Calibri" pitchFamily="34" charset="-122"/>
                <a:cs typeface="Calibri" pitchFamily="34" charset="-120"/>
              </a:rPr>
              <a:t>L'UTILITÉ</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700" b="1" dirty="0">
                <a:solidFill>
                  <a:srgbClr val="1C2B36"/>
                </a:solidFill>
                <a:latin typeface="Calibri" pitchFamily="34" charset="0"/>
                <a:ea typeface="Calibri" pitchFamily="34" charset="-122"/>
                <a:cs typeface="Calibri" pitchFamily="34" charset="-120"/>
              </a:rPr>
              <a:t>À quoi ça sert, concrètement</a:t>
            </a:r>
            <a:endParaRPr lang="en-US" sz="2700" dirty="0"/>
          </a:p>
        </p:txBody>
      </p:sp>
      <p:sp>
        <p:nvSpPr>
          <p:cNvPr id="4" name="Shape 2"/>
          <p:cNvSpPr/>
          <p:nvPr/>
        </p:nvSpPr>
        <p:spPr>
          <a:xfrm>
            <a:off x="502920" y="1371600"/>
            <a:ext cx="2624328" cy="1481328"/>
          </a:xfrm>
          <a:prstGeom prst="roundRect">
            <a:avLst>
              <a:gd name="adj" fmla="val 4321"/>
            </a:avLst>
          </a:prstGeom>
          <a:solidFill>
            <a:srgbClr val="EAF1F6"/>
          </a:solidFill>
          <a:ln/>
          <a:effectLst>
            <a:outerShdw sx="100000" sy="100000" kx="0" ky="0" algn="bl" rotWithShape="0" blurRad="88900" dist="25400" dir="2700000">
              <a:srgbClr val="000000">
                <a:alpha val="14000"/>
              </a:srgbClr>
            </a:outerShdw>
          </a:effectLst>
        </p:spPr>
      </p:sp>
      <p:sp>
        <p:nvSpPr>
          <p:cNvPr id="5" name="Text 3"/>
          <p:cNvSpPr/>
          <p:nvPr/>
        </p:nvSpPr>
        <p:spPr>
          <a:xfrm>
            <a:off x="704088" y="1517904"/>
            <a:ext cx="2221992" cy="320040"/>
          </a:xfrm>
          <a:prstGeom prst="rect">
            <a:avLst/>
          </a:prstGeom>
          <a:noFill/>
          <a:ln/>
        </p:spPr>
        <p:txBody>
          <a:bodyPr wrap="square" lIns="0" tIns="0" rIns="0" bIns="0" rtlCol="0" anchor="ctr"/>
          <a:lstStyle/>
          <a:p>
            <a:pPr indent="0" marL="0">
              <a:buNone/>
            </a:pPr>
            <a:r>
              <a:rPr lang="en-US" sz="1450" b="1" dirty="0">
                <a:solidFill>
                  <a:srgbClr val="2C5F7C"/>
                </a:solidFill>
                <a:latin typeface="Calibri" pitchFamily="34" charset="0"/>
                <a:ea typeface="Calibri" pitchFamily="34" charset="-122"/>
                <a:cs typeface="Calibri" pitchFamily="34" charset="-120"/>
              </a:rPr>
              <a:t>Détecter</a:t>
            </a:r>
            <a:endParaRPr lang="en-US" sz="1450" dirty="0"/>
          </a:p>
        </p:txBody>
      </p:sp>
      <p:sp>
        <p:nvSpPr>
          <p:cNvPr id="6" name="Text 4"/>
          <p:cNvSpPr/>
          <p:nvPr/>
        </p:nvSpPr>
        <p:spPr>
          <a:xfrm>
            <a:off x="704088" y="1874520"/>
            <a:ext cx="2221992" cy="914400"/>
          </a:xfrm>
          <a:prstGeom prst="rect">
            <a:avLst/>
          </a:prstGeom>
          <a:noFill/>
          <a:ln/>
        </p:spPr>
        <p:txBody>
          <a:bodyPr wrap="square" lIns="0" tIns="0" rIns="0" bIns="0" rtlCol="0" anchor="ctr"/>
          <a:lstStyle/>
          <a:p>
            <a:pPr indent="0" marL="0">
              <a:lnSpc>
                <a:spcPct val="108000"/>
              </a:lnSpc>
              <a:buNone/>
            </a:pPr>
            <a:r>
              <a:rPr lang="en-US" sz="1150" dirty="0">
                <a:solidFill>
                  <a:srgbClr val="1C2B36"/>
                </a:solidFill>
                <a:latin typeface="Calibri" pitchFamily="34" charset="0"/>
                <a:ea typeface="Calibri" pitchFamily="34" charset="-122"/>
                <a:cs typeface="Calibri" pitchFamily="34" charset="-120"/>
              </a:rPr>
              <a:t>le vrai danger — celui dont personne ne parle — avant qu'il ne devienne une rupture.</a:t>
            </a:r>
            <a:endParaRPr lang="en-US" sz="1150" dirty="0"/>
          </a:p>
        </p:txBody>
      </p:sp>
      <p:sp>
        <p:nvSpPr>
          <p:cNvPr id="7" name="Shape 5"/>
          <p:cNvSpPr/>
          <p:nvPr/>
        </p:nvSpPr>
        <p:spPr>
          <a:xfrm>
            <a:off x="3310128" y="1371600"/>
            <a:ext cx="2624328" cy="1481328"/>
          </a:xfrm>
          <a:prstGeom prst="roundRect">
            <a:avLst>
              <a:gd name="adj" fmla="val 4321"/>
            </a:avLst>
          </a:prstGeom>
          <a:solidFill>
            <a:srgbClr val="EAF1F6"/>
          </a:solidFill>
          <a:ln/>
          <a:effectLst>
            <a:outerShdw sx="100000" sy="100000" kx="0" ky="0" algn="bl" rotWithShape="0" blurRad="88900" dist="25400" dir="2700000">
              <a:srgbClr val="000000">
                <a:alpha val="14000"/>
              </a:srgbClr>
            </a:outerShdw>
          </a:effectLst>
        </p:spPr>
      </p:sp>
      <p:sp>
        <p:nvSpPr>
          <p:cNvPr id="8" name="Text 6"/>
          <p:cNvSpPr/>
          <p:nvPr/>
        </p:nvSpPr>
        <p:spPr>
          <a:xfrm>
            <a:off x="3511296" y="1517904"/>
            <a:ext cx="2221992" cy="320040"/>
          </a:xfrm>
          <a:prstGeom prst="rect">
            <a:avLst/>
          </a:prstGeom>
          <a:noFill/>
          <a:ln/>
        </p:spPr>
        <p:txBody>
          <a:bodyPr wrap="square" lIns="0" tIns="0" rIns="0" bIns="0" rtlCol="0" anchor="ctr"/>
          <a:lstStyle/>
          <a:p>
            <a:pPr indent="0" marL="0">
              <a:buNone/>
            </a:pPr>
            <a:r>
              <a:rPr lang="en-US" sz="1450" b="1" dirty="0">
                <a:solidFill>
                  <a:srgbClr val="2C5F7C"/>
                </a:solidFill>
                <a:latin typeface="Calibri" pitchFamily="34" charset="0"/>
                <a:ea typeface="Calibri" pitchFamily="34" charset="-122"/>
                <a:cs typeface="Calibri" pitchFamily="34" charset="-120"/>
              </a:rPr>
              <a:t>Économiser</a:t>
            </a:r>
            <a:endParaRPr lang="en-US" sz="1450" dirty="0"/>
          </a:p>
        </p:txBody>
      </p:sp>
      <p:sp>
        <p:nvSpPr>
          <p:cNvPr id="9" name="Text 7"/>
          <p:cNvSpPr/>
          <p:nvPr/>
        </p:nvSpPr>
        <p:spPr>
          <a:xfrm>
            <a:off x="3511296" y="1874520"/>
            <a:ext cx="2221992" cy="914400"/>
          </a:xfrm>
          <a:prstGeom prst="rect">
            <a:avLst/>
          </a:prstGeom>
          <a:noFill/>
          <a:ln/>
        </p:spPr>
        <p:txBody>
          <a:bodyPr wrap="square" lIns="0" tIns="0" rIns="0" bIns="0" rtlCol="0" anchor="ctr"/>
          <a:lstStyle/>
          <a:p>
            <a:pPr indent="0" marL="0">
              <a:lnSpc>
                <a:spcPct val="108000"/>
              </a:lnSpc>
              <a:buNone/>
            </a:pPr>
            <a:r>
              <a:rPr lang="en-US" sz="1150" dirty="0">
                <a:solidFill>
                  <a:srgbClr val="1C2B36"/>
                </a:solidFill>
                <a:latin typeface="Calibri" pitchFamily="34" charset="0"/>
                <a:ea typeface="Calibri" pitchFamily="34" charset="-122"/>
                <a:cs typeface="Calibri" pitchFamily="34" charset="-120"/>
              </a:rPr>
              <a:t>moins de stocks tampons et de surcoûts déclenchés par de fausses alertes.</a:t>
            </a:r>
            <a:endParaRPr lang="en-US" sz="1150" dirty="0"/>
          </a:p>
        </p:txBody>
      </p:sp>
      <p:sp>
        <p:nvSpPr>
          <p:cNvPr id="10" name="Shape 8"/>
          <p:cNvSpPr/>
          <p:nvPr/>
        </p:nvSpPr>
        <p:spPr>
          <a:xfrm>
            <a:off x="6117336" y="1371600"/>
            <a:ext cx="2624328" cy="1481328"/>
          </a:xfrm>
          <a:prstGeom prst="roundRect">
            <a:avLst>
              <a:gd name="adj" fmla="val 4321"/>
            </a:avLst>
          </a:prstGeom>
          <a:solidFill>
            <a:srgbClr val="EAF1F6"/>
          </a:solidFill>
          <a:ln/>
          <a:effectLst>
            <a:outerShdw sx="100000" sy="100000" kx="0" ky="0" algn="bl" rotWithShape="0" blurRad="88900" dist="25400" dir="2700000">
              <a:srgbClr val="000000">
                <a:alpha val="14000"/>
              </a:srgbClr>
            </a:outerShdw>
          </a:effectLst>
        </p:spPr>
      </p:sp>
      <p:sp>
        <p:nvSpPr>
          <p:cNvPr id="11" name="Text 9"/>
          <p:cNvSpPr/>
          <p:nvPr/>
        </p:nvSpPr>
        <p:spPr>
          <a:xfrm>
            <a:off x="6318504" y="1517904"/>
            <a:ext cx="2221992" cy="320040"/>
          </a:xfrm>
          <a:prstGeom prst="rect">
            <a:avLst/>
          </a:prstGeom>
          <a:noFill/>
          <a:ln/>
        </p:spPr>
        <p:txBody>
          <a:bodyPr wrap="square" lIns="0" tIns="0" rIns="0" bIns="0" rtlCol="0" anchor="ctr"/>
          <a:lstStyle/>
          <a:p>
            <a:pPr indent="0" marL="0">
              <a:buNone/>
            </a:pPr>
            <a:r>
              <a:rPr lang="en-US" sz="1450" b="1" dirty="0">
                <a:solidFill>
                  <a:srgbClr val="2C5F7C"/>
                </a:solidFill>
                <a:latin typeface="Calibri" pitchFamily="34" charset="0"/>
                <a:ea typeface="Calibri" pitchFamily="34" charset="-122"/>
                <a:cs typeface="Calibri" pitchFamily="34" charset="-120"/>
              </a:rPr>
              <a:t>Prioriser</a:t>
            </a:r>
            <a:endParaRPr lang="en-US" sz="1450" dirty="0"/>
          </a:p>
        </p:txBody>
      </p:sp>
      <p:sp>
        <p:nvSpPr>
          <p:cNvPr id="12" name="Text 10"/>
          <p:cNvSpPr/>
          <p:nvPr/>
        </p:nvSpPr>
        <p:spPr>
          <a:xfrm>
            <a:off x="6318504" y="1874520"/>
            <a:ext cx="2221992" cy="914400"/>
          </a:xfrm>
          <a:prstGeom prst="rect">
            <a:avLst/>
          </a:prstGeom>
          <a:noFill/>
          <a:ln/>
        </p:spPr>
        <p:txBody>
          <a:bodyPr wrap="square" lIns="0" tIns="0" rIns="0" bIns="0" rtlCol="0" anchor="ctr"/>
          <a:lstStyle/>
          <a:p>
            <a:pPr indent="0" marL="0">
              <a:lnSpc>
                <a:spcPct val="108000"/>
              </a:lnSpc>
              <a:buNone/>
            </a:pPr>
            <a:r>
              <a:rPr lang="en-US" sz="1150" dirty="0">
                <a:solidFill>
                  <a:srgbClr val="1C2B36"/>
                </a:solidFill>
                <a:latin typeface="Calibri" pitchFamily="34" charset="0"/>
                <a:ea typeface="Calibri" pitchFamily="34" charset="-122"/>
                <a:cs typeface="Calibri" pitchFamily="34" charset="-120"/>
              </a:rPr>
              <a:t>un classement multicritère désigne chaque semaine le maillon à traiter en premier.</a:t>
            </a:r>
            <a:endParaRPr lang="en-US" sz="1150" dirty="0"/>
          </a:p>
        </p:txBody>
      </p:sp>
      <p:sp>
        <p:nvSpPr>
          <p:cNvPr id="13" name="Shape 11"/>
          <p:cNvSpPr/>
          <p:nvPr/>
        </p:nvSpPr>
        <p:spPr>
          <a:xfrm>
            <a:off x="1901952" y="3035808"/>
            <a:ext cx="2624328" cy="1481328"/>
          </a:xfrm>
          <a:prstGeom prst="roundRect">
            <a:avLst>
              <a:gd name="adj" fmla="val 4321"/>
            </a:avLst>
          </a:prstGeom>
          <a:solidFill>
            <a:srgbClr val="EAF1F6"/>
          </a:solidFill>
          <a:ln/>
          <a:effectLst>
            <a:outerShdw sx="100000" sy="100000" kx="0" ky="0" algn="bl" rotWithShape="0" blurRad="88900" dist="25400" dir="2700000">
              <a:srgbClr val="000000">
                <a:alpha val="14000"/>
              </a:srgbClr>
            </a:outerShdw>
          </a:effectLst>
        </p:spPr>
      </p:sp>
      <p:sp>
        <p:nvSpPr>
          <p:cNvPr id="14" name="Text 12"/>
          <p:cNvSpPr/>
          <p:nvPr/>
        </p:nvSpPr>
        <p:spPr>
          <a:xfrm>
            <a:off x="2103120" y="3182112"/>
            <a:ext cx="2221992" cy="320040"/>
          </a:xfrm>
          <a:prstGeom prst="rect">
            <a:avLst/>
          </a:prstGeom>
          <a:noFill/>
          <a:ln/>
        </p:spPr>
        <p:txBody>
          <a:bodyPr wrap="square" lIns="0" tIns="0" rIns="0" bIns="0" rtlCol="0" anchor="ctr"/>
          <a:lstStyle/>
          <a:p>
            <a:pPr indent="0" marL="0">
              <a:buNone/>
            </a:pPr>
            <a:r>
              <a:rPr lang="en-US" sz="1450" b="1" dirty="0">
                <a:solidFill>
                  <a:srgbClr val="2C5F7C"/>
                </a:solidFill>
                <a:latin typeface="Calibri" pitchFamily="34" charset="0"/>
                <a:ea typeface="Calibri" pitchFamily="34" charset="-122"/>
                <a:cs typeface="Calibri" pitchFamily="34" charset="-120"/>
              </a:rPr>
              <a:t>Tracer</a:t>
            </a:r>
            <a:endParaRPr lang="en-US" sz="1450" dirty="0"/>
          </a:p>
        </p:txBody>
      </p:sp>
      <p:sp>
        <p:nvSpPr>
          <p:cNvPr id="15" name="Text 13"/>
          <p:cNvSpPr/>
          <p:nvPr/>
        </p:nvSpPr>
        <p:spPr>
          <a:xfrm>
            <a:off x="2103120" y="3538728"/>
            <a:ext cx="2221992" cy="914400"/>
          </a:xfrm>
          <a:prstGeom prst="rect">
            <a:avLst/>
          </a:prstGeom>
          <a:noFill/>
          <a:ln/>
        </p:spPr>
        <p:txBody>
          <a:bodyPr wrap="square" lIns="0" tIns="0" rIns="0" bIns="0" rtlCol="0" anchor="ctr"/>
          <a:lstStyle/>
          <a:p>
            <a:pPr indent="0" marL="0">
              <a:lnSpc>
                <a:spcPct val="108000"/>
              </a:lnSpc>
              <a:buNone/>
            </a:pPr>
            <a:r>
              <a:rPr lang="en-US" sz="1150" dirty="0">
                <a:solidFill>
                  <a:srgbClr val="1C2B36"/>
                </a:solidFill>
                <a:latin typeface="Calibri" pitchFamily="34" charset="0"/>
                <a:ea typeface="Calibri" pitchFamily="34" charset="-122"/>
                <a:cs typeface="Calibri" pitchFamily="34" charset="-120"/>
              </a:rPr>
              <a:t>chaque score est explicable, chaque décision horodatée et auditée. Rien n'est une boîte noire.</a:t>
            </a:r>
            <a:endParaRPr lang="en-US" sz="1150" dirty="0"/>
          </a:p>
        </p:txBody>
      </p:sp>
      <p:sp>
        <p:nvSpPr>
          <p:cNvPr id="16" name="Shape 14"/>
          <p:cNvSpPr/>
          <p:nvPr/>
        </p:nvSpPr>
        <p:spPr>
          <a:xfrm>
            <a:off x="4709160" y="3035808"/>
            <a:ext cx="2624328" cy="1481328"/>
          </a:xfrm>
          <a:prstGeom prst="roundRect">
            <a:avLst>
              <a:gd name="adj" fmla="val 4321"/>
            </a:avLst>
          </a:prstGeom>
          <a:solidFill>
            <a:srgbClr val="EAF4EE"/>
          </a:solidFill>
          <a:ln/>
          <a:effectLst>
            <a:outerShdw sx="100000" sy="100000" kx="0" ky="0" algn="bl" rotWithShape="0" blurRad="88900" dist="25400" dir="2700000">
              <a:srgbClr val="000000">
                <a:alpha val="14000"/>
              </a:srgbClr>
            </a:outerShdw>
          </a:effectLst>
        </p:spPr>
      </p:sp>
      <p:sp>
        <p:nvSpPr>
          <p:cNvPr id="17" name="Text 15"/>
          <p:cNvSpPr/>
          <p:nvPr/>
        </p:nvSpPr>
        <p:spPr>
          <a:xfrm>
            <a:off x="4910328" y="3182112"/>
            <a:ext cx="2221992" cy="320040"/>
          </a:xfrm>
          <a:prstGeom prst="rect">
            <a:avLst/>
          </a:prstGeom>
          <a:noFill/>
          <a:ln/>
        </p:spPr>
        <p:txBody>
          <a:bodyPr wrap="square" lIns="0" tIns="0" rIns="0" bIns="0" rtlCol="0" anchor="ctr"/>
          <a:lstStyle/>
          <a:p>
            <a:pPr indent="0" marL="0">
              <a:buNone/>
            </a:pPr>
            <a:r>
              <a:rPr lang="en-US" sz="1450" b="1" dirty="0">
                <a:solidFill>
                  <a:srgbClr val="1D7A3E"/>
                </a:solidFill>
                <a:latin typeface="Calibri" pitchFamily="34" charset="0"/>
                <a:ea typeface="Calibri" pitchFamily="34" charset="-122"/>
                <a:cs typeface="Calibri" pitchFamily="34" charset="-120"/>
              </a:rPr>
              <a:t>Former</a:t>
            </a:r>
            <a:endParaRPr lang="en-US" sz="1450" dirty="0"/>
          </a:p>
        </p:txBody>
      </p:sp>
      <p:sp>
        <p:nvSpPr>
          <p:cNvPr id="18" name="Text 16"/>
          <p:cNvSpPr/>
          <p:nvPr/>
        </p:nvSpPr>
        <p:spPr>
          <a:xfrm>
            <a:off x="4910328" y="3538728"/>
            <a:ext cx="2221992" cy="914400"/>
          </a:xfrm>
          <a:prstGeom prst="rect">
            <a:avLst/>
          </a:prstGeom>
          <a:noFill/>
          <a:ln/>
        </p:spPr>
        <p:txBody>
          <a:bodyPr wrap="square" lIns="0" tIns="0" rIns="0" bIns="0" rtlCol="0" anchor="ctr"/>
          <a:lstStyle/>
          <a:p>
            <a:pPr indent="0" marL="0">
              <a:lnSpc>
                <a:spcPct val="108000"/>
              </a:lnSpc>
              <a:buNone/>
            </a:pPr>
            <a:r>
              <a:rPr lang="en-US" sz="1150" dirty="0">
                <a:solidFill>
                  <a:srgbClr val="1C2B36"/>
                </a:solidFill>
                <a:latin typeface="Calibri" pitchFamily="34" charset="0"/>
                <a:ea typeface="Calibri" pitchFamily="34" charset="-122"/>
                <a:cs typeface="Calibri" pitchFamily="34" charset="-120"/>
              </a:rPr>
              <a:t>support de « serious game » : entraîner une équipe à gérer une crise, sans risque.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b="1" spc="300" kern="0" dirty="0">
                <a:solidFill>
                  <a:srgbClr val="2C5F7C"/>
                </a:solidFill>
                <a:latin typeface="Calibri" pitchFamily="34" charset="0"/>
                <a:ea typeface="Calibri" pitchFamily="34" charset="-122"/>
                <a:cs typeface="Calibri" pitchFamily="34" charset="-120"/>
              </a:rPr>
              <a:t>LE TERRAIN DE JEU</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700" b="1" dirty="0">
                <a:solidFill>
                  <a:srgbClr val="1C2B36"/>
                </a:solidFill>
                <a:latin typeface="Calibri" pitchFamily="34" charset="0"/>
                <a:ea typeface="Calibri" pitchFamily="34" charset="-122"/>
                <a:cs typeface="Calibri" pitchFamily="34" charset="-120"/>
              </a:rPr>
              <a:t>Une histoire en 8 semaines : le Programme AERIS</a:t>
            </a:r>
            <a:endParaRPr lang="en-US" sz="2700" dirty="0"/>
          </a:p>
        </p:txBody>
      </p:sp>
      <p:sp>
        <p:nvSpPr>
          <p:cNvPr id="4" name="Text 2"/>
          <p:cNvSpPr/>
          <p:nvPr/>
        </p:nvSpPr>
        <p:spPr>
          <a:xfrm>
            <a:off x="502920" y="1371600"/>
            <a:ext cx="3383280" cy="274320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200" dirty="0">
                <a:solidFill>
                  <a:srgbClr val="1C2B36"/>
                </a:solidFill>
                <a:latin typeface="Calibri" pitchFamily="34" charset="0"/>
                <a:ea typeface="Calibri" pitchFamily="34" charset="-122"/>
                <a:cs typeface="Calibri" pitchFamily="34" charset="-120"/>
              </a:rPr>
              <a:t>10 acteurs réalistes sur 4 niveaux : de l'assemblage final à Toulouse jusqu'au lithium au Chili.</a:t>
            </a:r>
            <a:endParaRPr lang="en-US" sz="1200" dirty="0"/>
          </a:p>
          <a:p>
            <a:pPr marL="152400" indent="-152400">
              <a:lnSpc>
                <a:spcPct val="105000"/>
              </a:lnSpc>
              <a:spcAft>
                <a:spcPts val="1000"/>
              </a:spcAft>
              <a:buSzPct val="100000"/>
              <a:buChar char="•"/>
            </a:pPr>
            <a:r>
              <a:rPr lang="en-US" sz="1200" dirty="0">
                <a:solidFill>
                  <a:srgbClr val="1C2B36"/>
                </a:solidFill>
                <a:latin typeface="Calibri" pitchFamily="34" charset="0"/>
                <a:ea typeface="Calibri" pitchFamily="34" charset="-122"/>
                <a:cs typeface="Calibri" pitchFamily="34" charset="-120"/>
              </a:rPr>
              <a:t>8 semaines déjà jouées par 10 joueurs identifiés — avec une vraie dramaturgie.</a:t>
            </a:r>
            <a:endParaRPr lang="en-US" sz="1200" dirty="0"/>
          </a:p>
          <a:p>
            <a:pPr marL="152400" indent="-152400">
              <a:lnSpc>
                <a:spcPct val="105000"/>
              </a:lnSpc>
              <a:spcAft>
                <a:spcPts val="1000"/>
              </a:spcAft>
              <a:buSzPct val="100000"/>
              <a:buChar char="•"/>
            </a:pPr>
            <a:r>
              <a:rPr lang="en-US" sz="1200" dirty="0">
                <a:solidFill>
                  <a:srgbClr val="1C2B36"/>
                </a:solidFill>
                <a:latin typeface="Calibri" pitchFamily="34" charset="0"/>
                <a:ea typeface="Calibri" pitchFamily="34" charset="-122"/>
                <a:cs typeface="Calibri" pitchFamily="34" charset="-120"/>
              </a:rPr>
              <a:t>Au fil des semaines : rebuts de fonderie, grève, hausse d'énergie, perte de capacité d'une usine de puces…</a:t>
            </a:r>
            <a:endParaRPr lang="en-US" sz="1200" dirty="0"/>
          </a:p>
          <a:p>
            <a:pPr marL="152400" indent="-152400">
              <a:lnSpc>
                <a:spcPct val="105000"/>
              </a:lnSpc>
              <a:spcAft>
                <a:spcPts val="1000"/>
              </a:spcAft>
              <a:buSzPct val="100000"/>
              <a:buChar char="•"/>
            </a:pPr>
            <a:r>
              <a:rPr lang="en-US" sz="1200" dirty="0">
                <a:solidFill>
                  <a:srgbClr val="1C2B36"/>
                </a:solidFill>
                <a:latin typeface="Calibri" pitchFamily="34" charset="0"/>
                <a:ea typeface="Calibri" pitchFamily="34" charset="-122"/>
                <a:cs typeface="Calibri" pitchFamily="34" charset="-120"/>
              </a:rPr>
              <a:t>Le cœur de l'histoire : un fournisseur de semi-conducteurs cache son retard pendant 4 semaines, pendant que le reste de la chaîne panique pour rien.</a:t>
            </a:r>
            <a:endParaRPr lang="en-US" sz="1200" dirty="0"/>
          </a:p>
        </p:txBody>
      </p:sp>
      <p:pic>
        <p:nvPicPr>
          <p:cNvPr id="5" name="Image 0" descr="C:/Users/jhoarau/AppData/Local/Temp/claude/pptx-aeris/crop-dag.png">    </p:cNvPr>
          <p:cNvPicPr>
            <a:picLocks noChangeAspect="1"/>
          </p:cNvPicPr>
          <p:nvPr/>
        </p:nvPicPr>
        <p:blipFill>
          <a:blip r:embed="rId1"/>
          <a:stretch>
            <a:fillRect/>
          </a:stretch>
        </p:blipFill>
        <p:spPr>
          <a:xfrm>
            <a:off x="4114800" y="1371600"/>
            <a:ext cx="4526280" cy="1161288"/>
          </a:xfrm>
          <a:prstGeom prst="rect">
            <a:avLst/>
          </a:prstGeom>
        </p:spPr>
      </p:pic>
      <p:sp>
        <p:nvSpPr>
          <p:cNvPr id="6" name="Shape 3"/>
          <p:cNvSpPr/>
          <p:nvPr/>
        </p:nvSpPr>
        <p:spPr>
          <a:xfrm>
            <a:off x="4114800" y="1371600"/>
            <a:ext cx="4526280" cy="1161288"/>
          </a:xfrm>
          <a:prstGeom prst="rect">
            <a:avLst/>
          </a:prstGeom>
          <a:ln w="12700">
            <a:solidFill>
              <a:srgbClr val="C9D6DE"/>
            </a:solidFill>
            <a:prstDash val="solid"/>
          </a:ln>
        </p:spPr>
      </p:sp>
      <p:sp>
        <p:nvSpPr>
          <p:cNvPr id="7" name="Text 4"/>
          <p:cNvSpPr/>
          <p:nvPr/>
        </p:nvSpPr>
        <p:spPr>
          <a:xfrm>
            <a:off x="4114800" y="2606040"/>
            <a:ext cx="4526280" cy="274320"/>
          </a:xfrm>
          <a:prstGeom prst="rect">
            <a:avLst/>
          </a:prstGeom>
          <a:noFill/>
          <a:ln/>
        </p:spPr>
        <p:txBody>
          <a:bodyPr wrap="square" lIns="0" tIns="0" rIns="0" bIns="0" rtlCol="0" anchor="ctr"/>
          <a:lstStyle/>
          <a:p>
            <a:pPr indent="0" marL="0">
              <a:buNone/>
            </a:pPr>
            <a:r>
              <a:rPr lang="en-US" sz="1000" i="1" dirty="0">
                <a:solidFill>
                  <a:srgbClr val="5C6F7C"/>
                </a:solidFill>
                <a:latin typeface="Calibri" pitchFamily="34" charset="0"/>
                <a:ea typeface="Calibri" pitchFamily="34" charset="-122"/>
                <a:cs typeface="Calibri" pitchFamily="34" charset="-120"/>
              </a:rPr>
              <a:t>La chaîne AERIS vue par l'outil — vert = sain, rouge = en souffrance.</a:t>
            </a:r>
            <a:endParaRPr lang="en-US" sz="1000" dirty="0"/>
          </a:p>
        </p:txBody>
      </p:sp>
      <p:sp>
        <p:nvSpPr>
          <p:cNvPr id="8" name="Shape 5"/>
          <p:cNvSpPr/>
          <p:nvPr/>
        </p:nvSpPr>
        <p:spPr>
          <a:xfrm>
            <a:off x="4114800" y="3246120"/>
            <a:ext cx="4526280" cy="868680"/>
          </a:xfrm>
          <a:prstGeom prst="roundRect">
            <a:avLst>
              <a:gd name="adj" fmla="val 7368"/>
            </a:avLst>
          </a:prstGeom>
          <a:solidFill>
            <a:srgbClr val="EAF1F6"/>
          </a:solidFill>
          <a:ln/>
          <a:effectLst>
            <a:outerShdw sx="100000" sy="100000" kx="0" ky="0" algn="bl" rotWithShape="0" blurRad="88900" dist="25400" dir="2700000">
              <a:srgbClr val="000000">
                <a:alpha val="14000"/>
              </a:srgbClr>
            </a:outerShdw>
          </a:effectLst>
        </p:spPr>
      </p:sp>
      <p:sp>
        <p:nvSpPr>
          <p:cNvPr id="9" name="Text 6"/>
          <p:cNvSpPr/>
          <p:nvPr/>
        </p:nvSpPr>
        <p:spPr>
          <a:xfrm>
            <a:off x="4370832" y="3383280"/>
            <a:ext cx="4023360" cy="594360"/>
          </a:xfrm>
          <a:prstGeom prst="rect">
            <a:avLst/>
          </a:prstGeom>
          <a:noFill/>
          <a:ln/>
        </p:spPr>
        <p:txBody>
          <a:bodyPr wrap="square" lIns="0" tIns="0" rIns="0" bIns="0" rtlCol="0" anchor="ctr"/>
          <a:lstStyle/>
          <a:p>
            <a:pPr indent="0" marL="0">
              <a:buNone/>
            </a:pPr>
            <a:r>
              <a:rPr lang="en-US" sz="1350" b="1" dirty="0">
                <a:solidFill>
                  <a:srgbClr val="2C5F7C"/>
                </a:solidFill>
                <a:latin typeface="Calibri" pitchFamily="34" charset="0"/>
                <a:ea typeface="Calibri" pitchFamily="34" charset="-122"/>
                <a:cs typeface="Calibri" pitchFamily="34" charset="-120"/>
              </a:rPr>
              <a:t>La morale en une phrase : </a:t>
            </a:r>
            <a:pPr indent="0" marL="0">
              <a:buNone/>
            </a:pPr>
            <a:r>
              <a:rPr lang="en-US" sz="1350" i="1" dirty="0">
                <a:solidFill>
                  <a:srgbClr val="2C5F7C"/>
                </a:solidFill>
                <a:latin typeface="Calibri" pitchFamily="34" charset="0"/>
                <a:ea typeface="Calibri" pitchFamily="34" charset="-122"/>
                <a:cs typeface="Calibri" pitchFamily="34" charset="-120"/>
              </a:rPr>
              <a:t>le seul vrai danger est précisément là où personne ne crie.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b="1" spc="300" kern="0" dirty="0">
                <a:solidFill>
                  <a:srgbClr val="2C5F7C"/>
                </a:solidFill>
                <a:latin typeface="Calibri" pitchFamily="34" charset="0"/>
                <a:ea typeface="Calibri" pitchFamily="34" charset="-122"/>
                <a:cs typeface="Calibri" pitchFamily="34" charset="-120"/>
              </a:rPr>
              <a:t>DÉMO · 1/3</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700" b="1" dirty="0">
                <a:solidFill>
                  <a:srgbClr val="1C2B36"/>
                </a:solidFill>
                <a:latin typeface="Calibri" pitchFamily="34" charset="0"/>
                <a:ea typeface="Calibri" pitchFamily="34" charset="-122"/>
                <a:cs typeface="Calibri" pitchFamily="34" charset="-120"/>
              </a:rPr>
              <a:t>Le tableau de bord : où ça fait mal</a:t>
            </a:r>
            <a:endParaRPr lang="en-US" sz="2700" dirty="0"/>
          </a:p>
        </p:txBody>
      </p:sp>
      <p:sp>
        <p:nvSpPr>
          <p:cNvPr id="4" name="Text 2"/>
          <p:cNvSpPr/>
          <p:nvPr/>
        </p:nvSpPr>
        <p:spPr>
          <a:xfrm>
            <a:off x="502920" y="1417320"/>
            <a:ext cx="3246120" cy="265176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200" dirty="0">
                <a:solidFill>
                  <a:srgbClr val="1C2B36"/>
                </a:solidFill>
                <a:latin typeface="Calibri" pitchFamily="34" charset="0"/>
                <a:ea typeface="Calibri" pitchFamily="34" charset="-122"/>
                <a:cs typeface="Calibri" pitchFamily="34" charset="-120"/>
              </a:rPr>
              <a:t>Toute la chaîne d'un coup d'œil : 10 acteurs, santé moyenne 68,7 / 100.</a:t>
            </a:r>
            <a:endParaRPr lang="en-US" sz="1200" dirty="0"/>
          </a:p>
          <a:p>
            <a:pPr marL="152400" indent="-152400">
              <a:lnSpc>
                <a:spcPct val="105000"/>
              </a:lnSpc>
              <a:spcAft>
                <a:spcPts val="1000"/>
              </a:spcAft>
              <a:buSzPct val="100000"/>
              <a:buChar char="•"/>
            </a:pPr>
            <a:r>
              <a:rPr lang="en-US" sz="1200" dirty="0">
                <a:solidFill>
                  <a:srgbClr val="1C2B36"/>
                </a:solidFill>
                <a:latin typeface="Calibri" pitchFamily="34" charset="0"/>
                <a:ea typeface="Calibri" pitchFamily="34" charset="-122"/>
                <a:cs typeface="Calibri" pitchFamily="34" charset="-120"/>
              </a:rPr>
              <a:t>La carte en couleurs se lit sans formation : vert = sain, rouge = en souffrance.</a:t>
            </a:r>
            <a:endParaRPr lang="en-US" sz="1200" dirty="0"/>
          </a:p>
          <a:p>
            <a:pPr marL="152400" indent="-152400">
              <a:lnSpc>
                <a:spcPct val="105000"/>
              </a:lnSpc>
              <a:spcAft>
                <a:spcPts val="1000"/>
              </a:spcAft>
              <a:buSzPct val="100000"/>
              <a:buChar char="•"/>
            </a:pPr>
            <a:r>
              <a:rPr lang="en-US" sz="1200" dirty="0">
                <a:solidFill>
                  <a:srgbClr val="1C2B36"/>
                </a:solidFill>
                <a:latin typeface="Calibri" pitchFamily="34" charset="0"/>
                <a:ea typeface="Calibri" pitchFamily="34" charset="-122"/>
                <a:cs typeface="Calibri" pitchFamily="34" charset="-120"/>
              </a:rPr>
              <a:t>Le verdict : 6 acteurs en fausse alerte… et un seul vrai risque caché — l'usine de puces PowerChip, pire score à 46,5.</a:t>
            </a:r>
            <a:endParaRPr lang="en-US" sz="1200" dirty="0"/>
          </a:p>
          <a:p>
            <a:pPr marL="152400" indent="-152400">
              <a:lnSpc>
                <a:spcPct val="105000"/>
              </a:lnSpc>
              <a:spcAft>
                <a:spcPts val="1000"/>
              </a:spcAft>
              <a:buSzPct val="100000"/>
              <a:buChar char="•"/>
            </a:pPr>
            <a:r>
              <a:rPr lang="en-US" sz="1200" dirty="0">
                <a:solidFill>
                  <a:srgbClr val="1C2B36"/>
                </a:solidFill>
                <a:latin typeface="Calibri" pitchFamily="34" charset="0"/>
                <a:ea typeface="Calibri" pitchFamily="34" charset="-122"/>
                <a:cs typeface="Calibri" pitchFamily="34" charset="-120"/>
              </a:rPr>
              <a:t>Le classement des priorités la désigne automatiquement comme dossier n° 1 de la semaine.</a:t>
            </a:r>
            <a:endParaRPr lang="en-US" sz="1200" dirty="0"/>
          </a:p>
        </p:txBody>
      </p:sp>
      <p:pic>
        <p:nvPicPr>
          <p:cNvPr id="5" name="Image 0" descr="C:/Users/jhoarau/AppData/Local/Temp/claude/pptx-aeris/crop-dash-cartes.png">    </p:cNvPr>
          <p:cNvPicPr>
            <a:picLocks noChangeAspect="1"/>
          </p:cNvPicPr>
          <p:nvPr/>
        </p:nvPicPr>
        <p:blipFill>
          <a:blip r:embed="rId1"/>
          <a:stretch>
            <a:fillRect/>
          </a:stretch>
        </p:blipFill>
        <p:spPr>
          <a:xfrm>
            <a:off x="3977640" y="1371600"/>
            <a:ext cx="4663440" cy="1271016"/>
          </a:xfrm>
          <a:prstGeom prst="rect">
            <a:avLst/>
          </a:prstGeom>
        </p:spPr>
      </p:pic>
      <p:sp>
        <p:nvSpPr>
          <p:cNvPr id="6" name="Shape 3"/>
          <p:cNvSpPr/>
          <p:nvPr/>
        </p:nvSpPr>
        <p:spPr>
          <a:xfrm>
            <a:off x="3977640" y="1371600"/>
            <a:ext cx="4663440" cy="1271016"/>
          </a:xfrm>
          <a:prstGeom prst="rect">
            <a:avLst/>
          </a:prstGeom>
          <a:ln w="12700">
            <a:solidFill>
              <a:srgbClr val="C9D6DE"/>
            </a:solidFill>
            <a:prstDash val="solid"/>
          </a:ln>
        </p:spPr>
      </p:sp>
      <p:pic>
        <p:nvPicPr>
          <p:cNvPr id="7" name="Image 1" descr="C:/Users/jhoarau/AppData/Local/Temp/claude/pptx-aeris/crop-dag.png">    </p:cNvPr>
          <p:cNvPicPr>
            <a:picLocks noChangeAspect="1"/>
          </p:cNvPicPr>
          <p:nvPr/>
        </p:nvPicPr>
        <p:blipFill>
          <a:blip r:embed="rId2"/>
          <a:stretch>
            <a:fillRect/>
          </a:stretch>
        </p:blipFill>
        <p:spPr>
          <a:xfrm>
            <a:off x="3977640" y="2788920"/>
            <a:ext cx="4663440" cy="1188720"/>
          </a:xfrm>
          <a:prstGeom prst="rect">
            <a:avLst/>
          </a:prstGeom>
        </p:spPr>
      </p:pic>
      <p:sp>
        <p:nvSpPr>
          <p:cNvPr id="8" name="Shape 4"/>
          <p:cNvSpPr/>
          <p:nvPr/>
        </p:nvSpPr>
        <p:spPr>
          <a:xfrm>
            <a:off x="3977640" y="2788920"/>
            <a:ext cx="4663440" cy="1188720"/>
          </a:xfrm>
          <a:prstGeom prst="rect">
            <a:avLst/>
          </a:prstGeom>
          <a:ln w="12700">
            <a:solidFill>
              <a:srgbClr val="C9D6DE"/>
            </a:solidFill>
            <a:prstDash val="solid"/>
          </a:ln>
        </p:spPr>
      </p:sp>
      <p:sp>
        <p:nvSpPr>
          <p:cNvPr id="9" name="Shape 5"/>
          <p:cNvSpPr/>
          <p:nvPr/>
        </p:nvSpPr>
        <p:spPr>
          <a:xfrm>
            <a:off x="3977640" y="4160520"/>
            <a:ext cx="4663440" cy="548640"/>
          </a:xfrm>
          <a:prstGeom prst="roundRect">
            <a:avLst>
              <a:gd name="adj" fmla="val 11667"/>
            </a:avLst>
          </a:prstGeom>
          <a:solidFill>
            <a:srgbClr val="F8EAEA"/>
          </a:solidFill>
          <a:ln/>
          <a:effectLst>
            <a:outerShdw sx="100000" sy="100000" kx="0" ky="0" algn="bl" rotWithShape="0" blurRad="88900" dist="25400" dir="2700000">
              <a:srgbClr val="000000">
                <a:alpha val="14000"/>
              </a:srgbClr>
            </a:outerShdw>
          </a:effectLst>
        </p:spPr>
      </p:sp>
      <p:sp>
        <p:nvSpPr>
          <p:cNvPr id="10" name="Text 6"/>
          <p:cNvSpPr/>
          <p:nvPr/>
        </p:nvSpPr>
        <p:spPr>
          <a:xfrm>
            <a:off x="4206240" y="4224528"/>
            <a:ext cx="4206240" cy="420624"/>
          </a:xfrm>
          <a:prstGeom prst="rect">
            <a:avLst/>
          </a:prstGeom>
          <a:noFill/>
          <a:ln/>
        </p:spPr>
        <p:txBody>
          <a:bodyPr wrap="square" lIns="0" tIns="0" rIns="0" bIns="0" rtlCol="0" anchor="ctr"/>
          <a:lstStyle/>
          <a:p>
            <a:pPr indent="0" marL="0">
              <a:buNone/>
            </a:pPr>
            <a:r>
              <a:rPr lang="en-US" sz="1300" b="1" i="1" dirty="0">
                <a:solidFill>
                  <a:srgbClr val="A93535"/>
                </a:solidFill>
                <a:latin typeface="Calibri" pitchFamily="34" charset="0"/>
                <a:ea typeface="Calibri" pitchFamily="34" charset="-122"/>
                <a:cs typeface="Calibri" pitchFamily="34" charset="-120"/>
              </a:rPr>
              <a:t>« Tout le monde panique, sauf celui qui devrait. »</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b="1" spc="300" kern="0" dirty="0">
                <a:solidFill>
                  <a:srgbClr val="2C5F7C"/>
                </a:solidFill>
                <a:latin typeface="Calibri" pitchFamily="34" charset="0"/>
                <a:ea typeface="Calibri" pitchFamily="34" charset="-122"/>
                <a:cs typeface="Calibri" pitchFamily="34" charset="-120"/>
              </a:rPr>
              <a:t>DÉMO · 2/3</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700" b="1" dirty="0">
                <a:solidFill>
                  <a:srgbClr val="1C2B36"/>
                </a:solidFill>
                <a:latin typeface="Calibri" pitchFamily="34" charset="0"/>
                <a:ea typeface="Calibri" pitchFamily="34" charset="-122"/>
                <a:cs typeface="Calibri" pitchFamily="34" charset="-120"/>
              </a:rPr>
              <a:t>« Pourquoi ce score ? » — rien n'est une boîte noire</a:t>
            </a:r>
            <a:endParaRPr lang="en-US" sz="2700" dirty="0"/>
          </a:p>
        </p:txBody>
      </p:sp>
      <p:sp>
        <p:nvSpPr>
          <p:cNvPr id="4" name="Text 2"/>
          <p:cNvSpPr/>
          <p:nvPr/>
        </p:nvSpPr>
        <p:spPr>
          <a:xfrm>
            <a:off x="502920" y="1371600"/>
            <a:ext cx="3520440" cy="301752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200" dirty="0">
                <a:solidFill>
                  <a:srgbClr val="1C2B36"/>
                </a:solidFill>
                <a:latin typeface="Calibri" pitchFamily="34" charset="0"/>
                <a:ea typeface="Calibri" pitchFamily="34" charset="-122"/>
                <a:cs typeface="Calibri" pitchFamily="34" charset="-120"/>
              </a:rPr>
              <a:t>Un clic sur « Expliquer » : l'outil justifie le score 46,5 ligne par ligne.</a:t>
            </a:r>
            <a:endParaRPr lang="en-US" sz="1200" dirty="0"/>
          </a:p>
          <a:p>
            <a:pPr marL="152400" indent="-152400">
              <a:lnSpc>
                <a:spcPct val="105000"/>
              </a:lnSpc>
              <a:spcAft>
                <a:spcPts val="900"/>
              </a:spcAft>
              <a:buSzPct val="100000"/>
              <a:buChar char="•"/>
            </a:pPr>
            <a:r>
              <a:rPr lang="en-US" sz="1200" dirty="0">
                <a:solidFill>
                  <a:srgbClr val="1C2B36"/>
                </a:solidFill>
                <a:latin typeface="Calibri" pitchFamily="34" charset="0"/>
                <a:ea typeface="Calibri" pitchFamily="34" charset="-122"/>
                <a:cs typeface="Calibri" pitchFamily="34" charset="-120"/>
              </a:rPr>
              <a:t>L'alerte en clair : l'échéance est dépassée, le détecteur « délais » est au maximum — cause unique identifiée.</a:t>
            </a:r>
            <a:endParaRPr lang="en-US" sz="1200" dirty="0"/>
          </a:p>
          <a:p>
            <a:pPr marL="152400" indent="-152400">
              <a:lnSpc>
                <a:spcPct val="105000"/>
              </a:lnSpc>
              <a:spcAft>
                <a:spcPts val="900"/>
              </a:spcAft>
              <a:buSzPct val="100000"/>
              <a:buChar char="•"/>
            </a:pPr>
            <a:r>
              <a:rPr lang="en-US" sz="1200" dirty="0">
                <a:solidFill>
                  <a:srgbClr val="1C2B36"/>
                </a:solidFill>
                <a:latin typeface="Calibri" pitchFamily="34" charset="0"/>
                <a:ea typeface="Calibri" pitchFamily="34" charset="-122"/>
                <a:cs typeface="Calibri" pitchFamily="34" charset="-120"/>
              </a:rPr>
              <a:t>Qui réclame cette pièce : 52,6 % de besoin propre, le reste tiré par deux clients de la chaîne.</a:t>
            </a:r>
            <a:endParaRPr lang="en-US" sz="1200" dirty="0"/>
          </a:p>
          <a:p>
            <a:pPr marL="152400" indent="-152400">
              <a:lnSpc>
                <a:spcPct val="105000"/>
              </a:lnSpc>
              <a:spcAft>
                <a:spcPts val="900"/>
              </a:spcAft>
              <a:buSzPct val="100000"/>
              <a:buChar char="•"/>
            </a:pPr>
            <a:r>
              <a:rPr lang="en-US" sz="1200" dirty="0">
                <a:solidFill>
                  <a:srgbClr val="1C2B36"/>
                </a:solidFill>
                <a:latin typeface="Calibri" pitchFamily="34" charset="0"/>
                <a:ea typeface="Calibri" pitchFamily="34" charset="-122"/>
                <a:cs typeface="Calibri" pitchFamily="34" charset="-120"/>
              </a:rPr>
              <a:t>Le calcul complet est affiché, jusqu'à la pénalité pour danger sous-déclaré.</a:t>
            </a:r>
            <a:endParaRPr lang="en-US" sz="1200" dirty="0"/>
          </a:p>
          <a:p>
            <a:pPr marL="152400" indent="-152400">
              <a:lnSpc>
                <a:spcPct val="105000"/>
              </a:lnSpc>
              <a:spcAft>
                <a:spcPts val="900"/>
              </a:spcAft>
              <a:buSzPct val="100000"/>
              <a:buChar char="•"/>
            </a:pPr>
            <a:r>
              <a:rPr lang="en-US" sz="1200" dirty="0">
                <a:solidFill>
                  <a:srgbClr val="1C2B36"/>
                </a:solidFill>
                <a:latin typeface="Calibri" pitchFamily="34" charset="0"/>
                <a:ea typeface="Calibri" pitchFamily="34" charset="-122"/>
                <a:cs typeface="Calibri" pitchFamily="34" charset="-120"/>
              </a:rPr>
              <a:t>Et en bas, le journal d'audit : qui a saisi quoi, quand, à cause de quel événement.</a:t>
            </a:r>
            <a:endParaRPr lang="en-US" sz="1200" dirty="0"/>
          </a:p>
        </p:txBody>
      </p:sp>
      <p:pic>
        <p:nvPicPr>
          <p:cNvPr id="5" name="Image 0" descr="C:/Users/jhoarau/AppData/Local/Temp/claude/pptx-aeris/crop-alerte.png">    </p:cNvPr>
          <p:cNvPicPr>
            <a:picLocks noChangeAspect="1"/>
          </p:cNvPicPr>
          <p:nvPr/>
        </p:nvPicPr>
        <p:blipFill>
          <a:blip r:embed="rId1"/>
          <a:stretch>
            <a:fillRect/>
          </a:stretch>
        </p:blipFill>
        <p:spPr>
          <a:xfrm>
            <a:off x="4297680" y="1600200"/>
            <a:ext cx="4343400" cy="585216"/>
          </a:xfrm>
          <a:prstGeom prst="rect">
            <a:avLst/>
          </a:prstGeom>
        </p:spPr>
      </p:pic>
      <p:sp>
        <p:nvSpPr>
          <p:cNvPr id="6" name="Shape 3"/>
          <p:cNvSpPr/>
          <p:nvPr/>
        </p:nvSpPr>
        <p:spPr>
          <a:xfrm>
            <a:off x="4297680" y="1600200"/>
            <a:ext cx="4343400" cy="585216"/>
          </a:xfrm>
          <a:prstGeom prst="rect">
            <a:avLst/>
          </a:prstGeom>
          <a:ln w="12700">
            <a:solidFill>
              <a:srgbClr val="C9D6DE"/>
            </a:solidFill>
            <a:prstDash val="solid"/>
          </a:ln>
        </p:spPr>
      </p:sp>
      <p:pic>
        <p:nvPicPr>
          <p:cNvPr id="7" name="Image 1" descr="C:/Users/jhoarau/AppData/Local/Temp/claude/pptx-aeris/crop-equation.png">    </p:cNvPr>
          <p:cNvPicPr>
            <a:picLocks noChangeAspect="1"/>
          </p:cNvPicPr>
          <p:nvPr/>
        </p:nvPicPr>
        <p:blipFill>
          <a:blip r:embed="rId2"/>
          <a:stretch>
            <a:fillRect/>
          </a:stretch>
        </p:blipFill>
        <p:spPr>
          <a:xfrm>
            <a:off x="4297680" y="2514600"/>
            <a:ext cx="4343400" cy="502920"/>
          </a:xfrm>
          <a:prstGeom prst="rect">
            <a:avLst/>
          </a:prstGeom>
        </p:spPr>
      </p:pic>
      <p:sp>
        <p:nvSpPr>
          <p:cNvPr id="8" name="Shape 4"/>
          <p:cNvSpPr/>
          <p:nvPr/>
        </p:nvSpPr>
        <p:spPr>
          <a:xfrm>
            <a:off x="4297680" y="2514600"/>
            <a:ext cx="4343400" cy="502920"/>
          </a:xfrm>
          <a:prstGeom prst="rect">
            <a:avLst/>
          </a:prstGeom>
          <a:ln w="12700">
            <a:solidFill>
              <a:srgbClr val="C9D6DE"/>
            </a:solidFill>
            <a:prstDash val="solid"/>
          </a:ln>
        </p:spPr>
      </p:sp>
      <p:sp>
        <p:nvSpPr>
          <p:cNvPr id="9" name="Text 5"/>
          <p:cNvSpPr/>
          <p:nvPr/>
        </p:nvSpPr>
        <p:spPr>
          <a:xfrm>
            <a:off x="4297680" y="3200400"/>
            <a:ext cx="4343400" cy="274320"/>
          </a:xfrm>
          <a:prstGeom prst="rect">
            <a:avLst/>
          </a:prstGeom>
          <a:noFill/>
          <a:ln/>
        </p:spPr>
        <p:txBody>
          <a:bodyPr wrap="square" lIns="0" tIns="0" rIns="0" bIns="0" rtlCol="0" anchor="ctr"/>
          <a:lstStyle/>
          <a:p>
            <a:pPr indent="0" marL="0">
              <a:buNone/>
            </a:pPr>
            <a:r>
              <a:rPr lang="en-US" sz="1000" i="1" dirty="0">
                <a:solidFill>
                  <a:srgbClr val="5C6F7C"/>
                </a:solidFill>
                <a:latin typeface="Calibri" pitchFamily="34" charset="0"/>
                <a:ea typeface="Calibri" pitchFamily="34" charset="-122"/>
                <a:cs typeface="Calibri" pitchFamily="34" charset="-120"/>
              </a:rPr>
              <a:t>L'alerte, puis le calcul — tels qu'affichés par l'outil, sans retouche.</a:t>
            </a:r>
            <a:endParaRPr lang="en-US" sz="1000" dirty="0"/>
          </a:p>
        </p:txBody>
      </p:sp>
      <p:sp>
        <p:nvSpPr>
          <p:cNvPr id="10" name="Shape 6"/>
          <p:cNvSpPr/>
          <p:nvPr/>
        </p:nvSpPr>
        <p:spPr>
          <a:xfrm>
            <a:off x="4297680" y="3703320"/>
            <a:ext cx="4343400" cy="868680"/>
          </a:xfrm>
          <a:prstGeom prst="roundRect">
            <a:avLst>
              <a:gd name="adj" fmla="val 7368"/>
            </a:avLst>
          </a:prstGeom>
          <a:solidFill>
            <a:srgbClr val="EAF1F6"/>
          </a:solidFill>
          <a:ln/>
          <a:effectLst>
            <a:outerShdw sx="100000" sy="100000" kx="0" ky="0" algn="bl" rotWithShape="0" blurRad="88900" dist="25400" dir="2700000">
              <a:srgbClr val="000000">
                <a:alpha val="14000"/>
              </a:srgbClr>
            </a:outerShdw>
          </a:effectLst>
        </p:spPr>
      </p:sp>
      <p:sp>
        <p:nvSpPr>
          <p:cNvPr id="11" name="Text 7"/>
          <p:cNvSpPr/>
          <p:nvPr/>
        </p:nvSpPr>
        <p:spPr>
          <a:xfrm>
            <a:off x="4526280" y="3840480"/>
            <a:ext cx="3886200" cy="594360"/>
          </a:xfrm>
          <a:prstGeom prst="rect">
            <a:avLst/>
          </a:prstGeom>
          <a:noFill/>
          <a:ln/>
        </p:spPr>
        <p:txBody>
          <a:bodyPr wrap="square" lIns="0" tIns="0" rIns="0" bIns="0" rtlCol="0" anchor="ctr"/>
          <a:lstStyle/>
          <a:p>
            <a:pPr indent="0" marL="0">
              <a:buNone/>
            </a:pPr>
            <a:r>
              <a:rPr lang="en-US" sz="1250" b="1" dirty="0">
                <a:solidFill>
                  <a:srgbClr val="2C5F7C"/>
                </a:solidFill>
                <a:latin typeface="Calibri" pitchFamily="34" charset="0"/>
                <a:ea typeface="Calibri" pitchFamily="34" charset="-122"/>
                <a:cs typeface="Calibri" pitchFamily="34" charset="-120"/>
              </a:rPr>
              <a:t>L'outil se défend tout seul : chaque chiffre est traçable jusqu'à la saisie d'origine.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b="1" spc="300" kern="0" dirty="0">
                <a:solidFill>
                  <a:srgbClr val="2C5F7C"/>
                </a:solidFill>
                <a:latin typeface="Calibri" pitchFamily="34" charset="0"/>
                <a:ea typeface="Calibri" pitchFamily="34" charset="-122"/>
                <a:cs typeface="Calibri" pitchFamily="34" charset="-120"/>
              </a:rPr>
              <a:t>DÉMO · 3/3</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700" b="1" dirty="0">
                <a:solidFill>
                  <a:srgbClr val="1C2B36"/>
                </a:solidFill>
                <a:latin typeface="Calibri" pitchFamily="34" charset="0"/>
                <a:ea typeface="Calibri" pitchFamily="34" charset="-122"/>
                <a:cs typeface="Calibri" pitchFamily="34" charset="-120"/>
              </a:rPr>
              <a:t>Jouer un tour en direct, puis simuler le pire</a:t>
            </a:r>
            <a:endParaRPr lang="en-US" sz="2700" dirty="0"/>
          </a:p>
        </p:txBody>
      </p:sp>
      <p:sp>
        <p:nvSpPr>
          <p:cNvPr id="4" name="Text 2"/>
          <p:cNvSpPr/>
          <p:nvPr/>
        </p:nvSpPr>
        <p:spPr>
          <a:xfrm>
            <a:off x="502920" y="1298448"/>
            <a:ext cx="3931920" cy="292608"/>
          </a:xfrm>
          <a:prstGeom prst="rect">
            <a:avLst/>
          </a:prstGeom>
          <a:noFill/>
          <a:ln/>
        </p:spPr>
        <p:txBody>
          <a:bodyPr wrap="square" lIns="0" tIns="0" rIns="0" bIns="0" rtlCol="0" anchor="ctr"/>
          <a:lstStyle/>
          <a:p>
            <a:pPr indent="0" marL="0">
              <a:buNone/>
            </a:pPr>
            <a:r>
              <a:rPr lang="en-US" sz="1400" b="1" dirty="0">
                <a:solidFill>
                  <a:srgbClr val="2C5F7C"/>
                </a:solidFill>
                <a:latin typeface="Calibri" pitchFamily="34" charset="0"/>
                <a:ea typeface="Calibri" pitchFamily="34" charset="-122"/>
                <a:cs typeface="Calibri" pitchFamily="34" charset="-120"/>
              </a:rPr>
              <a:t>Le tour en direct</a:t>
            </a:r>
            <a:endParaRPr lang="en-US" sz="1400" dirty="0"/>
          </a:p>
        </p:txBody>
      </p:sp>
      <p:sp>
        <p:nvSpPr>
          <p:cNvPr id="5" name="Text 3"/>
          <p:cNvSpPr/>
          <p:nvPr/>
        </p:nvSpPr>
        <p:spPr>
          <a:xfrm>
            <a:off x="502920" y="1627632"/>
            <a:ext cx="3931920" cy="1554480"/>
          </a:xfrm>
          <a:prstGeom prst="rect">
            <a:avLst/>
          </a:prstGeom>
          <a:noFill/>
          <a:ln/>
        </p:spPr>
        <p:txBody>
          <a:bodyPr wrap="square" lIns="0" tIns="0" rIns="0" bIns="0" rtlCol="0" anchor="t"/>
          <a:lstStyle/>
          <a:p>
            <a:pPr marL="152400" indent="-152400">
              <a:lnSpc>
                <a:spcPct val="105000"/>
              </a:lnSpc>
              <a:spcAft>
                <a:spcPts val="600"/>
              </a:spcAft>
              <a:buSzPct val="100000"/>
              <a:buChar char="•"/>
            </a:pPr>
            <a:r>
              <a:rPr lang="en-US" sz="1150" dirty="0">
                <a:solidFill>
                  <a:srgbClr val="1C2B36"/>
                </a:solidFill>
                <a:latin typeface="Calibri" pitchFamily="34" charset="0"/>
                <a:ea typeface="Calibri" pitchFamily="34" charset="-122"/>
                <a:cs typeface="Calibri" pitchFamily="34" charset="-120"/>
              </a:rPr>
              <a:t>Un clic fait avancer toute la chaîne d'une semaine.</a:t>
            </a:r>
            <a:endParaRPr lang="en-US" sz="1150" dirty="0"/>
          </a:p>
          <a:p>
            <a:pPr marL="152400" indent="-152400">
              <a:lnSpc>
                <a:spcPct val="105000"/>
              </a:lnSpc>
              <a:spcAft>
                <a:spcPts val="600"/>
              </a:spcAft>
              <a:buSzPct val="100000"/>
              <a:buChar char="•"/>
            </a:pPr>
            <a:r>
              <a:rPr lang="en-US" sz="1150" dirty="0">
                <a:solidFill>
                  <a:srgbClr val="1C2B36"/>
                </a:solidFill>
                <a:latin typeface="Calibri" pitchFamily="34" charset="0"/>
                <a:ea typeface="Calibri" pitchFamily="34" charset="-122"/>
                <a:cs typeface="Calibri" pitchFamily="34" charset="-120"/>
              </a:rPr>
              <a:t>La joueuse de PowerChip avoue enfin l'ampleur du retard, clôture son jalon, trace sa décision de secours.</a:t>
            </a:r>
            <a:endParaRPr lang="en-US" sz="1150" dirty="0"/>
          </a:p>
          <a:p>
            <a:pPr marL="152400" indent="-152400">
              <a:lnSpc>
                <a:spcPct val="105000"/>
              </a:lnSpc>
              <a:spcAft>
                <a:spcPts val="600"/>
              </a:spcAft>
              <a:buSzPct val="100000"/>
              <a:buChar char="•"/>
            </a:pPr>
            <a:r>
              <a:rPr lang="en-US" sz="1150" dirty="0">
                <a:solidFill>
                  <a:srgbClr val="1C2B36"/>
                </a:solidFill>
                <a:latin typeface="Calibri" pitchFamily="34" charset="0"/>
                <a:ea typeface="Calibri" pitchFamily="34" charset="-122"/>
                <a:cs typeface="Calibri" pitchFamily="34" charset="-120"/>
              </a:rPr>
              <a:t>Retour au tableau de bord : le risque caché disparaît, le score remonte de 46 à plus de 75 sous vos yeux.</a:t>
            </a:r>
            <a:endParaRPr lang="en-US" sz="1150" dirty="0"/>
          </a:p>
        </p:txBody>
      </p:sp>
      <p:sp>
        <p:nvSpPr>
          <p:cNvPr id="6" name="Text 4"/>
          <p:cNvSpPr/>
          <p:nvPr/>
        </p:nvSpPr>
        <p:spPr>
          <a:xfrm>
            <a:off x="4709160" y="1298448"/>
            <a:ext cx="3931920" cy="292608"/>
          </a:xfrm>
          <a:prstGeom prst="rect">
            <a:avLst/>
          </a:prstGeom>
          <a:noFill/>
          <a:ln/>
        </p:spPr>
        <p:txBody>
          <a:bodyPr wrap="square" lIns="0" tIns="0" rIns="0" bIns="0" rtlCol="0" anchor="ctr"/>
          <a:lstStyle/>
          <a:p>
            <a:pPr indent="0" marL="0">
              <a:buNone/>
            </a:pPr>
            <a:r>
              <a:rPr lang="en-US" sz="1400" b="1" dirty="0">
                <a:solidFill>
                  <a:srgbClr val="2C5F7C"/>
                </a:solidFill>
                <a:latin typeface="Calibri" pitchFamily="34" charset="0"/>
                <a:ea typeface="Calibri" pitchFamily="34" charset="-122"/>
                <a:cs typeface="Calibri" pitchFamily="34" charset="-120"/>
              </a:rPr>
              <a:t>Bonus « et si ? »</a:t>
            </a:r>
            <a:endParaRPr lang="en-US" sz="1400" dirty="0"/>
          </a:p>
        </p:txBody>
      </p:sp>
      <p:sp>
        <p:nvSpPr>
          <p:cNvPr id="7" name="Text 5"/>
          <p:cNvSpPr/>
          <p:nvPr/>
        </p:nvSpPr>
        <p:spPr>
          <a:xfrm>
            <a:off x="4709160" y="1627632"/>
            <a:ext cx="3931920" cy="1325880"/>
          </a:xfrm>
          <a:prstGeom prst="rect">
            <a:avLst/>
          </a:prstGeom>
          <a:noFill/>
          <a:ln/>
        </p:spPr>
        <p:txBody>
          <a:bodyPr wrap="square" lIns="0" tIns="0" rIns="0" bIns="0" rtlCol="0" anchor="t"/>
          <a:lstStyle/>
          <a:p>
            <a:pPr marL="152400" indent="-152400">
              <a:lnSpc>
                <a:spcPct val="105000"/>
              </a:lnSpc>
              <a:spcAft>
                <a:spcPts val="600"/>
              </a:spcAft>
              <a:buSzPct val="100000"/>
              <a:buChar char="•"/>
            </a:pPr>
            <a:r>
              <a:rPr lang="en-US" sz="1150" dirty="0">
                <a:solidFill>
                  <a:srgbClr val="1C2B36"/>
                </a:solidFill>
                <a:latin typeface="Calibri" pitchFamily="34" charset="0"/>
                <a:ea typeface="Calibri" pitchFamily="34" charset="-122"/>
                <a:cs typeface="Calibri" pitchFamily="34" charset="-120"/>
              </a:rPr>
              <a:t>On simule la défaillance totale d'une mine de lithium : la contagion se propage sur la carte.</a:t>
            </a:r>
            <a:endParaRPr lang="en-US" sz="1150" dirty="0"/>
          </a:p>
          <a:p>
            <a:pPr marL="152400" indent="-152400">
              <a:lnSpc>
                <a:spcPct val="105000"/>
              </a:lnSpc>
              <a:spcAft>
                <a:spcPts val="600"/>
              </a:spcAft>
              <a:buSzPct val="100000"/>
              <a:buChar char="•"/>
            </a:pPr>
            <a:r>
              <a:rPr lang="en-US" sz="1150" dirty="0">
                <a:solidFill>
                  <a:srgbClr val="1C2B36"/>
                </a:solidFill>
                <a:latin typeface="Calibri" pitchFamily="34" charset="0"/>
                <a:ea typeface="Calibri" pitchFamily="34" charset="-122"/>
                <a:cs typeface="Calibri" pitchFamily="34" charset="-120"/>
              </a:rPr>
              <a:t>Sans toucher aux vraies données — le plan de continuité s'écrit tout seul.</a:t>
            </a:r>
            <a:endParaRPr lang="en-US" sz="1150" dirty="0"/>
          </a:p>
        </p:txBody>
      </p:sp>
      <p:pic>
        <p:nvPicPr>
          <p:cNvPr id="8" name="Image 0" descr="C:/Users/jhoarau/AppData/Local/Temp/claude/pptx-aeris/crop-hebdo-haut.png">    </p:cNvPr>
          <p:cNvPicPr>
            <a:picLocks noChangeAspect="1"/>
          </p:cNvPicPr>
          <p:nvPr/>
        </p:nvPicPr>
        <p:blipFill>
          <a:blip r:embed="rId1"/>
          <a:stretch>
            <a:fillRect/>
          </a:stretch>
        </p:blipFill>
        <p:spPr>
          <a:xfrm>
            <a:off x="502920" y="3310128"/>
            <a:ext cx="3931920" cy="905256"/>
          </a:xfrm>
          <a:prstGeom prst="rect">
            <a:avLst/>
          </a:prstGeom>
        </p:spPr>
      </p:pic>
      <p:sp>
        <p:nvSpPr>
          <p:cNvPr id="9" name="Shape 6"/>
          <p:cNvSpPr/>
          <p:nvPr/>
        </p:nvSpPr>
        <p:spPr>
          <a:xfrm>
            <a:off x="502920" y="3310128"/>
            <a:ext cx="3931920" cy="905256"/>
          </a:xfrm>
          <a:prstGeom prst="rect">
            <a:avLst/>
          </a:prstGeom>
          <a:ln w="12700">
            <a:solidFill>
              <a:srgbClr val="C9D6DE"/>
            </a:solidFill>
            <a:prstDash val="solid"/>
          </a:ln>
        </p:spPr>
      </p:sp>
      <p:pic>
        <p:nvPicPr>
          <p:cNvPr id="10" name="Image 1" descr="C:/Users/jhoarau/AppData/Local/Temp/claude/pptx-aeris/crop-sim-carte.png">    </p:cNvPr>
          <p:cNvPicPr>
            <a:picLocks noChangeAspect="1"/>
          </p:cNvPicPr>
          <p:nvPr/>
        </p:nvPicPr>
        <p:blipFill>
          <a:blip r:embed="rId2"/>
          <a:stretch>
            <a:fillRect/>
          </a:stretch>
        </p:blipFill>
        <p:spPr>
          <a:xfrm>
            <a:off x="4709160" y="3310128"/>
            <a:ext cx="3931920" cy="987552"/>
          </a:xfrm>
          <a:prstGeom prst="rect">
            <a:avLst/>
          </a:prstGeom>
        </p:spPr>
      </p:pic>
      <p:sp>
        <p:nvSpPr>
          <p:cNvPr id="11" name="Shape 7"/>
          <p:cNvSpPr/>
          <p:nvPr/>
        </p:nvSpPr>
        <p:spPr>
          <a:xfrm>
            <a:off x="4709160" y="3310128"/>
            <a:ext cx="3931920" cy="987552"/>
          </a:xfrm>
          <a:prstGeom prst="rect">
            <a:avLst/>
          </a:prstGeom>
          <a:ln w="12700">
            <a:solidFill>
              <a:srgbClr val="C9D6DE"/>
            </a:solidFill>
            <a:prstDash val="solid"/>
          </a:ln>
        </p:spPr>
      </p:sp>
      <p:sp>
        <p:nvSpPr>
          <p:cNvPr id="12" name="Text 8"/>
          <p:cNvSpPr/>
          <p:nvPr/>
        </p:nvSpPr>
        <p:spPr>
          <a:xfrm>
            <a:off x="502920" y="4370832"/>
            <a:ext cx="3931920" cy="256032"/>
          </a:xfrm>
          <a:prstGeom prst="rect">
            <a:avLst/>
          </a:prstGeom>
          <a:noFill/>
          <a:ln/>
        </p:spPr>
        <p:txBody>
          <a:bodyPr wrap="square" lIns="0" tIns="0" rIns="0" bIns="0" rtlCol="0" anchor="ctr"/>
          <a:lstStyle/>
          <a:p>
            <a:pPr indent="0" marL="0">
              <a:buNone/>
            </a:pPr>
            <a:r>
              <a:rPr lang="en-US" sz="1000" i="1" dirty="0">
                <a:solidFill>
                  <a:srgbClr val="5C6F7C"/>
                </a:solidFill>
                <a:latin typeface="Calibri" pitchFamily="34" charset="0"/>
                <a:ea typeface="Calibri" pitchFamily="34" charset="-122"/>
                <a:cs typeface="Calibri" pitchFamily="34" charset="-120"/>
              </a:rPr>
              <a:t>La revue hebdo guidée — 15 minutes par acteur.</a:t>
            </a:r>
            <a:endParaRPr lang="en-US" sz="1000" dirty="0"/>
          </a:p>
        </p:txBody>
      </p:sp>
      <p:sp>
        <p:nvSpPr>
          <p:cNvPr id="13" name="Text 9"/>
          <p:cNvSpPr/>
          <p:nvPr/>
        </p:nvSpPr>
        <p:spPr>
          <a:xfrm>
            <a:off x="4709160" y="4434840"/>
            <a:ext cx="3931920" cy="256032"/>
          </a:xfrm>
          <a:prstGeom prst="rect">
            <a:avLst/>
          </a:prstGeom>
          <a:noFill/>
          <a:ln/>
        </p:spPr>
        <p:txBody>
          <a:bodyPr wrap="square" lIns="0" tIns="0" rIns="0" bIns="0" rtlCol="0" anchor="ctr"/>
          <a:lstStyle/>
          <a:p>
            <a:pPr indent="0" marL="0">
              <a:buNone/>
            </a:pPr>
            <a:r>
              <a:rPr lang="en-US" sz="1000" i="1" dirty="0">
                <a:solidFill>
                  <a:srgbClr val="5C6F7C"/>
                </a:solidFill>
                <a:latin typeface="Calibri" pitchFamily="34" charset="0"/>
                <a:ea typeface="Calibri" pitchFamily="34" charset="-122"/>
                <a:cs typeface="Calibri" pitchFamily="34" charset="-120"/>
              </a:rPr>
              <a:t>Le choc simulé : +0,371 d'urgence propagée — sans rien modifier.</a:t>
            </a:r>
            <a:endParaRPr lang="en-US" sz="1000" dirty="0"/>
          </a:p>
        </p:txBody>
      </p:sp>
      <p:sp>
        <p:nvSpPr>
          <p:cNvPr id="14" name="Text 10"/>
          <p:cNvSpPr/>
          <p:nvPr/>
        </p:nvSpPr>
        <p:spPr>
          <a:xfrm>
            <a:off x="502920" y="2889504"/>
            <a:ext cx="8138160" cy="292608"/>
          </a:xfrm>
          <a:prstGeom prst="rect">
            <a:avLst/>
          </a:prstGeom>
          <a:noFill/>
          <a:ln/>
        </p:spPr>
        <p:txBody>
          <a:bodyPr wrap="square" lIns="0" tIns="0" rIns="0" bIns="0" rtlCol="0" anchor="ctr"/>
          <a:lstStyle/>
          <a:p>
            <a:pPr indent="0" marL="0">
              <a:buNone/>
            </a:pPr>
            <a:r>
              <a:rPr lang="en-US" sz="1250" b="1" i="1" dirty="0">
                <a:solidFill>
                  <a:srgbClr val="1C2B36"/>
                </a:solidFill>
                <a:latin typeface="Calibri" pitchFamily="34" charset="0"/>
                <a:ea typeface="Calibri" pitchFamily="34" charset="-122"/>
                <a:cs typeface="Calibri" pitchFamily="34" charset="-120"/>
              </a:rPr>
              <a:t>Le score ne récompense pas la bonne nouvelle : il récompense la déclaration honnête et le travail réellement fait.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b="1" spc="300" kern="0" dirty="0">
                <a:solidFill>
                  <a:srgbClr val="2C5F7C"/>
                </a:solidFill>
                <a:latin typeface="Calibri" pitchFamily="34" charset="0"/>
                <a:ea typeface="Calibri" pitchFamily="34" charset="-122"/>
                <a:cs typeface="Calibri" pitchFamily="34" charset="-120"/>
              </a:rPr>
              <a:t>L'HONNÊTETÉ</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700" b="1" dirty="0">
                <a:solidFill>
                  <a:srgbClr val="1C2B36"/>
                </a:solidFill>
                <a:latin typeface="Calibri" pitchFamily="34" charset="0"/>
                <a:ea typeface="Calibri" pitchFamily="34" charset="-122"/>
                <a:cs typeface="Calibri" pitchFamily="34" charset="-120"/>
              </a:rPr>
              <a:t>Les limites, clairement posées</a:t>
            </a:r>
            <a:endParaRPr lang="en-US" sz="2700" dirty="0"/>
          </a:p>
        </p:txBody>
      </p:sp>
      <p:sp>
        <p:nvSpPr>
          <p:cNvPr id="4" name="Text 2"/>
          <p:cNvSpPr/>
          <p:nvPr/>
        </p:nvSpPr>
        <p:spPr>
          <a:xfrm>
            <a:off x="502920" y="1417320"/>
            <a:ext cx="4572000" cy="3108960"/>
          </a:xfrm>
          <a:prstGeom prst="rect">
            <a:avLst/>
          </a:prstGeom>
          <a:noFill/>
          <a:ln/>
        </p:spPr>
        <p:txBody>
          <a:bodyPr wrap="square" lIns="0" tIns="0" rIns="0" bIns="0" rtlCol="0" anchor="t"/>
          <a:lstStyle/>
          <a:p>
            <a:pPr marL="152400" indent="-152400">
              <a:lnSpc>
                <a:spcPct val="105000"/>
              </a:lnSpc>
              <a:spcAft>
                <a:spcPts val="1200"/>
              </a:spcAft>
              <a:buSzPct val="100000"/>
              <a:buChar char="•"/>
            </a:pPr>
            <a:r>
              <a:rPr lang="en-US" sz="1250" dirty="0">
                <a:solidFill>
                  <a:srgbClr val="1C2B36"/>
                </a:solidFill>
                <a:latin typeface="Calibri" pitchFamily="34" charset="0"/>
                <a:ea typeface="Calibri" pitchFamily="34" charset="-122"/>
                <a:cs typeface="Calibri" pitchFamily="34" charset="-120"/>
              </a:rPr>
              <a:t>Des probabilités et des scores, pas des prophéties : l'outil rend visible un désalignement — la décision reste humaine.</a:t>
            </a:r>
            <a:endParaRPr lang="en-US" sz="1250" dirty="0"/>
          </a:p>
          <a:p>
            <a:pPr marL="152400" indent="-152400">
              <a:lnSpc>
                <a:spcPct val="105000"/>
              </a:lnSpc>
              <a:spcAft>
                <a:spcPts val="1200"/>
              </a:spcAft>
              <a:buSzPct val="100000"/>
              <a:buChar char="•"/>
            </a:pPr>
            <a:r>
              <a:rPr lang="en-US" sz="1250" dirty="0">
                <a:solidFill>
                  <a:srgbClr val="1C2B36"/>
                </a:solidFill>
                <a:latin typeface="Calibri" pitchFamily="34" charset="0"/>
                <a:ea typeface="Calibri" pitchFamily="34" charset="-122"/>
                <a:cs typeface="Calibri" pitchFamily="34" charset="-120"/>
              </a:rPr>
              <a:t>Un score n'est jamais plus frais que la dernière saisie : les données sont entrées à la main, pas branchées sur un ERP.</a:t>
            </a:r>
            <a:endParaRPr lang="en-US" sz="1250" dirty="0"/>
          </a:p>
          <a:p>
            <a:pPr marL="152400" indent="-152400">
              <a:lnSpc>
                <a:spcPct val="105000"/>
              </a:lnSpc>
              <a:spcAft>
                <a:spcPts val="1200"/>
              </a:spcAft>
              <a:buSzPct val="100000"/>
              <a:buChar char="•"/>
            </a:pPr>
            <a:r>
              <a:rPr lang="en-US" sz="1250" dirty="0">
                <a:solidFill>
                  <a:srgbClr val="1C2B36"/>
                </a:solidFill>
                <a:latin typeface="Calibri" pitchFamily="34" charset="0"/>
                <a:ea typeface="Calibri" pitchFamily="34" charset="-122"/>
                <a:cs typeface="Calibri" pitchFamily="34" charset="-120"/>
              </a:rPr>
              <a:t>Les coefficients viennent de la littérature scientifique ; ils ne sont pas encore recalibrés sur des données de terrain.</a:t>
            </a:r>
            <a:endParaRPr lang="en-US" sz="1250" dirty="0"/>
          </a:p>
          <a:p>
            <a:pPr marL="152400" indent="-152400">
              <a:lnSpc>
                <a:spcPct val="105000"/>
              </a:lnSpc>
              <a:spcAft>
                <a:spcPts val="1200"/>
              </a:spcAft>
              <a:buSzPct val="100000"/>
              <a:buChar char="•"/>
            </a:pPr>
            <a:r>
              <a:rPr lang="en-US" sz="1250" dirty="0">
                <a:solidFill>
                  <a:srgbClr val="1C2B36"/>
                </a:solidFill>
                <a:latin typeface="Calibri" pitchFamily="34" charset="0"/>
                <a:ea typeface="Calibri" pitchFamily="34" charset="-122"/>
                <a:cs typeface="Calibri" pitchFamily="34" charset="-120"/>
              </a:rPr>
              <a:t>Des fonctionnalités ont été écartées volontairement — et ces choix sont documentés — pour tenir le périmètre.</a:t>
            </a:r>
            <a:endParaRPr lang="en-US" sz="1250" dirty="0"/>
          </a:p>
        </p:txBody>
      </p:sp>
      <p:sp>
        <p:nvSpPr>
          <p:cNvPr id="5" name="Shape 3"/>
          <p:cNvSpPr/>
          <p:nvPr/>
        </p:nvSpPr>
        <p:spPr>
          <a:xfrm>
            <a:off x="5440680" y="1417320"/>
            <a:ext cx="3200400" cy="3200400"/>
          </a:xfrm>
          <a:prstGeom prst="roundRect">
            <a:avLst>
              <a:gd name="adj" fmla="val 2000"/>
            </a:avLst>
          </a:prstGeom>
          <a:solidFill>
            <a:srgbClr val="EAF4EE"/>
          </a:solidFill>
          <a:ln/>
          <a:effectLst>
            <a:outerShdw sx="100000" sy="100000" kx="0" ky="0" algn="bl" rotWithShape="0" blurRad="88900" dist="25400" dir="2700000">
              <a:srgbClr val="000000">
                <a:alpha val="14000"/>
              </a:srgbClr>
            </a:outerShdw>
          </a:effectLst>
        </p:spPr>
      </p:sp>
      <p:sp>
        <p:nvSpPr>
          <p:cNvPr id="6" name="Text 4"/>
          <p:cNvSpPr/>
          <p:nvPr/>
        </p:nvSpPr>
        <p:spPr>
          <a:xfrm>
            <a:off x="5669280" y="1627632"/>
            <a:ext cx="2743200" cy="502920"/>
          </a:xfrm>
          <a:prstGeom prst="rect">
            <a:avLst/>
          </a:prstGeom>
          <a:noFill/>
          <a:ln/>
        </p:spPr>
        <p:txBody>
          <a:bodyPr wrap="square" lIns="0" tIns="0" rIns="0" bIns="0" rtlCol="0" anchor="ctr"/>
          <a:lstStyle/>
          <a:p>
            <a:pPr indent="0" marL="0">
              <a:buNone/>
            </a:pPr>
            <a:r>
              <a:rPr lang="en-US" sz="1250" b="1" dirty="0">
                <a:solidFill>
                  <a:srgbClr val="1D7A3E"/>
                </a:solidFill>
                <a:latin typeface="Calibri" pitchFamily="34" charset="0"/>
                <a:ea typeface="Calibri" pitchFamily="34" charset="-122"/>
                <a:cs typeface="Calibri" pitchFamily="34" charset="-120"/>
              </a:rPr>
              <a:t>La fiabilité du logiciel, elle, est démontrée :</a:t>
            </a:r>
            <a:endParaRPr lang="en-US" sz="1250" dirty="0"/>
          </a:p>
        </p:txBody>
      </p:sp>
      <p:sp>
        <p:nvSpPr>
          <p:cNvPr id="7" name="Text 5"/>
          <p:cNvSpPr/>
          <p:nvPr/>
        </p:nvSpPr>
        <p:spPr>
          <a:xfrm>
            <a:off x="5669280" y="2194560"/>
            <a:ext cx="1234440" cy="502920"/>
          </a:xfrm>
          <a:prstGeom prst="rect">
            <a:avLst/>
          </a:prstGeom>
          <a:noFill/>
          <a:ln/>
        </p:spPr>
        <p:txBody>
          <a:bodyPr wrap="square" lIns="0" tIns="0" rIns="0" bIns="0" rtlCol="0" anchor="ctr"/>
          <a:lstStyle/>
          <a:p>
            <a:pPr indent="0" marL="0">
              <a:buNone/>
            </a:pPr>
            <a:r>
              <a:rPr lang="en-US" sz="2400" b="1" dirty="0">
                <a:solidFill>
                  <a:srgbClr val="1C2B36"/>
                </a:solidFill>
                <a:latin typeface="Calibri" pitchFamily="34" charset="0"/>
                <a:ea typeface="Calibri" pitchFamily="34" charset="-122"/>
                <a:cs typeface="Calibri" pitchFamily="34" charset="-120"/>
              </a:rPr>
              <a:t>1 607</a:t>
            </a:r>
            <a:endParaRPr lang="en-US" sz="2400" dirty="0"/>
          </a:p>
        </p:txBody>
      </p:sp>
      <p:sp>
        <p:nvSpPr>
          <p:cNvPr id="8" name="Text 6"/>
          <p:cNvSpPr/>
          <p:nvPr/>
        </p:nvSpPr>
        <p:spPr>
          <a:xfrm>
            <a:off x="6949440" y="2194560"/>
            <a:ext cx="1600200" cy="502920"/>
          </a:xfrm>
          <a:prstGeom prst="rect">
            <a:avLst/>
          </a:prstGeom>
          <a:noFill/>
          <a:ln/>
        </p:spPr>
        <p:txBody>
          <a:bodyPr wrap="square" lIns="0" tIns="0" rIns="0" bIns="0" rtlCol="0" anchor="ctr"/>
          <a:lstStyle/>
          <a:p>
            <a:pPr indent="0" marL="0">
              <a:buNone/>
            </a:pPr>
            <a:r>
              <a:rPr lang="en-US" sz="1050" dirty="0">
                <a:solidFill>
                  <a:srgbClr val="1C2B36"/>
                </a:solidFill>
                <a:latin typeface="Calibri" pitchFamily="34" charset="0"/>
                <a:ea typeface="Calibri" pitchFamily="34" charset="-122"/>
                <a:cs typeface="Calibri" pitchFamily="34" charset="-120"/>
              </a:rPr>
              <a:t>tests automatiques, tous au vert</a:t>
            </a:r>
            <a:endParaRPr lang="en-US" sz="1050" dirty="0"/>
          </a:p>
        </p:txBody>
      </p:sp>
      <p:sp>
        <p:nvSpPr>
          <p:cNvPr id="9" name="Text 7"/>
          <p:cNvSpPr/>
          <p:nvPr/>
        </p:nvSpPr>
        <p:spPr>
          <a:xfrm>
            <a:off x="5669280" y="2980944"/>
            <a:ext cx="1234440" cy="502920"/>
          </a:xfrm>
          <a:prstGeom prst="rect">
            <a:avLst/>
          </a:prstGeom>
          <a:noFill/>
          <a:ln/>
        </p:spPr>
        <p:txBody>
          <a:bodyPr wrap="square" lIns="0" tIns="0" rIns="0" bIns="0" rtlCol="0" anchor="ctr"/>
          <a:lstStyle/>
          <a:p>
            <a:pPr indent="0" marL="0">
              <a:buNone/>
            </a:pPr>
            <a:r>
              <a:rPr lang="en-US" sz="2400" b="1" dirty="0">
                <a:solidFill>
                  <a:srgbClr val="1C2B36"/>
                </a:solidFill>
                <a:latin typeface="Calibri" pitchFamily="34" charset="0"/>
                <a:ea typeface="Calibri" pitchFamily="34" charset="-122"/>
                <a:cs typeface="Calibri" pitchFamily="34" charset="-120"/>
              </a:rPr>
              <a:t>94,1 %</a:t>
            </a:r>
            <a:endParaRPr lang="en-US" sz="2400" dirty="0"/>
          </a:p>
        </p:txBody>
      </p:sp>
      <p:sp>
        <p:nvSpPr>
          <p:cNvPr id="10" name="Text 8"/>
          <p:cNvSpPr/>
          <p:nvPr/>
        </p:nvSpPr>
        <p:spPr>
          <a:xfrm>
            <a:off x="6949440" y="2980944"/>
            <a:ext cx="1600200" cy="502920"/>
          </a:xfrm>
          <a:prstGeom prst="rect">
            <a:avLst/>
          </a:prstGeom>
          <a:noFill/>
          <a:ln/>
        </p:spPr>
        <p:txBody>
          <a:bodyPr wrap="square" lIns="0" tIns="0" rIns="0" bIns="0" rtlCol="0" anchor="ctr"/>
          <a:lstStyle/>
          <a:p>
            <a:pPr indent="0" marL="0">
              <a:buNone/>
            </a:pPr>
            <a:r>
              <a:rPr lang="en-US" sz="1050" dirty="0">
                <a:solidFill>
                  <a:srgbClr val="1C2B36"/>
                </a:solidFill>
                <a:latin typeface="Calibri" pitchFamily="34" charset="0"/>
                <a:ea typeface="Calibri" pitchFamily="34" charset="-122"/>
                <a:cs typeface="Calibri" pitchFamily="34" charset="-120"/>
              </a:rPr>
              <a:t>du code couvert par les tests</a:t>
            </a:r>
            <a:endParaRPr lang="en-US" sz="1050" dirty="0"/>
          </a:p>
        </p:txBody>
      </p:sp>
      <p:sp>
        <p:nvSpPr>
          <p:cNvPr id="11" name="Text 9"/>
          <p:cNvSpPr/>
          <p:nvPr/>
        </p:nvSpPr>
        <p:spPr>
          <a:xfrm>
            <a:off x="5669280" y="3767328"/>
            <a:ext cx="1234440" cy="502920"/>
          </a:xfrm>
          <a:prstGeom prst="rect">
            <a:avLst/>
          </a:prstGeom>
          <a:noFill/>
          <a:ln/>
        </p:spPr>
        <p:txBody>
          <a:bodyPr wrap="square" lIns="0" tIns="0" rIns="0" bIns="0" rtlCol="0" anchor="ctr"/>
          <a:lstStyle/>
          <a:p>
            <a:pPr indent="0" marL="0">
              <a:buNone/>
            </a:pPr>
            <a:r>
              <a:rPr lang="en-US" sz="2400" b="1" dirty="0">
                <a:solidFill>
                  <a:srgbClr val="1C2B36"/>
                </a:solidFill>
                <a:latin typeface="Calibri" pitchFamily="34" charset="0"/>
                <a:ea typeface="Calibri" pitchFamily="34" charset="-122"/>
                <a:cs typeface="Calibri" pitchFamily="34" charset="-120"/>
              </a:rPr>
              <a:t>1 000</a:t>
            </a:r>
            <a:endParaRPr lang="en-US" sz="2400" dirty="0"/>
          </a:p>
        </p:txBody>
      </p:sp>
      <p:sp>
        <p:nvSpPr>
          <p:cNvPr id="12" name="Text 10"/>
          <p:cNvSpPr/>
          <p:nvPr/>
        </p:nvSpPr>
        <p:spPr>
          <a:xfrm>
            <a:off x="6949440" y="3767328"/>
            <a:ext cx="1600200" cy="502920"/>
          </a:xfrm>
          <a:prstGeom prst="rect">
            <a:avLst/>
          </a:prstGeom>
          <a:noFill/>
          <a:ln/>
        </p:spPr>
        <p:txBody>
          <a:bodyPr wrap="square" lIns="0" tIns="0" rIns="0" bIns="0" rtlCol="0" anchor="ctr"/>
          <a:lstStyle/>
          <a:p>
            <a:pPr indent="0" marL="0">
              <a:buNone/>
            </a:pPr>
            <a:r>
              <a:rPr lang="en-US" sz="1050" dirty="0">
                <a:solidFill>
                  <a:srgbClr val="1C2B36"/>
                </a:solidFill>
                <a:latin typeface="Calibri" pitchFamily="34" charset="0"/>
                <a:ea typeface="Calibri" pitchFamily="34" charset="-122"/>
                <a:cs typeface="Calibri" pitchFamily="34" charset="-120"/>
              </a:rPr>
              <a:t>acteurs simulés sans ralentir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303F"/>
        </a:solidFill>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indent="0" marL="0">
              <a:buNone/>
            </a:pPr>
            <a:r>
              <a:rPr lang="en-US" sz="1100" b="1" spc="300" kern="0" dirty="0">
                <a:solidFill>
                  <a:srgbClr val="9FC0D4"/>
                </a:solidFill>
                <a:latin typeface="Calibri" pitchFamily="34" charset="0"/>
                <a:ea typeface="Calibri" pitchFamily="34" charset="-122"/>
                <a:cs typeface="Calibri" pitchFamily="34" charset="-120"/>
              </a:rPr>
              <a:t>OUVERTURE</a:t>
            </a:r>
            <a:endParaRPr lang="en-US" sz="1100" dirty="0"/>
          </a:p>
        </p:txBody>
      </p:sp>
      <p:sp>
        <p:nvSpPr>
          <p:cNvPr id="3" name="Text 1"/>
          <p:cNvSpPr/>
          <p:nvPr/>
        </p:nvSpPr>
        <p:spPr>
          <a:xfrm>
            <a:off x="502920" y="530352"/>
            <a:ext cx="8138160" cy="566928"/>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Et demain ?</a:t>
            </a:r>
            <a:endParaRPr lang="en-US" sz="2700" dirty="0"/>
          </a:p>
        </p:txBody>
      </p:sp>
      <p:sp>
        <p:nvSpPr>
          <p:cNvPr id="4" name="Shape 2"/>
          <p:cNvSpPr/>
          <p:nvPr/>
        </p:nvSpPr>
        <p:spPr>
          <a:xfrm>
            <a:off x="502920" y="1417320"/>
            <a:ext cx="2624328" cy="1600200"/>
          </a:xfrm>
          <a:prstGeom prst="roundRect">
            <a:avLst>
              <a:gd name="adj" fmla="val 4000"/>
            </a:avLst>
          </a:prstGeom>
          <a:solidFill>
            <a:srgbClr val="1F3D52"/>
          </a:solidFill>
          <a:ln/>
          <a:effectLst>
            <a:outerShdw sx="100000" sy="100000" kx="0" ky="0" algn="bl" rotWithShape="0" blurRad="88900" dist="25400" dir="2700000">
              <a:srgbClr val="000000">
                <a:alpha val="14000"/>
              </a:srgbClr>
            </a:outerShdw>
          </a:effectLst>
        </p:spPr>
      </p:sp>
      <p:sp>
        <p:nvSpPr>
          <p:cNvPr id="5" name="Shape 3"/>
          <p:cNvSpPr/>
          <p:nvPr/>
        </p:nvSpPr>
        <p:spPr>
          <a:xfrm>
            <a:off x="704088" y="1600200"/>
            <a:ext cx="384048" cy="384048"/>
          </a:xfrm>
          <a:prstGeom prst="ellipse">
            <a:avLst/>
          </a:prstGeom>
          <a:solidFill>
            <a:srgbClr val="9FC0D4"/>
          </a:solidFill>
          <a:ln/>
        </p:spPr>
      </p:sp>
      <p:sp>
        <p:nvSpPr>
          <p:cNvPr id="6" name="Text 4"/>
          <p:cNvSpPr/>
          <p:nvPr/>
        </p:nvSpPr>
        <p:spPr>
          <a:xfrm>
            <a:off x="704088" y="1600200"/>
            <a:ext cx="384048" cy="384048"/>
          </a:xfrm>
          <a:prstGeom prst="rect">
            <a:avLst/>
          </a:prstGeom>
          <a:noFill/>
          <a:ln/>
        </p:spPr>
        <p:txBody>
          <a:bodyPr wrap="square" lIns="0" tIns="0" rIns="0" bIns="0" rtlCol="0" anchor="ctr"/>
          <a:lstStyle/>
          <a:p>
            <a:pPr algn="ctr" indent="0" marL="0">
              <a:buNone/>
            </a:pPr>
            <a:r>
              <a:rPr lang="en-US" sz="1600" b="1" dirty="0">
                <a:solidFill>
                  <a:srgbClr val="16303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197864" y="1636776"/>
            <a:ext cx="182880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Le serious game réel</a:t>
            </a:r>
            <a:endParaRPr lang="en-US" sz="1350" dirty="0"/>
          </a:p>
        </p:txBody>
      </p:sp>
      <p:sp>
        <p:nvSpPr>
          <p:cNvPr id="8" name="Text 6"/>
          <p:cNvSpPr/>
          <p:nvPr/>
        </p:nvSpPr>
        <p:spPr>
          <a:xfrm>
            <a:off x="704088" y="2121408"/>
            <a:ext cx="2240280" cy="777240"/>
          </a:xfrm>
          <a:prstGeom prst="rect">
            <a:avLst/>
          </a:prstGeom>
          <a:noFill/>
          <a:ln/>
        </p:spPr>
        <p:txBody>
          <a:bodyPr wrap="square" lIns="0" tIns="0" rIns="0" bIns="0" rtlCol="0" anchor="ctr"/>
          <a:lstStyle/>
          <a:p>
            <a:pPr indent="0" marL="0">
              <a:lnSpc>
                <a:spcPct val="108000"/>
              </a:lnSpc>
              <a:buNone/>
            </a:pPr>
            <a:r>
              <a:rPr lang="en-US" sz="1100" dirty="0">
                <a:solidFill>
                  <a:srgbClr val="B9CDDA"/>
                </a:solidFill>
                <a:latin typeface="Calibri" pitchFamily="34" charset="0"/>
                <a:ea typeface="Calibri" pitchFamily="34" charset="-122"/>
                <a:cs typeface="Calibri" pitchFamily="34" charset="-120"/>
              </a:rPr>
              <a:t>de vrais joueurs sur l'outil — le banc d'essai final.</a:t>
            </a:r>
            <a:endParaRPr lang="en-US" sz="1100" dirty="0"/>
          </a:p>
        </p:txBody>
      </p:sp>
      <p:sp>
        <p:nvSpPr>
          <p:cNvPr id="9" name="Shape 7"/>
          <p:cNvSpPr/>
          <p:nvPr/>
        </p:nvSpPr>
        <p:spPr>
          <a:xfrm>
            <a:off x="3310128" y="1417320"/>
            <a:ext cx="2624328" cy="1600200"/>
          </a:xfrm>
          <a:prstGeom prst="roundRect">
            <a:avLst>
              <a:gd name="adj" fmla="val 4000"/>
            </a:avLst>
          </a:prstGeom>
          <a:solidFill>
            <a:srgbClr val="1F3D52"/>
          </a:solidFill>
          <a:ln/>
          <a:effectLst>
            <a:outerShdw sx="100000" sy="100000" kx="0" ky="0" algn="bl" rotWithShape="0" blurRad="88900" dist="25400" dir="2700000">
              <a:srgbClr val="000000">
                <a:alpha val="14000"/>
              </a:srgbClr>
            </a:outerShdw>
          </a:effectLst>
        </p:spPr>
      </p:sp>
      <p:sp>
        <p:nvSpPr>
          <p:cNvPr id="10" name="Shape 8"/>
          <p:cNvSpPr/>
          <p:nvPr/>
        </p:nvSpPr>
        <p:spPr>
          <a:xfrm>
            <a:off x="3511296" y="1600200"/>
            <a:ext cx="384048" cy="384048"/>
          </a:xfrm>
          <a:prstGeom prst="ellipse">
            <a:avLst/>
          </a:prstGeom>
          <a:solidFill>
            <a:srgbClr val="9FC0D4"/>
          </a:solidFill>
          <a:ln/>
        </p:spPr>
      </p:sp>
      <p:sp>
        <p:nvSpPr>
          <p:cNvPr id="11" name="Text 9"/>
          <p:cNvSpPr/>
          <p:nvPr/>
        </p:nvSpPr>
        <p:spPr>
          <a:xfrm>
            <a:off x="3511296" y="1600200"/>
            <a:ext cx="384048" cy="384048"/>
          </a:xfrm>
          <a:prstGeom prst="rect">
            <a:avLst/>
          </a:prstGeom>
          <a:noFill/>
          <a:ln/>
        </p:spPr>
        <p:txBody>
          <a:bodyPr wrap="square" lIns="0" tIns="0" rIns="0" bIns="0" rtlCol="0" anchor="ctr"/>
          <a:lstStyle/>
          <a:p>
            <a:pPr algn="ctr" indent="0" marL="0">
              <a:buNone/>
            </a:pPr>
            <a:r>
              <a:rPr lang="en-US" sz="1600" b="1" dirty="0">
                <a:solidFill>
                  <a:srgbClr val="16303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005072" y="1636776"/>
            <a:ext cx="182880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Recalibrer</a:t>
            </a:r>
            <a:endParaRPr lang="en-US" sz="1350" dirty="0"/>
          </a:p>
        </p:txBody>
      </p:sp>
      <p:sp>
        <p:nvSpPr>
          <p:cNvPr id="13" name="Text 11"/>
          <p:cNvSpPr/>
          <p:nvPr/>
        </p:nvSpPr>
        <p:spPr>
          <a:xfrm>
            <a:off x="3511296" y="2121408"/>
            <a:ext cx="2240280" cy="777240"/>
          </a:xfrm>
          <a:prstGeom prst="rect">
            <a:avLst/>
          </a:prstGeom>
          <a:noFill/>
          <a:ln/>
        </p:spPr>
        <p:txBody>
          <a:bodyPr wrap="square" lIns="0" tIns="0" rIns="0" bIns="0" rtlCol="0" anchor="ctr"/>
          <a:lstStyle/>
          <a:p>
            <a:pPr indent="0" marL="0">
              <a:lnSpc>
                <a:spcPct val="108000"/>
              </a:lnSpc>
              <a:buNone/>
            </a:pPr>
            <a:r>
              <a:rPr lang="en-US" sz="1100" dirty="0">
                <a:solidFill>
                  <a:srgbClr val="B9CDDA"/>
                </a:solidFill>
                <a:latin typeface="Calibri" pitchFamily="34" charset="0"/>
                <a:ea typeface="Calibri" pitchFamily="34" charset="-122"/>
                <a:cs typeface="Calibri" pitchFamily="34" charset="-120"/>
              </a:rPr>
              <a:t>ajuster les coefficients sur des comportements constatés, plus seulement sur la littérature.</a:t>
            </a:r>
            <a:endParaRPr lang="en-US" sz="1100" dirty="0"/>
          </a:p>
        </p:txBody>
      </p:sp>
      <p:sp>
        <p:nvSpPr>
          <p:cNvPr id="14" name="Shape 12"/>
          <p:cNvSpPr/>
          <p:nvPr/>
        </p:nvSpPr>
        <p:spPr>
          <a:xfrm>
            <a:off x="6117336" y="1417320"/>
            <a:ext cx="2624328" cy="1600200"/>
          </a:xfrm>
          <a:prstGeom prst="roundRect">
            <a:avLst>
              <a:gd name="adj" fmla="val 4000"/>
            </a:avLst>
          </a:prstGeom>
          <a:solidFill>
            <a:srgbClr val="1F3D52"/>
          </a:solidFill>
          <a:ln/>
          <a:effectLst>
            <a:outerShdw sx="100000" sy="100000" kx="0" ky="0" algn="bl" rotWithShape="0" blurRad="88900" dist="25400" dir="2700000">
              <a:srgbClr val="000000">
                <a:alpha val="14000"/>
              </a:srgbClr>
            </a:outerShdw>
          </a:effectLst>
        </p:spPr>
      </p:sp>
      <p:sp>
        <p:nvSpPr>
          <p:cNvPr id="15" name="Shape 13"/>
          <p:cNvSpPr/>
          <p:nvPr/>
        </p:nvSpPr>
        <p:spPr>
          <a:xfrm>
            <a:off x="6318504" y="1600200"/>
            <a:ext cx="384048" cy="384048"/>
          </a:xfrm>
          <a:prstGeom prst="ellipse">
            <a:avLst/>
          </a:prstGeom>
          <a:solidFill>
            <a:srgbClr val="9FC0D4"/>
          </a:solidFill>
          <a:ln/>
        </p:spPr>
      </p:sp>
      <p:sp>
        <p:nvSpPr>
          <p:cNvPr id="16" name="Text 14"/>
          <p:cNvSpPr/>
          <p:nvPr/>
        </p:nvSpPr>
        <p:spPr>
          <a:xfrm>
            <a:off x="6318504" y="1600200"/>
            <a:ext cx="384048" cy="384048"/>
          </a:xfrm>
          <a:prstGeom prst="rect">
            <a:avLst/>
          </a:prstGeom>
          <a:noFill/>
          <a:ln/>
        </p:spPr>
        <p:txBody>
          <a:bodyPr wrap="square" lIns="0" tIns="0" rIns="0" bIns="0" rtlCol="0" anchor="ctr"/>
          <a:lstStyle/>
          <a:p>
            <a:pPr algn="ctr" indent="0" marL="0">
              <a:buNone/>
            </a:pPr>
            <a:r>
              <a:rPr lang="en-US" sz="1600" b="1" dirty="0">
                <a:solidFill>
                  <a:srgbClr val="16303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6812280" y="1636776"/>
            <a:ext cx="182880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Au-delà du jeu</a:t>
            </a:r>
            <a:endParaRPr lang="en-US" sz="1350" dirty="0"/>
          </a:p>
        </p:txBody>
      </p:sp>
      <p:sp>
        <p:nvSpPr>
          <p:cNvPr id="18" name="Text 16"/>
          <p:cNvSpPr/>
          <p:nvPr/>
        </p:nvSpPr>
        <p:spPr>
          <a:xfrm>
            <a:off x="6318504" y="2121408"/>
            <a:ext cx="2240280" cy="777240"/>
          </a:xfrm>
          <a:prstGeom prst="rect">
            <a:avLst/>
          </a:prstGeom>
          <a:noFill/>
          <a:ln/>
        </p:spPr>
        <p:txBody>
          <a:bodyPr wrap="square" lIns="0" tIns="0" rIns="0" bIns="0" rtlCol="0" anchor="ctr"/>
          <a:lstStyle/>
          <a:p>
            <a:pPr indent="0" marL="0">
              <a:lnSpc>
                <a:spcPct val="108000"/>
              </a:lnSpc>
              <a:buNone/>
            </a:pPr>
            <a:r>
              <a:rPr lang="en-US" sz="1100" dirty="0">
                <a:solidFill>
                  <a:srgbClr val="B9CDDA"/>
                </a:solidFill>
                <a:latin typeface="Calibri" pitchFamily="34" charset="0"/>
                <a:ea typeface="Calibri" pitchFamily="34" charset="-122"/>
                <a:cs typeface="Calibri" pitchFamily="34" charset="-120"/>
              </a:rPr>
              <a:t>du support pédagogique vers l'accompagnement de vraies chaînes d'approvisionnement.</a:t>
            </a:r>
            <a:endParaRPr lang="en-US" sz="1100" dirty="0"/>
          </a:p>
        </p:txBody>
      </p:sp>
      <p:sp>
        <p:nvSpPr>
          <p:cNvPr id="19" name="Text 17"/>
          <p:cNvSpPr/>
          <p:nvPr/>
        </p:nvSpPr>
        <p:spPr>
          <a:xfrm>
            <a:off x="502920" y="3246120"/>
            <a:ext cx="8138160" cy="365760"/>
          </a:xfrm>
          <a:prstGeom prst="rect">
            <a:avLst/>
          </a:prstGeom>
          <a:noFill/>
          <a:ln/>
        </p:spPr>
        <p:txBody>
          <a:bodyPr wrap="square" lIns="0" tIns="0" rIns="0" bIns="0" rtlCol="0" anchor="ctr"/>
          <a:lstStyle/>
          <a:p>
            <a:pPr indent="0" marL="0">
              <a:buNone/>
            </a:pPr>
            <a:r>
              <a:rPr lang="en-US" sz="1200" dirty="0">
                <a:solidFill>
                  <a:srgbClr val="B9CDDA"/>
                </a:solidFill>
                <a:latin typeface="Calibri" pitchFamily="34" charset="0"/>
                <a:ea typeface="Calibri" pitchFamily="34" charset="-122"/>
                <a:cs typeface="Calibri" pitchFamily="34" charset="-120"/>
              </a:rPr>
              <a:t>Pistes ouvertes ensuite : indicateurs de résilience (temps de survie et de récupération), centre d'alertes, usage multi-postes.</a:t>
            </a:r>
            <a:endParaRPr lang="en-US" sz="1200" dirty="0"/>
          </a:p>
        </p:txBody>
      </p:sp>
      <p:sp>
        <p:nvSpPr>
          <p:cNvPr id="20" name="Text 18"/>
          <p:cNvSpPr/>
          <p:nvPr/>
        </p:nvSpPr>
        <p:spPr>
          <a:xfrm>
            <a:off x="502920" y="3840480"/>
            <a:ext cx="8138160" cy="822960"/>
          </a:xfrm>
          <a:prstGeom prst="rect">
            <a:avLst/>
          </a:prstGeom>
          <a:noFill/>
          <a:ln/>
        </p:spPr>
        <p:txBody>
          <a:bodyPr wrap="square" lIns="0" tIns="0" rIns="0" bIns="0" rtlCol="0" anchor="ctr"/>
          <a:lstStyle/>
          <a:p>
            <a:pPr algn="ctr" indent="0" marL="0">
              <a:buNone/>
            </a:pPr>
            <a:r>
              <a:rPr lang="en-US" sz="2000" b="1" i="1" dirty="0">
                <a:solidFill>
                  <a:srgbClr val="FFFFFF"/>
                </a:solidFill>
                <a:latin typeface="Calibri" pitchFamily="34" charset="0"/>
                <a:ea typeface="Calibri" pitchFamily="34" charset="-122"/>
                <a:cs typeface="Calibri" pitchFamily="34" charset="-120"/>
              </a:rPr>
              <a:t>Et dans vos organisations — où est l'écart entre ce qu'on déclare et ce qui se passe ?</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SupplyScore — voir ce que les tableaux de bord ne voient pas</dc:title>
  <dc:subject>PptxGenJS Presentation</dc:subject>
  <dc:creator>John Hoarau</dc:creator>
  <cp:lastModifiedBy>John Hoarau</cp:lastModifiedBy>
  <cp:revision>1</cp:revision>
  <dcterms:created xsi:type="dcterms:W3CDTF">2026-06-11T19:26:19Z</dcterms:created>
  <dcterms:modified xsi:type="dcterms:W3CDTF">2026-06-11T19:26:19Z</dcterms:modified>
</cp:coreProperties>
</file>