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56" r:id="rId2"/>
    <p:sldId id="276" r:id="rId3"/>
    <p:sldId id="258" r:id="rId4"/>
    <p:sldId id="259" r:id="rId5"/>
    <p:sldId id="261" r:id="rId11"/>
    <p:sldId id="282" r:id="rId34"/>
    <p:sldId id="257" r:id="rId6"/>
    <p:sldId id="262" r:id="rId7"/>
    <p:sldId id="263" r:id="rId8"/>
    <p:sldId id="278" r:id="rId9"/>
    <p:sldId id="260" r:id="rId10"/>
    <p:sldId id="264" r:id="rId12"/>
    <p:sldId id="265" r:id="rId13"/>
    <p:sldId id="266" r:id="rId14"/>
    <p:sldId id="267" r:id="rId15"/>
    <p:sldId id="281" r:id="rId33"/>
    <p:sldId id="268" r:id="rId16"/>
    <p:sldId id="277" r:id="rId17"/>
    <p:sldId id="269" r:id="rId18"/>
    <p:sldId id="270" r:id="rId19"/>
    <p:sldId id="279" r:id="rId20"/>
    <p:sldId id="273" r:id="rId21"/>
    <p:sldId id="274" r:id="rId22"/>
    <p:sldId id="280" r:id="rId3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02027-8819-4ED3-9960-7C61F297AD45}" v="3" dt="2026-08-28T07:05:40.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5991" autoAdjust="0"/>
  </p:normalViewPr>
  <p:slideViewPr>
    <p:cSldViewPr snapToGrid="0" snapToObjects="1">
      <p:cViewPr varScale="1">
        <p:scale>
          <a:sx n="45" d="100"/>
          <a:sy n="45" d="100"/>
        </p:scale>
        <p:origin x="1472" y="40"/>
      </p:cViewPr>
      <p:guideLst>
        <p:guide orient="horz" pos="2160"/>
        <p:guide pos="6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5.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5.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openxmlformats.org/officeDocument/2006/relationships/slide" Target="slides/slide24.xml"/><Relationship Id="rId33" Type="http://schemas.openxmlformats.org/officeDocument/2006/relationships/slide" Target="slides/slide16.xml"/><Relationship Id="rId34"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OARAU" userId="cc79248e-21db-4cf4-a712-a028d789cdbe" providerId="ADAL" clId="{D5A722FF-F4F4-449F-8C61-E0E5924DC697}"/>
    <pc:docChg chg="custSel delSld modSld">
      <pc:chgData name="John HOARAU" userId="cc79248e-21db-4cf4-a712-a028d789cdbe" providerId="ADAL" clId="{D5A722FF-F4F4-449F-8C61-E0E5924DC697}" dt="2026-08-28T09:59:14.755" v="275" actId="20577"/>
      <pc:docMkLst>
        <pc:docMk/>
      </pc:docMkLst>
      <pc:sldChg chg="addSp delSp modSp mod">
        <pc:chgData name="John HOARAU" userId="cc79248e-21db-4cf4-a712-a028d789cdbe" providerId="ADAL" clId="{D5A722FF-F4F4-449F-8C61-E0E5924DC697}" dt="2026-08-28T07:05:48.855" v="6" actId="478"/>
        <pc:sldMkLst>
          <pc:docMk/>
          <pc:sldMk cId="0" sldId="256"/>
        </pc:sldMkLst>
        <pc:spChg chg="add del mod">
          <ac:chgData name="John HOARAU" userId="cc79248e-21db-4cf4-a712-a028d789cdbe" providerId="ADAL" clId="{D5A722FF-F4F4-449F-8C61-E0E5924DC697}" dt="2026-08-28T07:05:48.855" v="6" actId="478"/>
          <ac:spMkLst>
            <pc:docMk/>
            <pc:sldMk cId="0" sldId="256"/>
            <ac:spMk id="20" creationId="{F4A83CD7-27C8-38FE-EBF5-D856B935C4A6}"/>
          </ac:spMkLst>
        </pc:spChg>
      </pc:sldChg>
      <pc:sldChg chg="modNotesTx">
        <pc:chgData name="John HOARAU" userId="cc79248e-21db-4cf4-a712-a028d789cdbe" providerId="ADAL" clId="{D5A722FF-F4F4-449F-8C61-E0E5924DC697}" dt="2026-08-28T09:59:14.755" v="275" actId="20577"/>
        <pc:sldMkLst>
          <pc:docMk/>
          <pc:sldMk cId="0" sldId="259"/>
        </pc:sldMkLst>
      </pc:sldChg>
      <pc:sldChg chg="del">
        <pc:chgData name="John HOARAU" userId="cc79248e-21db-4cf4-a712-a028d789cdbe" providerId="ADAL" clId="{D5A722FF-F4F4-449F-8C61-E0E5924DC697}" dt="2026-08-28T09:37:07.927" v="7" actId="47"/>
        <pc:sldMkLst>
          <pc:docMk/>
          <pc:sldMk cId="0" sldId="271"/>
        </pc:sldMkLst>
      </pc:sldChg>
      <pc:sldChg chg="addSp delSp modSp">
        <pc:chgData name="John HOARAU" userId="cc79248e-21db-4cf4-a712-a028d789cdbe" providerId="ADAL" clId="{D5A722FF-F4F4-449F-8C61-E0E5924DC697}" dt="2026-08-27T13:16:18.985" v="3"/>
        <pc:sldMkLst>
          <pc:docMk/>
          <pc:sldMk cId="0" sldId="274"/>
        </pc:sldMkLst>
        <pc:spChg chg="add del mod">
          <ac:chgData name="John HOARAU" userId="cc79248e-21db-4cf4-a712-a028d789cdbe" providerId="ADAL" clId="{D5A722FF-F4F4-449F-8C61-E0E5924DC697}" dt="2026-08-27T13:16:17.758" v="1"/>
          <ac:spMkLst>
            <pc:docMk/>
            <pc:sldMk cId="0" sldId="274"/>
            <ac:spMk id="58" creationId="{5F116C70-5289-BCDC-FA33-FB40375BB43E}"/>
          </ac:spMkLst>
        </pc:spChg>
        <pc:spChg chg="add del mod">
          <ac:chgData name="John HOARAU" userId="cc79248e-21db-4cf4-a712-a028d789cdbe" providerId="ADAL" clId="{D5A722FF-F4F4-449F-8C61-E0E5924DC697}" dt="2026-08-27T13:16:18.985" v="3"/>
          <ac:spMkLst>
            <pc:docMk/>
            <pc:sldMk cId="0" sldId="274"/>
            <ac:spMk id="60" creationId="{020A0877-856D-66B9-B4F2-DC5B3CAD29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5E2E08-6097-60F5-19B4-BF9DCFFB7763}"/>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BCCB1A4-C85B-DE7B-5163-BA3F72307712}"/>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E31A5BB8-E426-4656-9173-776C5DA55679}" type="datetimeFigureOut">
              <a:rPr lang="fr-FR" smtClean="0"/>
              <a:t>28/08/2026</a:t>
            </a:fld>
            <a:endParaRPr lang="fr-FR"/>
          </a:p>
        </p:txBody>
      </p:sp>
      <p:sp>
        <p:nvSpPr>
          <p:cNvPr id="4" name="Espace réservé du pied de page 3">
            <a:extLst>
              <a:ext uri="{FF2B5EF4-FFF2-40B4-BE49-F238E27FC236}">
                <a16:creationId xmlns:a16="http://schemas.microsoft.com/office/drawing/2014/main" id="{53833F8E-4375-6769-DF7C-48EE4BF698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C3C9AB5-0CA6-A96C-560A-94DCCE96E935}"/>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90945F58-A9FB-42E5-9A72-A1A889672332}" type="slidenum">
              <a:rPr lang="fr-FR" smtClean="0"/>
              <a:t>‹N°›</a:t>
            </a:fld>
            <a:endParaRPr lang="fr-FR"/>
          </a:p>
        </p:txBody>
      </p:sp>
    </p:spTree>
    <p:extLst>
      <p:ext uri="{BB962C8B-B14F-4D97-AF65-F5344CB8AC3E}">
        <p14:creationId xmlns:p14="http://schemas.microsoft.com/office/powerpoint/2010/main" val="72528692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4799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t>
            </a:r>
            <a:r>
              <a:rPr lang="en-US" dirty="0" err="1"/>
              <a:t>Intership</a:t>
            </a:r>
            <a:r>
              <a:rPr lang="en-US" dirty="0"/>
              <a:t>, ALTEN SO, DIN , TLSE)</a:t>
            </a:r>
          </a:p>
          <a:p>
            <a:r>
              <a:rPr lang="en-US" dirty="0"/>
              <a:t>1 number to open</a:t>
            </a:r>
          </a:p>
          <a:p>
            <a:r>
              <a:rPr lang="fr-FR" dirty="0"/>
              <a:t>8 </a:t>
            </a:r>
            <a:r>
              <a:rPr lang="fr-FR" dirty="0" err="1"/>
              <a:t>turns</a:t>
            </a:r>
            <a:r>
              <a:rPr lang="fr-FR" dirty="0"/>
              <a:t> </a:t>
            </a:r>
            <a:r>
              <a:rPr lang="fr-FR" dirty="0" err="1"/>
              <a:t>before</a:t>
            </a:r>
            <a:r>
              <a:rPr lang="fr-FR" dirty="0"/>
              <a:t> a satellite manufacturer </a:t>
            </a:r>
            <a:r>
              <a:rPr lang="fr-FR" dirty="0" err="1"/>
              <a:t>missed</a:t>
            </a:r>
            <a:r>
              <a:rPr lang="fr-FR" dirty="0"/>
              <a:t> </a:t>
            </a:r>
            <a:r>
              <a:rPr lang="fr-FR" dirty="0" err="1"/>
              <a:t>its</a:t>
            </a:r>
            <a:r>
              <a:rPr lang="fr-FR" dirty="0"/>
              <a:t> </a:t>
            </a:r>
            <a:r>
              <a:rPr lang="fr-FR" dirty="0" err="1"/>
              <a:t>delivery</a:t>
            </a:r>
            <a:r>
              <a:rPr lang="fr-FR" dirty="0"/>
              <a:t> </a:t>
            </a:r>
            <a:r>
              <a:rPr lang="fr-FR" dirty="0" err="1"/>
              <a:t>commitment</a:t>
            </a:r>
            <a:r>
              <a:rPr lang="fr-FR" dirty="0"/>
              <a:t>, the </a:t>
            </a:r>
            <a:r>
              <a:rPr lang="fr-FR" dirty="0" err="1"/>
              <a:t>tool</a:t>
            </a:r>
            <a:r>
              <a:rPr lang="fr-FR" dirty="0"/>
              <a:t> I </a:t>
            </a:r>
            <a:r>
              <a:rPr lang="fr-FR" dirty="0" err="1"/>
              <a:t>built</a:t>
            </a:r>
            <a:r>
              <a:rPr lang="fr-FR" dirty="0"/>
              <a:t> </a:t>
            </a:r>
            <a:r>
              <a:rPr lang="fr-FR" dirty="0" err="1"/>
              <a:t>had</a:t>
            </a:r>
            <a:r>
              <a:rPr lang="fr-FR" dirty="0"/>
              <a:t> </a:t>
            </a:r>
            <a:r>
              <a:rPr lang="fr-FR" dirty="0" err="1"/>
              <a:t>already</a:t>
            </a:r>
            <a:r>
              <a:rPr lang="fr-FR" dirty="0"/>
              <a:t> </a:t>
            </a:r>
            <a:r>
              <a:rPr lang="fr-FR" dirty="0" err="1"/>
              <a:t>flagged</a:t>
            </a:r>
            <a:r>
              <a:rPr lang="fr-FR" dirty="0"/>
              <a:t> </a:t>
            </a:r>
            <a:r>
              <a:rPr lang="fr-FR" dirty="0" err="1"/>
              <a:t>it</a:t>
            </a:r>
            <a:r>
              <a:rPr lang="fr-FR" dirty="0"/>
              <a:t>.</a:t>
            </a:r>
          </a:p>
          <a:p>
            <a:r>
              <a:rPr lang="fr-FR" dirty="0"/>
              <a:t>At </a:t>
            </a:r>
            <a:r>
              <a:rPr lang="fr-FR" dirty="0" err="1"/>
              <a:t>that</a:t>
            </a:r>
            <a:r>
              <a:rPr lang="fr-FR" dirty="0"/>
              <a:t> moment, </a:t>
            </a:r>
            <a:r>
              <a:rPr lang="fr-FR" dirty="0" err="1"/>
              <a:t>its</a:t>
            </a:r>
            <a:r>
              <a:rPr lang="fr-FR" dirty="0"/>
              <a:t> </a:t>
            </a:r>
            <a:r>
              <a:rPr lang="fr-FR" dirty="0" err="1"/>
              <a:t>own</a:t>
            </a:r>
            <a:r>
              <a:rPr lang="fr-FR" dirty="0"/>
              <a:t> manager </a:t>
            </a:r>
            <a:r>
              <a:rPr lang="fr-FR" dirty="0" err="1"/>
              <a:t>was</a:t>
            </a:r>
            <a:r>
              <a:rPr lang="fr-FR" dirty="0"/>
              <a:t> </a:t>
            </a:r>
            <a:r>
              <a:rPr lang="fr-FR" dirty="0" err="1"/>
              <a:t>declaring</a:t>
            </a:r>
            <a:r>
              <a:rPr lang="fr-FR" dirty="0"/>
              <a:t> an </a:t>
            </a:r>
            <a:r>
              <a:rPr lang="fr-FR" dirty="0" err="1"/>
              <a:t>urgency</a:t>
            </a:r>
            <a:r>
              <a:rPr lang="fr-FR" dirty="0"/>
              <a:t> </a:t>
            </a:r>
            <a:r>
              <a:rPr lang="fr-FR" dirty="0" err="1"/>
              <a:t>near</a:t>
            </a:r>
            <a:r>
              <a:rPr lang="fr-FR" dirty="0"/>
              <a:t> inexistent</a:t>
            </a:r>
          </a:p>
          <a:p>
            <a:r>
              <a:rPr lang="fr-FR" dirty="0" err="1"/>
              <a:t>Flagging</a:t>
            </a:r>
            <a:r>
              <a:rPr lang="fr-FR" dirty="0"/>
              <a:t>, </a:t>
            </a:r>
            <a:r>
              <a:rPr lang="fr-FR" dirty="0" err="1"/>
              <a:t>mesuring</a:t>
            </a:r>
            <a:r>
              <a:rPr lang="fr-FR" dirty="0"/>
              <a:t>, </a:t>
            </a:r>
            <a:r>
              <a:rPr lang="fr-FR" dirty="0" err="1"/>
              <a:t>forecasting</a:t>
            </a:r>
            <a:r>
              <a:rPr lang="fr-FR" dirty="0"/>
              <a:t> </a:t>
            </a:r>
            <a:r>
              <a:rPr lang="fr-FR" dirty="0" err="1"/>
              <a:t>that</a:t>
            </a:r>
            <a:r>
              <a:rPr lang="fr-FR" dirty="0"/>
              <a:t> gap </a:t>
            </a:r>
            <a:r>
              <a:rPr lang="fr-FR" dirty="0" err="1"/>
              <a:t>is</a:t>
            </a:r>
            <a:r>
              <a:rPr lang="fr-FR" dirty="0"/>
              <a:t> </a:t>
            </a:r>
            <a:r>
              <a:rPr lang="fr-FR" dirty="0" err="1"/>
              <a:t>what</a:t>
            </a:r>
            <a:r>
              <a:rPr lang="fr-FR" dirty="0"/>
              <a:t> </a:t>
            </a:r>
            <a:r>
              <a:rPr lang="fr-FR" dirty="0" err="1"/>
              <a:t>this</a:t>
            </a:r>
            <a:r>
              <a:rPr lang="fr-FR" dirty="0"/>
              <a:t> mission </a:t>
            </a:r>
            <a:r>
              <a:rPr lang="fr-FR" dirty="0" err="1"/>
              <a:t>is</a:t>
            </a:r>
            <a:r>
              <a:rPr lang="fr-FR" dirty="0"/>
              <a:t> </a:t>
            </a:r>
            <a:r>
              <a:rPr lang="fr-FR" dirty="0" err="1"/>
              <a:t>realy</a:t>
            </a:r>
            <a:r>
              <a:rPr lang="fr-FR" dirty="0"/>
              <a:t> about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4446-C892-6494-B2A4-C9F697382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0CE1B-5B2F-7817-B4E0-77374B520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78180-C77E-1C8E-56F5-8826B1B1FB04}"/>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68555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ALTEN Eng/Tech Consulting group. </a:t>
            </a:r>
            <a:br>
              <a:rPr lang="en-US" dirty="0"/>
            </a:br>
            <a:r>
              <a:rPr lang="en-US" dirty="0"/>
              <a:t>Sell Eng expertise rather than product</a:t>
            </a:r>
          </a:p>
          <a:p>
            <a:r>
              <a:rPr lang="en-US" dirty="0"/>
              <a:t>Consulting grp work for many clients, they see the </a:t>
            </a:r>
            <a:r>
              <a:rPr lang="en-US" dirty="0" err="1"/>
              <a:t>redudency</a:t>
            </a:r>
            <a:r>
              <a:rPr lang="en-US" dirty="0"/>
              <a:t> in the </a:t>
            </a:r>
            <a:r>
              <a:rPr lang="en-US" dirty="0" err="1"/>
              <a:t>diffuculty</a:t>
            </a:r>
            <a:r>
              <a:rPr lang="en-US" dirty="0"/>
              <a:t> </a:t>
            </a:r>
            <a:r>
              <a:rPr lang="en-US" dirty="0" err="1"/>
              <a:t>companys</a:t>
            </a:r>
            <a:r>
              <a:rPr lang="en-US" dirty="0"/>
              <a:t> are facing</a:t>
            </a:r>
          </a:p>
          <a:p>
            <a:r>
              <a:rPr lang="fr-FR" dirty="0"/>
              <a:t>That how  </a:t>
            </a:r>
            <a:r>
              <a:rPr lang="fr-FR" dirty="0" err="1"/>
              <a:t>problem</a:t>
            </a:r>
            <a:r>
              <a:rPr lang="fr-FR" dirty="0"/>
              <a:t> </a:t>
            </a:r>
            <a:r>
              <a:rPr lang="fr-FR" dirty="0" err="1"/>
              <a:t>gets</a:t>
            </a:r>
            <a:r>
              <a:rPr lang="fr-FR" dirty="0"/>
              <a:t> </a:t>
            </a:r>
            <a:r>
              <a:rPr lang="fr-FR" dirty="0" err="1"/>
              <a:t>recognised</a:t>
            </a:r>
            <a:r>
              <a:rPr lang="fr-FR" dirty="0"/>
              <a:t> as </a:t>
            </a:r>
            <a:r>
              <a:rPr lang="fr-FR" dirty="0" err="1"/>
              <a:t>belonging</a:t>
            </a:r>
            <a:r>
              <a:rPr lang="fr-FR" dirty="0"/>
              <a:t> to the </a:t>
            </a:r>
            <a:r>
              <a:rPr lang="fr-FR" dirty="0" err="1"/>
              <a:t>industry</a:t>
            </a:r>
            <a:r>
              <a:rPr lang="fr-FR" dirty="0"/>
              <a:t> </a:t>
            </a:r>
            <a:r>
              <a:rPr lang="fr-FR" dirty="0" err="1"/>
              <a:t>rather</a:t>
            </a:r>
            <a:r>
              <a:rPr lang="fr-FR" dirty="0"/>
              <a:t> </a:t>
            </a:r>
            <a:r>
              <a:rPr lang="fr-FR" dirty="0" err="1"/>
              <a:t>than</a:t>
            </a:r>
            <a:r>
              <a:rPr lang="fr-FR" dirty="0"/>
              <a:t> to a </a:t>
            </a:r>
            <a:r>
              <a:rPr lang="fr-FR" dirty="0" err="1"/>
              <a:t>customer</a:t>
            </a:r>
            <a:r>
              <a:rPr lang="fr-FR" dirty="0"/>
              <a:t>.</a:t>
            </a:r>
          </a:p>
          <a:p>
            <a:endParaRPr lang="fr-FR" dirty="0"/>
          </a:p>
          <a:p>
            <a:r>
              <a:rPr lang="fr-FR" dirty="0"/>
              <a:t>The program SGSC </a:t>
            </a:r>
            <a:r>
              <a:rPr lang="fr-FR" dirty="0" err="1"/>
              <a:t>aim</a:t>
            </a:r>
            <a:r>
              <a:rPr lang="fr-FR" dirty="0"/>
              <a:t> to </a:t>
            </a:r>
            <a:r>
              <a:rPr lang="fr-FR" dirty="0" err="1"/>
              <a:t>unite</a:t>
            </a:r>
            <a:r>
              <a:rPr lang="fr-FR" dirty="0"/>
              <a:t> </a:t>
            </a:r>
            <a:r>
              <a:rPr lang="fr-FR" dirty="0" err="1"/>
              <a:t>Lean,Green,Predictive</a:t>
            </a:r>
            <a:r>
              <a:rPr lang="fr-FR" dirty="0"/>
              <a:t> in a DT. </a:t>
            </a:r>
            <a:r>
              <a:rPr lang="fr-FR" dirty="0" err="1"/>
              <a:t>My</a:t>
            </a:r>
            <a:r>
              <a:rPr lang="fr-FR" dirty="0"/>
              <a:t> </a:t>
            </a:r>
            <a:r>
              <a:rPr lang="fr-FR" dirty="0" err="1"/>
              <a:t>work</a:t>
            </a:r>
            <a:r>
              <a:rPr lang="fr-FR" dirty="0"/>
              <a:t> </a:t>
            </a:r>
            <a:r>
              <a:rPr lang="fr-FR" dirty="0" err="1"/>
              <a:t>sit</a:t>
            </a:r>
            <a:r>
              <a:rPr lang="fr-FR" dirty="0"/>
              <a:t> in the 3rd one</a:t>
            </a:r>
          </a:p>
          <a:p>
            <a:endParaRPr lang="fr-FR" dirty="0"/>
          </a:p>
          <a:p>
            <a:r>
              <a:rPr lang="fr-FR" dirty="0" err="1"/>
              <a:t>Its</a:t>
            </a:r>
            <a:r>
              <a:rPr lang="fr-FR" dirty="0"/>
              <a:t> central artefact </a:t>
            </a:r>
            <a:r>
              <a:rPr lang="fr-FR" dirty="0" err="1"/>
              <a:t>is</a:t>
            </a:r>
            <a:r>
              <a:rPr lang="fr-FR" dirty="0"/>
              <a:t> DISCO, a </a:t>
            </a:r>
            <a:r>
              <a:rPr lang="fr-FR" dirty="0" err="1"/>
              <a:t>serious</a:t>
            </a:r>
            <a:r>
              <a:rPr lang="fr-FR" dirty="0"/>
              <a:t> </a:t>
            </a:r>
            <a:r>
              <a:rPr lang="fr-FR" dirty="0" err="1"/>
              <a:t>game</a:t>
            </a:r>
            <a:r>
              <a:rPr lang="fr-FR" dirty="0"/>
              <a:t> and digital </a:t>
            </a:r>
            <a:r>
              <a:rPr lang="fr-FR" dirty="0" err="1"/>
              <a:t>twin</a:t>
            </a:r>
            <a:r>
              <a:rPr lang="fr-FR" dirty="0"/>
              <a:t> </a:t>
            </a:r>
            <a:r>
              <a:rPr lang="fr-FR" dirty="0" err="1"/>
              <a:t>covering</a:t>
            </a:r>
            <a:r>
              <a:rPr lang="fr-FR" dirty="0"/>
              <a:t> </a:t>
            </a:r>
            <a:r>
              <a:rPr lang="fr-FR" dirty="0" err="1"/>
              <a:t>twenty-two</a:t>
            </a:r>
            <a:r>
              <a:rPr lang="fr-FR" dirty="0"/>
              <a:t> </a:t>
            </a:r>
            <a:r>
              <a:rPr lang="fr-FR" dirty="0" err="1"/>
              <a:t>suppliers</a:t>
            </a:r>
            <a:r>
              <a:rPr lang="fr-FR" dirty="0"/>
              <a:t>.</a:t>
            </a:r>
          </a:p>
          <a:p>
            <a:r>
              <a:rPr lang="fr-FR" dirty="0" err="1"/>
              <a:t>Earlier</a:t>
            </a:r>
            <a:r>
              <a:rPr lang="fr-FR" dirty="0"/>
              <a:t> </a:t>
            </a:r>
            <a:r>
              <a:rPr lang="fr-FR" dirty="0" err="1"/>
              <a:t>internships</a:t>
            </a:r>
            <a:r>
              <a:rPr lang="fr-FR" dirty="0"/>
              <a:t> </a:t>
            </a:r>
            <a:r>
              <a:rPr lang="fr-FR" dirty="0" err="1"/>
              <a:t>built</a:t>
            </a:r>
            <a:r>
              <a:rPr lang="fr-FR" dirty="0"/>
              <a:t> the </a:t>
            </a:r>
            <a:r>
              <a:rPr lang="fr-FR" dirty="0" err="1"/>
              <a:t>routing</a:t>
            </a:r>
            <a:r>
              <a:rPr lang="fr-FR" dirty="0"/>
              <a:t>, the </a:t>
            </a:r>
            <a:r>
              <a:rPr lang="fr-FR" dirty="0" err="1"/>
              <a:t>risk</a:t>
            </a:r>
            <a:r>
              <a:rPr lang="fr-FR" dirty="0"/>
              <a:t> scoring, the </a:t>
            </a:r>
            <a:r>
              <a:rPr lang="fr-FR" dirty="0" err="1"/>
              <a:t>carbon</a:t>
            </a:r>
            <a:r>
              <a:rPr lang="fr-FR" dirty="0"/>
              <a:t> and the transport</a:t>
            </a:r>
          </a:p>
          <a:p>
            <a:endParaRPr lang="fr-FR" dirty="0"/>
          </a:p>
          <a:p>
            <a:r>
              <a:rPr lang="fr-FR" dirty="0"/>
              <a:t>Not one of </a:t>
            </a:r>
            <a:r>
              <a:rPr lang="fr-FR" dirty="0" err="1"/>
              <a:t>them</a:t>
            </a:r>
            <a:r>
              <a:rPr lang="fr-FR" dirty="0"/>
              <a:t> </a:t>
            </a:r>
            <a:r>
              <a:rPr lang="fr-FR" dirty="0" err="1"/>
              <a:t>computes</a:t>
            </a:r>
            <a:r>
              <a:rPr lang="fr-FR" dirty="0"/>
              <a:t> </a:t>
            </a:r>
            <a:r>
              <a:rPr lang="fr-FR" dirty="0" err="1"/>
              <a:t>urgency</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a:t>
            </a:r>
            <a:r>
              <a:rPr lang="fr-FR" dirty="0" err="1"/>
              <a:t>coordinator</a:t>
            </a:r>
            <a:r>
              <a:rPr lang="fr-FR" dirty="0"/>
              <a:t> opens the </a:t>
            </a:r>
            <a:r>
              <a:rPr lang="fr-FR" dirty="0" err="1"/>
              <a:t>week</a:t>
            </a:r>
            <a:r>
              <a:rPr lang="fr-FR" dirty="0"/>
              <a:t> </a:t>
            </a:r>
            <a:r>
              <a:rPr lang="fr-FR" dirty="0" err="1"/>
              <a:t>with</a:t>
            </a:r>
            <a:r>
              <a:rPr lang="fr-FR" dirty="0"/>
              <a:t> a </a:t>
            </a:r>
            <a:r>
              <a:rPr lang="fr-FR" dirty="0" err="1"/>
              <a:t>list</a:t>
            </a:r>
            <a:r>
              <a:rPr lang="fr-FR" dirty="0"/>
              <a:t> of </a:t>
            </a:r>
            <a:r>
              <a:rPr lang="fr-FR" dirty="0" err="1"/>
              <a:t>nodes</a:t>
            </a:r>
            <a:r>
              <a:rPr lang="fr-FR" dirty="0"/>
              <a:t> and a </a:t>
            </a:r>
            <a:r>
              <a:rPr lang="fr-FR" dirty="0" err="1"/>
              <a:t>finite</a:t>
            </a:r>
            <a:r>
              <a:rPr lang="fr-FR" dirty="0"/>
              <a:t> </a:t>
            </a:r>
            <a:r>
              <a:rPr lang="fr-FR" dirty="0" err="1"/>
              <a:t>amount</a:t>
            </a:r>
            <a:r>
              <a:rPr lang="fr-FR" dirty="0"/>
              <a:t> of attention</a:t>
            </a:r>
          </a:p>
          <a:p>
            <a:r>
              <a:rPr lang="fr-FR" dirty="0" err="1"/>
              <a:t>Somewhere</a:t>
            </a:r>
            <a:r>
              <a:rPr lang="fr-FR" dirty="0"/>
              <a:t> on </a:t>
            </a:r>
            <a:r>
              <a:rPr lang="fr-FR" dirty="0" err="1"/>
              <a:t>that</a:t>
            </a:r>
            <a:r>
              <a:rPr lang="fr-FR" dirty="0"/>
              <a:t> </a:t>
            </a:r>
            <a:r>
              <a:rPr lang="fr-FR" dirty="0" err="1"/>
              <a:t>list</a:t>
            </a:r>
            <a:r>
              <a:rPr lang="fr-FR" dirty="0"/>
              <a:t> </a:t>
            </a:r>
            <a:r>
              <a:rPr lang="fr-FR" dirty="0" err="1"/>
              <a:t>is</a:t>
            </a:r>
            <a:r>
              <a:rPr lang="fr-FR" dirty="0"/>
              <a:t> the supplier </a:t>
            </a:r>
            <a:r>
              <a:rPr lang="fr-FR" dirty="0" err="1"/>
              <a:t>that</a:t>
            </a:r>
            <a:r>
              <a:rPr lang="fr-FR" dirty="0"/>
              <a:t> </a:t>
            </a:r>
            <a:r>
              <a:rPr lang="fr-FR" dirty="0" err="1"/>
              <a:t>will</a:t>
            </a:r>
            <a:r>
              <a:rPr lang="fr-FR" dirty="0"/>
              <a:t> cause </a:t>
            </a:r>
            <a:r>
              <a:rPr lang="fr-FR" dirty="0" err="1"/>
              <a:t>next</a:t>
            </a:r>
            <a:r>
              <a:rPr lang="fr-FR" dirty="0"/>
              <a:t> </a:t>
            </a:r>
            <a:r>
              <a:rPr lang="fr-FR" dirty="0" err="1"/>
              <a:t>month's</a:t>
            </a:r>
            <a:r>
              <a:rPr lang="fr-FR" dirty="0"/>
              <a:t> line stoppage. Nothing on the screen </a:t>
            </a:r>
            <a:r>
              <a:rPr lang="fr-FR" dirty="0" err="1"/>
              <a:t>says</a:t>
            </a:r>
            <a:r>
              <a:rPr lang="fr-FR" dirty="0"/>
              <a:t> </a:t>
            </a:r>
            <a:r>
              <a:rPr lang="fr-FR" dirty="0" err="1"/>
              <a:t>which</a:t>
            </a:r>
            <a:r>
              <a:rPr lang="fr-FR" dirty="0"/>
              <a:t> one </a:t>
            </a:r>
            <a:r>
              <a:rPr lang="fr-FR" dirty="0" err="1"/>
              <a:t>it</a:t>
            </a:r>
            <a:r>
              <a:rPr lang="fr-FR" dirty="0"/>
              <a:t> </a:t>
            </a:r>
            <a:r>
              <a:rPr lang="fr-FR" dirty="0" err="1"/>
              <a:t>is</a:t>
            </a:r>
            <a:r>
              <a:rPr lang="fr-FR" dirty="0"/>
              <a:t>. Thats </a:t>
            </a:r>
            <a:r>
              <a:rPr lang="fr-FR" dirty="0" err="1"/>
              <a:t>what</a:t>
            </a:r>
            <a:r>
              <a:rPr lang="fr-FR" dirty="0"/>
              <a:t> </a:t>
            </a:r>
            <a:r>
              <a:rPr lang="fr-FR" dirty="0" err="1"/>
              <a:t>we</a:t>
            </a:r>
            <a:r>
              <a:rPr lang="fr-FR" dirty="0"/>
              <a:t> </a:t>
            </a:r>
            <a:r>
              <a:rPr lang="fr-FR" dirty="0" err="1"/>
              <a:t>try</a:t>
            </a:r>
            <a:r>
              <a:rPr lang="fr-FR" dirty="0"/>
              <a:t> to figure out and </a:t>
            </a:r>
            <a:r>
              <a:rPr lang="fr-FR" dirty="0" err="1"/>
              <a:t>avoid</a:t>
            </a:r>
            <a:r>
              <a:rPr lang="fr-FR"/>
              <a:t>, -&gt;  </a:t>
            </a:r>
            <a:r>
              <a:rPr lang="fr-FR" dirty="0" err="1"/>
              <a:t>where</a:t>
            </a:r>
            <a:r>
              <a:rPr lang="fr-FR" dirty="0"/>
              <a:t> </a:t>
            </a:r>
            <a:r>
              <a:rPr lang="fr-FR" dirty="0" err="1"/>
              <a:t>we</a:t>
            </a:r>
            <a:r>
              <a:rPr lang="fr-FR" dirty="0"/>
              <a:t> </a:t>
            </a:r>
            <a:r>
              <a:rPr lang="fr-FR" dirty="0" err="1"/>
              <a:t>should</a:t>
            </a:r>
            <a:r>
              <a:rPr lang="fr-FR" dirty="0"/>
              <a:t> put more time to </a:t>
            </a:r>
            <a:r>
              <a:rPr lang="fr-FR" dirty="0" err="1"/>
              <a:t>avoid</a:t>
            </a:r>
            <a:r>
              <a:rPr lang="fr-FR" dirty="0"/>
              <a:t> </a:t>
            </a:r>
            <a:r>
              <a:rPr lang="fr-FR" dirty="0" err="1"/>
              <a:t>catastrophic</a:t>
            </a:r>
            <a:r>
              <a:rPr lang="fr-FR" dirty="0"/>
              <a:t> </a:t>
            </a:r>
            <a:r>
              <a:rPr lang="fr-FR" dirty="0" err="1"/>
              <a:t>events</a:t>
            </a:r>
            <a:r>
              <a:rPr lang="fr-FR" dirty="0"/>
              <a:t>.</a:t>
            </a:r>
          </a:p>
          <a:p>
            <a:endParaRPr lang="fr-FR" dirty="0"/>
          </a:p>
          <a:p>
            <a:r>
              <a:rPr lang="fr-FR" dirty="0"/>
              <a:t>The </a:t>
            </a:r>
            <a:r>
              <a:rPr lang="fr-FR" dirty="0" err="1"/>
              <a:t>twin</a:t>
            </a:r>
            <a:r>
              <a:rPr lang="fr-FR" dirty="0"/>
              <a:t> </a:t>
            </a:r>
            <a:r>
              <a:rPr lang="fr-FR" dirty="0" err="1"/>
              <a:t>computes</a:t>
            </a:r>
            <a:r>
              <a:rPr lang="fr-FR" dirty="0"/>
              <a:t> the </a:t>
            </a:r>
            <a:r>
              <a:rPr lang="fr-FR" dirty="0" err="1"/>
              <a:t>physical</a:t>
            </a:r>
            <a:r>
              <a:rPr lang="fr-FR" dirty="0"/>
              <a:t> state of </a:t>
            </a:r>
            <a:r>
              <a:rPr lang="fr-FR" dirty="0" err="1"/>
              <a:t>every</a:t>
            </a:r>
            <a:r>
              <a:rPr lang="fr-FR" dirty="0"/>
              <a:t> </a:t>
            </a:r>
            <a:r>
              <a:rPr lang="fr-FR" dirty="0" err="1"/>
              <a:t>node</a:t>
            </a:r>
            <a:r>
              <a:rPr lang="fr-FR" dirty="0"/>
              <a:t>. </a:t>
            </a:r>
            <a:r>
              <a:rPr lang="fr-FR" dirty="0" err="1"/>
              <a:t>What</a:t>
            </a:r>
            <a:r>
              <a:rPr lang="fr-FR" dirty="0"/>
              <a:t> </a:t>
            </a:r>
            <a:r>
              <a:rPr lang="fr-FR" dirty="0" err="1"/>
              <a:t>it</a:t>
            </a:r>
            <a:r>
              <a:rPr lang="fr-FR" dirty="0"/>
              <a:t> </a:t>
            </a:r>
            <a:r>
              <a:rPr lang="fr-FR" dirty="0" err="1"/>
              <a:t>never</a:t>
            </a:r>
            <a:r>
              <a:rPr lang="fr-FR" dirty="0"/>
              <a:t> </a:t>
            </a:r>
            <a:r>
              <a:rPr lang="fr-FR" dirty="0" err="1"/>
              <a:t>sees</a:t>
            </a:r>
            <a:r>
              <a:rPr lang="fr-FR" dirty="0"/>
              <a:t> </a:t>
            </a:r>
            <a:r>
              <a:rPr lang="fr-FR" dirty="0" err="1"/>
              <a:t>is</a:t>
            </a:r>
            <a:r>
              <a:rPr lang="fr-FR" dirty="0"/>
              <a:t> the </a:t>
            </a:r>
            <a:r>
              <a:rPr lang="fr-FR" dirty="0" err="1"/>
              <a:t>human</a:t>
            </a:r>
            <a:r>
              <a:rPr lang="fr-FR" dirty="0"/>
              <a:t> </a:t>
            </a:r>
            <a:r>
              <a:rPr lang="fr-FR" dirty="0" err="1"/>
              <a:t>who</a:t>
            </a:r>
            <a:r>
              <a:rPr lang="fr-FR" dirty="0"/>
              <a:t> </a:t>
            </a:r>
            <a:r>
              <a:rPr lang="fr-FR" dirty="0" err="1"/>
              <a:t>decides</a:t>
            </a:r>
            <a:r>
              <a:rPr lang="fr-FR" dirty="0"/>
              <a:t>.</a:t>
            </a:r>
          </a:p>
          <a:p>
            <a:r>
              <a:rPr lang="fr-FR" dirty="0"/>
              <a:t>A </a:t>
            </a:r>
            <a:r>
              <a:rPr lang="fr-FR" dirty="0" err="1"/>
              <a:t>buyer</a:t>
            </a:r>
            <a:r>
              <a:rPr lang="fr-FR" dirty="0"/>
              <a:t> </a:t>
            </a:r>
            <a:r>
              <a:rPr lang="fr-FR" dirty="0" err="1"/>
              <a:t>says</a:t>
            </a:r>
            <a:r>
              <a:rPr lang="fr-FR" dirty="0"/>
              <a:t> a supplier </a:t>
            </a:r>
            <a:r>
              <a:rPr lang="fr-FR" dirty="0" err="1"/>
              <a:t>is</a:t>
            </a:r>
            <a:r>
              <a:rPr lang="fr-FR" dirty="0"/>
              <a:t> </a:t>
            </a:r>
            <a:r>
              <a:rPr lang="fr-FR" dirty="0" err="1"/>
              <a:t>critical</a:t>
            </a:r>
            <a:r>
              <a:rPr lang="fr-FR" dirty="0"/>
              <a:t>, a plant </a:t>
            </a:r>
            <a:r>
              <a:rPr lang="fr-FR" dirty="0" err="1"/>
              <a:t>says</a:t>
            </a:r>
            <a:r>
              <a:rPr lang="fr-FR" dirty="0"/>
              <a:t> a line </a:t>
            </a:r>
            <a:r>
              <a:rPr lang="fr-FR" dirty="0" err="1"/>
              <a:t>is</a:t>
            </a:r>
            <a:r>
              <a:rPr lang="fr-FR" dirty="0"/>
              <a:t> at </a:t>
            </a:r>
            <a:r>
              <a:rPr lang="fr-FR" dirty="0" err="1"/>
              <a:t>risk</a:t>
            </a:r>
            <a:r>
              <a:rPr lang="fr-FR" dirty="0"/>
              <a:t>, and the </a:t>
            </a:r>
            <a:r>
              <a:rPr lang="fr-FR" dirty="0" err="1"/>
              <a:t>twin</a:t>
            </a:r>
            <a:r>
              <a:rPr lang="fr-FR" dirty="0"/>
              <a:t> records the </a:t>
            </a:r>
            <a:r>
              <a:rPr lang="fr-FR" dirty="0" err="1"/>
              <a:t>consequence</a:t>
            </a:r>
            <a:r>
              <a:rPr lang="fr-FR" dirty="0"/>
              <a:t> of </a:t>
            </a:r>
            <a:r>
              <a:rPr lang="fr-FR" dirty="0" err="1"/>
              <a:t>those</a:t>
            </a:r>
            <a:r>
              <a:rPr lang="fr-FR" dirty="0"/>
              <a:t> </a:t>
            </a:r>
            <a:r>
              <a:rPr lang="fr-FR" dirty="0" err="1"/>
              <a:t>judgments</a:t>
            </a:r>
            <a:r>
              <a:rPr lang="fr-FR" dirty="0"/>
              <a:t> </a:t>
            </a:r>
            <a:r>
              <a:rPr lang="fr-FR" dirty="0" err="1"/>
              <a:t>without</a:t>
            </a:r>
            <a:r>
              <a:rPr lang="fr-FR" dirty="0"/>
              <a:t> </a:t>
            </a:r>
            <a:r>
              <a:rPr lang="fr-FR" dirty="0" err="1"/>
              <a:t>ever</a:t>
            </a:r>
            <a:r>
              <a:rPr lang="fr-FR" dirty="0"/>
              <a:t> </a:t>
            </a:r>
            <a:r>
              <a:rPr lang="fr-FR" dirty="0" err="1"/>
              <a:t>evaluating</a:t>
            </a:r>
            <a:r>
              <a:rPr lang="fr-FR" dirty="0"/>
              <a:t> </a:t>
            </a:r>
            <a:r>
              <a:rPr lang="fr-FR" dirty="0" err="1"/>
              <a:t>them</a:t>
            </a:r>
            <a:r>
              <a:rPr lang="fr-FR" dirty="0"/>
              <a:t>.</a:t>
            </a:r>
          </a:p>
          <a:p>
            <a:endParaRPr lang="fr-FR" dirty="0"/>
          </a:p>
          <a:p>
            <a:r>
              <a:rPr lang="fr-FR" dirty="0"/>
              <a:t>Littérature </a:t>
            </a:r>
            <a:r>
              <a:rPr lang="fr-FR" dirty="0" err="1"/>
              <a:t>showed</a:t>
            </a:r>
            <a:r>
              <a:rPr lang="fr-FR" dirty="0"/>
              <a:t> </a:t>
            </a:r>
            <a:r>
              <a:rPr lang="fr-FR" dirty="0" err="1"/>
              <a:t>across</a:t>
            </a:r>
            <a:r>
              <a:rPr lang="fr-FR" dirty="0"/>
              <a:t> five </a:t>
            </a:r>
            <a:r>
              <a:rPr lang="fr-FR" dirty="0" err="1"/>
              <a:t>controlled</a:t>
            </a:r>
            <a:r>
              <a:rPr lang="fr-FR" dirty="0"/>
              <a:t> </a:t>
            </a:r>
            <a:r>
              <a:rPr lang="fr-FR" dirty="0" err="1"/>
              <a:t>experiments</a:t>
            </a:r>
            <a:r>
              <a:rPr lang="fr-FR" dirty="0"/>
              <a:t> </a:t>
            </a:r>
            <a:r>
              <a:rPr lang="fr-FR" dirty="0" err="1"/>
              <a:t>that</a:t>
            </a:r>
            <a:r>
              <a:rPr lang="fr-FR" dirty="0"/>
              <a:t> people </a:t>
            </a:r>
            <a:r>
              <a:rPr lang="fr-FR" dirty="0" err="1"/>
              <a:t>favour</a:t>
            </a:r>
            <a:r>
              <a:rPr lang="fr-FR" dirty="0"/>
              <a:t> imminent </a:t>
            </a:r>
            <a:r>
              <a:rPr lang="fr-FR" dirty="0" err="1"/>
              <a:t>low</a:t>
            </a:r>
            <a:r>
              <a:rPr lang="fr-FR" dirty="0"/>
              <a:t>-value </a:t>
            </a:r>
            <a:r>
              <a:rPr lang="fr-FR" dirty="0" err="1"/>
              <a:t>tasks</a:t>
            </a:r>
            <a:r>
              <a:rPr lang="fr-FR" dirty="0"/>
              <a:t> over distant high-value </a:t>
            </a:r>
            <a:r>
              <a:rPr lang="fr-FR" dirty="0" err="1"/>
              <a:t>ones</a:t>
            </a:r>
            <a:r>
              <a:rPr lang="fr-FR" dirty="0"/>
              <a:t>, and </a:t>
            </a:r>
            <a:r>
              <a:rPr lang="fr-FR" dirty="0" err="1"/>
              <a:t>that</a:t>
            </a:r>
            <a:r>
              <a:rPr lang="fr-FR" dirty="0"/>
              <a:t> the </a:t>
            </a:r>
            <a:r>
              <a:rPr lang="fr-FR" dirty="0" err="1"/>
              <a:t>bias</a:t>
            </a:r>
            <a:r>
              <a:rPr lang="fr-FR" dirty="0"/>
              <a:t> survives </a:t>
            </a:r>
            <a:r>
              <a:rPr lang="fr-FR" dirty="0" err="1"/>
              <a:t>being</a:t>
            </a:r>
            <a:r>
              <a:rPr lang="fr-FR" dirty="0"/>
              <a:t> </a:t>
            </a:r>
            <a:r>
              <a:rPr lang="fr-FR" dirty="0" err="1"/>
              <a:t>told</a:t>
            </a:r>
            <a:r>
              <a:rPr lang="fr-FR" dirty="0"/>
              <a:t> about </a:t>
            </a:r>
            <a:r>
              <a:rPr lang="fr-FR" dirty="0" err="1"/>
              <a:t>it</a:t>
            </a:r>
            <a:r>
              <a:rPr lang="fr-FR" dirty="0"/>
              <a:t>.</a:t>
            </a:r>
          </a:p>
          <a:p>
            <a:r>
              <a:rPr lang="fr-FR" dirty="0"/>
              <a:t>A </a:t>
            </a:r>
            <a:r>
              <a:rPr lang="fr-FR" dirty="0" err="1"/>
              <a:t>twin</a:t>
            </a:r>
            <a:r>
              <a:rPr lang="fr-FR" dirty="0"/>
              <a:t> </a:t>
            </a:r>
            <a:r>
              <a:rPr lang="fr-FR" dirty="0" err="1"/>
              <a:t>that</a:t>
            </a:r>
            <a:r>
              <a:rPr lang="fr-FR" dirty="0"/>
              <a:t> </a:t>
            </a:r>
            <a:r>
              <a:rPr lang="fr-FR" dirty="0" err="1"/>
              <a:t>swallows</a:t>
            </a:r>
            <a:r>
              <a:rPr lang="fr-FR" dirty="0"/>
              <a:t> </a:t>
            </a:r>
            <a:r>
              <a:rPr lang="fr-FR" dirty="0" err="1"/>
              <a:t>that</a:t>
            </a:r>
            <a:r>
              <a:rPr lang="fr-FR" dirty="0"/>
              <a:t> </a:t>
            </a:r>
            <a:r>
              <a:rPr lang="fr-FR" dirty="0" err="1"/>
              <a:t>declaration</a:t>
            </a:r>
            <a:r>
              <a:rPr lang="fr-FR" dirty="0"/>
              <a:t> as </a:t>
            </a:r>
            <a:r>
              <a:rPr lang="fr-FR" dirty="0" err="1"/>
              <a:t>ground</a:t>
            </a:r>
            <a:r>
              <a:rPr lang="fr-FR" dirty="0"/>
              <a:t> </a:t>
            </a:r>
            <a:r>
              <a:rPr lang="fr-FR" dirty="0" err="1"/>
              <a:t>truth</a:t>
            </a:r>
            <a:r>
              <a:rPr lang="fr-FR" dirty="0"/>
              <a:t> </a:t>
            </a:r>
            <a:r>
              <a:rPr lang="fr-FR" dirty="0" err="1"/>
              <a:t>inherits</a:t>
            </a:r>
            <a:r>
              <a:rPr lang="fr-FR" dirty="0"/>
              <a:t> the </a:t>
            </a:r>
            <a:r>
              <a:rPr lang="fr-FR" dirty="0" err="1"/>
              <a:t>bias</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a:t>
            </a:r>
            <a:r>
              <a:rPr lang="fr-FR" dirty="0" err="1"/>
              <a:t>internship</a:t>
            </a:r>
            <a:r>
              <a:rPr lang="fr-FR" dirty="0"/>
              <a:t> agreement </a:t>
            </a:r>
            <a:r>
              <a:rPr lang="fr-FR" dirty="0" err="1"/>
              <a:t>prescribes</a:t>
            </a:r>
            <a:r>
              <a:rPr lang="fr-FR" dirty="0"/>
              <a:t> Agile and Test and Learn, and I </a:t>
            </a:r>
            <a:r>
              <a:rPr lang="fr-FR" dirty="0" err="1"/>
              <a:t>applied</a:t>
            </a:r>
            <a:r>
              <a:rPr lang="fr-FR" dirty="0"/>
              <a:t> </a:t>
            </a:r>
            <a:r>
              <a:rPr lang="fr-FR" dirty="0" err="1"/>
              <a:t>it</a:t>
            </a:r>
            <a:r>
              <a:rPr lang="fr-FR" dirty="0"/>
              <a:t> </a:t>
            </a:r>
            <a:r>
              <a:rPr lang="fr-FR" dirty="0" err="1"/>
              <a:t>literally</a:t>
            </a:r>
            <a:r>
              <a:rPr lang="fr-FR" dirty="0"/>
              <a:t>.</a:t>
            </a:r>
          </a:p>
          <a:p>
            <a:r>
              <a:rPr lang="fr-FR" dirty="0"/>
              <a:t>The V-cycle runs on the model. Agile and Test and Learn run the </a:t>
            </a:r>
            <a:r>
              <a:rPr lang="fr-FR" dirty="0" err="1"/>
              <a:t>week</a:t>
            </a:r>
            <a:r>
              <a:rPr lang="fr-FR" dirty="0"/>
              <a:t>.</a:t>
            </a:r>
          </a:p>
          <a:p>
            <a:endParaRPr lang="fr-FR" dirty="0"/>
          </a:p>
          <a:p>
            <a:r>
              <a:rPr lang="fr-FR" dirty="0"/>
              <a:t>Five standing meetings a </a:t>
            </a:r>
            <a:r>
              <a:rPr lang="fr-FR" dirty="0" err="1"/>
              <a:t>week</a:t>
            </a:r>
            <a:r>
              <a:rPr lang="fr-FR" dirty="0"/>
              <a:t> </a:t>
            </a:r>
            <a:r>
              <a:rPr lang="fr-FR" dirty="0" err="1"/>
              <a:t>is</a:t>
            </a:r>
            <a:r>
              <a:rPr lang="fr-FR" dirty="0"/>
              <a:t> </a:t>
            </a:r>
            <a:r>
              <a:rPr lang="fr-FR" dirty="0" err="1"/>
              <a:t>heavy</a:t>
            </a:r>
            <a:r>
              <a:rPr lang="fr-FR" dirty="0"/>
              <a:t> for </a:t>
            </a:r>
            <a:r>
              <a:rPr lang="fr-FR" dirty="0" err="1"/>
              <a:t>research</a:t>
            </a:r>
            <a:r>
              <a:rPr lang="fr-FR" dirty="0"/>
              <a:t> and </a:t>
            </a:r>
            <a:r>
              <a:rPr lang="fr-FR" dirty="0" err="1"/>
              <a:t>development</a:t>
            </a:r>
            <a:r>
              <a:rPr lang="fr-FR" dirty="0"/>
              <a:t>, and </a:t>
            </a:r>
            <a:r>
              <a:rPr lang="fr-FR" dirty="0" err="1"/>
              <a:t>it</a:t>
            </a:r>
            <a:r>
              <a:rPr lang="fr-FR" dirty="0"/>
              <a:t> </a:t>
            </a:r>
            <a:r>
              <a:rPr lang="fr-FR" dirty="0" err="1"/>
              <a:t>was</a:t>
            </a:r>
            <a:r>
              <a:rPr lang="fr-FR" dirty="0"/>
              <a:t> the </a:t>
            </a:r>
            <a:r>
              <a:rPr lang="fr-FR" dirty="0" err="1"/>
              <a:t>most</a:t>
            </a:r>
            <a:r>
              <a:rPr lang="fr-FR" dirty="0"/>
              <a:t> </a:t>
            </a:r>
            <a:r>
              <a:rPr lang="fr-FR" dirty="0" err="1"/>
              <a:t>useful</a:t>
            </a:r>
            <a:r>
              <a:rPr lang="fr-FR" dirty="0"/>
              <a:t> </a:t>
            </a:r>
            <a:r>
              <a:rPr lang="fr-FR" dirty="0" err="1"/>
              <a:t>organisational</a:t>
            </a:r>
            <a:r>
              <a:rPr lang="fr-FR" dirty="0"/>
              <a:t> </a:t>
            </a:r>
            <a:r>
              <a:rPr lang="fr-FR" dirty="0" err="1"/>
              <a:t>feature</a:t>
            </a:r>
            <a:r>
              <a:rPr lang="fr-FR" dirty="0"/>
              <a:t> of the </a:t>
            </a:r>
            <a:r>
              <a:rPr lang="fr-FR" dirty="0" err="1"/>
              <a:t>internship</a:t>
            </a:r>
            <a:r>
              <a:rPr lang="fr-FR" dirty="0"/>
              <a:t>.</a:t>
            </a:r>
          </a:p>
          <a:p>
            <a:r>
              <a:rPr lang="fr-FR" dirty="0"/>
              <a:t>The Friday </a:t>
            </a:r>
            <a:r>
              <a:rPr lang="fr-FR" dirty="0" err="1"/>
              <a:t>demonstration</a:t>
            </a:r>
            <a:r>
              <a:rPr lang="fr-FR" dirty="0"/>
              <a:t> </a:t>
            </a:r>
            <a:r>
              <a:rPr lang="fr-FR" dirty="0" err="1"/>
              <a:t>required</a:t>
            </a:r>
            <a:r>
              <a:rPr lang="fr-FR" dirty="0"/>
              <a:t> </a:t>
            </a:r>
            <a:r>
              <a:rPr lang="fr-FR" dirty="0" err="1"/>
              <a:t>something</a:t>
            </a:r>
            <a:r>
              <a:rPr lang="fr-FR" dirty="0"/>
              <a:t> to </a:t>
            </a:r>
            <a:r>
              <a:rPr lang="fr-FR" dirty="0" err="1"/>
              <a:t>be</a:t>
            </a:r>
            <a:r>
              <a:rPr lang="fr-FR" dirty="0"/>
              <a:t> </a:t>
            </a:r>
            <a:r>
              <a:rPr lang="fr-FR" dirty="0" err="1"/>
              <a:t>shown</a:t>
            </a:r>
            <a:r>
              <a:rPr lang="fr-FR" dirty="0"/>
              <a:t>, </a:t>
            </a:r>
            <a:r>
              <a:rPr lang="fr-FR" dirty="0" err="1"/>
              <a:t>making</a:t>
            </a:r>
            <a:r>
              <a:rPr lang="fr-FR" dirty="0"/>
              <a:t> sure </a:t>
            </a:r>
            <a:r>
              <a:rPr lang="fr-FR" dirty="0" err="1"/>
              <a:t>that</a:t>
            </a:r>
            <a:r>
              <a:rPr lang="fr-FR" dirty="0"/>
              <a:t> </a:t>
            </a:r>
            <a:r>
              <a:rPr lang="fr-FR" dirty="0" err="1"/>
              <a:t>project</a:t>
            </a:r>
            <a:r>
              <a:rPr lang="fr-FR" dirty="0"/>
              <a:t> </a:t>
            </a:r>
            <a:r>
              <a:rPr lang="fr-FR" dirty="0" err="1"/>
              <a:t>is</a:t>
            </a:r>
            <a:r>
              <a:rPr lang="fr-FR" dirty="0"/>
              <a:t> </a:t>
            </a:r>
            <a:r>
              <a:rPr lang="fr-FR" dirty="0" err="1"/>
              <a:t>evolving</a:t>
            </a:r>
            <a:r>
              <a:rPr lang="fr-FR" dirty="0"/>
              <a:t>.</a:t>
            </a:r>
          </a:p>
          <a:p>
            <a:endParaRPr lang="fr-FR" dirty="0"/>
          </a:p>
          <a:p>
            <a:r>
              <a:rPr lang="fr-FR" dirty="0"/>
              <a:t>Test and Learn </a:t>
            </a:r>
            <a:r>
              <a:rPr lang="fr-FR" dirty="0" err="1"/>
              <a:t>means</a:t>
            </a:r>
            <a:r>
              <a:rPr lang="fr-FR" dirty="0"/>
              <a:t> </a:t>
            </a:r>
            <a:r>
              <a:rPr lang="fr-FR" dirty="0" err="1"/>
              <a:t>something</a:t>
            </a:r>
            <a:r>
              <a:rPr lang="fr-FR" dirty="0"/>
              <a:t> </a:t>
            </a:r>
            <a:r>
              <a:rPr lang="fr-FR" dirty="0" err="1"/>
              <a:t>only</a:t>
            </a:r>
            <a:r>
              <a:rPr lang="fr-FR" dirty="0"/>
              <a:t> if </a:t>
            </a:r>
            <a:r>
              <a:rPr lang="fr-FR" dirty="0" err="1"/>
              <a:t>things</a:t>
            </a:r>
            <a:r>
              <a:rPr lang="fr-FR" dirty="0"/>
              <a:t> </a:t>
            </a:r>
            <a:r>
              <a:rPr lang="fr-FR" dirty="0" err="1"/>
              <a:t>were</a:t>
            </a:r>
            <a:r>
              <a:rPr lang="fr-FR" dirty="0"/>
              <a:t> </a:t>
            </a:r>
            <a:r>
              <a:rPr lang="fr-FR" dirty="0" err="1"/>
              <a:t>dropped</a:t>
            </a:r>
            <a:r>
              <a:rPr lang="fr-FR" dirty="0"/>
              <a:t> and </a:t>
            </a:r>
            <a:r>
              <a:rPr lang="fr-FR" dirty="0" err="1"/>
              <a:t>that</a:t>
            </a:r>
            <a:r>
              <a:rPr lang="fr-FR" dirty="0"/>
              <a:t> i </a:t>
            </a:r>
            <a:r>
              <a:rPr lang="fr-FR" dirty="0" err="1"/>
              <a:t>devlopped</a:t>
            </a:r>
            <a:r>
              <a:rPr lang="fr-FR" dirty="0"/>
              <a:t> </a:t>
            </a:r>
            <a:r>
              <a:rPr lang="fr-FR" dirty="0" err="1"/>
              <a:t>knowledge</a:t>
            </a:r>
            <a:endParaRPr lang="fr-FR" dirty="0"/>
          </a:p>
          <a:p>
            <a:r>
              <a:rPr lang="fr-FR" dirty="0"/>
              <a:t>The first </a:t>
            </a:r>
            <a:r>
              <a:rPr lang="fr-FR" dirty="0" err="1"/>
              <a:t>urgency</a:t>
            </a:r>
            <a:r>
              <a:rPr lang="fr-FR" dirty="0"/>
              <a:t> model </a:t>
            </a:r>
            <a:r>
              <a:rPr lang="fr-FR" dirty="0" err="1"/>
              <a:t>was</a:t>
            </a:r>
            <a:r>
              <a:rPr lang="fr-FR" dirty="0"/>
              <a:t> a single time-</a:t>
            </a:r>
            <a:r>
              <a:rPr lang="fr-FR" dirty="0" err="1"/>
              <a:t>driven</a:t>
            </a:r>
            <a:r>
              <a:rPr lang="fr-FR" dirty="0"/>
              <a:t> </a:t>
            </a:r>
            <a:r>
              <a:rPr lang="fr-FR" dirty="0" err="1"/>
              <a:t>curve</a:t>
            </a:r>
            <a:r>
              <a:rPr lang="fr-FR" dirty="0"/>
              <a:t> </a:t>
            </a:r>
            <a:r>
              <a:rPr lang="fr-FR" dirty="0" err="1"/>
              <a:t>that</a:t>
            </a:r>
            <a:r>
              <a:rPr lang="fr-FR" dirty="0"/>
              <a:t> rose as a deadline </a:t>
            </a:r>
            <a:r>
              <a:rPr lang="fr-FR" dirty="0" err="1"/>
              <a:t>approached</a:t>
            </a:r>
            <a:r>
              <a:rPr lang="fr-FR" dirty="0"/>
              <a:t>. It </a:t>
            </a:r>
            <a:r>
              <a:rPr lang="fr-FR" dirty="0" err="1"/>
              <a:t>could</a:t>
            </a:r>
            <a:r>
              <a:rPr lang="fr-FR" dirty="0"/>
              <a:t> not </a:t>
            </a:r>
            <a:r>
              <a:rPr lang="fr-FR" dirty="0" err="1"/>
              <a:t>represent</a:t>
            </a:r>
            <a:r>
              <a:rPr lang="fr-FR" dirty="0"/>
              <a:t> a </a:t>
            </a:r>
            <a:r>
              <a:rPr lang="fr-FR" dirty="0" err="1"/>
              <a:t>node</a:t>
            </a:r>
            <a:r>
              <a:rPr lang="fr-FR" dirty="0"/>
              <a:t> on </a:t>
            </a:r>
            <a:r>
              <a:rPr lang="fr-FR" dirty="0" err="1"/>
              <a:t>schedule</a:t>
            </a:r>
            <a:r>
              <a:rPr lang="fr-FR" dirty="0"/>
              <a:t> but out of </a:t>
            </a:r>
            <a:r>
              <a:rPr lang="fr-FR" dirty="0" err="1"/>
              <a:t>capacity</a:t>
            </a:r>
            <a:endParaRPr lang="fr-FR" dirty="0"/>
          </a:p>
          <a:p>
            <a:r>
              <a:rPr lang="fr-FR" dirty="0"/>
              <a:t>I </a:t>
            </a:r>
            <a:r>
              <a:rPr lang="fr-FR" dirty="0" err="1"/>
              <a:t>dropped</a:t>
            </a:r>
            <a:r>
              <a:rPr lang="fr-FR" dirty="0"/>
              <a:t> </a:t>
            </a:r>
            <a:r>
              <a:rPr lang="fr-FR" dirty="0" err="1"/>
              <a:t>it</a:t>
            </a:r>
            <a:r>
              <a:rPr lang="fr-FR" dirty="0"/>
              <a:t> in April, at a </a:t>
            </a:r>
            <a:r>
              <a:rPr lang="fr-FR" dirty="0" err="1"/>
              <a:t>cost</a:t>
            </a:r>
            <a:r>
              <a:rPr lang="fr-FR" dirty="0"/>
              <a:t> of </a:t>
            </a:r>
            <a:r>
              <a:rPr lang="fr-FR" dirty="0" err="1"/>
              <a:t>three</a:t>
            </a:r>
            <a:r>
              <a:rPr lang="fr-FR" dirty="0"/>
              <a:t> </a:t>
            </a:r>
            <a:r>
              <a:rPr lang="fr-FR" dirty="0" err="1"/>
              <a:t>weeks</a:t>
            </a:r>
            <a:r>
              <a:rPr lang="fr-FR" dirty="0"/>
              <a:t>.</a:t>
            </a:r>
          </a:p>
          <a:p>
            <a:r>
              <a:rPr lang="fr-FR" dirty="0"/>
              <a:t>I gain </a:t>
            </a:r>
            <a:r>
              <a:rPr lang="fr-FR" dirty="0" err="1"/>
              <a:t>knowledge</a:t>
            </a:r>
            <a:r>
              <a:rPr lang="fr-FR" dirty="0"/>
              <a:t> and </a:t>
            </a:r>
            <a:r>
              <a:rPr lang="fr-FR" dirty="0" err="1"/>
              <a:t>expericen</a:t>
            </a:r>
            <a:r>
              <a:rPr lang="fr-FR" dirty="0"/>
              <a:t> in </a:t>
            </a:r>
            <a:r>
              <a:rPr lang="fr-FR" dirty="0" err="1"/>
              <a:t>suplly</a:t>
            </a:r>
            <a:r>
              <a:rPr lang="fr-FR" dirty="0"/>
              <a:t> chain </a:t>
            </a:r>
            <a:r>
              <a:rPr lang="fr-FR" dirty="0" err="1"/>
              <a:t>organization</a:t>
            </a:r>
            <a:r>
              <a:rPr lang="fr-FR" dirty="0"/>
              <a:t>, digital </a:t>
            </a:r>
            <a:r>
              <a:rPr lang="fr-FR" dirty="0" err="1"/>
              <a:t>twin</a:t>
            </a:r>
            <a:r>
              <a:rPr lang="fr-FR" dirty="0"/>
              <a:t> modeling and AI as i </a:t>
            </a:r>
            <a:r>
              <a:rPr lang="fr-FR" dirty="0" err="1"/>
              <a:t>experienced</a:t>
            </a:r>
            <a:r>
              <a:rPr lang="fr-FR" dirty="0"/>
              <a:t> all of </a:t>
            </a:r>
            <a:r>
              <a:rPr lang="fr-FR" dirty="0" err="1"/>
              <a:t>them</a:t>
            </a:r>
            <a:r>
              <a:rPr lang="fr-FR" dirty="0"/>
              <a:t>.</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Ten phases, </a:t>
            </a:r>
            <a:r>
              <a:rPr lang="fr-FR" dirty="0" err="1"/>
              <a:t>nine</a:t>
            </a:r>
            <a:r>
              <a:rPr lang="fr-FR" dirty="0"/>
              <a:t> </a:t>
            </a:r>
            <a:r>
              <a:rPr lang="fr-FR" dirty="0" err="1"/>
              <a:t>milestones</a:t>
            </a:r>
            <a:r>
              <a:rPr lang="fr-FR" dirty="0"/>
              <a:t>, </a:t>
            </a:r>
            <a:r>
              <a:rPr lang="fr-FR" dirty="0" err="1"/>
              <a:t>seven</a:t>
            </a:r>
            <a:r>
              <a:rPr lang="fr-FR" dirty="0"/>
              <a:t> </a:t>
            </a:r>
            <a:r>
              <a:rPr lang="fr-FR" dirty="0" err="1"/>
              <a:t>closed</a:t>
            </a:r>
            <a:r>
              <a:rPr lang="fr-FR" dirty="0"/>
              <a:t> at the time of </a:t>
            </a:r>
            <a:r>
              <a:rPr lang="fr-FR" dirty="0" err="1"/>
              <a:t>writing</a:t>
            </a:r>
            <a:endParaRPr lang="fr-FR" dirty="0"/>
          </a:p>
          <a:p>
            <a:endParaRPr lang="fr-FR" dirty="0"/>
          </a:p>
          <a:p>
            <a:r>
              <a:rPr lang="fr-FR" dirty="0"/>
              <a:t>One </a:t>
            </a:r>
            <a:r>
              <a:rPr lang="fr-FR" dirty="0" err="1"/>
              <a:t>decision</a:t>
            </a:r>
            <a:r>
              <a:rPr lang="fr-FR" dirty="0"/>
              <a:t> </a:t>
            </a:r>
            <a:r>
              <a:rPr lang="fr-FR" dirty="0" err="1"/>
              <a:t>matters</a:t>
            </a:r>
            <a:r>
              <a:rPr lang="fr-FR" dirty="0"/>
              <a:t> more </a:t>
            </a:r>
            <a:r>
              <a:rPr lang="fr-FR" dirty="0" err="1"/>
              <a:t>than</a:t>
            </a:r>
            <a:r>
              <a:rPr lang="fr-FR" dirty="0"/>
              <a:t> the </a:t>
            </a:r>
            <a:r>
              <a:rPr lang="fr-FR" dirty="0" err="1"/>
              <a:t>rest</a:t>
            </a:r>
            <a:r>
              <a:rPr lang="fr-FR" dirty="0"/>
              <a:t>. The original plan gave the second </a:t>
            </a:r>
            <a:r>
              <a:rPr lang="fr-FR" dirty="0" err="1"/>
              <a:t>half</a:t>
            </a:r>
            <a:r>
              <a:rPr lang="fr-FR" dirty="0"/>
              <a:t> of the mission to </a:t>
            </a:r>
            <a:r>
              <a:rPr lang="fr-FR" dirty="0" err="1"/>
              <a:t>extending</a:t>
            </a:r>
            <a:r>
              <a:rPr lang="fr-FR" dirty="0"/>
              <a:t> the </a:t>
            </a:r>
            <a:r>
              <a:rPr lang="fr-FR" dirty="0" err="1"/>
              <a:t>model's</a:t>
            </a:r>
            <a:r>
              <a:rPr lang="fr-FR" dirty="0"/>
              <a:t> scope. I </a:t>
            </a:r>
            <a:r>
              <a:rPr lang="fr-FR" dirty="0" err="1"/>
              <a:t>reallocated</a:t>
            </a:r>
            <a:r>
              <a:rPr lang="fr-FR" dirty="0"/>
              <a:t> </a:t>
            </a:r>
            <a:r>
              <a:rPr lang="fr-FR" dirty="0" err="1"/>
              <a:t>it</a:t>
            </a:r>
            <a:r>
              <a:rPr lang="fr-FR" dirty="0"/>
              <a:t> to </a:t>
            </a:r>
            <a:r>
              <a:rPr lang="fr-FR" dirty="0" err="1"/>
              <a:t>validating</a:t>
            </a:r>
            <a:r>
              <a:rPr lang="fr-FR" dirty="0"/>
              <a:t> </a:t>
            </a:r>
            <a:r>
              <a:rPr lang="fr-FR" dirty="0" err="1"/>
              <a:t>what</a:t>
            </a:r>
            <a:r>
              <a:rPr lang="fr-FR" dirty="0"/>
              <a:t> </a:t>
            </a:r>
            <a:r>
              <a:rPr lang="fr-FR" dirty="0" err="1"/>
              <a:t>already</a:t>
            </a:r>
            <a:r>
              <a:rPr lang="fr-FR" dirty="0"/>
              <a:t> </a:t>
            </a:r>
            <a:r>
              <a:rPr lang="fr-FR" dirty="0" err="1"/>
              <a:t>existed</a:t>
            </a:r>
            <a:r>
              <a:rPr lang="fr-FR" dirty="0"/>
              <a:t>.</a:t>
            </a:r>
          </a:p>
          <a:p>
            <a:r>
              <a:rPr lang="fr-FR" dirty="0"/>
              <a:t>An </a:t>
            </a:r>
            <a:r>
              <a:rPr lang="fr-FR" dirty="0" err="1"/>
              <a:t>unvalidated</a:t>
            </a:r>
            <a:r>
              <a:rPr lang="fr-FR" dirty="0"/>
              <a:t> extension of an </a:t>
            </a:r>
            <a:r>
              <a:rPr lang="fr-FR" dirty="0" err="1"/>
              <a:t>unvalidated</a:t>
            </a:r>
            <a:r>
              <a:rPr lang="fr-FR" dirty="0"/>
              <a:t> model compounds the </a:t>
            </a:r>
            <a:r>
              <a:rPr lang="fr-FR" dirty="0" err="1"/>
              <a:t>problem</a:t>
            </a:r>
            <a:r>
              <a:rPr lang="fr-FR" dirty="0"/>
              <a:t> </a:t>
            </a:r>
            <a:r>
              <a:rPr lang="fr-FR" dirty="0" err="1"/>
              <a:t>rather</a:t>
            </a:r>
            <a:r>
              <a:rPr lang="fr-FR" dirty="0"/>
              <a:t> </a:t>
            </a:r>
            <a:r>
              <a:rPr lang="fr-FR" dirty="0" err="1"/>
              <a:t>than</a:t>
            </a:r>
            <a:r>
              <a:rPr lang="fr-FR" dirty="0"/>
              <a:t> </a:t>
            </a:r>
            <a:r>
              <a:rPr lang="fr-FR" dirty="0" err="1"/>
              <a:t>advancing</a:t>
            </a:r>
            <a:r>
              <a:rPr lang="fr-FR" dirty="0"/>
              <a:t> </a:t>
            </a:r>
            <a:r>
              <a:rPr lang="fr-FR" dirty="0" err="1"/>
              <a:t>it</a:t>
            </a:r>
            <a:r>
              <a:rPr lang="fr-FR" dirty="0"/>
              <a:t>. That </a:t>
            </a:r>
            <a:r>
              <a:rPr lang="fr-FR" dirty="0" err="1"/>
              <a:t>is</a:t>
            </a:r>
            <a:r>
              <a:rPr lang="fr-FR" dirty="0"/>
              <a:t> </a:t>
            </a:r>
            <a:r>
              <a:rPr lang="fr-FR" dirty="0" err="1"/>
              <a:t>why</a:t>
            </a:r>
            <a:r>
              <a:rPr lang="fr-FR" dirty="0"/>
              <a:t> I can state a </a:t>
            </a:r>
            <a:r>
              <a:rPr lang="fr-FR" dirty="0" err="1"/>
              <a:t>measured</a:t>
            </a:r>
            <a:r>
              <a:rPr lang="fr-FR" dirty="0"/>
              <a:t> </a:t>
            </a:r>
            <a:r>
              <a:rPr lang="fr-FR" dirty="0" err="1"/>
              <a:t>result</a:t>
            </a:r>
            <a:r>
              <a:rPr lang="fr-FR" dirty="0"/>
              <a:t> </a:t>
            </a:r>
            <a:r>
              <a:rPr lang="fr-FR" dirty="0" err="1"/>
              <a:t>today</a:t>
            </a:r>
            <a:endParaRPr lang="fr-FR" dirty="0"/>
          </a:p>
          <a:p>
            <a:endParaRPr lang="fr-FR" dirty="0"/>
          </a:p>
          <a:p>
            <a:r>
              <a:rPr lang="fr-FR" dirty="0" err="1"/>
              <a:t>Everything</a:t>
            </a:r>
            <a:r>
              <a:rPr lang="fr-FR" dirty="0"/>
              <a:t> to the right of </a:t>
            </a:r>
            <a:r>
              <a:rPr lang="fr-FR" dirty="0" err="1"/>
              <a:t>that</a:t>
            </a:r>
            <a:r>
              <a:rPr lang="fr-FR" dirty="0"/>
              <a:t> line </a:t>
            </a:r>
            <a:r>
              <a:rPr lang="fr-FR" dirty="0" err="1"/>
              <a:t>is</a:t>
            </a:r>
            <a:r>
              <a:rPr lang="fr-FR" dirty="0"/>
              <a:t> </a:t>
            </a:r>
            <a:r>
              <a:rPr lang="fr-FR" dirty="0" err="1"/>
              <a:t>planned</a:t>
            </a:r>
            <a:r>
              <a:rPr lang="fr-FR" dirty="0"/>
              <a:t>, not </a:t>
            </a:r>
            <a:r>
              <a:rPr lang="fr-FR" dirty="0" err="1"/>
              <a:t>done</a:t>
            </a:r>
            <a:r>
              <a:rPr lang="fr-FR" dirty="0"/>
              <a:t>.</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58A7D-25E9-CB54-6B5A-B5798F076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BA94D-64F6-F5F7-18D9-3D4585968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7E301-F1A4-CA2E-3905-0AC0BB328130}"/>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450145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 </a:t>
            </a:r>
            <a:r>
              <a:rPr lang="fr-FR" dirty="0" err="1"/>
              <a:t>looked</a:t>
            </a:r>
            <a:r>
              <a:rPr lang="fr-FR" dirty="0"/>
              <a:t> in </a:t>
            </a:r>
            <a:r>
              <a:rPr lang="fr-FR" dirty="0" err="1"/>
              <a:t>two</a:t>
            </a:r>
            <a:r>
              <a:rPr lang="fr-FR" dirty="0"/>
              <a:t> places.</a:t>
            </a:r>
          </a:p>
          <a:p>
            <a:endParaRPr lang="fr-FR" dirty="0"/>
          </a:p>
          <a:p>
            <a:r>
              <a:rPr lang="fr-FR" dirty="0"/>
              <a:t>Six </a:t>
            </a:r>
            <a:r>
              <a:rPr lang="fr-FR" dirty="0" err="1"/>
              <a:t>streams</a:t>
            </a:r>
            <a:r>
              <a:rPr lang="fr-FR" dirty="0"/>
              <a:t>, and </a:t>
            </a:r>
            <a:r>
              <a:rPr lang="fr-FR" dirty="0" err="1"/>
              <a:t>each</a:t>
            </a:r>
            <a:r>
              <a:rPr lang="fr-FR" dirty="0"/>
              <a:t> one </a:t>
            </a:r>
            <a:r>
              <a:rPr lang="fr-FR" dirty="0" err="1"/>
              <a:t>settles</a:t>
            </a:r>
            <a:r>
              <a:rPr lang="fr-FR" dirty="0"/>
              <a:t> </a:t>
            </a:r>
            <a:r>
              <a:rPr lang="fr-FR" dirty="0" err="1"/>
              <a:t>something</a:t>
            </a:r>
            <a:r>
              <a:rPr lang="fr-FR" dirty="0"/>
              <a:t> and </a:t>
            </a:r>
            <a:r>
              <a:rPr lang="fr-FR" dirty="0" err="1"/>
              <a:t>leaves</a:t>
            </a:r>
            <a:r>
              <a:rPr lang="fr-FR" dirty="0"/>
              <a:t> </a:t>
            </a:r>
            <a:r>
              <a:rPr lang="fr-FR" dirty="0" err="1"/>
              <a:t>something</a:t>
            </a:r>
            <a:r>
              <a:rPr lang="fr-FR" dirty="0"/>
              <a:t> open.</a:t>
            </a:r>
          </a:p>
          <a:p>
            <a:r>
              <a:rPr lang="fr-FR" dirty="0"/>
              <a:t>Read the second </a:t>
            </a:r>
            <a:r>
              <a:rPr lang="fr-FR" dirty="0" err="1"/>
              <a:t>half</a:t>
            </a:r>
            <a:r>
              <a:rPr lang="fr-FR" dirty="0"/>
              <a:t> of </a:t>
            </a:r>
            <a:r>
              <a:rPr lang="fr-FR" dirty="0" err="1"/>
              <a:t>each</a:t>
            </a:r>
            <a:r>
              <a:rPr lang="fr-FR" dirty="0"/>
              <a:t> line and </a:t>
            </a:r>
            <a:r>
              <a:rPr lang="fr-FR" dirty="0" err="1"/>
              <a:t>you</a:t>
            </a:r>
            <a:r>
              <a:rPr lang="fr-FR" dirty="0"/>
              <a:t> have </a:t>
            </a:r>
            <a:r>
              <a:rPr lang="fr-FR" dirty="0" err="1"/>
              <a:t>my</a:t>
            </a:r>
            <a:r>
              <a:rPr lang="fr-FR" dirty="0"/>
              <a:t> </a:t>
            </a:r>
            <a:r>
              <a:rPr lang="fr-FR" dirty="0" err="1"/>
              <a:t>specification</a:t>
            </a:r>
            <a:r>
              <a:rPr lang="fr-FR" dirty="0"/>
              <a:t>.</a:t>
            </a:r>
          </a:p>
          <a:p>
            <a:endParaRPr lang="en-US" dirty="0"/>
          </a:p>
          <a:p>
            <a:r>
              <a:rPr lang="fr-FR" dirty="0"/>
              <a:t>The patent record </a:t>
            </a:r>
            <a:r>
              <a:rPr lang="fr-FR" dirty="0" err="1"/>
              <a:t>was</a:t>
            </a:r>
            <a:r>
              <a:rPr lang="fr-FR" dirty="0"/>
              <a:t> more </a:t>
            </a:r>
            <a:r>
              <a:rPr lang="fr-FR" dirty="0" err="1"/>
              <a:t>interesting</a:t>
            </a:r>
            <a:r>
              <a:rPr lang="fr-FR" dirty="0"/>
              <a:t>.</a:t>
            </a:r>
          </a:p>
          <a:p>
            <a:r>
              <a:rPr lang="fr-FR" dirty="0"/>
              <a:t>IBM, 2007: </a:t>
            </a:r>
            <a:r>
              <a:rPr lang="fr-FR" dirty="0" err="1"/>
              <a:t>computed</a:t>
            </a:r>
            <a:r>
              <a:rPr lang="fr-FR" dirty="0"/>
              <a:t> </a:t>
            </a:r>
            <a:r>
              <a:rPr lang="fr-FR" dirty="0" err="1"/>
              <a:t>entirely</a:t>
            </a:r>
            <a:r>
              <a:rPr lang="fr-FR" dirty="0"/>
              <a:t> </a:t>
            </a:r>
            <a:r>
              <a:rPr lang="fr-FR" dirty="0" err="1"/>
              <a:t>from</a:t>
            </a:r>
            <a:r>
              <a:rPr lang="fr-FR" dirty="0"/>
              <a:t> </a:t>
            </a:r>
            <a:r>
              <a:rPr lang="fr-FR" dirty="0" err="1"/>
              <a:t>measured</a:t>
            </a:r>
            <a:r>
              <a:rPr lang="fr-FR" dirty="0"/>
              <a:t> inputs.</a:t>
            </a:r>
          </a:p>
          <a:p>
            <a:r>
              <a:rPr lang="fr-FR" dirty="0"/>
              <a:t>Wipro, 2019: </a:t>
            </a:r>
            <a:r>
              <a:rPr lang="fr-FR" dirty="0" err="1"/>
              <a:t>those</a:t>
            </a:r>
            <a:r>
              <a:rPr lang="fr-FR" dirty="0"/>
              <a:t> inputs are </a:t>
            </a:r>
            <a:r>
              <a:rPr lang="fr-FR" dirty="0" err="1"/>
              <a:t>replaced</a:t>
            </a:r>
            <a:r>
              <a:rPr lang="fr-FR" dirty="0"/>
              <a:t> by </a:t>
            </a:r>
            <a:r>
              <a:rPr lang="fr-FR" dirty="0" err="1"/>
              <a:t>language</a:t>
            </a:r>
            <a:r>
              <a:rPr lang="fr-FR" dirty="0"/>
              <a:t>, </a:t>
            </a:r>
            <a:r>
              <a:rPr lang="fr-FR" dirty="0" err="1"/>
              <a:t>so</a:t>
            </a:r>
            <a:r>
              <a:rPr lang="fr-FR" dirty="0"/>
              <a:t> the </a:t>
            </a:r>
            <a:r>
              <a:rPr lang="fr-FR" dirty="0" err="1"/>
              <a:t>human</a:t>
            </a:r>
            <a:r>
              <a:rPr lang="fr-FR" dirty="0"/>
              <a:t> </a:t>
            </a:r>
            <a:r>
              <a:rPr lang="fr-FR" dirty="0" err="1"/>
              <a:t>narrates</a:t>
            </a:r>
            <a:r>
              <a:rPr lang="fr-FR" dirty="0"/>
              <a:t> but </a:t>
            </a:r>
            <a:r>
              <a:rPr lang="fr-FR" dirty="0" err="1"/>
              <a:t>is</a:t>
            </a:r>
            <a:r>
              <a:rPr lang="fr-FR" dirty="0"/>
              <a:t> </a:t>
            </a:r>
            <a:r>
              <a:rPr lang="fr-FR" dirty="0" err="1"/>
              <a:t>never</a:t>
            </a:r>
            <a:r>
              <a:rPr lang="fr-FR" dirty="0"/>
              <a:t> </a:t>
            </a:r>
            <a:r>
              <a:rPr lang="fr-FR" dirty="0" err="1"/>
              <a:t>assessed</a:t>
            </a:r>
            <a:r>
              <a:rPr lang="fr-FR" dirty="0"/>
              <a:t>.</a:t>
            </a:r>
          </a:p>
          <a:p>
            <a:r>
              <a:rPr lang="fr-FR" dirty="0"/>
              <a:t>The </a:t>
            </a:r>
            <a:r>
              <a:rPr lang="fr-FR" dirty="0" err="1"/>
              <a:t>most</a:t>
            </a:r>
            <a:r>
              <a:rPr lang="fr-FR" dirty="0"/>
              <a:t> </a:t>
            </a:r>
            <a:r>
              <a:rPr lang="fr-FR" dirty="0" err="1"/>
              <a:t>recent</a:t>
            </a:r>
            <a:r>
              <a:rPr lang="fr-FR" dirty="0"/>
              <a:t> </a:t>
            </a:r>
            <a:r>
              <a:rPr lang="fr-FR" dirty="0" err="1"/>
              <a:t>is</a:t>
            </a:r>
            <a:r>
              <a:rPr lang="fr-FR" dirty="0"/>
              <a:t> a control </a:t>
            </a:r>
            <a:r>
              <a:rPr lang="fr-FR" dirty="0" err="1"/>
              <a:t>tower</a:t>
            </a:r>
            <a:r>
              <a:rPr lang="fr-FR" dirty="0"/>
              <a:t> </a:t>
            </a:r>
            <a:r>
              <a:rPr lang="fr-FR" dirty="0" err="1"/>
              <a:t>where</a:t>
            </a:r>
            <a:r>
              <a:rPr lang="fr-FR" dirty="0"/>
              <a:t> the </a:t>
            </a:r>
            <a:r>
              <a:rPr lang="fr-FR" dirty="0" err="1"/>
              <a:t>operator</a:t>
            </a:r>
            <a:r>
              <a:rPr lang="fr-FR" dirty="0"/>
              <a:t> </a:t>
            </a:r>
            <a:r>
              <a:rPr lang="fr-FR" dirty="0" err="1"/>
              <a:t>receives</a:t>
            </a:r>
            <a:r>
              <a:rPr lang="fr-FR" dirty="0"/>
              <a:t> </a:t>
            </a:r>
            <a:r>
              <a:rPr lang="fr-FR" dirty="0" err="1"/>
              <a:t>decisions</a:t>
            </a:r>
            <a:r>
              <a:rPr lang="fr-FR" dirty="0"/>
              <a:t>.</a:t>
            </a:r>
          </a:p>
          <a:p>
            <a:endParaRPr lang="fr-FR" dirty="0"/>
          </a:p>
          <a:p>
            <a:r>
              <a:rPr lang="fr-FR" dirty="0" err="1"/>
              <a:t>Fifteen</a:t>
            </a:r>
            <a:r>
              <a:rPr lang="fr-FR" dirty="0"/>
              <a:t> </a:t>
            </a:r>
            <a:r>
              <a:rPr lang="fr-FR" dirty="0" err="1"/>
              <a:t>years</a:t>
            </a:r>
            <a:r>
              <a:rPr lang="fr-FR" dirty="0"/>
              <a:t> running </a:t>
            </a:r>
            <a:r>
              <a:rPr lang="fr-FR" dirty="0" err="1"/>
              <a:t>away</a:t>
            </a:r>
            <a:r>
              <a:rPr lang="fr-FR" dirty="0"/>
              <a:t> </a:t>
            </a:r>
            <a:r>
              <a:rPr lang="fr-FR" dirty="0" err="1"/>
              <a:t>from</a:t>
            </a:r>
            <a:r>
              <a:rPr lang="fr-FR" dirty="0"/>
              <a:t> the </a:t>
            </a:r>
            <a:r>
              <a:rPr lang="fr-FR" dirty="0" err="1"/>
              <a:t>human</a:t>
            </a:r>
            <a:r>
              <a:rPr lang="fr-FR" dirty="0"/>
              <a:t> </a:t>
            </a:r>
            <a:r>
              <a:rPr lang="fr-FR" dirty="0" err="1"/>
              <a:t>declarant</a:t>
            </a:r>
            <a:r>
              <a:rPr lang="fr-FR" dirty="0"/>
              <a:t>.</a:t>
            </a:r>
          </a:p>
          <a:p>
            <a:endParaRPr lang="fr-FR" dirty="0"/>
          </a:p>
          <a:p>
            <a:r>
              <a:rPr lang="fr-FR" dirty="0"/>
              <a:t>So the gap </a:t>
            </a:r>
            <a:r>
              <a:rPr lang="fr-FR" dirty="0" err="1"/>
              <a:t>is</a:t>
            </a:r>
            <a:r>
              <a:rPr lang="fr-FR" dirty="0"/>
              <a:t> </a:t>
            </a:r>
            <a:r>
              <a:rPr lang="fr-FR" dirty="0" err="1"/>
              <a:t>specific</a:t>
            </a:r>
            <a:r>
              <a:rPr lang="fr-FR" dirty="0"/>
              <a:t>. No system, </a:t>
            </a:r>
            <a:r>
              <a:rPr lang="fr-FR" dirty="0" err="1"/>
              <a:t>published</a:t>
            </a:r>
            <a:r>
              <a:rPr lang="fr-FR" dirty="0"/>
              <a:t> or </a:t>
            </a:r>
            <a:r>
              <a:rPr lang="fr-FR" dirty="0" err="1"/>
              <a:t>patented</a:t>
            </a:r>
            <a:r>
              <a:rPr lang="fr-FR" dirty="0"/>
              <a:t>, </a:t>
            </a:r>
            <a:r>
              <a:rPr lang="fr-FR" dirty="0" err="1"/>
              <a:t>elicits</a:t>
            </a:r>
            <a:r>
              <a:rPr lang="fr-FR" dirty="0"/>
              <a:t> a </a:t>
            </a:r>
            <a:r>
              <a:rPr lang="fr-FR" dirty="0" err="1"/>
              <a:t>declared</a:t>
            </a:r>
            <a:r>
              <a:rPr lang="fr-FR" dirty="0"/>
              <a:t> </a:t>
            </a:r>
            <a:r>
              <a:rPr lang="fr-FR" dirty="0" err="1"/>
              <a:t>urgency</a:t>
            </a:r>
            <a:r>
              <a:rPr lang="fr-FR" dirty="0"/>
              <a:t>, </a:t>
            </a:r>
            <a:r>
              <a:rPr lang="fr-FR" dirty="0" err="1"/>
              <a:t>computes</a:t>
            </a:r>
            <a:r>
              <a:rPr lang="fr-FR" dirty="0"/>
              <a:t> </a:t>
            </a:r>
            <a:r>
              <a:rPr lang="fr-FR" dirty="0" err="1"/>
              <a:t>its</a:t>
            </a:r>
            <a:r>
              <a:rPr lang="fr-FR" dirty="0"/>
              <a:t> </a:t>
            </a:r>
            <a:r>
              <a:rPr lang="fr-FR" dirty="0" err="1"/>
              <a:t>counterpart</a:t>
            </a:r>
            <a:r>
              <a:rPr lang="fr-FR" dirty="0"/>
              <a:t> on the </a:t>
            </a:r>
            <a:r>
              <a:rPr lang="fr-FR" dirty="0" err="1"/>
              <a:t>same</a:t>
            </a:r>
            <a:r>
              <a:rPr lang="fr-FR" dirty="0"/>
              <a:t> </a:t>
            </a:r>
            <a:r>
              <a:rPr lang="fr-FR" dirty="0" err="1"/>
              <a:t>node</a:t>
            </a:r>
            <a:r>
              <a:rPr lang="fr-FR" dirty="0"/>
              <a:t>, and scores the </a:t>
            </a:r>
            <a:r>
              <a:rPr lang="fr-FR" dirty="0" err="1"/>
              <a:t>difference</a:t>
            </a:r>
            <a:r>
              <a:rPr lang="fr-FR" dirty="0"/>
              <a:t> </a:t>
            </a:r>
            <a:r>
              <a:rPr lang="fr-FR" dirty="0" err="1"/>
              <a:t>against</a:t>
            </a:r>
            <a:r>
              <a:rPr lang="fr-FR" dirty="0"/>
              <a:t> </a:t>
            </a:r>
            <a:r>
              <a:rPr lang="fr-FR" dirty="0" err="1"/>
              <a:t>recorded</a:t>
            </a:r>
            <a:r>
              <a:rPr lang="fr-FR" dirty="0"/>
              <a:t> </a:t>
            </a:r>
            <a:r>
              <a:rPr lang="fr-FR" dirty="0" err="1"/>
              <a:t>outcomes</a:t>
            </a:r>
            <a:endParaRPr lang="fr-FR" dirty="0"/>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objectives</a:t>
            </a:r>
          </a:p>
          <a:p>
            <a:r>
              <a:rPr lang="fr-FR" dirty="0"/>
              <a:t>I flag the </a:t>
            </a:r>
            <a:r>
              <a:rPr lang="fr-FR" dirty="0" err="1"/>
              <a:t>fourth</a:t>
            </a:r>
            <a:r>
              <a:rPr lang="fr-FR" dirty="0"/>
              <a:t> </a:t>
            </a:r>
            <a:r>
              <a:rPr lang="fr-FR" dirty="0" err="1"/>
              <a:t>now</a:t>
            </a:r>
            <a:r>
              <a:rPr lang="fr-FR" dirty="0"/>
              <a:t>, </a:t>
            </a:r>
            <a:r>
              <a:rPr lang="fr-FR" dirty="0" err="1"/>
              <a:t>because</a:t>
            </a:r>
            <a:r>
              <a:rPr lang="fr-FR" dirty="0"/>
              <a:t> </a:t>
            </a:r>
            <a:r>
              <a:rPr lang="fr-FR" dirty="0" err="1"/>
              <a:t>it</a:t>
            </a:r>
            <a:r>
              <a:rPr lang="fr-FR" dirty="0"/>
              <a:t> </a:t>
            </a:r>
            <a:r>
              <a:rPr lang="fr-FR" dirty="0" err="1"/>
              <a:t>changed</a:t>
            </a:r>
            <a:r>
              <a:rPr lang="fr-FR" dirty="0"/>
              <a:t> the </a:t>
            </a:r>
            <a:r>
              <a:rPr lang="fr-FR" dirty="0" err="1"/>
              <a:t>shape</a:t>
            </a:r>
            <a:r>
              <a:rPr lang="fr-FR" dirty="0"/>
              <a:t> of the mission.</a:t>
            </a:r>
          </a:p>
          <a:p>
            <a:r>
              <a:rPr lang="fr-FR" dirty="0" err="1"/>
              <a:t>Its</a:t>
            </a:r>
            <a:r>
              <a:rPr lang="fr-FR" dirty="0"/>
              <a:t> test runs </a:t>
            </a:r>
            <a:r>
              <a:rPr lang="fr-FR" dirty="0" err="1"/>
              <a:t>inside</a:t>
            </a:r>
            <a:r>
              <a:rPr lang="fr-FR" dirty="0"/>
              <a:t> the </a:t>
            </a:r>
            <a:r>
              <a:rPr lang="fr-FR" dirty="0" err="1"/>
              <a:t>serious</a:t>
            </a:r>
            <a:r>
              <a:rPr lang="fr-FR" dirty="0"/>
              <a:t> </a:t>
            </a:r>
            <a:r>
              <a:rPr lang="fr-FR" dirty="0" err="1"/>
              <a:t>game</a:t>
            </a:r>
            <a:r>
              <a:rPr lang="fr-FR" dirty="0"/>
              <a:t>, </a:t>
            </a:r>
            <a:r>
              <a:rPr lang="fr-FR" dirty="0" err="1"/>
              <a:t>against</a:t>
            </a:r>
            <a:r>
              <a:rPr lang="fr-FR" dirty="0"/>
              <a:t> a </a:t>
            </a:r>
            <a:r>
              <a:rPr lang="fr-FR" dirty="0" err="1"/>
              <a:t>baseline</a:t>
            </a:r>
            <a:endParaRPr lang="fr-FR" dirty="0"/>
          </a:p>
          <a:p>
            <a:r>
              <a:rPr lang="fr-FR" dirty="0"/>
              <a:t>Holding to </a:t>
            </a:r>
            <a:r>
              <a:rPr lang="fr-FR" dirty="0" err="1"/>
              <a:t>that</a:t>
            </a:r>
            <a:r>
              <a:rPr lang="fr-FR" dirty="0"/>
              <a:t> clause </a:t>
            </a:r>
            <a:r>
              <a:rPr lang="fr-FR" dirty="0" err="1"/>
              <a:t>turned</a:t>
            </a:r>
            <a:r>
              <a:rPr lang="fr-FR" dirty="0"/>
              <a:t> a validation </a:t>
            </a:r>
            <a:r>
              <a:rPr lang="fr-FR" dirty="0" err="1"/>
              <a:t>step</a:t>
            </a:r>
            <a:r>
              <a:rPr lang="fr-FR" dirty="0"/>
              <a:t> </a:t>
            </a:r>
            <a:r>
              <a:rPr lang="fr-FR" dirty="0" err="1"/>
              <a:t>into</a:t>
            </a:r>
            <a:r>
              <a:rPr lang="fr-FR" dirty="0"/>
              <a:t> the main contribution.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LEFT , </a:t>
            </a:r>
            <a:r>
              <a:rPr lang="fr-FR" dirty="0" err="1"/>
              <a:t>declared</a:t>
            </a:r>
            <a:r>
              <a:rPr lang="fr-FR" dirty="0"/>
              <a:t> </a:t>
            </a:r>
            <a:r>
              <a:rPr lang="fr-FR" dirty="0" err="1"/>
              <a:t>urgency</a:t>
            </a:r>
            <a:r>
              <a:rPr lang="fr-FR" dirty="0"/>
              <a:t>: </a:t>
            </a:r>
            <a:r>
              <a:rPr lang="fr-FR" dirty="0" err="1"/>
              <a:t>Each</a:t>
            </a:r>
            <a:r>
              <a:rPr lang="fr-FR" dirty="0"/>
              <a:t> </a:t>
            </a:r>
            <a:r>
              <a:rPr lang="fr-FR" dirty="0" err="1"/>
              <a:t>node</a:t>
            </a:r>
            <a:r>
              <a:rPr lang="fr-FR" dirty="0"/>
              <a:t> the </a:t>
            </a:r>
            <a:r>
              <a:rPr lang="fr-FR" dirty="0" err="1"/>
              <a:t>operator</a:t>
            </a:r>
            <a:r>
              <a:rPr lang="fr-FR" dirty="0"/>
              <a:t> compares 4 </a:t>
            </a:r>
            <a:r>
              <a:rPr lang="fr-FR" dirty="0" err="1"/>
              <a:t>criteria</a:t>
            </a:r>
            <a:r>
              <a:rPr lang="fr-FR" dirty="0"/>
              <a:t> </a:t>
            </a:r>
            <a:r>
              <a:rPr lang="fr-FR" dirty="0" err="1"/>
              <a:t>pairwise</a:t>
            </a:r>
            <a:r>
              <a:rPr lang="fr-FR" dirty="0"/>
              <a:t>, </a:t>
            </a:r>
            <a:r>
              <a:rPr lang="fr-FR" dirty="0" err="1"/>
              <a:t>which</a:t>
            </a:r>
            <a:r>
              <a:rPr lang="fr-FR" dirty="0"/>
              <a:t> </a:t>
            </a:r>
            <a:r>
              <a:rPr lang="fr-FR" dirty="0" err="1"/>
              <a:t>yields</a:t>
            </a:r>
            <a:r>
              <a:rPr lang="fr-FR" dirty="0"/>
              <a:t> to a </a:t>
            </a:r>
            <a:r>
              <a:rPr lang="fr-FR" dirty="0" err="1"/>
              <a:t>consistency-checked</a:t>
            </a:r>
            <a:r>
              <a:rPr lang="fr-FR" dirty="0"/>
              <a:t> </a:t>
            </a:r>
            <a:r>
              <a:rPr lang="fr-FR" dirty="0" err="1"/>
              <a:t>method</a:t>
            </a:r>
            <a:r>
              <a:rPr lang="fr-FR" dirty="0"/>
              <a:t> for </a:t>
            </a:r>
            <a:r>
              <a:rPr lang="fr-FR" dirty="0" err="1"/>
              <a:t>each</a:t>
            </a:r>
            <a:r>
              <a:rPr lang="fr-FR" dirty="0"/>
              <a:t> </a:t>
            </a:r>
            <a:r>
              <a:rPr lang="fr-FR" dirty="0" err="1"/>
              <a:t>criterion</a:t>
            </a:r>
            <a:endParaRPr lang="fr-FR" dirty="0"/>
          </a:p>
          <a:p>
            <a:r>
              <a:rPr lang="fr-FR" dirty="0"/>
              <a:t>On the RIGHT, </a:t>
            </a:r>
            <a:r>
              <a:rPr lang="fr-FR" dirty="0" err="1"/>
              <a:t>computed</a:t>
            </a:r>
            <a:r>
              <a:rPr lang="fr-FR" dirty="0"/>
              <a:t> </a:t>
            </a:r>
            <a:r>
              <a:rPr lang="fr-FR" dirty="0" err="1"/>
              <a:t>urgency</a:t>
            </a:r>
            <a:r>
              <a:rPr lang="fr-FR" dirty="0"/>
              <a:t>, </a:t>
            </a:r>
            <a:r>
              <a:rPr lang="fr-FR" dirty="0" err="1"/>
              <a:t>from</a:t>
            </a:r>
            <a:r>
              <a:rPr lang="fr-FR" dirty="0"/>
              <a:t> 6 </a:t>
            </a:r>
            <a:r>
              <a:rPr lang="fr-FR" dirty="0" err="1"/>
              <a:t>indicator</a:t>
            </a:r>
            <a:r>
              <a:rPr lang="fr-FR" dirty="0"/>
              <a:t> blocks.</a:t>
            </a:r>
          </a:p>
          <a:p>
            <a:endParaRPr lang="fr-FR" dirty="0"/>
          </a:p>
          <a:p>
            <a:r>
              <a:rPr lang="fr-FR" dirty="0"/>
              <a:t>They all have </a:t>
            </a:r>
            <a:r>
              <a:rPr lang="fr-FR" dirty="0" err="1"/>
              <a:t>contrepart</a:t>
            </a:r>
            <a:r>
              <a:rPr lang="fr-FR" dirty="0"/>
              <a:t> </a:t>
            </a:r>
            <a:r>
              <a:rPr lang="fr-FR" dirty="0" err="1"/>
              <a:t>so</a:t>
            </a:r>
            <a:r>
              <a:rPr lang="fr-FR" dirty="0"/>
              <a:t> </a:t>
            </a:r>
            <a:r>
              <a:rPr lang="fr-FR" dirty="0" err="1"/>
              <a:t>they</a:t>
            </a:r>
            <a:r>
              <a:rPr lang="fr-FR" dirty="0"/>
              <a:t> can </a:t>
            </a:r>
            <a:r>
              <a:rPr lang="fr-FR" dirty="0" err="1"/>
              <a:t>be</a:t>
            </a:r>
            <a:r>
              <a:rPr lang="fr-FR" dirty="0"/>
              <a:t> </a:t>
            </a:r>
            <a:r>
              <a:rPr lang="fr-FR" dirty="0" err="1"/>
              <a:t>compared</a:t>
            </a:r>
            <a:r>
              <a:rPr lang="fr-FR" dirty="0"/>
              <a:t> </a:t>
            </a:r>
            <a:r>
              <a:rPr lang="fr-FR" dirty="0" err="1"/>
              <a:t>together</a:t>
            </a:r>
            <a:endParaRPr lang="fr-FR" dirty="0"/>
          </a:p>
          <a:p>
            <a:r>
              <a:rPr lang="fr-FR" dirty="0"/>
              <a:t>Just Cost and C02 </a:t>
            </a:r>
            <a:r>
              <a:rPr lang="fr-FR" dirty="0" err="1"/>
              <a:t>haven’t</a:t>
            </a:r>
            <a:r>
              <a:rPr lang="fr-FR" dirty="0"/>
              <a:t> as </a:t>
            </a:r>
            <a:r>
              <a:rPr lang="fr-FR" dirty="0" err="1"/>
              <a:t>they</a:t>
            </a:r>
            <a:r>
              <a:rPr lang="fr-FR" dirty="0"/>
              <a:t> are </a:t>
            </a:r>
            <a:r>
              <a:rPr lang="fr-FR" dirty="0" err="1"/>
              <a:t>arbitrate</a:t>
            </a:r>
            <a:r>
              <a:rPr lang="fr-FR" dirty="0"/>
              <a:t>.</a:t>
            </a:r>
            <a:br>
              <a:rPr lang="fr-FR" dirty="0"/>
            </a:br>
            <a:br>
              <a:rPr lang="fr-FR" dirty="0"/>
            </a:br>
            <a:r>
              <a:rPr lang="fr-FR" dirty="0"/>
              <a:t>The 1st part of the </a:t>
            </a:r>
            <a:r>
              <a:rPr lang="fr-FR" dirty="0" err="1"/>
              <a:t>internship</a:t>
            </a:r>
            <a:r>
              <a:rPr lang="fr-FR" dirty="0"/>
              <a:t> has to </a:t>
            </a:r>
            <a:r>
              <a:rPr lang="fr-FR" dirty="0" err="1"/>
              <a:t>make</a:t>
            </a:r>
            <a:r>
              <a:rPr lang="fr-FR" dirty="0"/>
              <a:t> </a:t>
            </a:r>
            <a:r>
              <a:rPr lang="fr-FR" dirty="0" err="1"/>
              <a:t>this</a:t>
            </a:r>
            <a:r>
              <a:rPr lang="fr-FR" dirty="0"/>
              <a:t> to </a:t>
            </a:r>
            <a:r>
              <a:rPr lang="fr-FR" dirty="0" err="1"/>
              <a:t>get</a:t>
            </a:r>
            <a:r>
              <a:rPr lang="fr-FR" dirty="0"/>
              <a:t> the </a:t>
            </a:r>
            <a:r>
              <a:rPr lang="fr-FR" dirty="0" err="1"/>
              <a:t>Adequacy</a:t>
            </a:r>
            <a:r>
              <a:rPr lang="fr-FR" dirty="0"/>
              <a:t> score </a:t>
            </a:r>
            <a:r>
              <a:rPr lang="fr-FR" dirty="0" err="1"/>
              <a:t>wich</a:t>
            </a:r>
            <a:r>
              <a:rPr lang="fr-FR" dirty="0"/>
              <a:t> </a:t>
            </a:r>
            <a:r>
              <a:rPr lang="fr-FR" dirty="0" err="1"/>
              <a:t>is</a:t>
            </a:r>
            <a:r>
              <a:rPr lang="fr-FR" dirty="0"/>
              <a:t> the distance </a:t>
            </a:r>
            <a:r>
              <a:rPr lang="fr-FR" dirty="0" err="1"/>
              <a:t>between</a:t>
            </a:r>
            <a:r>
              <a:rPr lang="fr-FR" dirty="0"/>
              <a:t> the types of </a:t>
            </a:r>
            <a:r>
              <a:rPr lang="fr-FR" dirty="0" err="1"/>
              <a:t>urgency</a:t>
            </a:r>
            <a:r>
              <a:rPr lang="fr-FR" dirty="0"/>
              <a:t>, on a 0-100 </a:t>
            </a:r>
            <a:r>
              <a:rPr lang="fr-FR" dirty="0" err="1"/>
              <a:t>scale</a:t>
            </a:r>
            <a:r>
              <a:rPr lang="fr-FR" dirty="0"/>
              <a:t>, and </a:t>
            </a:r>
            <a:r>
              <a:rPr lang="fr-FR" dirty="0" err="1"/>
              <a:t>it</a:t>
            </a:r>
            <a:r>
              <a:rPr lang="fr-FR" dirty="0"/>
              <a:t> </a:t>
            </a:r>
            <a:r>
              <a:rPr lang="fr-FR" dirty="0" err="1"/>
              <a:t>is</a:t>
            </a:r>
            <a:r>
              <a:rPr lang="fr-FR" dirty="0"/>
              <a:t> made </a:t>
            </a:r>
            <a:r>
              <a:rPr lang="fr-FR" dirty="0" err="1"/>
              <a:t>delibertely</a:t>
            </a:r>
            <a:r>
              <a:rPr lang="fr-FR" dirty="0"/>
              <a:t> </a:t>
            </a:r>
            <a:r>
              <a:rPr lang="fr-FR" dirty="0" err="1"/>
              <a:t>asymmetric</a:t>
            </a:r>
            <a:r>
              <a:rPr lang="fr-FR" dirty="0"/>
              <a:t>.</a:t>
            </a:r>
          </a:p>
          <a:p>
            <a:endParaRPr lang="fr-FR" dirty="0"/>
          </a:p>
          <a:p>
            <a:r>
              <a:rPr lang="fr-FR" dirty="0"/>
              <a:t>False </a:t>
            </a:r>
            <a:r>
              <a:rPr lang="fr-FR" dirty="0" err="1"/>
              <a:t>urgency</a:t>
            </a:r>
            <a:r>
              <a:rPr lang="fr-FR" dirty="0"/>
              <a:t> </a:t>
            </a:r>
            <a:r>
              <a:rPr lang="fr-FR" dirty="0" err="1"/>
              <a:t>costs</a:t>
            </a:r>
            <a:r>
              <a:rPr lang="fr-FR" dirty="0"/>
              <a:t> one. Hidden </a:t>
            </a:r>
            <a:r>
              <a:rPr lang="fr-FR" dirty="0" err="1"/>
              <a:t>risk</a:t>
            </a:r>
            <a:r>
              <a:rPr lang="fr-FR" dirty="0"/>
              <a:t> </a:t>
            </a:r>
            <a:r>
              <a:rPr lang="fr-FR" dirty="0" err="1"/>
              <a:t>costs</a:t>
            </a:r>
            <a:r>
              <a:rPr lang="fr-FR" dirty="0"/>
              <a:t> </a:t>
            </a:r>
            <a:r>
              <a:rPr lang="fr-FR" dirty="0" err="1"/>
              <a:t>twice</a:t>
            </a:r>
            <a:r>
              <a:rPr lang="fr-FR" dirty="0"/>
              <a:t> as </a:t>
            </a:r>
            <a:r>
              <a:rPr lang="fr-FR" dirty="0" err="1"/>
              <a:t>much</a:t>
            </a:r>
            <a:r>
              <a:rPr lang="fr-FR" dirty="0"/>
              <a:t>.</a:t>
            </a:r>
          </a:p>
          <a:p>
            <a:endParaRPr lang="fr-FR" dirty="0"/>
          </a:p>
          <a:p>
            <a:r>
              <a:rPr lang="fr-FR" dirty="0"/>
              <a:t>That </a:t>
            </a:r>
            <a:r>
              <a:rPr lang="fr-FR" dirty="0" err="1"/>
              <a:t>is</a:t>
            </a:r>
            <a:r>
              <a:rPr lang="fr-FR" dirty="0"/>
              <a:t> the </a:t>
            </a:r>
            <a:r>
              <a:rPr lang="fr-FR" dirty="0" err="1"/>
              <a:t>rule</a:t>
            </a:r>
            <a:r>
              <a:rPr lang="fr-FR" dirty="0"/>
              <a:t> </a:t>
            </a:r>
            <a:r>
              <a:rPr lang="fr-FR" dirty="0" err="1"/>
              <a:t>clinical</a:t>
            </a:r>
            <a:r>
              <a:rPr lang="fr-FR" dirty="0"/>
              <a:t> triage has </a:t>
            </a:r>
            <a:r>
              <a:rPr lang="fr-FR" dirty="0" err="1"/>
              <a:t>applied</a:t>
            </a:r>
            <a:r>
              <a:rPr lang="fr-FR" dirty="0"/>
              <a:t> for </a:t>
            </a:r>
            <a:r>
              <a:rPr lang="fr-FR" dirty="0" err="1"/>
              <a:t>decades</a:t>
            </a:r>
            <a:r>
              <a:rPr lang="fr-FR" dirty="0"/>
              <a:t>: </a:t>
            </a:r>
            <a:r>
              <a:rPr lang="fr-FR" dirty="0" err="1"/>
              <a:t>under</a:t>
            </a:r>
            <a:r>
              <a:rPr lang="fr-FR" dirty="0"/>
              <a:t>-triage </a:t>
            </a:r>
            <a:r>
              <a:rPr lang="fr-FR" dirty="0" err="1"/>
              <a:t>costs</a:t>
            </a:r>
            <a:r>
              <a:rPr lang="fr-FR" dirty="0"/>
              <a:t> a life </a:t>
            </a:r>
            <a:r>
              <a:rPr lang="fr-FR" dirty="0" err="1"/>
              <a:t>where</a:t>
            </a:r>
            <a:r>
              <a:rPr lang="fr-FR" dirty="0"/>
              <a:t> over-triage </a:t>
            </a:r>
            <a:r>
              <a:rPr lang="fr-FR" dirty="0" err="1"/>
              <a:t>costs</a:t>
            </a:r>
            <a:r>
              <a:rPr lang="fr-FR" dirty="0"/>
              <a:t> a queue. </a:t>
            </a:r>
            <a:r>
              <a:rPr lang="fr-FR" dirty="0" err="1"/>
              <a:t>We</a:t>
            </a:r>
            <a:r>
              <a:rPr lang="fr-FR" dirty="0"/>
              <a:t> </a:t>
            </a:r>
            <a:r>
              <a:rPr lang="fr-FR" dirty="0" err="1"/>
              <a:t>mimic</a:t>
            </a:r>
            <a:r>
              <a:rPr lang="fr-FR" dirty="0"/>
              <a:t> </a:t>
            </a:r>
            <a:r>
              <a:rPr lang="fr-FR" dirty="0" err="1"/>
              <a:t>this</a:t>
            </a:r>
            <a:r>
              <a:rPr lang="fr-FR" dirty="0"/>
              <a:t> </a:t>
            </a:r>
            <a:r>
              <a:rPr lang="fr-FR" dirty="0" err="1"/>
              <a:t>here</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moment on the </a:t>
            </a:r>
            <a:r>
              <a:rPr lang="fr-FR" dirty="0" err="1"/>
              <a:t>aggregation</a:t>
            </a:r>
            <a:r>
              <a:rPr lang="fr-FR" dirty="0"/>
              <a:t> </a:t>
            </a:r>
            <a:r>
              <a:rPr lang="fr-FR" dirty="0" err="1"/>
              <a:t>method</a:t>
            </a:r>
            <a:r>
              <a:rPr lang="fr-FR" dirty="0"/>
              <a:t>, </a:t>
            </a:r>
            <a:r>
              <a:rPr lang="fr-FR" dirty="0" err="1"/>
              <a:t>because</a:t>
            </a:r>
            <a:r>
              <a:rPr lang="fr-FR" dirty="0"/>
              <a:t> </a:t>
            </a:r>
            <a:r>
              <a:rPr lang="fr-FR" dirty="0" err="1"/>
              <a:t>it</a:t>
            </a:r>
            <a:r>
              <a:rPr lang="fr-FR" dirty="0"/>
              <a:t> </a:t>
            </a:r>
            <a:r>
              <a:rPr lang="fr-FR" dirty="0" err="1"/>
              <a:t>is</a:t>
            </a:r>
            <a:r>
              <a:rPr lang="fr-FR" dirty="0"/>
              <a:t> the central </a:t>
            </a:r>
            <a:r>
              <a:rPr lang="fr-FR" dirty="0" err="1"/>
              <a:t>modelling</a:t>
            </a:r>
            <a:r>
              <a:rPr lang="fr-FR" dirty="0"/>
              <a:t> </a:t>
            </a:r>
            <a:r>
              <a:rPr lang="fr-FR" dirty="0" err="1"/>
              <a:t>decision</a:t>
            </a:r>
            <a:endParaRPr lang="fr-FR" dirty="0"/>
          </a:p>
          <a:p>
            <a:r>
              <a:rPr lang="fr-FR" dirty="0" err="1"/>
              <a:t>Its</a:t>
            </a:r>
            <a:r>
              <a:rPr lang="fr-FR" dirty="0"/>
              <a:t> a non </a:t>
            </a:r>
            <a:r>
              <a:rPr lang="fr-FR" dirty="0" err="1"/>
              <a:t>compensatory</a:t>
            </a:r>
            <a:r>
              <a:rPr lang="fr-FR" dirty="0"/>
              <a:t> </a:t>
            </a:r>
            <a:r>
              <a:rPr lang="fr-FR" dirty="0" err="1"/>
              <a:t>probalistic</a:t>
            </a:r>
            <a:r>
              <a:rPr lang="fr-FR" dirty="0"/>
              <a:t> </a:t>
            </a:r>
            <a:r>
              <a:rPr lang="fr-FR" dirty="0" err="1"/>
              <a:t>aggregation</a:t>
            </a:r>
            <a:r>
              <a:rPr lang="fr-FR" dirty="0"/>
              <a:t> score ; Wich </a:t>
            </a:r>
            <a:r>
              <a:rPr lang="fr-FR" dirty="0" err="1"/>
              <a:t>mean</a:t>
            </a:r>
            <a:r>
              <a:rPr lang="fr-FR" dirty="0"/>
              <a:t> </a:t>
            </a:r>
            <a:r>
              <a:rPr lang="fr-FR" dirty="0" err="1"/>
              <a:t>that</a:t>
            </a:r>
            <a:r>
              <a:rPr lang="fr-FR" dirty="0"/>
              <a:t> </a:t>
            </a:r>
            <a:r>
              <a:rPr lang="fr-FR" dirty="0" err="1"/>
              <a:t>each</a:t>
            </a:r>
            <a:r>
              <a:rPr lang="fr-FR" dirty="0"/>
              <a:t> block are </a:t>
            </a:r>
            <a:r>
              <a:rPr lang="fr-FR" dirty="0" err="1"/>
              <a:t>independently</a:t>
            </a:r>
            <a:r>
              <a:rPr lang="fr-FR" dirty="0"/>
              <a:t> able to </a:t>
            </a:r>
            <a:r>
              <a:rPr lang="fr-FR" dirty="0" err="1"/>
              <a:t>exitate</a:t>
            </a:r>
            <a:r>
              <a:rPr lang="fr-FR" dirty="0"/>
              <a:t> the score </a:t>
            </a:r>
            <a:r>
              <a:rPr lang="fr-FR" dirty="0" err="1"/>
              <a:t>without</a:t>
            </a:r>
            <a:r>
              <a:rPr lang="fr-FR" dirty="0"/>
              <a:t> </a:t>
            </a:r>
            <a:r>
              <a:rPr lang="fr-FR" dirty="0" err="1"/>
              <a:t>masking</a:t>
            </a:r>
            <a:r>
              <a:rPr lang="fr-FR" dirty="0"/>
              <a:t> </a:t>
            </a:r>
            <a:r>
              <a:rPr lang="fr-FR" dirty="0" err="1"/>
              <a:t>other</a:t>
            </a:r>
            <a:r>
              <a:rPr lang="fr-FR" dirty="0"/>
              <a:t> values !</a:t>
            </a:r>
          </a:p>
          <a:p>
            <a:r>
              <a:rPr lang="fr-FR" dirty="0"/>
              <a:t>It </a:t>
            </a:r>
            <a:r>
              <a:rPr lang="fr-FR" dirty="0" err="1"/>
              <a:t>is</a:t>
            </a:r>
            <a:r>
              <a:rPr lang="fr-FR" dirty="0"/>
              <a:t> </a:t>
            </a:r>
            <a:r>
              <a:rPr lang="fr-FR" dirty="0" err="1"/>
              <a:t>calculate</a:t>
            </a:r>
            <a:r>
              <a:rPr lang="fr-FR" dirty="0"/>
              <a:t> as a </a:t>
            </a:r>
            <a:r>
              <a:rPr lang="fr-FR" dirty="0" err="1"/>
              <a:t>probability</a:t>
            </a:r>
            <a:r>
              <a:rPr lang="fr-FR" dirty="0"/>
              <a:t>, and </a:t>
            </a:r>
            <a:r>
              <a:rPr lang="fr-FR" dirty="0" err="1"/>
              <a:t>it</a:t>
            </a:r>
            <a:r>
              <a:rPr lang="fr-FR" dirty="0"/>
              <a:t> </a:t>
            </a:r>
            <a:r>
              <a:rPr lang="fr-FR" dirty="0" err="1"/>
              <a:t>is</a:t>
            </a:r>
            <a:r>
              <a:rPr lang="fr-FR" dirty="0"/>
              <a:t> 1- </a:t>
            </a:r>
            <a:r>
              <a:rPr lang="fr-FR" dirty="0" err="1"/>
              <a:t>probability</a:t>
            </a:r>
            <a:r>
              <a:rPr lang="fr-FR" dirty="0"/>
              <a:t> </a:t>
            </a:r>
            <a:r>
              <a:rPr lang="fr-FR" dirty="0" err="1"/>
              <a:t>that</a:t>
            </a:r>
            <a:r>
              <a:rPr lang="fr-FR" dirty="0"/>
              <a:t> none of </a:t>
            </a:r>
            <a:r>
              <a:rPr lang="fr-FR" dirty="0" err="1"/>
              <a:t>them</a:t>
            </a:r>
            <a:r>
              <a:rPr lang="fr-FR" dirty="0"/>
              <a:t> </a:t>
            </a:r>
            <a:r>
              <a:rPr lang="fr-FR" dirty="0" err="1"/>
              <a:t>fires</a:t>
            </a:r>
            <a:r>
              <a:rPr lang="fr-FR" dirty="0"/>
              <a:t>.</a:t>
            </a:r>
          </a:p>
          <a:p>
            <a:endParaRPr lang="fr-FR" dirty="0"/>
          </a:p>
          <a:p>
            <a:r>
              <a:rPr lang="fr-FR" dirty="0"/>
              <a:t>In the littérature </a:t>
            </a:r>
            <a:r>
              <a:rPr lang="fr-FR" dirty="0" err="1"/>
              <a:t>this</a:t>
            </a:r>
            <a:r>
              <a:rPr lang="fr-FR" dirty="0"/>
              <a:t> </a:t>
            </a:r>
            <a:r>
              <a:rPr lang="fr-FR" dirty="0" err="1"/>
              <a:t>aggrgation</a:t>
            </a:r>
            <a:r>
              <a:rPr lang="fr-FR" dirty="0"/>
              <a:t> </a:t>
            </a:r>
            <a:r>
              <a:rPr lang="fr-FR" dirty="0" err="1"/>
              <a:t>methode</a:t>
            </a:r>
            <a:r>
              <a:rPr lang="fr-FR" dirty="0"/>
              <a:t> are </a:t>
            </a:r>
            <a:r>
              <a:rPr lang="fr-FR" dirty="0" err="1"/>
              <a:t>called</a:t>
            </a:r>
            <a:r>
              <a:rPr lang="fr-FR" dirty="0"/>
              <a:t> OR like the </a:t>
            </a:r>
            <a:r>
              <a:rPr lang="fr-FR" dirty="0" err="1"/>
              <a:t>logical</a:t>
            </a:r>
            <a:r>
              <a:rPr lang="fr-FR" dirty="0"/>
              <a:t> connective.</a:t>
            </a:r>
            <a:br>
              <a:rPr lang="fr-FR" dirty="0"/>
            </a:br>
            <a:r>
              <a:rPr lang="fr-FR" dirty="0" err="1"/>
              <a:t>See</a:t>
            </a:r>
            <a:r>
              <a:rPr lang="fr-FR" dirty="0"/>
              <a:t> </a:t>
            </a:r>
            <a:r>
              <a:rPr lang="fr-FR" dirty="0" err="1"/>
              <a:t>here</a:t>
            </a:r>
            <a:r>
              <a:rPr lang="fr-FR" dirty="0"/>
              <a:t> </a:t>
            </a:r>
            <a:r>
              <a:rPr lang="fr-FR" dirty="0" err="1"/>
              <a:t>we</a:t>
            </a:r>
            <a:r>
              <a:rPr lang="fr-FR" dirty="0"/>
              <a:t> have 2 </a:t>
            </a:r>
            <a:r>
              <a:rPr lang="fr-FR" dirty="0" err="1"/>
              <a:t>nodes</a:t>
            </a:r>
            <a:r>
              <a:rPr lang="fr-FR" dirty="0"/>
              <a:t>, A &amp; B. If </a:t>
            </a:r>
            <a:r>
              <a:rPr lang="fr-FR" dirty="0" err="1"/>
              <a:t>we</a:t>
            </a:r>
            <a:r>
              <a:rPr lang="fr-FR" dirty="0"/>
              <a:t> have to </a:t>
            </a:r>
            <a:r>
              <a:rPr lang="fr-FR" dirty="0" err="1"/>
              <a:t>organize</a:t>
            </a:r>
            <a:r>
              <a:rPr lang="fr-FR" dirty="0"/>
              <a:t> </a:t>
            </a:r>
            <a:r>
              <a:rPr lang="fr-FR" dirty="0" err="1"/>
              <a:t>them</a:t>
            </a:r>
            <a:r>
              <a:rPr lang="fr-FR" dirty="0"/>
              <a:t> </a:t>
            </a:r>
            <a:r>
              <a:rPr lang="fr-FR" dirty="0" err="1"/>
              <a:t>into</a:t>
            </a:r>
            <a:r>
              <a:rPr lang="fr-FR" dirty="0"/>
              <a:t> </a:t>
            </a:r>
            <a:r>
              <a:rPr lang="fr-FR" dirty="0" err="1"/>
              <a:t>wich</a:t>
            </a:r>
            <a:r>
              <a:rPr lang="fr-FR" dirty="0"/>
              <a:t> one </a:t>
            </a:r>
            <a:r>
              <a:rPr lang="fr-FR" dirty="0" err="1"/>
              <a:t>need</a:t>
            </a:r>
            <a:r>
              <a:rPr lang="fr-FR" dirty="0"/>
              <a:t> the </a:t>
            </a:r>
            <a:r>
              <a:rPr lang="fr-FR" dirty="0" err="1"/>
              <a:t>most</a:t>
            </a:r>
            <a:r>
              <a:rPr lang="fr-FR" dirty="0"/>
              <a:t> attentions, </a:t>
            </a:r>
            <a:r>
              <a:rPr lang="fr-FR" dirty="0" err="1"/>
              <a:t>we</a:t>
            </a:r>
            <a:r>
              <a:rPr lang="fr-FR" dirty="0"/>
              <a:t> can use the </a:t>
            </a:r>
            <a:r>
              <a:rPr lang="fr-FR" dirty="0" err="1"/>
              <a:t>classical</a:t>
            </a:r>
            <a:r>
              <a:rPr lang="fr-FR" dirty="0"/>
              <a:t> </a:t>
            </a:r>
            <a:r>
              <a:rPr lang="fr-FR" dirty="0" err="1"/>
              <a:t>averge</a:t>
            </a:r>
            <a:r>
              <a:rPr lang="fr-FR" dirty="0"/>
              <a:t> or a </a:t>
            </a:r>
            <a:r>
              <a:rPr lang="fr-FR" dirty="0" err="1"/>
              <a:t>proablistic</a:t>
            </a:r>
            <a:r>
              <a:rPr lang="fr-FR" dirty="0"/>
              <a:t> OR. The </a:t>
            </a:r>
            <a:r>
              <a:rPr lang="fr-FR" dirty="0" err="1"/>
              <a:t>probalistic</a:t>
            </a:r>
            <a:r>
              <a:rPr lang="fr-FR" dirty="0"/>
              <a:t> OR </a:t>
            </a:r>
            <a:r>
              <a:rPr lang="fr-FR" dirty="0" err="1"/>
              <a:t>fits</a:t>
            </a:r>
            <a:r>
              <a:rPr lang="fr-FR" dirty="0"/>
              <a:t> the best.</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Declared</a:t>
            </a:r>
            <a:r>
              <a:rPr lang="fr-FR" dirty="0"/>
              <a:t> </a:t>
            </a:r>
            <a:r>
              <a:rPr lang="fr-FR" dirty="0" err="1"/>
              <a:t>urgency</a:t>
            </a:r>
            <a:r>
              <a:rPr lang="fr-FR" dirty="0"/>
              <a:t> </a:t>
            </a:r>
            <a:r>
              <a:rPr lang="fr-FR" dirty="0" err="1"/>
              <a:t>is</a:t>
            </a:r>
            <a:r>
              <a:rPr lang="fr-FR" dirty="0"/>
              <a:t> an estimations but </a:t>
            </a:r>
            <a:r>
              <a:rPr lang="fr-FR" dirty="0" err="1"/>
              <a:t>we</a:t>
            </a:r>
            <a:r>
              <a:rPr lang="fr-FR" dirty="0"/>
              <a:t> have </a:t>
            </a:r>
            <a:r>
              <a:rPr lang="fr-FR" dirty="0" err="1"/>
              <a:t>tried</a:t>
            </a:r>
            <a:r>
              <a:rPr lang="fr-FR" dirty="0"/>
              <a:t> to </a:t>
            </a:r>
            <a:r>
              <a:rPr lang="fr-FR" dirty="0" err="1"/>
              <a:t>get</a:t>
            </a:r>
            <a:r>
              <a:rPr lang="fr-FR" dirty="0"/>
              <a:t> the </a:t>
            </a:r>
            <a:r>
              <a:rPr lang="fr-FR" dirty="0" err="1"/>
              <a:t>most</a:t>
            </a:r>
            <a:r>
              <a:rPr lang="fr-FR" dirty="0"/>
              <a:t> out of </a:t>
            </a:r>
            <a:r>
              <a:rPr lang="fr-FR" dirty="0" err="1"/>
              <a:t>it</a:t>
            </a:r>
            <a:r>
              <a:rPr lang="fr-FR" dirty="0"/>
              <a:t>. </a:t>
            </a:r>
            <a:r>
              <a:rPr lang="fr-FR" dirty="0" err="1"/>
              <a:t>We</a:t>
            </a:r>
            <a:r>
              <a:rPr lang="fr-FR" dirty="0"/>
              <a:t> use multiple </a:t>
            </a:r>
            <a:r>
              <a:rPr lang="fr-FR" dirty="0" err="1"/>
              <a:t>methods</a:t>
            </a:r>
            <a:r>
              <a:rPr lang="fr-FR" dirty="0"/>
              <a:t> to </a:t>
            </a:r>
            <a:r>
              <a:rPr lang="fr-FR" dirty="0" err="1"/>
              <a:t>calibrate</a:t>
            </a:r>
            <a:r>
              <a:rPr lang="fr-FR" dirty="0"/>
              <a:t> the </a:t>
            </a:r>
            <a:r>
              <a:rPr lang="fr-FR" dirty="0" err="1"/>
              <a:t>tools</a:t>
            </a:r>
            <a:r>
              <a:rPr lang="fr-FR" dirty="0"/>
              <a:t> for the 4 </a:t>
            </a:r>
            <a:r>
              <a:rPr lang="fr-FR" dirty="0" err="1"/>
              <a:t>criteria</a:t>
            </a:r>
            <a:r>
              <a:rPr lang="fr-FR" dirty="0"/>
              <a:t> </a:t>
            </a:r>
            <a:r>
              <a:rPr lang="fr-FR" dirty="0" err="1"/>
              <a:t>conterpart</a:t>
            </a:r>
            <a:r>
              <a:rPr lang="fr-FR" dirty="0"/>
              <a:t>.</a:t>
            </a:r>
          </a:p>
          <a:p>
            <a:r>
              <a:rPr lang="fr-FR" dirty="0"/>
              <a:t>Then </a:t>
            </a:r>
            <a:r>
              <a:rPr lang="fr-FR" dirty="0" err="1"/>
              <a:t>we</a:t>
            </a:r>
            <a:r>
              <a:rPr lang="fr-FR" dirty="0"/>
              <a:t> </a:t>
            </a:r>
            <a:r>
              <a:rPr lang="fr-FR" dirty="0" err="1"/>
              <a:t>used</a:t>
            </a:r>
            <a:r>
              <a:rPr lang="fr-FR" dirty="0"/>
              <a:t> </a:t>
            </a:r>
            <a:r>
              <a:rPr lang="fr-FR" dirty="0" err="1"/>
              <a:t>Analytic</a:t>
            </a:r>
            <a:r>
              <a:rPr lang="fr-FR" dirty="0"/>
              <a:t> </a:t>
            </a:r>
            <a:r>
              <a:rPr lang="fr-FR" dirty="0" err="1"/>
              <a:t>Hyerachy</a:t>
            </a:r>
            <a:r>
              <a:rPr lang="fr-FR" dirty="0"/>
              <a:t> Process </a:t>
            </a:r>
            <a:r>
              <a:rPr lang="fr-FR" dirty="0" err="1"/>
              <a:t>method</a:t>
            </a:r>
            <a:r>
              <a:rPr lang="fr-FR" dirty="0"/>
              <a:t> </a:t>
            </a:r>
            <a:r>
              <a:rPr lang="fr-FR" dirty="0" err="1"/>
              <a:t>each</a:t>
            </a:r>
            <a:r>
              <a:rPr lang="fr-FR" dirty="0"/>
              <a:t> </a:t>
            </a:r>
            <a:r>
              <a:rPr lang="fr-FR" dirty="0" err="1"/>
              <a:t>week</a:t>
            </a:r>
            <a:r>
              <a:rPr lang="fr-FR" dirty="0"/>
              <a:t> to have a new </a:t>
            </a:r>
            <a:r>
              <a:rPr lang="fr-FR" dirty="0" err="1"/>
              <a:t>human</a:t>
            </a:r>
            <a:r>
              <a:rPr lang="fr-FR" dirty="0"/>
              <a:t> data entry, </a:t>
            </a:r>
            <a:r>
              <a:rPr lang="fr-FR" dirty="0" err="1"/>
              <a:t>where</a:t>
            </a:r>
            <a:r>
              <a:rPr lang="fr-FR" dirty="0"/>
              <a:t> </a:t>
            </a:r>
            <a:r>
              <a:rPr lang="fr-FR" dirty="0" err="1"/>
              <a:t>we</a:t>
            </a:r>
            <a:r>
              <a:rPr lang="fr-FR" dirty="0"/>
              <a:t> </a:t>
            </a:r>
            <a:r>
              <a:rPr lang="fr-FR" dirty="0" err="1"/>
              <a:t>ask</a:t>
            </a:r>
            <a:r>
              <a:rPr lang="fr-FR" dirty="0"/>
              <a:t> the </a:t>
            </a:r>
            <a:r>
              <a:rPr lang="fr-FR" dirty="0" err="1"/>
              <a:t>customer</a:t>
            </a:r>
            <a:r>
              <a:rPr lang="fr-FR" dirty="0"/>
              <a:t> to </a:t>
            </a:r>
            <a:r>
              <a:rPr lang="fr-FR" dirty="0" err="1"/>
              <a:t>fill</a:t>
            </a:r>
            <a:r>
              <a:rPr lang="fr-FR" dirty="0"/>
              <a:t> a short </a:t>
            </a:r>
            <a:r>
              <a:rPr lang="fr-FR" dirty="0" err="1"/>
              <a:t>form</a:t>
            </a:r>
            <a:r>
              <a:rPr lang="fr-FR" dirty="0"/>
              <a:t>.</a:t>
            </a:r>
            <a:br>
              <a:rPr lang="fr-FR" dirty="0"/>
            </a:br>
            <a:r>
              <a:rPr lang="fr-FR" dirty="0"/>
              <a:t>AHP </a:t>
            </a:r>
            <a:r>
              <a:rPr lang="fr-FR" dirty="0" err="1"/>
              <a:t>allow</a:t>
            </a:r>
            <a:r>
              <a:rPr lang="fr-FR" dirty="0"/>
              <a:t> us to check the </a:t>
            </a:r>
            <a:r>
              <a:rPr lang="fr-FR" dirty="0" err="1"/>
              <a:t>consitency</a:t>
            </a:r>
            <a:r>
              <a:rPr lang="fr-FR" dirty="0"/>
              <a:t> in the </a:t>
            </a:r>
            <a:r>
              <a:rPr lang="fr-FR" dirty="0" err="1"/>
              <a:t>human</a:t>
            </a:r>
            <a:r>
              <a:rPr lang="fr-FR" dirty="0"/>
              <a:t> </a:t>
            </a:r>
            <a:r>
              <a:rPr lang="fr-FR" dirty="0" err="1"/>
              <a:t>declaration</a:t>
            </a:r>
            <a:r>
              <a:rPr lang="fr-FR" dirty="0"/>
              <a:t>, </a:t>
            </a:r>
            <a:r>
              <a:rPr lang="fr-FR" dirty="0" err="1"/>
              <a:t>so</a:t>
            </a:r>
            <a:r>
              <a:rPr lang="fr-FR" dirty="0"/>
              <a:t> </a:t>
            </a:r>
            <a:r>
              <a:rPr lang="fr-FR" dirty="0" err="1"/>
              <a:t>we</a:t>
            </a:r>
            <a:r>
              <a:rPr lang="fr-FR" dirty="0"/>
              <a:t> can know if </a:t>
            </a:r>
            <a:r>
              <a:rPr lang="fr-FR" dirty="0" err="1"/>
              <a:t>it</a:t>
            </a:r>
            <a:r>
              <a:rPr lang="fr-FR" dirty="0"/>
              <a:t> </a:t>
            </a:r>
            <a:r>
              <a:rPr lang="fr-FR" dirty="0" err="1"/>
              <a:t>is</a:t>
            </a:r>
            <a:r>
              <a:rPr lang="fr-FR" dirty="0"/>
              <a:t> </a:t>
            </a:r>
            <a:r>
              <a:rPr lang="fr-FR" dirty="0" err="1"/>
              <a:t>realiable</a:t>
            </a:r>
            <a:r>
              <a:rPr lang="fr-FR" dirty="0"/>
              <a:t> or not. </a:t>
            </a:r>
            <a:r>
              <a:rPr lang="fr-FR" dirty="0" err="1"/>
              <a:t>Otherwise</a:t>
            </a:r>
            <a:r>
              <a:rPr lang="fr-FR" dirty="0"/>
              <a:t> </a:t>
            </a:r>
            <a:r>
              <a:rPr lang="fr-FR" dirty="0" err="1"/>
              <a:t>we</a:t>
            </a:r>
            <a:r>
              <a:rPr lang="fr-FR" dirty="0"/>
              <a:t> </a:t>
            </a:r>
            <a:r>
              <a:rPr lang="fr-FR" dirty="0" err="1"/>
              <a:t>politely</a:t>
            </a:r>
            <a:r>
              <a:rPr lang="fr-FR" dirty="0"/>
              <a:t> </a:t>
            </a:r>
            <a:r>
              <a:rPr lang="fr-FR" dirty="0" err="1"/>
              <a:t>asked</a:t>
            </a:r>
            <a:r>
              <a:rPr lang="fr-FR" dirty="0"/>
              <a:t> to </a:t>
            </a:r>
            <a:r>
              <a:rPr lang="fr-FR" dirty="0" err="1"/>
              <a:t>review</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When</a:t>
            </a:r>
            <a:r>
              <a:rPr lang="fr-FR" dirty="0"/>
              <a:t> </a:t>
            </a:r>
            <a:r>
              <a:rPr lang="fr-FR" dirty="0" err="1"/>
              <a:t>we</a:t>
            </a:r>
            <a:r>
              <a:rPr lang="fr-FR" dirty="0"/>
              <a:t> have </a:t>
            </a:r>
            <a:r>
              <a:rPr lang="fr-FR" dirty="0" err="1"/>
              <a:t>both</a:t>
            </a:r>
            <a:r>
              <a:rPr lang="fr-FR" dirty="0"/>
              <a:t> </a:t>
            </a:r>
            <a:r>
              <a:rPr lang="fr-FR" dirty="0" err="1"/>
              <a:t>signals</a:t>
            </a:r>
            <a:r>
              <a:rPr lang="fr-FR" dirty="0"/>
              <a:t> over the life of one </a:t>
            </a:r>
            <a:r>
              <a:rPr lang="fr-FR" dirty="0" err="1"/>
              <a:t>task</a:t>
            </a:r>
            <a:r>
              <a:rPr lang="fr-FR" dirty="0"/>
              <a:t>, </a:t>
            </a:r>
            <a:r>
              <a:rPr lang="fr-FR" dirty="0" err="1"/>
              <a:t>we</a:t>
            </a:r>
            <a:r>
              <a:rPr lang="fr-FR" dirty="0"/>
              <a:t> can manage to plot </a:t>
            </a:r>
            <a:r>
              <a:rPr lang="fr-FR" dirty="0" err="1"/>
              <a:t>them</a:t>
            </a:r>
            <a:r>
              <a:rPr lang="fr-FR" dirty="0"/>
              <a:t>, and </a:t>
            </a:r>
            <a:r>
              <a:rPr lang="fr-FR" dirty="0" err="1"/>
              <a:t>see</a:t>
            </a:r>
            <a:r>
              <a:rPr lang="fr-FR" dirty="0"/>
              <a:t> the </a:t>
            </a:r>
            <a:r>
              <a:rPr lang="fr-FR" dirty="0" err="1"/>
              <a:t>mismatch</a:t>
            </a:r>
            <a:r>
              <a:rPr lang="fr-FR" dirty="0"/>
              <a:t>.</a:t>
            </a:r>
          </a:p>
          <a:p>
            <a:endParaRPr lang="fr-FR" dirty="0"/>
          </a:p>
          <a:p>
            <a:r>
              <a:rPr lang="fr-FR" dirty="0"/>
              <a:t>The </a:t>
            </a:r>
            <a:r>
              <a:rPr lang="fr-FR" dirty="0" err="1"/>
              <a:t>declaration</a:t>
            </a:r>
            <a:r>
              <a:rPr lang="fr-FR" dirty="0"/>
              <a:t> </a:t>
            </a:r>
            <a:r>
              <a:rPr lang="fr-FR" dirty="0" err="1"/>
              <a:t>is</a:t>
            </a:r>
            <a:r>
              <a:rPr lang="fr-FR" dirty="0"/>
              <a:t> a </a:t>
            </a:r>
            <a:r>
              <a:rPr lang="fr-FR" dirty="0" err="1"/>
              <a:t>staircase</a:t>
            </a:r>
            <a:r>
              <a:rPr lang="fr-FR" dirty="0"/>
              <a:t> </a:t>
            </a:r>
            <a:r>
              <a:rPr lang="fr-FR" dirty="0" err="1"/>
              <a:t>llok</a:t>
            </a:r>
            <a:r>
              <a:rPr lang="fr-FR" dirty="0"/>
              <a:t> as </a:t>
            </a:r>
            <a:r>
              <a:rPr lang="fr-FR" dirty="0" err="1"/>
              <a:t>it</a:t>
            </a:r>
            <a:r>
              <a:rPr lang="fr-FR" dirty="0"/>
              <a:t> </a:t>
            </a:r>
            <a:r>
              <a:rPr lang="fr-FR" dirty="0" err="1"/>
              <a:t>chnage</a:t>
            </a:r>
            <a:r>
              <a:rPr lang="fr-FR" dirty="0"/>
              <a:t> </a:t>
            </a:r>
            <a:r>
              <a:rPr lang="fr-FR" dirty="0" err="1"/>
              <a:t>only</a:t>
            </a:r>
            <a:r>
              <a:rPr lang="fr-FR" dirty="0"/>
              <a:t> at </a:t>
            </a:r>
            <a:r>
              <a:rPr lang="fr-FR" dirty="0" err="1"/>
              <a:t>each</a:t>
            </a:r>
            <a:r>
              <a:rPr lang="fr-FR" dirty="0"/>
              <a:t> time a </a:t>
            </a:r>
            <a:r>
              <a:rPr lang="fr-FR" dirty="0" err="1"/>
              <a:t>human</a:t>
            </a:r>
            <a:r>
              <a:rPr lang="fr-FR" dirty="0"/>
              <a:t> </a:t>
            </a:r>
            <a:r>
              <a:rPr lang="fr-FR" dirty="0" err="1"/>
              <a:t>give</a:t>
            </a:r>
            <a:r>
              <a:rPr lang="fr-FR" dirty="0"/>
              <a:t> </a:t>
            </a:r>
            <a:r>
              <a:rPr lang="fr-FR" dirty="0" err="1"/>
              <a:t>its</a:t>
            </a:r>
            <a:r>
              <a:rPr lang="fr-FR" dirty="0"/>
              <a:t> signal.</a:t>
            </a:r>
          </a:p>
          <a:p>
            <a:br>
              <a:rPr lang="fr-FR" dirty="0"/>
            </a:br>
            <a:r>
              <a:rPr lang="fr-FR" dirty="0" err="1"/>
              <a:t>Where</a:t>
            </a:r>
            <a:r>
              <a:rPr lang="fr-FR" dirty="0"/>
              <a:t> the </a:t>
            </a:r>
            <a:r>
              <a:rPr lang="fr-FR" dirty="0" err="1"/>
              <a:t>declaration</a:t>
            </a:r>
            <a:r>
              <a:rPr lang="fr-FR" dirty="0"/>
              <a:t> </a:t>
            </a:r>
            <a:r>
              <a:rPr lang="fr-FR" dirty="0" err="1"/>
              <a:t>is</a:t>
            </a:r>
            <a:r>
              <a:rPr lang="fr-FR" dirty="0"/>
              <a:t> </a:t>
            </a:r>
            <a:r>
              <a:rPr lang="fr-FR" dirty="0" err="1"/>
              <a:t>above</a:t>
            </a:r>
            <a:r>
              <a:rPr lang="fr-FR" dirty="0"/>
              <a:t> the state, the </a:t>
            </a:r>
            <a:r>
              <a:rPr lang="fr-FR" dirty="0" err="1"/>
              <a:t>operator</a:t>
            </a:r>
            <a:r>
              <a:rPr lang="fr-FR" dirty="0"/>
              <a:t> </a:t>
            </a:r>
            <a:r>
              <a:rPr lang="fr-FR" dirty="0" err="1"/>
              <a:t>is</a:t>
            </a:r>
            <a:r>
              <a:rPr lang="fr-FR" dirty="0"/>
              <a:t> </a:t>
            </a:r>
            <a:r>
              <a:rPr lang="fr-FR" dirty="0" err="1"/>
              <a:t>spending</a:t>
            </a:r>
            <a:r>
              <a:rPr lang="fr-FR" dirty="0"/>
              <a:t> attention on a </a:t>
            </a:r>
            <a:r>
              <a:rPr lang="fr-FR" dirty="0" err="1"/>
              <a:t>node</a:t>
            </a:r>
            <a:r>
              <a:rPr lang="fr-FR" dirty="0"/>
              <a:t> </a:t>
            </a:r>
            <a:r>
              <a:rPr lang="fr-FR" dirty="0" err="1"/>
              <a:t>that</a:t>
            </a:r>
            <a:r>
              <a:rPr lang="fr-FR" dirty="0"/>
              <a:t> </a:t>
            </a:r>
            <a:r>
              <a:rPr lang="fr-FR" dirty="0" err="1"/>
              <a:t>does</a:t>
            </a:r>
            <a:r>
              <a:rPr lang="fr-FR" dirty="0"/>
              <a:t> not </a:t>
            </a:r>
            <a:r>
              <a:rPr lang="fr-FR" dirty="0" err="1"/>
              <a:t>need</a:t>
            </a:r>
            <a:r>
              <a:rPr lang="fr-FR" dirty="0"/>
              <a:t> </a:t>
            </a:r>
            <a:r>
              <a:rPr lang="fr-FR" dirty="0" err="1"/>
              <a:t>it</a:t>
            </a:r>
            <a:r>
              <a:rPr lang="fr-FR" dirty="0"/>
              <a:t>. </a:t>
            </a:r>
            <a:r>
              <a:rPr lang="fr-FR" dirty="0" err="1"/>
              <a:t>Capacity</a:t>
            </a:r>
            <a:r>
              <a:rPr lang="fr-FR" dirty="0"/>
              <a:t> </a:t>
            </a:r>
            <a:r>
              <a:rPr lang="fr-FR" dirty="0" err="1"/>
              <a:t>taken</a:t>
            </a:r>
            <a:r>
              <a:rPr lang="fr-FR" dirty="0"/>
              <a:t> </a:t>
            </a:r>
            <a:r>
              <a:rPr lang="fr-FR" dirty="0" err="1"/>
              <a:t>from</a:t>
            </a:r>
            <a:r>
              <a:rPr lang="fr-FR" dirty="0"/>
              <a:t> </a:t>
            </a:r>
            <a:r>
              <a:rPr lang="fr-FR" dirty="0" err="1"/>
              <a:t>another</a:t>
            </a:r>
            <a:r>
              <a:rPr lang="fr-FR" dirty="0"/>
              <a:t> flow. </a:t>
            </a:r>
            <a:r>
              <a:rPr lang="fr-FR" dirty="0" err="1"/>
              <a:t>Its</a:t>
            </a:r>
            <a:r>
              <a:rPr lang="fr-FR" dirty="0"/>
              <a:t> False </a:t>
            </a:r>
            <a:r>
              <a:rPr lang="fr-FR" dirty="0" err="1"/>
              <a:t>Urgency</a:t>
            </a:r>
            <a:endParaRPr lang="fr-FR" dirty="0"/>
          </a:p>
          <a:p>
            <a:endParaRPr lang="fr-FR" dirty="0"/>
          </a:p>
          <a:p>
            <a:r>
              <a:rPr lang="fr-FR" dirty="0" err="1"/>
              <a:t>Where</a:t>
            </a:r>
            <a:r>
              <a:rPr lang="fr-FR" dirty="0"/>
              <a:t> the state </a:t>
            </a:r>
            <a:r>
              <a:rPr lang="fr-FR" dirty="0" err="1"/>
              <a:t>is</a:t>
            </a:r>
            <a:r>
              <a:rPr lang="fr-FR" dirty="0"/>
              <a:t> </a:t>
            </a:r>
            <a:r>
              <a:rPr lang="fr-FR" dirty="0" err="1"/>
              <a:t>above</a:t>
            </a:r>
            <a:r>
              <a:rPr lang="fr-FR" dirty="0"/>
              <a:t> the </a:t>
            </a:r>
            <a:r>
              <a:rPr lang="fr-FR" dirty="0" err="1"/>
              <a:t>declaration</a:t>
            </a:r>
            <a:r>
              <a:rPr lang="fr-FR" dirty="0"/>
              <a:t>, </a:t>
            </a:r>
            <a:r>
              <a:rPr lang="fr-FR" dirty="0" err="1"/>
              <a:t>nobody</a:t>
            </a:r>
            <a:r>
              <a:rPr lang="fr-FR" dirty="0"/>
              <a:t> has </a:t>
            </a:r>
            <a:r>
              <a:rPr lang="fr-FR" dirty="0" err="1"/>
              <a:t>raised</a:t>
            </a:r>
            <a:r>
              <a:rPr lang="fr-FR" dirty="0"/>
              <a:t> an </a:t>
            </a:r>
            <a:r>
              <a:rPr lang="fr-FR" dirty="0" err="1"/>
              <a:t>alert</a:t>
            </a:r>
            <a:endParaRPr lang="fr-FR" dirty="0"/>
          </a:p>
          <a:p>
            <a:r>
              <a:rPr lang="fr-FR" dirty="0"/>
              <a:t>That </a:t>
            </a:r>
            <a:r>
              <a:rPr lang="fr-FR" dirty="0" err="1"/>
              <a:t>is</a:t>
            </a:r>
            <a:r>
              <a:rPr lang="fr-FR" dirty="0"/>
              <a:t> </a:t>
            </a:r>
            <a:r>
              <a:rPr lang="fr-FR" dirty="0" err="1"/>
              <a:t>hidden</a:t>
            </a:r>
            <a:r>
              <a:rPr lang="fr-FR" dirty="0"/>
              <a:t> </a:t>
            </a:r>
            <a:r>
              <a:rPr lang="fr-FR" dirty="0" err="1"/>
              <a:t>risk</a:t>
            </a:r>
            <a:r>
              <a:rPr lang="fr-FR" dirty="0"/>
              <a:t>, and </a:t>
            </a:r>
            <a:r>
              <a:rPr lang="fr-FR" dirty="0" err="1"/>
              <a:t>it</a:t>
            </a:r>
            <a:r>
              <a:rPr lang="fr-FR" dirty="0"/>
              <a:t> </a:t>
            </a:r>
            <a:r>
              <a:rPr lang="fr-FR" dirty="0" err="1"/>
              <a:t>what</a:t>
            </a:r>
            <a:r>
              <a:rPr lang="fr-FR" dirty="0"/>
              <a:t> </a:t>
            </a:r>
            <a:r>
              <a:rPr lang="fr-FR" dirty="0" err="1"/>
              <a:t>we</a:t>
            </a:r>
            <a:r>
              <a:rPr lang="fr-FR" dirty="0"/>
              <a:t> are </a:t>
            </a:r>
            <a:r>
              <a:rPr lang="fr-FR" dirty="0" err="1"/>
              <a:t>mostly</a:t>
            </a:r>
            <a:r>
              <a:rPr lang="fr-FR" dirty="0"/>
              <a:t> </a:t>
            </a:r>
            <a:r>
              <a:rPr lang="fr-FR" dirty="0" err="1"/>
              <a:t>looking</a:t>
            </a:r>
            <a:r>
              <a:rPr lang="fr-FR" dirty="0"/>
              <a:t> for.</a:t>
            </a:r>
          </a:p>
          <a:p>
            <a:endParaRPr lang="fr-FR" dirty="0"/>
          </a:p>
          <a:p>
            <a:r>
              <a:rPr lang="fr-FR" dirty="0"/>
              <a:t>Also </a:t>
            </a:r>
            <a:r>
              <a:rPr lang="fr-FR" dirty="0" err="1"/>
              <a:t>this</a:t>
            </a:r>
            <a:r>
              <a:rPr lang="fr-FR" dirty="0"/>
              <a:t> </a:t>
            </a:r>
            <a:r>
              <a:rPr lang="fr-FR" dirty="0" err="1"/>
              <a:t>signals</a:t>
            </a:r>
            <a:r>
              <a:rPr lang="fr-FR" dirty="0"/>
              <a:t> </a:t>
            </a:r>
            <a:r>
              <a:rPr lang="fr-FR" dirty="0" err="1"/>
              <a:t>propagate</a:t>
            </a:r>
            <a:r>
              <a:rPr lang="fr-FR" dirty="0"/>
              <a:t> </a:t>
            </a:r>
            <a:r>
              <a:rPr lang="fr-FR" dirty="0" err="1"/>
              <a:t>troughout</a:t>
            </a:r>
            <a:r>
              <a:rPr lang="fr-FR" dirty="0"/>
              <a:t> the supply chain, in opposite directions. Gamma </a:t>
            </a:r>
            <a:r>
              <a:rPr lang="fr-FR" dirty="0" err="1"/>
              <a:t>attenuates</a:t>
            </a:r>
            <a:r>
              <a:rPr lang="fr-FR" dirty="0"/>
              <a:t> the </a:t>
            </a:r>
            <a:r>
              <a:rPr lang="fr-FR" dirty="0" err="1"/>
              <a:t>declaration</a:t>
            </a:r>
            <a:r>
              <a:rPr lang="fr-FR" dirty="0"/>
              <a:t> as </a:t>
            </a:r>
            <a:r>
              <a:rPr lang="fr-FR" dirty="0" err="1"/>
              <a:t>it</a:t>
            </a:r>
            <a:r>
              <a:rPr lang="fr-FR" dirty="0"/>
              <a:t> descends, beta amplifies </a:t>
            </a:r>
            <a:r>
              <a:rPr lang="fr-FR" dirty="0" err="1"/>
              <a:t>computed</a:t>
            </a:r>
            <a:r>
              <a:rPr lang="fr-FR" dirty="0"/>
              <a:t> </a:t>
            </a:r>
            <a:r>
              <a:rPr lang="fr-FR" dirty="0" err="1"/>
              <a:t>risk</a:t>
            </a:r>
            <a:r>
              <a:rPr lang="fr-FR" dirty="0"/>
              <a:t> as </a:t>
            </a:r>
            <a:r>
              <a:rPr lang="fr-FR" dirty="0" err="1"/>
              <a:t>it</a:t>
            </a:r>
            <a:r>
              <a:rPr lang="fr-FR" dirty="0"/>
              <a:t> </a:t>
            </a:r>
            <a:r>
              <a:rPr lang="fr-FR" dirty="0" err="1"/>
              <a:t>ascends</a:t>
            </a:r>
            <a:r>
              <a:rPr lang="fr-FR" dirty="0"/>
              <a:t>.</a:t>
            </a:r>
          </a:p>
          <a:p>
            <a:r>
              <a:rPr lang="fr-FR" dirty="0"/>
              <a:t>The </a:t>
            </a:r>
            <a:r>
              <a:rPr lang="fr-FR" dirty="0" err="1"/>
              <a:t>asymmetry</a:t>
            </a:r>
            <a:r>
              <a:rPr lang="fr-FR" dirty="0"/>
              <a:t> </a:t>
            </a:r>
            <a:r>
              <a:rPr lang="fr-FR" dirty="0" err="1"/>
              <a:t>is</a:t>
            </a:r>
            <a:r>
              <a:rPr lang="fr-FR" dirty="0"/>
              <a:t> </a:t>
            </a:r>
            <a:r>
              <a:rPr lang="fr-FR" dirty="0" err="1"/>
              <a:t>physical</a:t>
            </a:r>
            <a:r>
              <a:rPr lang="fr-FR" dirty="0"/>
              <a:t>: </a:t>
            </a:r>
            <a:r>
              <a:rPr lang="fr-FR" dirty="0" err="1"/>
              <a:t>demand</a:t>
            </a:r>
            <a:r>
              <a:rPr lang="fr-FR" dirty="0"/>
              <a:t> pressure </a:t>
            </a:r>
            <a:r>
              <a:rPr lang="fr-FR" dirty="0" err="1"/>
              <a:t>is</a:t>
            </a:r>
            <a:r>
              <a:rPr lang="fr-FR" dirty="0"/>
              <a:t> </a:t>
            </a:r>
            <a:r>
              <a:rPr lang="fr-FR" dirty="0" err="1"/>
              <a:t>what</a:t>
            </a:r>
            <a:r>
              <a:rPr lang="fr-FR" dirty="0"/>
              <a:t> a </a:t>
            </a:r>
            <a:r>
              <a:rPr lang="fr-FR" dirty="0" err="1"/>
              <a:t>customer</a:t>
            </a:r>
            <a:r>
              <a:rPr lang="fr-FR" dirty="0"/>
              <a:t> </a:t>
            </a:r>
            <a:r>
              <a:rPr lang="fr-FR" dirty="0" err="1"/>
              <a:t>transmits</a:t>
            </a:r>
            <a:r>
              <a:rPr lang="fr-FR" dirty="0"/>
              <a:t>, </a:t>
            </a:r>
            <a:r>
              <a:rPr lang="fr-FR" dirty="0" err="1"/>
              <a:t>physical</a:t>
            </a:r>
            <a:r>
              <a:rPr lang="fr-FR" dirty="0"/>
              <a:t> </a:t>
            </a:r>
            <a:r>
              <a:rPr lang="fr-FR" dirty="0" err="1"/>
              <a:t>risk</a:t>
            </a:r>
            <a:r>
              <a:rPr lang="fr-FR" dirty="0"/>
              <a:t> </a:t>
            </a:r>
            <a:r>
              <a:rPr lang="fr-FR" dirty="0" err="1"/>
              <a:t>what</a:t>
            </a:r>
            <a:r>
              <a:rPr lang="fr-FR" dirty="0"/>
              <a:t> a supplier </a:t>
            </a:r>
            <a:r>
              <a:rPr lang="fr-FR" dirty="0" err="1"/>
              <a:t>transmits</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You </a:t>
            </a:r>
            <a:r>
              <a:rPr lang="fr-FR" dirty="0" err="1"/>
              <a:t>cannot</a:t>
            </a:r>
            <a:r>
              <a:rPr lang="fr-FR" dirty="0"/>
              <a:t> </a:t>
            </a:r>
            <a:r>
              <a:rPr lang="fr-FR" dirty="0" err="1"/>
              <a:t>read</a:t>
            </a:r>
            <a:r>
              <a:rPr lang="fr-FR" dirty="0"/>
              <a:t> </a:t>
            </a:r>
            <a:r>
              <a:rPr lang="fr-FR" dirty="0" err="1"/>
              <a:t>this</a:t>
            </a:r>
            <a:r>
              <a:rPr lang="fr-FR" dirty="0"/>
              <a:t> </a:t>
            </a:r>
            <a:r>
              <a:rPr lang="fr-FR" dirty="0" err="1"/>
              <a:t>diagram</a:t>
            </a:r>
            <a:r>
              <a:rPr lang="fr-FR" dirty="0"/>
              <a:t> </a:t>
            </a:r>
            <a:r>
              <a:rPr lang="fr-FR" dirty="0" err="1"/>
              <a:t>from</a:t>
            </a:r>
            <a:r>
              <a:rPr lang="fr-FR" dirty="0"/>
              <a:t> </a:t>
            </a:r>
            <a:r>
              <a:rPr lang="fr-FR" dirty="0" err="1"/>
              <a:t>where</a:t>
            </a:r>
            <a:r>
              <a:rPr lang="fr-FR" dirty="0"/>
              <a:t> </a:t>
            </a:r>
            <a:r>
              <a:rPr lang="fr-FR" dirty="0" err="1"/>
              <a:t>you</a:t>
            </a:r>
            <a:r>
              <a:rPr lang="fr-FR" dirty="0"/>
              <a:t> are </a:t>
            </a:r>
            <a:r>
              <a:rPr lang="fr-FR" dirty="0" err="1"/>
              <a:t>sitting</a:t>
            </a:r>
            <a:r>
              <a:rPr lang="fr-FR" dirty="0"/>
              <a:t>, and </a:t>
            </a:r>
            <a:r>
              <a:rPr lang="fr-FR" dirty="0" err="1"/>
              <a:t>you</a:t>
            </a:r>
            <a:r>
              <a:rPr lang="fr-FR" dirty="0"/>
              <a:t> do not </a:t>
            </a:r>
            <a:r>
              <a:rPr lang="fr-FR" dirty="0" err="1"/>
              <a:t>need</a:t>
            </a:r>
            <a:r>
              <a:rPr lang="fr-FR" dirty="0"/>
              <a:t> to.</a:t>
            </a:r>
            <a:br>
              <a:rPr lang="fr-FR" dirty="0"/>
            </a:br>
            <a:br>
              <a:rPr lang="fr-FR" dirty="0"/>
            </a:br>
            <a:r>
              <a:rPr lang="fr-FR" dirty="0"/>
              <a:t>In the UML </a:t>
            </a:r>
            <a:r>
              <a:rPr lang="fr-FR" dirty="0" err="1"/>
              <a:t>you</a:t>
            </a:r>
            <a:r>
              <a:rPr lang="fr-FR" dirty="0"/>
              <a:t> can </a:t>
            </a:r>
            <a:r>
              <a:rPr lang="fr-FR" dirty="0" err="1"/>
              <a:t>see</a:t>
            </a:r>
            <a:r>
              <a:rPr lang="fr-FR" dirty="0"/>
              <a:t> </a:t>
            </a:r>
            <a:r>
              <a:rPr lang="fr-FR" dirty="0" err="1"/>
              <a:t>that</a:t>
            </a:r>
            <a:r>
              <a:rPr lang="fr-FR" dirty="0"/>
              <a:t> Every </a:t>
            </a:r>
            <a:r>
              <a:rPr lang="fr-FR" dirty="0" err="1"/>
              <a:t>operation</a:t>
            </a:r>
            <a:r>
              <a:rPr lang="fr-FR" dirty="0"/>
              <a:t> passes </a:t>
            </a:r>
            <a:r>
              <a:rPr lang="fr-FR" dirty="0" err="1"/>
              <a:t>through</a:t>
            </a:r>
            <a:r>
              <a:rPr lang="fr-FR" dirty="0"/>
              <a:t> a single </a:t>
            </a:r>
            <a:r>
              <a:rPr lang="fr-FR" dirty="0" err="1"/>
              <a:t>orchestrating</a:t>
            </a:r>
            <a:r>
              <a:rPr lang="fr-FR" dirty="0"/>
              <a:t> </a:t>
            </a:r>
            <a:r>
              <a:rPr lang="fr-FR" dirty="0" err="1"/>
              <a:t>facade</a:t>
            </a:r>
            <a:r>
              <a:rPr lang="fr-FR" dirty="0"/>
              <a:t>. </a:t>
            </a:r>
          </a:p>
          <a:p>
            <a:r>
              <a:rPr lang="fr-FR" dirty="0"/>
              <a:t>Every business </a:t>
            </a:r>
            <a:r>
              <a:rPr lang="fr-FR" dirty="0" err="1"/>
              <a:t>write</a:t>
            </a:r>
            <a:r>
              <a:rPr lang="fr-FR" dirty="0"/>
              <a:t> </a:t>
            </a:r>
            <a:r>
              <a:rPr lang="fr-FR" dirty="0" err="1"/>
              <a:t>then</a:t>
            </a:r>
            <a:r>
              <a:rPr lang="fr-FR" dirty="0"/>
              <a:t> crosses a single mutation service </a:t>
            </a:r>
            <a:r>
              <a:rPr lang="fr-FR" dirty="0" err="1"/>
              <a:t>that</a:t>
            </a:r>
            <a:r>
              <a:rPr lang="fr-FR" dirty="0"/>
              <a:t> </a:t>
            </a:r>
            <a:r>
              <a:rPr lang="fr-FR" dirty="0" err="1"/>
              <a:t>validates</a:t>
            </a:r>
            <a:r>
              <a:rPr lang="fr-FR" dirty="0"/>
              <a:t> ranges, diffs </a:t>
            </a:r>
            <a:r>
              <a:rPr lang="fr-FR" dirty="0" err="1"/>
              <a:t>against</a:t>
            </a:r>
            <a:r>
              <a:rPr lang="fr-FR" dirty="0"/>
              <a:t> </a:t>
            </a:r>
            <a:r>
              <a:rPr lang="fr-FR" dirty="0" err="1"/>
              <a:t>current</a:t>
            </a:r>
            <a:r>
              <a:rPr lang="fr-FR" dirty="0"/>
              <a:t> state, and records the </a:t>
            </a:r>
            <a:r>
              <a:rPr lang="fr-FR" dirty="0" err="1"/>
              <a:t>author</a:t>
            </a:r>
            <a:r>
              <a:rPr lang="fr-FR" dirty="0"/>
              <a:t>.</a:t>
            </a:r>
          </a:p>
          <a:p>
            <a:r>
              <a:rPr lang="fr-FR" dirty="0"/>
              <a:t>As the </a:t>
            </a:r>
            <a:r>
              <a:rPr lang="fr-FR" dirty="0" err="1"/>
              <a:t>tool</a:t>
            </a:r>
            <a:r>
              <a:rPr lang="fr-FR" dirty="0"/>
              <a:t> must </a:t>
            </a:r>
            <a:r>
              <a:rPr lang="fr-FR" dirty="0" err="1"/>
              <a:t>be</a:t>
            </a:r>
            <a:r>
              <a:rPr lang="fr-FR" dirty="0"/>
              <a:t> </a:t>
            </a:r>
            <a:r>
              <a:rPr lang="fr-FR" dirty="0" err="1"/>
              <a:t>trusted</a:t>
            </a:r>
            <a:r>
              <a:rPr lang="fr-FR" dirty="0"/>
              <a:t> </a:t>
            </a:r>
            <a:r>
              <a:rPr lang="fr-FR" dirty="0" err="1"/>
              <a:t>even</a:t>
            </a:r>
            <a:r>
              <a:rPr lang="fr-FR" dirty="0"/>
              <a:t> an audit part has been </a:t>
            </a:r>
            <a:r>
              <a:rPr lang="fr-FR" dirty="0" err="1"/>
              <a:t>implmented</a:t>
            </a:r>
            <a:r>
              <a:rPr lang="fr-FR" dirty="0"/>
              <a:t> </a:t>
            </a:r>
            <a:r>
              <a:rPr lang="fr-FR" dirty="0" err="1"/>
              <a:t>inside</a:t>
            </a:r>
            <a:r>
              <a:rPr lang="fr-FR" dirty="0"/>
              <a:t> the </a:t>
            </a:r>
            <a:r>
              <a:rPr lang="fr-FR" dirty="0" err="1"/>
              <a:t>archtecture</a:t>
            </a:r>
            <a:r>
              <a:rPr lang="fr-FR" dirty="0"/>
              <a:t> to trace </a:t>
            </a:r>
            <a:r>
              <a:rPr lang="fr-FR" dirty="0" err="1"/>
              <a:t>evry</a:t>
            </a:r>
            <a:r>
              <a:rPr lang="fr-FR" dirty="0"/>
              <a:t> </a:t>
            </a:r>
            <a:r>
              <a:rPr lang="fr-FR" dirty="0" err="1"/>
              <a:t>decision</a:t>
            </a:r>
            <a:r>
              <a:rPr lang="fr-FR" dirty="0"/>
              <a:t> </a:t>
            </a:r>
            <a:r>
              <a:rPr lang="fr-FR" dirty="0" err="1"/>
              <a:t>keep</a:t>
            </a:r>
            <a:r>
              <a:rPr lang="fr-FR" dirty="0"/>
              <a:t> </a:t>
            </a:r>
            <a:r>
              <a:rPr lang="fr-FR" dirty="0" err="1"/>
              <a:t>logged</a:t>
            </a:r>
            <a:r>
              <a:rPr lang="fr-FR" dirty="0"/>
              <a:t> and </a:t>
            </a:r>
            <a:r>
              <a:rPr lang="fr-FR" dirty="0" err="1"/>
              <a:t>frozen</a:t>
            </a:r>
            <a:endParaRPr lang="fr-FR" dirty="0"/>
          </a:p>
          <a:p>
            <a:r>
              <a:rPr lang="fr-FR" dirty="0"/>
              <a:t>Also data </a:t>
            </a:r>
            <a:r>
              <a:rPr lang="fr-FR" dirty="0" err="1"/>
              <a:t>persistence</a:t>
            </a:r>
            <a:r>
              <a:rPr lang="fr-FR" dirty="0"/>
              <a:t> </a:t>
            </a:r>
            <a:r>
              <a:rPr lang="fr-FR" dirty="0" err="1"/>
              <a:t>was</a:t>
            </a:r>
            <a:r>
              <a:rPr lang="fr-FR" dirty="0"/>
              <a:t> a major aspect </a:t>
            </a:r>
            <a:r>
              <a:rPr lang="fr-FR" dirty="0" err="1"/>
              <a:t>so</a:t>
            </a:r>
            <a:r>
              <a:rPr lang="fr-FR" dirty="0"/>
              <a:t> </a:t>
            </a:r>
            <a:r>
              <a:rPr lang="fr-FR" dirty="0" err="1"/>
              <a:t>we</a:t>
            </a:r>
            <a:r>
              <a:rPr lang="fr-FR" dirty="0"/>
              <a:t> have made </a:t>
            </a:r>
            <a:r>
              <a:rPr lang="fr-FR" dirty="0" err="1"/>
              <a:t>that</a:t>
            </a:r>
            <a:r>
              <a:rPr lang="fr-FR" dirty="0"/>
              <a:t> </a:t>
            </a:r>
            <a:r>
              <a:rPr lang="fr-FR" dirty="0" err="1"/>
              <a:t>each</a:t>
            </a:r>
            <a:r>
              <a:rPr lang="fr-FR" dirty="0"/>
              <a:t> </a:t>
            </a:r>
            <a:r>
              <a:rPr lang="fr-FR" dirty="0" err="1"/>
              <a:t>node</a:t>
            </a:r>
            <a:r>
              <a:rPr lang="fr-FR" dirty="0"/>
              <a:t> have </a:t>
            </a:r>
            <a:r>
              <a:rPr lang="fr-FR" dirty="0" err="1"/>
              <a:t>their</a:t>
            </a:r>
            <a:r>
              <a:rPr lang="fr-FR" dirty="0"/>
              <a:t> </a:t>
            </a:r>
            <a:r>
              <a:rPr lang="fr-FR" dirty="0" err="1"/>
              <a:t>own</a:t>
            </a:r>
            <a:r>
              <a:rPr lang="fr-FR" dirty="0"/>
              <a:t> DB, to </a:t>
            </a:r>
            <a:r>
              <a:rPr lang="fr-FR" dirty="0" err="1"/>
              <a:t>keep</a:t>
            </a:r>
            <a:r>
              <a:rPr lang="fr-FR" dirty="0"/>
              <a:t> isolation.</a:t>
            </a:r>
          </a:p>
          <a:p>
            <a:endParaRPr lang="fr-FR" dirty="0"/>
          </a:p>
          <a:p>
            <a:r>
              <a:rPr lang="fr-FR" dirty="0"/>
              <a:t>On the right, the application as the </a:t>
            </a:r>
            <a:r>
              <a:rPr lang="fr-FR" dirty="0" err="1"/>
              <a:t>operator</a:t>
            </a:r>
            <a:r>
              <a:rPr lang="fr-FR" dirty="0"/>
              <a:t> </a:t>
            </a:r>
            <a:r>
              <a:rPr lang="fr-FR" dirty="0" err="1"/>
              <a:t>meets</a:t>
            </a:r>
            <a:r>
              <a:rPr lang="fr-FR" dirty="0"/>
              <a:t> </a:t>
            </a:r>
            <a:r>
              <a:rPr lang="fr-FR" dirty="0" err="1"/>
              <a:t>it</a:t>
            </a:r>
            <a:r>
              <a:rPr lang="fr-FR" dirty="0"/>
              <a:t>. A web interface, </a:t>
            </a:r>
            <a:r>
              <a:rPr lang="fr-FR" dirty="0" err="1"/>
              <a:t>where</a:t>
            </a:r>
            <a:r>
              <a:rPr lang="fr-FR" dirty="0"/>
              <a:t> </a:t>
            </a:r>
            <a:r>
              <a:rPr lang="fr-FR" dirty="0" err="1"/>
              <a:t>he</a:t>
            </a:r>
            <a:r>
              <a:rPr lang="fr-FR" dirty="0"/>
              <a:t> can manage and </a:t>
            </a:r>
            <a:r>
              <a:rPr lang="fr-FR" dirty="0" err="1"/>
              <a:t>see</a:t>
            </a:r>
            <a:r>
              <a:rPr lang="fr-FR" dirty="0"/>
              <a:t> </a:t>
            </a:r>
            <a:r>
              <a:rPr lang="fr-FR" dirty="0" err="1"/>
              <a:t>whats</a:t>
            </a:r>
            <a:r>
              <a:rPr lang="fr-FR" dirty="0"/>
              <a:t> happening </a:t>
            </a:r>
            <a:r>
              <a:rPr lang="fr-FR" dirty="0" err="1"/>
              <a:t>uder</a:t>
            </a:r>
            <a:r>
              <a:rPr lang="fr-FR" dirty="0"/>
              <a:t> the </a:t>
            </a:r>
            <a:r>
              <a:rPr lang="fr-FR" dirty="0" err="1"/>
              <a:t>hood</a:t>
            </a:r>
            <a:endParaRPr lang="fr-FR" dirty="0"/>
          </a:p>
          <a:p>
            <a:r>
              <a:rPr lang="fr-FR" dirty="0"/>
              <a:t>The </a:t>
            </a:r>
            <a:r>
              <a:rPr lang="fr-FR" dirty="0" err="1"/>
              <a:t>weekly</a:t>
            </a:r>
            <a:r>
              <a:rPr lang="fr-FR" dirty="0"/>
              <a:t> </a:t>
            </a:r>
            <a:r>
              <a:rPr lang="fr-FR" dirty="0" err="1"/>
              <a:t>review</a:t>
            </a:r>
            <a:r>
              <a:rPr lang="fr-FR" dirty="0"/>
              <a:t> </a:t>
            </a:r>
            <a:r>
              <a:rPr lang="fr-FR" dirty="0" err="1"/>
              <a:t>commits</a:t>
            </a:r>
            <a:r>
              <a:rPr lang="fr-FR" dirty="0"/>
              <a:t> as one </a:t>
            </a:r>
            <a:r>
              <a:rPr lang="fr-FR" dirty="0" err="1"/>
              <a:t>signed</a:t>
            </a:r>
            <a:r>
              <a:rPr lang="fr-FR" dirty="0"/>
              <a:t> transaction. The </a:t>
            </a:r>
            <a:r>
              <a:rPr lang="fr-FR" dirty="0" err="1"/>
              <a:t>explainability</a:t>
            </a:r>
            <a:r>
              <a:rPr lang="fr-FR" dirty="0"/>
              <a:t> page </a:t>
            </a:r>
            <a:r>
              <a:rPr lang="fr-FR" dirty="0" err="1"/>
              <a:t>reconstructs</a:t>
            </a:r>
            <a:r>
              <a:rPr lang="fr-FR" dirty="0"/>
              <a:t> </a:t>
            </a:r>
            <a:r>
              <a:rPr lang="fr-FR" dirty="0" err="1"/>
              <a:t>any</a:t>
            </a:r>
            <a:r>
              <a:rPr lang="fr-FR" dirty="0"/>
              <a:t> score </a:t>
            </a:r>
            <a:r>
              <a:rPr lang="fr-FR" dirty="0" err="1"/>
              <a:t>term</a:t>
            </a:r>
            <a:r>
              <a:rPr lang="fr-FR" dirty="0"/>
              <a:t> by </a:t>
            </a:r>
            <a:r>
              <a:rPr lang="fr-FR" dirty="0" err="1"/>
              <a:t>term</a:t>
            </a:r>
            <a:endParaRPr lang="fr-FR" dirty="0"/>
          </a:p>
          <a:p>
            <a:endParaRPr lang="fr-FR" dirty="0"/>
          </a:p>
          <a:p>
            <a:r>
              <a:rPr lang="fr-FR" dirty="0"/>
              <a:t>That </a:t>
            </a:r>
            <a:r>
              <a:rPr lang="fr-FR" dirty="0" err="1"/>
              <a:t>explainability</a:t>
            </a:r>
            <a:r>
              <a:rPr lang="fr-FR" dirty="0"/>
              <a:t> page </a:t>
            </a:r>
            <a:r>
              <a:rPr lang="fr-FR" dirty="0" err="1"/>
              <a:t>is</a:t>
            </a:r>
            <a:r>
              <a:rPr lang="fr-FR" dirty="0"/>
              <a:t> </a:t>
            </a:r>
            <a:r>
              <a:rPr lang="fr-FR" dirty="0" err="1"/>
              <a:t>what</a:t>
            </a:r>
            <a:r>
              <a:rPr lang="fr-FR" dirty="0"/>
              <a:t> made the </a:t>
            </a:r>
            <a:r>
              <a:rPr lang="fr-FR" dirty="0" err="1"/>
              <a:t>next</a:t>
            </a:r>
            <a:r>
              <a:rPr lang="fr-FR" dirty="0"/>
              <a:t> </a:t>
            </a:r>
            <a:r>
              <a:rPr lang="fr-FR" dirty="0" err="1"/>
              <a:t>diagnosis</a:t>
            </a:r>
            <a:r>
              <a:rPr lang="fr-FR" dirty="0"/>
              <a:t> possible </a:t>
            </a:r>
            <a:r>
              <a:rPr lang="fr-FR" dirty="0" err="1"/>
              <a:t>from</a:t>
            </a:r>
            <a:r>
              <a:rPr lang="fr-FR" dirty="0"/>
              <a:t> the application </a:t>
            </a:r>
            <a:r>
              <a:rPr lang="fr-FR" dirty="0" err="1"/>
              <a:t>rather</a:t>
            </a:r>
            <a:r>
              <a:rPr lang="fr-FR" dirty="0"/>
              <a:t> </a:t>
            </a:r>
            <a:r>
              <a:rPr lang="fr-FR" dirty="0" err="1"/>
              <a:t>than</a:t>
            </a:r>
            <a:r>
              <a:rPr lang="fr-FR" dirty="0"/>
              <a:t> by hand</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D1A19-2C5A-F593-F72F-A8A388073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F4B9F-DF4C-4822-B126-F16B67E58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872B4-9A2C-63FC-1C4B-A0E04646A9FC}"/>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58109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Now the </a:t>
            </a:r>
            <a:r>
              <a:rPr lang="fr-FR" dirty="0" err="1"/>
              <a:t>results</a:t>
            </a:r>
            <a:r>
              <a:rPr lang="fr-FR" dirty="0"/>
              <a:t>. That </a:t>
            </a:r>
            <a:r>
              <a:rPr lang="fr-FR" dirty="0" err="1"/>
              <a:t>iswhere</a:t>
            </a:r>
            <a:r>
              <a:rPr lang="fr-FR" dirty="0"/>
              <a:t> the </a:t>
            </a:r>
            <a:r>
              <a:rPr lang="fr-FR" dirty="0" err="1"/>
              <a:t>number</a:t>
            </a:r>
            <a:r>
              <a:rPr lang="fr-FR" dirty="0"/>
              <a:t> i gave </a:t>
            </a:r>
            <a:r>
              <a:rPr lang="fr-FR" dirty="0" err="1"/>
              <a:t>you</a:t>
            </a:r>
            <a:r>
              <a:rPr lang="fr-FR" dirty="0"/>
              <a:t> came </a:t>
            </a:r>
            <a:r>
              <a:rPr lang="fr-FR" dirty="0" err="1"/>
              <a:t>from</a:t>
            </a:r>
            <a:r>
              <a:rPr lang="fr-FR" dirty="0"/>
              <a:t>.</a:t>
            </a:r>
          </a:p>
          <a:p>
            <a:endParaRPr lang="fr-FR" dirty="0"/>
          </a:p>
          <a:p>
            <a:r>
              <a:rPr lang="fr-FR" dirty="0" err="1"/>
              <a:t>We</a:t>
            </a:r>
            <a:r>
              <a:rPr lang="fr-FR" dirty="0"/>
              <a:t> </a:t>
            </a:r>
            <a:r>
              <a:rPr lang="fr-FR" dirty="0" err="1"/>
              <a:t>managed</a:t>
            </a:r>
            <a:r>
              <a:rPr lang="fr-FR" dirty="0"/>
              <a:t> to replay the 2020 to 2022 </a:t>
            </a:r>
            <a:r>
              <a:rPr lang="fr-FR" dirty="0" err="1"/>
              <a:t>semiconductor</a:t>
            </a:r>
            <a:r>
              <a:rPr lang="fr-FR" dirty="0"/>
              <a:t> </a:t>
            </a:r>
            <a:r>
              <a:rPr lang="fr-FR" dirty="0" err="1"/>
              <a:t>shortage</a:t>
            </a:r>
            <a:r>
              <a:rPr lang="fr-FR" dirty="0"/>
              <a:t> to test and </a:t>
            </a:r>
            <a:r>
              <a:rPr lang="fr-FR" dirty="0" err="1"/>
              <a:t>calibrate</a:t>
            </a:r>
            <a:r>
              <a:rPr lang="fr-FR" dirty="0"/>
              <a:t> the </a:t>
            </a:r>
            <a:r>
              <a:rPr lang="fr-FR" dirty="0" err="1"/>
              <a:t>tools</a:t>
            </a:r>
            <a:r>
              <a:rPr lang="fr-FR" dirty="0"/>
              <a:t>.</a:t>
            </a:r>
          </a:p>
          <a:p>
            <a:r>
              <a:rPr lang="fr-FR" dirty="0"/>
              <a:t>Real </a:t>
            </a:r>
            <a:r>
              <a:rPr lang="fr-FR" dirty="0" err="1"/>
              <a:t>urgency</a:t>
            </a:r>
            <a:r>
              <a:rPr lang="fr-FR" dirty="0"/>
              <a:t> KPIs </a:t>
            </a:r>
            <a:r>
              <a:rPr lang="fr-FR" dirty="0" err="1"/>
              <a:t>comes</a:t>
            </a:r>
            <a:r>
              <a:rPr lang="fr-FR" dirty="0"/>
              <a:t> </a:t>
            </a:r>
            <a:r>
              <a:rPr lang="fr-FR" dirty="0" err="1"/>
              <a:t>from</a:t>
            </a:r>
            <a:r>
              <a:rPr lang="fr-FR" dirty="0"/>
              <a:t> public time </a:t>
            </a:r>
            <a:r>
              <a:rPr lang="fr-FR" dirty="0" err="1"/>
              <a:t>series</a:t>
            </a:r>
            <a:r>
              <a:rPr lang="fr-FR" dirty="0"/>
              <a:t> of the </a:t>
            </a:r>
            <a:r>
              <a:rPr lang="fr-FR" dirty="0" err="1"/>
              <a:t>actual</a:t>
            </a:r>
            <a:r>
              <a:rPr lang="fr-FR" dirty="0"/>
              <a:t> </a:t>
            </a:r>
            <a:r>
              <a:rPr lang="fr-FR" dirty="0" err="1"/>
              <a:t>crisis</a:t>
            </a:r>
            <a:r>
              <a:rPr lang="fr-FR" dirty="0"/>
              <a:t>, </a:t>
            </a:r>
            <a:r>
              <a:rPr lang="fr-FR" dirty="0" err="1"/>
              <a:t>declared</a:t>
            </a:r>
            <a:r>
              <a:rPr lang="fr-FR" dirty="0"/>
              <a:t> </a:t>
            </a:r>
            <a:r>
              <a:rPr lang="fr-FR" dirty="0" err="1"/>
              <a:t>urgency</a:t>
            </a:r>
            <a:r>
              <a:rPr lang="fr-FR" dirty="0"/>
              <a:t> </a:t>
            </a:r>
            <a:r>
              <a:rPr lang="fr-FR" dirty="0" err="1"/>
              <a:t>from</a:t>
            </a:r>
            <a:r>
              <a:rPr lang="fr-FR" dirty="0"/>
              <a:t> the LLM </a:t>
            </a:r>
          </a:p>
          <a:p>
            <a:br>
              <a:rPr lang="fr-FR" dirty="0"/>
            </a:br>
            <a:r>
              <a:rPr lang="fr-FR" dirty="0" err="1"/>
              <a:t>What</a:t>
            </a:r>
            <a:r>
              <a:rPr lang="fr-FR" dirty="0"/>
              <a:t> </a:t>
            </a:r>
            <a:r>
              <a:rPr lang="fr-FR" dirty="0" err="1"/>
              <a:t>we</a:t>
            </a:r>
            <a:r>
              <a:rPr lang="fr-FR" dirty="0"/>
              <a:t> have </a:t>
            </a:r>
            <a:r>
              <a:rPr lang="fr-FR" dirty="0" err="1"/>
              <a:t>leraned</a:t>
            </a:r>
            <a:r>
              <a:rPr lang="fr-FR" dirty="0"/>
              <a:t> </a:t>
            </a:r>
            <a:r>
              <a:rPr lang="fr-FR" dirty="0" err="1"/>
              <a:t>is</a:t>
            </a:r>
            <a:r>
              <a:rPr lang="fr-FR" dirty="0"/>
              <a:t> </a:t>
            </a:r>
            <a:r>
              <a:rPr lang="fr-FR" dirty="0" err="1"/>
              <a:t>that</a:t>
            </a:r>
            <a:r>
              <a:rPr lang="fr-FR" dirty="0"/>
              <a:t> the </a:t>
            </a:r>
            <a:r>
              <a:rPr lang="fr-FR" dirty="0" err="1"/>
              <a:t>tool</a:t>
            </a:r>
            <a:r>
              <a:rPr lang="fr-FR" dirty="0"/>
              <a:t> </a:t>
            </a:r>
            <a:r>
              <a:rPr lang="fr-FR" dirty="0" err="1"/>
              <a:t>is</a:t>
            </a:r>
            <a:r>
              <a:rPr lang="fr-FR" dirty="0"/>
              <a:t> able to </a:t>
            </a:r>
            <a:r>
              <a:rPr lang="fr-FR" dirty="0" err="1"/>
              <a:t>give</a:t>
            </a:r>
            <a:r>
              <a:rPr lang="fr-FR" dirty="0"/>
              <a:t> an </a:t>
            </a:r>
            <a:r>
              <a:rPr lang="fr-FR" dirty="0" err="1"/>
              <a:t>early</a:t>
            </a:r>
            <a:r>
              <a:rPr lang="fr-FR" dirty="0"/>
              <a:t> warning and </a:t>
            </a:r>
            <a:r>
              <a:rPr lang="fr-FR" dirty="0" err="1"/>
              <a:t>detect</a:t>
            </a:r>
            <a:r>
              <a:rPr lang="fr-FR" dirty="0"/>
              <a:t> </a:t>
            </a:r>
            <a:r>
              <a:rPr lang="fr-FR" dirty="0" err="1"/>
              <a:t>clearly</a:t>
            </a:r>
            <a:r>
              <a:rPr lang="fr-FR" dirty="0"/>
              <a:t> </a:t>
            </a:r>
            <a:r>
              <a:rPr lang="fr-FR" dirty="0" err="1"/>
              <a:t>where</a:t>
            </a:r>
            <a:r>
              <a:rPr lang="fr-FR" dirty="0"/>
              <a:t> </a:t>
            </a:r>
            <a:r>
              <a:rPr lang="fr-FR" dirty="0" err="1"/>
              <a:t>its</a:t>
            </a:r>
            <a:r>
              <a:rPr lang="fr-FR" dirty="0"/>
              <a:t> </a:t>
            </a:r>
            <a:r>
              <a:rPr lang="fr-FR" dirty="0" err="1"/>
              <a:t>mismanged</a:t>
            </a:r>
            <a:r>
              <a:rPr lang="fr-FR" dirty="0"/>
              <a:t> and </a:t>
            </a:r>
            <a:r>
              <a:rPr lang="fr-FR" dirty="0" err="1"/>
              <a:t>where</a:t>
            </a:r>
            <a:r>
              <a:rPr lang="fr-FR" dirty="0"/>
              <a:t> </a:t>
            </a:r>
            <a:r>
              <a:rPr lang="fr-FR" dirty="0" err="1"/>
              <a:t>thers</a:t>
            </a:r>
            <a:r>
              <a:rPr lang="fr-FR" dirty="0"/>
              <a:t> a </a:t>
            </a:r>
            <a:r>
              <a:rPr lang="fr-FR" dirty="0" err="1"/>
              <a:t>mismatch</a:t>
            </a:r>
            <a:endParaRPr lang="fr-FR" dirty="0"/>
          </a:p>
          <a:p>
            <a:endParaRPr lang="fr-FR" dirty="0"/>
          </a:p>
          <a:p>
            <a:r>
              <a:rPr lang="fr-FR" dirty="0" err="1"/>
              <a:t>Where</a:t>
            </a:r>
            <a:r>
              <a:rPr lang="fr-FR" dirty="0"/>
              <a:t> </a:t>
            </a:r>
            <a:r>
              <a:rPr lang="fr-FR" dirty="0" err="1"/>
              <a:t>some</a:t>
            </a:r>
            <a:r>
              <a:rPr lang="fr-FR" dirty="0"/>
              <a:t> AI manager </a:t>
            </a:r>
            <a:r>
              <a:rPr lang="fr-FR" dirty="0" err="1"/>
              <a:t>was</a:t>
            </a:r>
            <a:r>
              <a:rPr lang="fr-FR" dirty="0"/>
              <a:t> </a:t>
            </a:r>
            <a:r>
              <a:rPr lang="fr-FR" dirty="0" err="1"/>
              <a:t>proudly</a:t>
            </a:r>
            <a:r>
              <a:rPr lang="fr-FR" dirty="0"/>
              <a:t> </a:t>
            </a:r>
            <a:r>
              <a:rPr lang="fr-FR" dirty="0" err="1"/>
              <a:t>saying</a:t>
            </a:r>
            <a:r>
              <a:rPr lang="fr-FR" dirty="0"/>
              <a:t> </a:t>
            </a:r>
            <a:r>
              <a:rPr lang="fr-FR" dirty="0" err="1"/>
              <a:t>that</a:t>
            </a:r>
            <a:r>
              <a:rPr lang="fr-FR" dirty="0"/>
              <a:t> </a:t>
            </a:r>
            <a:r>
              <a:rPr lang="fr-FR" dirty="0" err="1"/>
              <a:t>thers</a:t>
            </a:r>
            <a:r>
              <a:rPr lang="fr-FR" dirty="0"/>
              <a:t> no </a:t>
            </a:r>
            <a:r>
              <a:rPr lang="fr-FR" dirty="0" err="1"/>
              <a:t>shortage</a:t>
            </a:r>
            <a:r>
              <a:rPr lang="fr-FR" dirty="0"/>
              <a:t> </a:t>
            </a:r>
            <a:r>
              <a:rPr lang="fr-FR" dirty="0" err="1"/>
              <a:t>incoming</a:t>
            </a:r>
            <a:r>
              <a:rPr lang="fr-FR" dirty="0"/>
              <a:t>, </a:t>
            </a:r>
            <a:r>
              <a:rPr lang="fr-FR" dirty="0" err="1"/>
              <a:t>it</a:t>
            </a:r>
            <a:r>
              <a:rPr lang="fr-FR" dirty="0"/>
              <a:t> </a:t>
            </a:r>
            <a:r>
              <a:rPr lang="fr-FR" dirty="0" err="1"/>
              <a:t>was</a:t>
            </a:r>
            <a:r>
              <a:rPr lang="fr-FR" dirty="0"/>
              <a:t> setting </a:t>
            </a:r>
            <a:r>
              <a:rPr lang="fr-FR" dirty="0" err="1"/>
              <a:t>it</a:t>
            </a:r>
            <a:r>
              <a:rPr lang="fr-FR" dirty="0"/>
              <a:t> up, but the </a:t>
            </a:r>
            <a:r>
              <a:rPr lang="fr-FR" dirty="0" err="1"/>
              <a:t>tool</a:t>
            </a:r>
            <a:r>
              <a:rPr lang="fr-FR" dirty="0"/>
              <a:t> manage to </a:t>
            </a:r>
            <a:r>
              <a:rPr lang="fr-FR" dirty="0" err="1"/>
              <a:t>detect</a:t>
            </a:r>
            <a:r>
              <a:rPr lang="fr-FR" dirty="0"/>
              <a:t> </a:t>
            </a:r>
            <a:r>
              <a:rPr lang="fr-FR" dirty="0" err="1"/>
              <a:t>it</a:t>
            </a:r>
            <a:r>
              <a:rPr lang="fr-FR" dirty="0"/>
              <a:t>.</a:t>
            </a:r>
            <a:br>
              <a:rPr lang="fr-FR" dirty="0"/>
            </a:br>
            <a:br>
              <a:rPr lang="fr-FR" dirty="0"/>
            </a:br>
            <a:r>
              <a:rPr lang="fr-FR" dirty="0"/>
              <a:t>But, as i </a:t>
            </a:r>
            <a:r>
              <a:rPr lang="fr-FR" dirty="0" err="1"/>
              <a:t>thought</a:t>
            </a:r>
            <a:r>
              <a:rPr lang="fr-FR" dirty="0"/>
              <a:t>, </a:t>
            </a:r>
            <a:r>
              <a:rPr lang="fr-FR" dirty="0" err="1"/>
              <a:t>when</a:t>
            </a:r>
            <a:r>
              <a:rPr lang="fr-FR" dirty="0"/>
              <a:t> the </a:t>
            </a:r>
            <a:r>
              <a:rPr lang="fr-FR" dirty="0" err="1"/>
              <a:t>shortage</a:t>
            </a:r>
            <a:r>
              <a:rPr lang="fr-FR" dirty="0"/>
              <a:t> </a:t>
            </a:r>
            <a:r>
              <a:rPr lang="fr-FR" dirty="0" err="1"/>
              <a:t>is</a:t>
            </a:r>
            <a:r>
              <a:rPr lang="fr-FR" dirty="0"/>
              <a:t> </a:t>
            </a:r>
            <a:r>
              <a:rPr lang="fr-FR" dirty="0" err="1"/>
              <a:t>becoming</a:t>
            </a:r>
            <a:r>
              <a:rPr lang="fr-FR" dirty="0"/>
              <a:t> </a:t>
            </a:r>
            <a:r>
              <a:rPr lang="fr-FR" dirty="0" err="1"/>
              <a:t>from</a:t>
            </a:r>
            <a:r>
              <a:rPr lang="fr-FR" dirty="0"/>
              <a:t> </a:t>
            </a:r>
            <a:r>
              <a:rPr lang="fr-FR" dirty="0" err="1"/>
              <a:t>exogenous</a:t>
            </a:r>
            <a:r>
              <a:rPr lang="fr-FR" dirty="0"/>
              <a:t> part the </a:t>
            </a:r>
            <a:r>
              <a:rPr lang="fr-FR" dirty="0" err="1"/>
              <a:t>sgnal</a:t>
            </a:r>
            <a:r>
              <a:rPr lang="fr-FR" dirty="0"/>
              <a:t> crumbles as </a:t>
            </a:r>
            <a:r>
              <a:rPr lang="fr-FR" dirty="0" err="1"/>
              <a:t>weeks</a:t>
            </a:r>
            <a:r>
              <a:rPr lang="fr-FR" dirty="0"/>
              <a:t> </a:t>
            </a:r>
            <a:r>
              <a:rPr lang="fr-FR" dirty="0" err="1"/>
              <a:t>pass</a:t>
            </a:r>
            <a:r>
              <a:rPr lang="fr-FR" dirty="0"/>
              <a:t>….</a:t>
            </a:r>
          </a:p>
          <a:p>
            <a:endParaRPr lang="fr-FR" dirty="0"/>
          </a:p>
          <a:p>
            <a:r>
              <a:rPr lang="fr-FR" dirty="0"/>
              <a:t>Even </a:t>
            </a:r>
            <a:r>
              <a:rPr lang="fr-FR" dirty="0" err="1"/>
              <a:t>so</a:t>
            </a:r>
            <a:r>
              <a:rPr lang="fr-FR" dirty="0"/>
              <a:t> </a:t>
            </a:r>
            <a:r>
              <a:rPr lang="fr-FR" dirty="0" err="1"/>
              <a:t>this</a:t>
            </a:r>
            <a:r>
              <a:rPr lang="fr-FR" dirty="0"/>
              <a:t> </a:t>
            </a:r>
            <a:r>
              <a:rPr lang="fr-FR" dirty="0" err="1"/>
              <a:t>precision</a:t>
            </a:r>
            <a:r>
              <a:rPr lang="fr-FR" dirty="0"/>
              <a:t> </a:t>
            </a:r>
            <a:r>
              <a:rPr lang="fr-FR" dirty="0" err="1"/>
              <a:t>is</a:t>
            </a:r>
            <a:r>
              <a:rPr lang="fr-FR" dirty="0"/>
              <a:t> an </a:t>
            </a:r>
            <a:r>
              <a:rPr lang="fr-FR" dirty="0" err="1"/>
              <a:t>encouraging</a:t>
            </a:r>
            <a:r>
              <a:rPr lang="fr-FR" dirty="0"/>
              <a:t> observation, </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 </a:t>
            </a:r>
            <a:r>
              <a:rPr lang="fr-FR" dirty="0" err="1"/>
              <a:t>try</a:t>
            </a:r>
            <a:r>
              <a:rPr lang="fr-FR" dirty="0"/>
              <a:t> to </a:t>
            </a:r>
            <a:r>
              <a:rPr lang="fr-FR" dirty="0" err="1"/>
              <a:t>get</a:t>
            </a:r>
            <a:r>
              <a:rPr lang="fr-FR" dirty="0"/>
              <a:t> more of </a:t>
            </a:r>
            <a:r>
              <a:rPr lang="fr-FR" dirty="0" err="1"/>
              <a:t>that</a:t>
            </a:r>
            <a:r>
              <a:rPr lang="fr-FR" dirty="0"/>
              <a:t> signal and </a:t>
            </a:r>
            <a:r>
              <a:rPr lang="fr-FR" dirty="0" err="1"/>
              <a:t>try</a:t>
            </a:r>
            <a:r>
              <a:rPr lang="fr-FR" dirty="0"/>
              <a:t> to </a:t>
            </a:r>
            <a:r>
              <a:rPr lang="fr-FR" dirty="0" err="1"/>
              <a:t>forcast</a:t>
            </a:r>
            <a:r>
              <a:rPr lang="fr-FR" dirty="0"/>
              <a:t> the </a:t>
            </a:r>
            <a:r>
              <a:rPr lang="fr-FR" dirty="0" err="1"/>
              <a:t>possiblity</a:t>
            </a:r>
            <a:r>
              <a:rPr lang="fr-FR" dirty="0"/>
              <a:t> of the </a:t>
            </a:r>
            <a:r>
              <a:rPr lang="fr-FR" dirty="0" err="1"/>
              <a:t>urgency</a:t>
            </a:r>
            <a:r>
              <a:rPr lang="fr-FR" dirty="0"/>
              <a:t> </a:t>
            </a:r>
            <a:r>
              <a:rPr lang="fr-FR" dirty="0" err="1"/>
              <a:t>using</a:t>
            </a:r>
            <a:r>
              <a:rPr lang="fr-FR" dirty="0"/>
              <a:t> Monte Carlo </a:t>
            </a:r>
            <a:r>
              <a:rPr lang="fr-FR" dirty="0" err="1"/>
              <a:t>simulatiton</a:t>
            </a:r>
            <a:r>
              <a:rPr lang="fr-FR" dirty="0"/>
              <a:t> </a:t>
            </a:r>
            <a:r>
              <a:rPr lang="fr-FR" dirty="0" err="1"/>
              <a:t>based</a:t>
            </a:r>
            <a:r>
              <a:rPr lang="fr-FR" dirty="0"/>
              <a:t> on </a:t>
            </a:r>
            <a:r>
              <a:rPr lang="fr-FR" dirty="0" err="1"/>
              <a:t>previous</a:t>
            </a:r>
            <a:r>
              <a:rPr lang="fr-FR" dirty="0"/>
              <a:t> </a:t>
            </a:r>
            <a:r>
              <a:rPr lang="fr-FR" dirty="0" err="1"/>
              <a:t>historic</a:t>
            </a:r>
            <a:r>
              <a:rPr lang="fr-FR" dirty="0"/>
              <a:t> data of the </a:t>
            </a:r>
            <a:r>
              <a:rPr lang="fr-FR" dirty="0" err="1"/>
              <a:t>crisis</a:t>
            </a:r>
            <a:r>
              <a:rPr lang="fr-FR" dirty="0"/>
              <a:t> and compare </a:t>
            </a:r>
            <a:r>
              <a:rPr lang="fr-FR" dirty="0" err="1"/>
              <a:t>them</a:t>
            </a:r>
            <a:r>
              <a:rPr lang="fr-FR" dirty="0"/>
              <a:t> </a:t>
            </a:r>
            <a:r>
              <a:rPr lang="fr-FR" dirty="0" err="1"/>
              <a:t>with</a:t>
            </a:r>
            <a:r>
              <a:rPr lang="fr-FR" dirty="0"/>
              <a:t> the </a:t>
            </a:r>
            <a:r>
              <a:rPr lang="fr-FR" dirty="0" err="1"/>
              <a:t>baseline</a:t>
            </a:r>
            <a:r>
              <a:rPr lang="fr-FR" dirty="0"/>
              <a:t> of </a:t>
            </a:r>
            <a:r>
              <a:rPr lang="fr-FR" dirty="0" err="1"/>
              <a:t>earlier</a:t>
            </a:r>
            <a:r>
              <a:rPr lang="fr-FR" dirty="0"/>
              <a:t>.</a:t>
            </a:r>
            <a:br>
              <a:rPr lang="fr-FR" dirty="0"/>
            </a:br>
            <a:br>
              <a:rPr lang="fr-FR" dirty="0"/>
            </a:br>
            <a:r>
              <a:rPr lang="fr-FR" dirty="0"/>
              <a:t>In a short </a:t>
            </a:r>
            <a:r>
              <a:rPr lang="fr-FR" dirty="0" err="1"/>
              <a:t>answer</a:t>
            </a:r>
            <a:r>
              <a:rPr lang="fr-FR" dirty="0"/>
              <a:t> i </a:t>
            </a:r>
            <a:r>
              <a:rPr lang="fr-FR" dirty="0" err="1"/>
              <a:t>did</a:t>
            </a:r>
            <a:r>
              <a:rPr lang="fr-FR" dirty="0"/>
              <a:t> not </a:t>
            </a:r>
            <a:r>
              <a:rPr lang="fr-FR" dirty="0" err="1"/>
              <a:t>managed</a:t>
            </a:r>
            <a:r>
              <a:rPr lang="fr-FR" dirty="0"/>
              <a:t> to </a:t>
            </a:r>
            <a:r>
              <a:rPr lang="fr-FR" dirty="0" err="1"/>
              <a:t>make</a:t>
            </a:r>
            <a:r>
              <a:rPr lang="fr-FR" dirty="0"/>
              <a:t> </a:t>
            </a:r>
            <a:r>
              <a:rPr lang="fr-FR" dirty="0" err="1"/>
              <a:t>it</a:t>
            </a:r>
            <a:r>
              <a:rPr lang="fr-FR" dirty="0"/>
              <a:t> </a:t>
            </a:r>
            <a:r>
              <a:rPr lang="fr-FR" dirty="0" err="1"/>
              <a:t>work</a:t>
            </a:r>
            <a:r>
              <a:rPr lang="fr-FR" dirty="0"/>
              <a:t>… as </a:t>
            </a:r>
            <a:r>
              <a:rPr lang="fr-FR" dirty="0" err="1"/>
              <a:t>it</a:t>
            </a:r>
            <a:r>
              <a:rPr lang="fr-FR" dirty="0"/>
              <a:t> </a:t>
            </a:r>
            <a:r>
              <a:rPr lang="fr-FR" dirty="0" err="1"/>
              <a:t>need</a:t>
            </a:r>
            <a:r>
              <a:rPr lang="fr-FR" dirty="0"/>
              <a:t> </a:t>
            </a:r>
            <a:r>
              <a:rPr lang="fr-FR" dirty="0" err="1"/>
              <a:t>way</a:t>
            </a:r>
            <a:r>
              <a:rPr lang="fr-FR" dirty="0"/>
              <a:t> more calibration and validation. The </a:t>
            </a:r>
            <a:r>
              <a:rPr lang="fr-FR" dirty="0" err="1"/>
              <a:t>result</a:t>
            </a:r>
            <a:r>
              <a:rPr lang="fr-FR" dirty="0"/>
              <a:t> i </a:t>
            </a:r>
            <a:r>
              <a:rPr lang="fr-FR" dirty="0" err="1"/>
              <a:t>got</a:t>
            </a:r>
            <a:r>
              <a:rPr lang="fr-FR" dirty="0"/>
              <a:t> </a:t>
            </a:r>
            <a:r>
              <a:rPr lang="fr-FR" dirty="0" err="1"/>
              <a:t>was</a:t>
            </a:r>
            <a:r>
              <a:rPr lang="fr-FR" dirty="0"/>
              <a:t> </a:t>
            </a:r>
            <a:r>
              <a:rPr lang="fr-FR" dirty="0" err="1"/>
              <a:t>near</a:t>
            </a:r>
            <a:r>
              <a:rPr lang="fr-FR" dirty="0"/>
              <a:t> </a:t>
            </a:r>
            <a:r>
              <a:rPr lang="fr-FR" dirty="0" err="1"/>
              <a:t>absolut</a:t>
            </a:r>
            <a:r>
              <a:rPr lang="fr-FR" dirty="0"/>
              <a:t> chance, </a:t>
            </a:r>
            <a:r>
              <a:rPr lang="fr-FR" dirty="0" err="1"/>
              <a:t>my</a:t>
            </a:r>
            <a:r>
              <a:rPr lang="fr-FR" dirty="0"/>
              <a:t> Brier </a:t>
            </a:r>
            <a:r>
              <a:rPr lang="fr-FR" dirty="0" err="1"/>
              <a:t>skill</a:t>
            </a:r>
            <a:r>
              <a:rPr lang="fr-FR" dirty="0"/>
              <a:t> </a:t>
            </a:r>
            <a:r>
              <a:rPr lang="fr-FR" dirty="0" err="1"/>
              <a:t>was</a:t>
            </a:r>
            <a:r>
              <a:rPr lang="fr-FR" dirty="0"/>
              <a:t> </a:t>
            </a:r>
            <a:r>
              <a:rPr lang="fr-FR" dirty="0" err="1"/>
              <a:t>even</a:t>
            </a:r>
            <a:r>
              <a:rPr lang="fr-FR" dirty="0"/>
              <a:t> </a:t>
            </a:r>
            <a:r>
              <a:rPr lang="fr-FR" dirty="0" err="1"/>
              <a:t>worse</a:t>
            </a:r>
            <a:r>
              <a:rPr lang="fr-FR" dirty="0"/>
              <a:t> </a:t>
            </a:r>
            <a:r>
              <a:rPr lang="fr-FR" dirty="0" err="1"/>
              <a:t>that</a:t>
            </a:r>
            <a:r>
              <a:rPr lang="fr-FR" dirty="0"/>
              <a:t> the </a:t>
            </a:r>
            <a:r>
              <a:rPr lang="fr-FR" dirty="0" err="1"/>
              <a:t>baseline</a:t>
            </a:r>
            <a:r>
              <a:rPr lang="fr-FR" dirty="0"/>
              <a:t> </a:t>
            </a:r>
            <a:r>
              <a:rPr lang="fr-FR" dirty="0" err="1"/>
              <a:t>itself</a:t>
            </a:r>
            <a:r>
              <a:rPr lang="fr-FR" dirty="0"/>
              <a:t>… So </a:t>
            </a:r>
            <a:r>
              <a:rPr lang="fr-FR" dirty="0" err="1"/>
              <a:t>bad</a:t>
            </a:r>
            <a:r>
              <a:rPr lang="fr-FR" dirty="0"/>
              <a:t> </a:t>
            </a:r>
            <a:r>
              <a:rPr lang="fr-FR" dirty="0" err="1"/>
              <a:t>forcast</a:t>
            </a:r>
            <a:r>
              <a:rPr lang="fr-FR" dirty="0"/>
              <a:t>…. I </a:t>
            </a:r>
            <a:r>
              <a:rPr lang="fr-FR" dirty="0" err="1"/>
              <a:t>wont</a:t>
            </a:r>
            <a:r>
              <a:rPr lang="fr-FR" dirty="0"/>
              <a:t> </a:t>
            </a:r>
            <a:r>
              <a:rPr lang="fr-FR" dirty="0" err="1"/>
              <a:t>became</a:t>
            </a:r>
            <a:r>
              <a:rPr lang="fr-FR" dirty="0"/>
              <a:t> a good </a:t>
            </a:r>
            <a:r>
              <a:rPr lang="fr-FR" dirty="0" err="1"/>
              <a:t>metorologist</a:t>
            </a:r>
            <a:r>
              <a:rPr lang="fr-FR" dirty="0"/>
              <a:t>.</a:t>
            </a:r>
          </a:p>
          <a:p>
            <a:endParaRPr lang="fr-FR" dirty="0"/>
          </a:p>
          <a:p>
            <a:r>
              <a:rPr lang="fr-FR" dirty="0"/>
              <a:t>The </a:t>
            </a:r>
            <a:r>
              <a:rPr lang="fr-FR" dirty="0" err="1"/>
              <a:t>reliability</a:t>
            </a:r>
            <a:r>
              <a:rPr lang="fr-FR" dirty="0"/>
              <a:t> </a:t>
            </a:r>
            <a:r>
              <a:rPr lang="fr-FR" dirty="0" err="1"/>
              <a:t>diagram</a:t>
            </a:r>
            <a:r>
              <a:rPr lang="fr-FR" dirty="0"/>
              <a:t> localises </a:t>
            </a:r>
            <a:r>
              <a:rPr lang="fr-FR" dirty="0" err="1"/>
              <a:t>it</a:t>
            </a:r>
            <a:r>
              <a:rPr lang="fr-FR" dirty="0"/>
              <a:t>. </a:t>
            </a:r>
            <a:r>
              <a:rPr lang="fr-FR" dirty="0" err="1"/>
              <a:t>Where</a:t>
            </a:r>
            <a:r>
              <a:rPr lang="fr-FR" dirty="0"/>
              <a:t> the model </a:t>
            </a:r>
            <a:r>
              <a:rPr lang="fr-FR" dirty="0" err="1"/>
              <a:t>announces</a:t>
            </a:r>
            <a:r>
              <a:rPr lang="fr-FR" dirty="0"/>
              <a:t> a </a:t>
            </a:r>
            <a:r>
              <a:rPr lang="fr-FR" dirty="0" err="1"/>
              <a:t>low</a:t>
            </a:r>
            <a:r>
              <a:rPr lang="fr-FR" dirty="0"/>
              <a:t> </a:t>
            </a:r>
            <a:r>
              <a:rPr lang="fr-FR" dirty="0" err="1"/>
              <a:t>probability</a:t>
            </a:r>
            <a:r>
              <a:rPr lang="fr-FR" dirty="0"/>
              <a:t>, </a:t>
            </a:r>
            <a:r>
              <a:rPr lang="fr-FR" dirty="0" err="1"/>
              <a:t>it</a:t>
            </a:r>
            <a:r>
              <a:rPr lang="fr-FR" dirty="0"/>
              <a:t> </a:t>
            </a:r>
            <a:r>
              <a:rPr lang="fr-FR" dirty="0" err="1"/>
              <a:t>is</a:t>
            </a:r>
            <a:r>
              <a:rPr lang="fr-FR" dirty="0"/>
              <a:t> right.</a:t>
            </a:r>
          </a:p>
          <a:p>
            <a:r>
              <a:rPr lang="fr-FR" dirty="0" err="1"/>
              <a:t>Where</a:t>
            </a:r>
            <a:r>
              <a:rPr lang="fr-FR" dirty="0"/>
              <a:t> </a:t>
            </a:r>
            <a:r>
              <a:rPr lang="fr-FR" dirty="0" err="1"/>
              <a:t>it</a:t>
            </a:r>
            <a:r>
              <a:rPr lang="fr-FR" dirty="0"/>
              <a:t> </a:t>
            </a:r>
            <a:r>
              <a:rPr lang="fr-FR" dirty="0" err="1"/>
              <a:t>announces</a:t>
            </a:r>
            <a:r>
              <a:rPr lang="fr-FR" dirty="0"/>
              <a:t> a high </a:t>
            </a:r>
            <a:r>
              <a:rPr lang="fr-FR" dirty="0" err="1"/>
              <a:t>probability</a:t>
            </a:r>
            <a:r>
              <a:rPr lang="fr-FR" dirty="0"/>
              <a:t>, </a:t>
            </a:r>
            <a:r>
              <a:rPr lang="fr-FR" dirty="0" err="1"/>
              <a:t>it</a:t>
            </a:r>
            <a:r>
              <a:rPr lang="fr-FR" dirty="0"/>
              <a:t> </a:t>
            </a:r>
            <a:r>
              <a:rPr lang="fr-FR" dirty="0" err="1"/>
              <a:t>is</a:t>
            </a:r>
            <a:r>
              <a:rPr lang="fr-FR" dirty="0"/>
              <a:t> </a:t>
            </a:r>
            <a:r>
              <a:rPr lang="fr-FR" dirty="0" err="1"/>
              <a:t>wrong</a:t>
            </a:r>
            <a:r>
              <a:rPr lang="fr-FR" dirty="0"/>
              <a:t> </a:t>
            </a:r>
            <a:r>
              <a:rPr lang="fr-FR" dirty="0" err="1"/>
              <a:t>every</a:t>
            </a:r>
            <a:r>
              <a:rPr lang="fr-FR" dirty="0"/>
              <a:t> time…</a:t>
            </a:r>
          </a:p>
          <a:p>
            <a:br>
              <a:rPr lang="fr-FR" dirty="0"/>
            </a:br>
            <a:r>
              <a:rPr lang="fr-FR" dirty="0"/>
              <a:t>As </a:t>
            </a:r>
            <a:r>
              <a:rPr lang="fr-FR" dirty="0" err="1"/>
              <a:t>we</a:t>
            </a:r>
            <a:r>
              <a:rPr lang="fr-FR" dirty="0"/>
              <a:t> </a:t>
            </a:r>
            <a:r>
              <a:rPr lang="fr-FR" dirty="0" err="1"/>
              <a:t>speak</a:t>
            </a:r>
            <a:r>
              <a:rPr lang="fr-FR" dirty="0"/>
              <a:t> i </a:t>
            </a:r>
            <a:r>
              <a:rPr lang="fr-FR" dirty="0" err="1"/>
              <a:t>am</a:t>
            </a:r>
            <a:r>
              <a:rPr lang="fr-FR" dirty="0"/>
              <a:t> </a:t>
            </a:r>
            <a:r>
              <a:rPr lang="fr-FR" dirty="0" err="1"/>
              <a:t>still</a:t>
            </a:r>
            <a:r>
              <a:rPr lang="fr-FR" dirty="0"/>
              <a:t> </a:t>
            </a:r>
            <a:r>
              <a:rPr lang="fr-FR" dirty="0" err="1"/>
              <a:t>working</a:t>
            </a:r>
            <a:r>
              <a:rPr lang="fr-FR" dirty="0"/>
              <a:t> on tuning </a:t>
            </a:r>
            <a:r>
              <a:rPr lang="fr-FR" dirty="0" err="1"/>
              <a:t>this</a:t>
            </a:r>
            <a:r>
              <a:rPr lang="fr-FR" dirty="0"/>
              <a:t> </a:t>
            </a:r>
            <a:r>
              <a:rPr lang="fr-FR" dirty="0" err="1"/>
              <a:t>method</a:t>
            </a:r>
            <a:r>
              <a:rPr lang="fr-FR" dirty="0"/>
              <a:t> as i </a:t>
            </a:r>
            <a:r>
              <a:rPr lang="fr-FR" dirty="0" err="1"/>
              <a:t>am</a:t>
            </a:r>
            <a:r>
              <a:rPr lang="fr-FR" dirty="0"/>
              <a:t> </a:t>
            </a:r>
            <a:r>
              <a:rPr lang="fr-FR" dirty="0" err="1"/>
              <a:t>maybe</a:t>
            </a:r>
            <a:r>
              <a:rPr lang="fr-FR" dirty="0"/>
              <a:t> in piste to </a:t>
            </a:r>
            <a:r>
              <a:rPr lang="fr-FR" dirty="0" err="1"/>
              <a:t>find</a:t>
            </a:r>
            <a:r>
              <a:rPr lang="fr-FR" dirty="0"/>
              <a:t> out </a:t>
            </a:r>
            <a:r>
              <a:rPr lang="fr-FR" dirty="0" err="1"/>
              <a:t>where</a:t>
            </a:r>
            <a:r>
              <a:rPr lang="fr-FR" dirty="0"/>
              <a:t> the </a:t>
            </a:r>
            <a:r>
              <a:rPr lang="fr-FR" dirty="0" err="1"/>
              <a:t>missing</a:t>
            </a:r>
            <a:r>
              <a:rPr lang="fr-FR" dirty="0"/>
              <a:t> informations are </a:t>
            </a:r>
            <a:r>
              <a:rPr lang="fr-FR" dirty="0" err="1"/>
              <a:t>hidden</a:t>
            </a:r>
            <a:r>
              <a:rPr lang="fr-FR" dirty="0"/>
              <a:t>…</a:t>
            </a:r>
            <a:br>
              <a:rPr lang="fr-FR" dirty="0"/>
            </a:br>
            <a:r>
              <a:rPr lang="fr-FR" dirty="0"/>
              <a:t>Also i </a:t>
            </a:r>
            <a:r>
              <a:rPr lang="fr-FR" dirty="0" err="1"/>
              <a:t>am</a:t>
            </a:r>
            <a:r>
              <a:rPr lang="fr-FR" dirty="0"/>
              <a:t> </a:t>
            </a:r>
            <a:r>
              <a:rPr lang="fr-FR" dirty="0" err="1"/>
              <a:t>filling</a:t>
            </a:r>
            <a:r>
              <a:rPr lang="fr-FR" dirty="0"/>
              <a:t> the </a:t>
            </a:r>
            <a:r>
              <a:rPr lang="fr-FR" dirty="0" err="1"/>
              <a:t>missing</a:t>
            </a:r>
            <a:r>
              <a:rPr lang="fr-FR" dirty="0"/>
              <a:t> </a:t>
            </a:r>
            <a:r>
              <a:rPr lang="fr-FR" dirty="0" err="1"/>
              <a:t>infomations</a:t>
            </a:r>
            <a:r>
              <a:rPr lang="fr-FR" dirty="0"/>
              <a:t> gap </a:t>
            </a:r>
            <a:r>
              <a:rPr lang="fr-FR" dirty="0" err="1"/>
              <a:t>with</a:t>
            </a:r>
            <a:r>
              <a:rPr lang="fr-FR" dirty="0"/>
              <a:t> </a:t>
            </a:r>
            <a:r>
              <a:rPr lang="fr-FR" dirty="0" err="1"/>
              <a:t>syntethic</a:t>
            </a:r>
            <a:r>
              <a:rPr lang="fr-FR" dirty="0"/>
              <a:t> </a:t>
            </a:r>
            <a:r>
              <a:rPr lang="fr-FR" dirty="0" err="1"/>
              <a:t>meaning</a:t>
            </a:r>
            <a:r>
              <a:rPr lang="fr-FR" dirty="0"/>
              <a:t> data as </a:t>
            </a:r>
            <a:r>
              <a:rPr lang="fr-FR" dirty="0" err="1"/>
              <a:t>it</a:t>
            </a:r>
            <a:r>
              <a:rPr lang="fr-FR" dirty="0"/>
              <a:t> </a:t>
            </a:r>
            <a:r>
              <a:rPr lang="fr-FR" dirty="0" err="1"/>
              <a:t>is</a:t>
            </a:r>
            <a:r>
              <a:rPr lang="fr-FR" dirty="0"/>
              <a:t> hard to </a:t>
            </a:r>
            <a:r>
              <a:rPr lang="fr-FR" dirty="0" err="1"/>
              <a:t>find</a:t>
            </a:r>
            <a:r>
              <a:rPr lang="fr-FR" dirty="0"/>
              <a:t> </a:t>
            </a:r>
            <a:r>
              <a:rPr lang="fr-FR" dirty="0" err="1"/>
              <a:t>higly</a:t>
            </a:r>
            <a:r>
              <a:rPr lang="fr-FR" dirty="0"/>
              <a:t> public data.</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F680-72B0-DC1C-7C3A-197B480F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674BD-CF21-A538-4309-6480F51B2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F73ED-3DCC-BE8A-9F88-90B32A4E49D3}"/>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2313042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Everything</a:t>
            </a:r>
            <a:r>
              <a:rPr lang="fr-FR" dirty="0"/>
              <a:t> </a:t>
            </a:r>
            <a:r>
              <a:rPr lang="fr-FR" dirty="0" err="1"/>
              <a:t>you</a:t>
            </a:r>
            <a:r>
              <a:rPr lang="fr-FR" dirty="0"/>
              <a:t> have </a:t>
            </a:r>
            <a:r>
              <a:rPr lang="fr-FR" dirty="0" err="1"/>
              <a:t>seen</a:t>
            </a:r>
            <a:r>
              <a:rPr lang="fr-FR" dirty="0"/>
              <a:t> </a:t>
            </a:r>
            <a:r>
              <a:rPr lang="fr-FR" dirty="0" err="1"/>
              <a:t>rests</a:t>
            </a:r>
            <a:r>
              <a:rPr lang="fr-FR" dirty="0"/>
              <a:t> on </a:t>
            </a:r>
            <a:r>
              <a:rPr lang="fr-FR" dirty="0" err="1"/>
              <a:t>this</a:t>
            </a:r>
            <a:r>
              <a:rPr lang="fr-FR" dirty="0"/>
              <a:t>: 2 </a:t>
            </a:r>
            <a:r>
              <a:rPr lang="fr-FR" dirty="0" err="1"/>
              <a:t>campaigns</a:t>
            </a:r>
            <a:r>
              <a:rPr lang="fr-FR" dirty="0"/>
              <a:t>, 2 </a:t>
            </a:r>
            <a:r>
              <a:rPr lang="fr-FR" dirty="0" err="1"/>
              <a:t>chains</a:t>
            </a:r>
            <a:r>
              <a:rPr lang="fr-FR" dirty="0"/>
              <a:t>, 23 </a:t>
            </a:r>
            <a:r>
              <a:rPr lang="fr-FR" dirty="0" err="1"/>
              <a:t>nodes</a:t>
            </a:r>
            <a:r>
              <a:rPr lang="fr-FR" dirty="0"/>
              <a:t>, 33 </a:t>
            </a:r>
            <a:r>
              <a:rPr lang="fr-FR" dirty="0" err="1"/>
              <a:t>milestones</a:t>
            </a:r>
            <a:r>
              <a:rPr lang="fr-FR" dirty="0"/>
              <a:t>, 510 déclarations</a:t>
            </a:r>
          </a:p>
          <a:p>
            <a:endParaRPr lang="en-US" dirty="0"/>
          </a:p>
          <a:p>
            <a:r>
              <a:rPr lang="en-US" dirty="0"/>
              <a:t>objectives met </a:t>
            </a:r>
            <a:r>
              <a:rPr lang="fr-FR" i="1" dirty="0" err="1"/>
              <a:t>What</a:t>
            </a:r>
            <a:r>
              <a:rPr lang="fr-FR" i="1" dirty="0"/>
              <a:t> the programme can </a:t>
            </a:r>
            <a:r>
              <a:rPr lang="fr-FR" i="1" dirty="0" err="1"/>
              <a:t>now</a:t>
            </a:r>
            <a:r>
              <a:rPr lang="fr-FR" i="1" dirty="0"/>
              <a:t> </a:t>
            </a:r>
            <a:r>
              <a:rPr lang="fr-FR" i="1" dirty="0" err="1"/>
              <a:t>say</a:t>
            </a:r>
            <a:r>
              <a:rPr lang="fr-FR" i="1" dirty="0"/>
              <a:t> about </a:t>
            </a:r>
            <a:r>
              <a:rPr lang="fr-FR" i="1" dirty="0" err="1"/>
              <a:t>SupplyScore</a:t>
            </a:r>
            <a:r>
              <a:rPr lang="fr-FR" i="1" dirty="0"/>
              <a:t> </a:t>
            </a:r>
            <a:r>
              <a:rPr lang="fr-FR" i="1" dirty="0" err="1"/>
              <a:t>comes</a:t>
            </a:r>
            <a:r>
              <a:rPr lang="fr-FR" i="1" dirty="0"/>
              <a:t> down to </a:t>
            </a:r>
            <a:r>
              <a:rPr lang="fr-FR" i="1" dirty="0" err="1"/>
              <a:t>three</a:t>
            </a:r>
            <a:r>
              <a:rPr lang="fr-FR" i="1" dirty="0"/>
              <a:t> </a:t>
            </a:r>
            <a:r>
              <a:rPr lang="fr-FR" i="1" dirty="0" err="1"/>
              <a:t>statements</a:t>
            </a:r>
            <a:r>
              <a:rPr lang="fr-FR" i="1" dirty="0"/>
              <a:t>."</a:t>
            </a:r>
            <a:endParaRPr lang="fr-FR" dirty="0"/>
          </a:p>
          <a:p>
            <a:pPr lvl="0"/>
            <a:r>
              <a:rPr lang="fr-FR" i="1" dirty="0"/>
              <a:t>"It </a:t>
            </a:r>
            <a:r>
              <a:rPr lang="fr-FR" i="1" dirty="0" err="1"/>
              <a:t>detects</a:t>
            </a:r>
            <a:r>
              <a:rPr lang="fr-FR" i="1" dirty="0"/>
              <a:t> </a:t>
            </a:r>
            <a:r>
              <a:rPr lang="fr-FR" i="1" dirty="0" err="1"/>
              <a:t>misperception</a:t>
            </a:r>
            <a:r>
              <a:rPr lang="fr-FR" i="1" dirty="0"/>
              <a:t>."</a:t>
            </a:r>
            <a:endParaRPr lang="fr-FR" dirty="0"/>
          </a:p>
          <a:p>
            <a:pPr lvl="0"/>
            <a:r>
              <a:rPr lang="fr-FR" i="1" dirty="0"/>
              <a:t>"It </a:t>
            </a:r>
            <a:r>
              <a:rPr lang="fr-FR" i="1" dirty="0" err="1"/>
              <a:t>is</a:t>
            </a:r>
            <a:r>
              <a:rPr lang="fr-FR" i="1" dirty="0"/>
              <a:t> an </a:t>
            </a:r>
            <a:r>
              <a:rPr lang="fr-FR" i="1" dirty="0" err="1"/>
              <a:t>early</a:t>
            </a:r>
            <a:r>
              <a:rPr lang="fr-FR" i="1" dirty="0"/>
              <a:t>-warning."</a:t>
            </a:r>
            <a:endParaRPr lang="fr-FR" dirty="0"/>
          </a:p>
          <a:p>
            <a:pPr lvl="0"/>
            <a:r>
              <a:rPr lang="fr-FR" i="1" dirty="0"/>
              <a:t>"And </a:t>
            </a:r>
            <a:r>
              <a:rPr lang="fr-FR" i="1" dirty="0" err="1"/>
              <a:t>its</a:t>
            </a:r>
            <a:r>
              <a:rPr lang="fr-FR" i="1" dirty="0"/>
              <a:t> </a:t>
            </a:r>
            <a:r>
              <a:rPr lang="fr-FR" i="1" dirty="0" err="1"/>
              <a:t>forecast</a:t>
            </a:r>
            <a:r>
              <a:rPr lang="fr-FR" i="1" dirty="0"/>
              <a:t> layer </a:t>
            </a:r>
            <a:r>
              <a:rPr lang="fr-FR" i="1" dirty="0" err="1"/>
              <a:t>buys</a:t>
            </a:r>
            <a:r>
              <a:rPr lang="fr-FR" i="1" dirty="0"/>
              <a:t> calibration </a:t>
            </a:r>
            <a:r>
              <a:rPr lang="fr-FR" i="1" dirty="0" err="1"/>
              <a:t>rather</a:t>
            </a:r>
            <a:r>
              <a:rPr lang="fr-FR" i="1" dirty="0"/>
              <a:t> </a:t>
            </a:r>
            <a:r>
              <a:rPr lang="fr-FR" i="1" dirty="0" err="1"/>
              <a:t>than</a:t>
            </a:r>
            <a:r>
              <a:rPr lang="fr-FR" i="1" dirty="0"/>
              <a:t> short-horizon discrimination."</a:t>
            </a:r>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fr-FR"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1.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6.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6.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38.png"/><Relationship Id="rId6" Type="http://schemas.openxmlformats.org/officeDocument/2006/relationships/image" Target="../media/image24.png"/><Relationship Id="rId7"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18.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10.png"/><Relationship Id="rId5" Type="http://schemas.openxmlformats.org/officeDocument/2006/relationships/image" Target="../media/image34.png"/><Relationship Id="rId6" Type="http://schemas.openxmlformats.org/officeDocument/2006/relationships/image" Target="../media/image30.png"/><Relationship Id="rId7"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60.png"/><Relationship Id="rId6" Type="http://schemas.openxmlformats.org/officeDocument/2006/relationships/image" Target="../media/image6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6.png"/><Relationship Id="rId9"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0.png"/><Relationship Id="rId4" Type="http://schemas.openxmlformats.org/officeDocument/2006/relationships/image" Target="../media/image37.png"/><Relationship Id="rId5" Type="http://schemas.openxmlformats.org/officeDocument/2006/relationships/image" Target="../media/image51.png"/><Relationship Id="rId6"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6.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image" Target="../media/image26.png"/><Relationship Id="rId6" Type="http://schemas.openxmlformats.org/officeDocument/2006/relationships/image" Target="../media/image56.png"/><Relationship Id="rId7" Type="http://schemas.openxmlformats.org/officeDocument/2006/relationships/image" Target="../media/image53.png"/><Relationship Id="rId8"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1.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3230" b="13230"/>
          <a:stretch/>
        </p:blipFill>
        <p:spPr>
          <a:xfrm>
            <a:off x="0" y="0"/>
            <a:ext cx="12192000" cy="5048250"/>
          </a:xfrm>
          <a:prstGeom prst="rect">
            <a:avLst/>
          </a:prstGeom>
        </p:spPr>
      </p:pic>
      <p:sp>
        <p:nvSpPr>
          <p:cNvPr id="3" name="Shape 0"/>
          <p:cNvSpPr/>
          <p:nvPr/>
        </p:nvSpPr>
        <p:spPr>
          <a:xfrm>
            <a:off x="0" y="0"/>
            <a:ext cx="12192000" cy="5048250"/>
          </a:xfrm>
          <a:prstGeom prst="rect">
            <a:avLst/>
          </a:prstGeom>
          <a:gradFill rotWithShape="1">
            <a:gsLst>
              <a:gs pos="0">
                <a:srgbClr val="063C67">
                  <a:alpha val="30000"/>
                </a:srgbClr>
              </a:gs>
              <a:gs pos="58000">
                <a:srgbClr val="063C67">
                  <a:alpha val="76000"/>
                </a:srgbClr>
              </a:gs>
              <a:gs pos="100000">
                <a:srgbClr val="063C67">
                  <a:alpha val="94000"/>
                </a:srgbClr>
              </a:gs>
            </a:gsLst>
            <a:lin ang="5400000" scaled="0"/>
          </a:gradFill>
          <a:ln/>
        </p:spPr>
        <p:txBody>
          <a:bodyPr/>
          <a:lstStyle/>
          <a:p>
            <a:endParaRPr lang="fr-FR"/>
          </a:p>
        </p:txBody>
      </p:sp>
      <p:sp>
        <p:nvSpPr>
          <p:cNvPr id="4" name="Text 1"/>
          <p:cNvSpPr/>
          <p:nvPr/>
        </p:nvSpPr>
        <p:spPr>
          <a:xfrm>
            <a:off x="419100" y="1123950"/>
            <a:ext cx="11001375" cy="2866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1350" b="1" kern="0" spc="243" dirty="0">
                <a:solidFill>
                  <a:srgbClr val="7ECBEE"/>
                </a:solidFill>
                <a:latin typeface="Arial" pitchFamily="34" charset="0"/>
                <a:ea typeface="Arial" pitchFamily="34" charset="-122"/>
                <a:cs typeface="Arial" pitchFamily="34" charset="-120"/>
              </a:rPr>
              <a:t>INTERNSHIP AT ALTEN SO</a:t>
            </a:r>
            <a:endParaRPr lang="en-US" sz="1350" dirty="0"/>
          </a:p>
        </p:txBody>
      </p:sp>
      <p:sp>
        <p:nvSpPr>
          <p:cNvPr id="5" name="Text 2"/>
          <p:cNvSpPr/>
          <p:nvPr/>
        </p:nvSpPr>
        <p:spPr>
          <a:xfrm>
            <a:off x="419099" y="1620142"/>
            <a:ext cx="11256433" cy="1155899"/>
          </a:xfrm>
          <a:prstGeom prst="rect">
            <a:avLst/>
          </a:prstGeom>
          <a:noFill/>
          <a:ln/>
        </p:spPr>
        <p:txBody>
          <a:bodyPr wrap="square" lIns="25400" tIns="25400" rIns="25400" bIns="25400" rtlCol="0" anchor="t">
            <a:normAutofit/>
          </a:bodyPr>
          <a:lstStyle/>
          <a:p>
            <a:pPr marL="0" indent="0" algn="l">
              <a:lnSpc>
                <a:spcPct val="65368"/>
              </a:lnSpc>
              <a:buNone/>
            </a:pPr>
            <a:r>
              <a:rPr lang="en-US" sz="4050" b="1" dirty="0">
                <a:solidFill>
                  <a:srgbClr val="FFFFFF"/>
                </a:solidFill>
                <a:latin typeface="Arial Black" pitchFamily="34" charset="0"/>
                <a:ea typeface="Arial Black" pitchFamily="34" charset="-122"/>
                <a:cs typeface="Arial Black" pitchFamily="34" charset="-120"/>
              </a:rPr>
              <a:t>R&amp;D : Urgency in the Digital Twin Smart Green Supply Chain</a:t>
            </a:r>
            <a:endParaRPr lang="en-US" sz="4050" dirty="0"/>
          </a:p>
        </p:txBody>
      </p:sp>
      <p:sp>
        <p:nvSpPr>
          <p:cNvPr id="6" name="Text 3"/>
          <p:cNvSpPr/>
          <p:nvPr/>
        </p:nvSpPr>
        <p:spPr>
          <a:xfrm>
            <a:off x="419100" y="2776042"/>
            <a:ext cx="11001375"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dirty="0">
                <a:solidFill>
                  <a:srgbClr val="B1DFF4"/>
                </a:solidFill>
                <a:latin typeface="Arial" pitchFamily="34" charset="0"/>
                <a:ea typeface="Arial" pitchFamily="34" charset="-122"/>
                <a:cs typeface="Arial" pitchFamily="34" charset="-120"/>
              </a:rPr>
              <a:t>Adding a fourth score to the twin: the distance between declared and real urgency</a:t>
            </a:r>
            <a:endParaRPr lang="en-US" sz="1800" dirty="0"/>
          </a:p>
        </p:txBody>
      </p:sp>
      <p:sp>
        <p:nvSpPr>
          <p:cNvPr id="7" name="Text 4"/>
          <p:cNvSpPr/>
          <p:nvPr/>
        </p:nvSpPr>
        <p:spPr>
          <a:xfrm>
            <a:off x="419100" y="3924300"/>
            <a:ext cx="2595037" cy="480020"/>
          </a:xfrm>
          <a:prstGeom prst="rect">
            <a:avLst/>
          </a:prstGeom>
          <a:noFill/>
          <a:ln/>
        </p:spPr>
        <p:txBody>
          <a:bodyPr wrap="square" lIns="25400" tIns="25400" rIns="25400" bIns="25400" rtlCol="0" anchor="t">
            <a:normAutofit/>
          </a:bodyPr>
          <a:lstStyle/>
          <a:p>
            <a:pPr marL="0" indent="0" algn="l">
              <a:lnSpc>
                <a:spcPct val="102353"/>
              </a:lnSpc>
              <a:buNone/>
            </a:pPr>
            <a:r>
              <a:rPr lang="en-US" sz="2400" b="1" dirty="0">
                <a:solidFill>
                  <a:srgbClr val="FFFFFF"/>
                </a:solidFill>
                <a:latin typeface="Arial Black" pitchFamily="34" charset="0"/>
                <a:ea typeface="Arial Black" pitchFamily="34" charset="-122"/>
                <a:cs typeface="Arial Black" pitchFamily="34" charset="-120"/>
              </a:rPr>
              <a:t>HOARAU John</a:t>
            </a:r>
            <a:endParaRPr lang="en-US" sz="2400" dirty="0"/>
          </a:p>
        </p:txBody>
      </p:sp>
      <p:sp>
        <p:nvSpPr>
          <p:cNvPr id="8" name="Text 5"/>
          <p:cNvSpPr/>
          <p:nvPr/>
        </p:nvSpPr>
        <p:spPr>
          <a:xfrm>
            <a:off x="419100" y="4423370"/>
            <a:ext cx="2595037"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B1DFF4"/>
                </a:solidFill>
                <a:latin typeface="Calibri" pitchFamily="34" charset="0"/>
                <a:ea typeface="Calibri" pitchFamily="34" charset="-122"/>
                <a:cs typeface="Calibri" pitchFamily="34" charset="-120"/>
              </a:rPr>
              <a:t>Cohort 2026 DED</a:t>
            </a:r>
            <a:endParaRPr lang="en-US" sz="1425" dirty="0"/>
          </a:p>
        </p:txBody>
      </p:sp>
      <p:sp>
        <p:nvSpPr>
          <p:cNvPr id="9" name="Text 6"/>
          <p:cNvSpPr/>
          <p:nvPr/>
        </p:nvSpPr>
        <p:spPr>
          <a:xfrm>
            <a:off x="419100" y="5391150"/>
            <a:ext cx="3069580"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COMPANY</a:t>
            </a:r>
            <a:endParaRPr lang="en-US" sz="975" dirty="0"/>
          </a:p>
        </p:txBody>
      </p:sp>
      <p:sp>
        <p:nvSpPr>
          <p:cNvPr id="10" name="Text 7"/>
          <p:cNvSpPr/>
          <p:nvPr/>
        </p:nvSpPr>
        <p:spPr>
          <a:xfrm>
            <a:off x="419100" y="5634335"/>
            <a:ext cx="12079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ALTEN Sud-Ouest</a:t>
            </a:r>
            <a:endParaRPr lang="en-US" sz="1275" dirty="0"/>
          </a:p>
        </p:txBody>
      </p:sp>
      <p:sp>
        <p:nvSpPr>
          <p:cNvPr id="11" name="Text 8"/>
          <p:cNvSpPr/>
          <p:nvPr/>
        </p:nvSpPr>
        <p:spPr>
          <a:xfrm>
            <a:off x="419100" y="5860951"/>
            <a:ext cx="2874243"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Innovation Division · Toulouse Lab</a:t>
            </a:r>
            <a:endParaRPr lang="en-US" sz="1275" dirty="0"/>
          </a:p>
        </p:txBody>
      </p:sp>
      <p:sp>
        <p:nvSpPr>
          <p:cNvPr id="12" name="Text 9"/>
          <p:cNvSpPr/>
          <p:nvPr/>
        </p:nvSpPr>
        <p:spPr>
          <a:xfrm>
            <a:off x="3666827" y="5391150"/>
            <a:ext cx="2014736"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PERIOD</a:t>
            </a:r>
            <a:endParaRPr lang="en-US" sz="975" dirty="0"/>
          </a:p>
        </p:txBody>
      </p:sp>
      <p:sp>
        <p:nvSpPr>
          <p:cNvPr id="13" name="Text 10"/>
          <p:cNvSpPr/>
          <p:nvPr/>
        </p:nvSpPr>
        <p:spPr>
          <a:xfrm>
            <a:off x="3666827" y="5634335"/>
            <a:ext cx="190777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13 April → 16 October 2026</a:t>
            </a:r>
            <a:endParaRPr lang="en-US" sz="1275" dirty="0"/>
          </a:p>
        </p:txBody>
      </p:sp>
      <p:sp>
        <p:nvSpPr>
          <p:cNvPr id="14" name="Text 11"/>
          <p:cNvSpPr/>
          <p:nvPr/>
        </p:nvSpPr>
        <p:spPr>
          <a:xfrm>
            <a:off x="3666827" y="5860951"/>
            <a:ext cx="11826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Confidential: YES</a:t>
            </a:r>
            <a:endParaRPr lang="en-US" sz="1275" dirty="0"/>
          </a:p>
        </p:txBody>
      </p:sp>
      <p:sp>
        <p:nvSpPr>
          <p:cNvPr id="15" name="Text 12"/>
          <p:cNvSpPr/>
          <p:nvPr/>
        </p:nvSpPr>
        <p:spPr>
          <a:xfrm>
            <a:off x="5955606" y="5391150"/>
            <a:ext cx="3127861"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TUTORS</a:t>
            </a:r>
            <a:endParaRPr lang="en-US" sz="975" dirty="0"/>
          </a:p>
        </p:txBody>
      </p:sp>
      <p:sp>
        <p:nvSpPr>
          <p:cNvPr id="16" name="Text 13"/>
          <p:cNvSpPr/>
          <p:nvPr/>
        </p:nvSpPr>
        <p:spPr>
          <a:xfrm>
            <a:off x="5955606" y="5634335"/>
            <a:ext cx="2174776"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S. Perthuisot and F. Jules, ALTEN</a:t>
            </a:r>
            <a:endParaRPr lang="en-US" sz="1275" dirty="0"/>
          </a:p>
        </p:txBody>
      </p:sp>
      <p:sp>
        <p:nvSpPr>
          <p:cNvPr id="17" name="Text 14"/>
          <p:cNvSpPr/>
          <p:nvPr/>
        </p:nvSpPr>
        <p:spPr>
          <a:xfrm>
            <a:off x="5955606" y="5860951"/>
            <a:ext cx="2928815"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Dr. D. Gomez, ESTIA · Dr. P. Sherar, Cranfield</a:t>
            </a:r>
            <a:endParaRPr lang="en-US" sz="1275" dirty="0"/>
          </a:p>
        </p:txBody>
      </p:sp>
      <p:pic>
        <p:nvPicPr>
          <p:cNvPr id="18" name="Image 1" descr="preencoded.png"/>
          <p:cNvPicPr>
            <a:picLocks noChangeAspect="1"/>
          </p:cNvPicPr>
          <p:nvPr/>
        </p:nvPicPr>
        <p:blipFill>
          <a:blip r:embed="rId4"/>
          <a:stretch>
            <a:fillRect/>
          </a:stretch>
        </p:blipFill>
        <p:spPr>
          <a:xfrm>
            <a:off x="11209734" y="5262860"/>
            <a:ext cx="525066" cy="742950"/>
          </a:xfrm>
          <a:prstGeom prst="rect">
            <a:avLst/>
          </a:prstGeom>
        </p:spPr>
      </p:pic>
      <p:pic>
        <p:nvPicPr>
          <p:cNvPr id="19" name="Image 2" descr="preencoded.png"/>
          <p:cNvPicPr>
            <a:picLocks noChangeAspect="1"/>
          </p:cNvPicPr>
          <p:nvPr/>
        </p:nvPicPr>
        <p:blipFill>
          <a:blip r:embed="rId5"/>
          <a:stretch>
            <a:fillRect/>
          </a:stretch>
        </p:blipFill>
        <p:spPr>
          <a:xfrm>
            <a:off x="9254728" y="5410198"/>
            <a:ext cx="1184672" cy="514350"/>
          </a:xfrm>
          <a:prstGeom prst="rect">
            <a:avLst/>
          </a:prstGeom>
        </p:spPr>
      </p:pic>
      <p:pic>
        <p:nvPicPr>
          <p:cNvPr id="21" name="Image 20">
            <a:extLst>
              <a:ext uri="{FF2B5EF4-FFF2-40B4-BE49-F238E27FC236}">
                <a16:creationId xmlns:a16="http://schemas.microsoft.com/office/drawing/2014/main" id="{58FAA7EB-B541-2A4F-292E-2CB69C9477A6}"/>
              </a:ext>
            </a:extLst>
          </p:cNvPr>
          <p:cNvPicPr>
            <a:picLocks noChangeAspect="1"/>
          </p:cNvPicPr>
          <p:nvPr/>
        </p:nvPicPr>
        <p:blipFill>
          <a:blip r:embed="rId6"/>
          <a:stretch>
            <a:fillRect/>
          </a:stretch>
        </p:blipFill>
        <p:spPr>
          <a:xfrm>
            <a:off x="11105554" y="6043612"/>
            <a:ext cx="742950" cy="742950"/>
          </a:xfrm>
          <a:prstGeom prst="rect">
            <a:avLst/>
          </a:prstGeom>
        </p:spPr>
      </p:pic>
      <p:pic>
        <p:nvPicPr>
          <p:cNvPr id="23" name="Image 22">
            <a:extLst>
              <a:ext uri="{FF2B5EF4-FFF2-40B4-BE49-F238E27FC236}">
                <a16:creationId xmlns:a16="http://schemas.microsoft.com/office/drawing/2014/main" id="{D67A78C4-863C-68CF-ED51-09ED77173532}"/>
              </a:ext>
            </a:extLst>
          </p:cNvPr>
          <p:cNvPicPr>
            <a:picLocks noChangeAspect="1"/>
          </p:cNvPicPr>
          <p:nvPr/>
        </p:nvPicPr>
        <p:blipFill>
          <a:blip r:embed="rId7"/>
          <a:stretch>
            <a:fillRect/>
          </a:stretch>
        </p:blipFill>
        <p:spPr>
          <a:xfrm>
            <a:off x="9475301" y="6043612"/>
            <a:ext cx="743525" cy="742950"/>
          </a:xfrm>
          <a:prstGeom prst="rect">
            <a:avLst/>
          </a:prstGeom>
        </p:spPr>
      </p:pic>
      <p:sp>
        <p:nvSpPr>
          <p:cNvPr id="24" name="TextBox 23"/>
          <p:cNvSpPr txBox="1"/>
          <p:nvPr/>
        </p:nvSpPr>
        <p:spPr>
          <a:xfrm>
            <a:off x="420624" y="6236208"/>
            <a:ext cx="8229600" cy="256032"/>
          </a:xfrm>
          <a:prstGeom prst="rect">
            <a:avLst/>
          </a:prstGeom>
          <a:noFill/>
        </p:spPr>
        <p:txBody>
          <a:bodyPr wrap="square" lIns="25400" rIns="25400" tIns="25400" bIns="25400" anchor="t">
            <a:spAutoFit/>
          </a:bodyPr>
          <a:lstStyle/>
          <a:p>
            <a:pPr algn="l"/>
            <a:r>
              <a:rPr sz="800" b="0">
                <a:solidFill>
                  <a:srgbClr val="858591"/>
                </a:solidFill>
                <a:latin typeface="Arial"/>
              </a:rPr>
              <a:t>Figures are original work unless indicated. ALTEN material used with permission.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E3A7-5652-6152-613D-0EFF35BE671C}"/>
            </a:ext>
          </a:extLst>
        </p:cNvPr>
        <p:cNvGrpSpPr/>
        <p:nvPr/>
      </p:nvGrpSpPr>
      <p:grpSpPr>
        <a:xfrm>
          <a:off x="0" y="0"/>
          <a:ext cx="0" cy="0"/>
          <a:chOff x="0" y="0"/>
          <a:chExt cx="0" cy="0"/>
        </a:xfrm>
      </p:grpSpPr>
      <p:pic>
        <p:nvPicPr>
          <p:cNvPr id="24" name="Image 5" descr="preencoded.png">
            <a:extLst>
              <a:ext uri="{FF2B5EF4-FFF2-40B4-BE49-F238E27FC236}">
                <a16:creationId xmlns:a16="http://schemas.microsoft.com/office/drawing/2014/main" id="{E23858DA-5E8B-CA5A-81FB-248A00571ADB}"/>
              </a:ext>
            </a:extLst>
          </p:cNvPr>
          <p:cNvPicPr>
            <a:picLocks noChangeAspect="1"/>
          </p:cNvPicPr>
          <p:nvPr/>
        </p:nvPicPr>
        <p:blipFill>
          <a:blip r:embed="rId3"/>
          <a:srcRect l="26001" r="26001"/>
          <a:stretch/>
        </p:blipFill>
        <p:spPr>
          <a:xfrm>
            <a:off x="7239000" y="0"/>
            <a:ext cx="4953000" cy="6858000"/>
          </a:xfrm>
          <a:prstGeom prst="rect">
            <a:avLst/>
          </a:prstGeom>
        </p:spPr>
      </p:pic>
      <p:sp>
        <p:nvSpPr>
          <p:cNvPr id="31" name="Shape 19">
            <a:extLst>
              <a:ext uri="{FF2B5EF4-FFF2-40B4-BE49-F238E27FC236}">
                <a16:creationId xmlns:a16="http://schemas.microsoft.com/office/drawing/2014/main" id="{C99587F7-B402-6779-4BDA-4286476DE344}"/>
              </a:ext>
            </a:extLst>
          </p:cNvPr>
          <p:cNvSpPr/>
          <p:nvPr/>
        </p:nvSpPr>
        <p:spPr>
          <a:xfrm>
            <a:off x="352426" y="1514475"/>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18705D8-1D9A-719B-CCD2-38E81C661B7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0323CCD-F62A-5F65-11AD-C0AACD5CFC25}"/>
              </a:ext>
            </a:extLst>
          </p:cNvPr>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pic>
        <p:nvPicPr>
          <p:cNvPr id="5" name="Image 0" descr="preencoded.png">
            <a:extLst>
              <a:ext uri="{FF2B5EF4-FFF2-40B4-BE49-F238E27FC236}">
                <a16:creationId xmlns:a16="http://schemas.microsoft.com/office/drawing/2014/main" id="{B384B8D2-C617-95E4-BD48-37FA1483DD9E}"/>
              </a:ext>
            </a:extLst>
          </p:cNvPr>
          <p:cNvPicPr>
            <a:picLocks noChangeAspect="1"/>
          </p:cNvPicPr>
          <p:nvPr/>
        </p:nvPicPr>
        <p:blipFill>
          <a:blip r:embed="rId4"/>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0ACD2C82-0831-73A1-4AFE-D84D112C46D0}"/>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0DAA930A-A862-96A4-7BBE-C2A5B64A1B88}"/>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3D394B2C-34B5-486F-CFA3-98B4DC876A12}"/>
              </a:ext>
            </a:extLst>
          </p:cNvPr>
          <p:cNvPicPr>
            <a:picLocks noChangeAspect="1"/>
          </p:cNvPicPr>
          <p:nvPr/>
        </p:nvPicPr>
        <p:blipFill>
          <a:blip r:embed="rId5"/>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3B67BBD2-BB4C-444E-F1B5-606EC10E859F}"/>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D535C75C-57F0-AEB3-D9DB-1D5066EDFBC6}"/>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C7BCD572-3EC6-8C22-4633-398EE5F5F298}"/>
              </a:ext>
            </a:extLst>
          </p:cNvPr>
          <p:cNvPicPr>
            <a:picLocks noChangeAspect="1"/>
          </p:cNvPicPr>
          <p:nvPr/>
        </p:nvPicPr>
        <p:blipFill>
          <a:blip r:embed="rId6"/>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308B74A7-5B9F-5C78-1967-47731F55BA8B}"/>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6C59F23B-E0E6-82AF-FA40-6430B3F3FD9C}"/>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C3C3F657-ED4C-0CC2-046F-722F1B7027E9}"/>
              </a:ext>
            </a:extLst>
          </p:cNvPr>
          <p:cNvPicPr>
            <a:picLocks noChangeAspect="1"/>
          </p:cNvPicPr>
          <p:nvPr/>
        </p:nvPicPr>
        <p:blipFill>
          <a:blip r:embed="rId7"/>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D72E9896-E5EA-E465-50CA-7DD2AFB8FD47}"/>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418195CD-3884-58CD-27C1-B267392D8F2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A198ED89-AFF7-9824-686F-F9E4B4694F26}"/>
              </a:ext>
            </a:extLst>
          </p:cNvPr>
          <p:cNvPicPr>
            <a:picLocks noChangeAspect="1"/>
          </p:cNvPicPr>
          <p:nvPr/>
        </p:nvPicPr>
        <p:blipFill>
          <a:blip r:embed="rId8"/>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FE6ED056-8C67-F749-0980-B02275BF78A7}"/>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B6FD6C5-5FE0-8D51-B542-E2634C604BA4}"/>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29D7CAB-3E91-5A31-9EE7-D0B8F7BF6AD3}"/>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285C3F7-2CC9-B546-82A8-A56261EF5109}"/>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3932D22C-299F-BB3A-FE19-581DF0A0FCE3}"/>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96D87FDA-E7D9-2884-678F-2DDB2A0CF0A8}"/>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EFA1F38-9B5C-F455-EB50-D44CEB4A2C1C}"/>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5" name="Image 6" descr="preencoded.png">
            <a:extLst>
              <a:ext uri="{FF2B5EF4-FFF2-40B4-BE49-F238E27FC236}">
                <a16:creationId xmlns:a16="http://schemas.microsoft.com/office/drawing/2014/main" id="{D4E91E5E-1CC7-0CEC-7446-ED9125CB41C6}"/>
              </a:ext>
            </a:extLst>
          </p:cNvPr>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858591"/>
                </a:solidFill>
                <a:latin typeface="Arial"/>
              </a:rPr>
              <a:t>2</a:t>
            </a:r>
          </a:p>
        </p:txBody>
      </p:sp>
    </p:spTree>
    <p:extLst>
      <p:ext uri="{BB962C8B-B14F-4D97-AF65-F5344CB8AC3E}">
        <p14:creationId xmlns:p14="http://schemas.microsoft.com/office/powerpoint/2010/main" val="2175540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COMPANY AND THE PROGRAMME</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ALTEN · Innovation Division · Toulouse Lab</a:t>
            </a:r>
            <a:endParaRPr lang="en-US" sz="1725" dirty="0"/>
          </a:p>
        </p:txBody>
      </p:sp>
      <p:pic>
        <p:nvPicPr>
          <p:cNvPr id="5" name="Image 0" descr="preencoded.png"/>
          <p:cNvPicPr>
            <a:picLocks noChangeAspect="1"/>
          </p:cNvPicPr>
          <p:nvPr/>
        </p:nvPicPr>
        <p:blipFill>
          <a:blip r:embed="rId3"/>
          <a:stretch>
            <a:fillRect/>
          </a:stretch>
        </p:blipFill>
        <p:spPr>
          <a:xfrm>
            <a:off x="304800" y="1493937"/>
            <a:ext cx="438150" cy="438150"/>
          </a:xfrm>
          <a:prstGeom prst="rect">
            <a:avLst/>
          </a:prstGeom>
        </p:spPr>
      </p:pic>
      <p:sp>
        <p:nvSpPr>
          <p:cNvPr id="6" name="Text 3"/>
          <p:cNvSpPr/>
          <p:nvPr/>
        </p:nvSpPr>
        <p:spPr>
          <a:xfrm>
            <a:off x="895350" y="1390650"/>
            <a:ext cx="1245195"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1988</a:t>
            </a:r>
            <a:endParaRPr lang="en-US" sz="3450" dirty="0"/>
          </a:p>
        </p:txBody>
      </p:sp>
      <p:sp>
        <p:nvSpPr>
          <p:cNvPr id="7" name="Text 4"/>
          <p:cNvSpPr/>
          <p:nvPr/>
        </p:nvSpPr>
        <p:spPr>
          <a:xfrm>
            <a:off x="895350" y="1842095"/>
            <a:ext cx="124519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FOUNDED</a:t>
            </a:r>
            <a:endParaRPr lang="en-US" sz="1050" dirty="0"/>
          </a:p>
        </p:txBody>
      </p:sp>
      <p:pic>
        <p:nvPicPr>
          <p:cNvPr id="8" name="Image 1" descr="preencoded.png"/>
          <p:cNvPicPr>
            <a:picLocks noChangeAspect="1"/>
          </p:cNvPicPr>
          <p:nvPr/>
        </p:nvPicPr>
        <p:blipFill>
          <a:blip r:embed="rId4"/>
          <a:stretch>
            <a:fillRect/>
          </a:stretch>
        </p:blipFill>
        <p:spPr>
          <a:xfrm>
            <a:off x="3190875" y="1493937"/>
            <a:ext cx="438150" cy="438150"/>
          </a:xfrm>
          <a:prstGeom prst="rect">
            <a:avLst/>
          </a:prstGeom>
        </p:spPr>
      </p:pic>
      <p:sp>
        <p:nvSpPr>
          <p:cNvPr id="9" name="Text 5"/>
          <p:cNvSpPr/>
          <p:nvPr/>
        </p:nvSpPr>
        <p:spPr>
          <a:xfrm>
            <a:off x="3781425" y="1390650"/>
            <a:ext cx="1029593"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+30</a:t>
            </a:r>
            <a:endParaRPr lang="en-US" sz="3450" dirty="0"/>
          </a:p>
        </p:txBody>
      </p:sp>
      <p:sp>
        <p:nvSpPr>
          <p:cNvPr id="10" name="Text 6"/>
          <p:cNvSpPr/>
          <p:nvPr/>
        </p:nvSpPr>
        <p:spPr>
          <a:xfrm>
            <a:off x="3781425" y="1842095"/>
            <a:ext cx="102959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COUNTRIES</a:t>
            </a:r>
            <a:endParaRPr lang="en-US" sz="1050" dirty="0"/>
          </a:p>
        </p:txBody>
      </p:sp>
      <p:pic>
        <p:nvPicPr>
          <p:cNvPr id="11" name="Image 2" descr="preencoded.png"/>
          <p:cNvPicPr>
            <a:picLocks noChangeAspect="1"/>
          </p:cNvPicPr>
          <p:nvPr/>
        </p:nvPicPr>
        <p:blipFill>
          <a:blip r:embed="rId5"/>
          <a:stretch>
            <a:fillRect/>
          </a:stretch>
        </p:blipFill>
        <p:spPr>
          <a:xfrm>
            <a:off x="6076950" y="1493937"/>
            <a:ext cx="368300" cy="438150"/>
          </a:xfrm>
          <a:prstGeom prst="rect">
            <a:avLst/>
          </a:prstGeom>
        </p:spPr>
      </p:pic>
      <p:sp>
        <p:nvSpPr>
          <p:cNvPr id="12" name="Text 7"/>
          <p:cNvSpPr/>
          <p:nvPr/>
        </p:nvSpPr>
        <p:spPr>
          <a:xfrm>
            <a:off x="6597650" y="1390650"/>
            <a:ext cx="109755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11</a:t>
            </a:r>
            <a:endParaRPr lang="en-US" sz="3450" dirty="0"/>
          </a:p>
        </p:txBody>
      </p:sp>
      <p:sp>
        <p:nvSpPr>
          <p:cNvPr id="13" name="Text 8"/>
          <p:cNvSpPr/>
          <p:nvPr/>
        </p:nvSpPr>
        <p:spPr>
          <a:xfrm>
            <a:off x="6597650" y="1842095"/>
            <a:ext cx="109755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ALTEN LABS</a:t>
            </a:r>
            <a:endParaRPr lang="en-US" sz="1050" dirty="0"/>
          </a:p>
        </p:txBody>
      </p:sp>
      <p:pic>
        <p:nvPicPr>
          <p:cNvPr id="14" name="Image 3" descr="preencoded.png"/>
          <p:cNvPicPr>
            <a:picLocks noChangeAspect="1"/>
          </p:cNvPicPr>
          <p:nvPr/>
        </p:nvPicPr>
        <p:blipFill>
          <a:blip r:embed="rId6"/>
          <a:stretch>
            <a:fillRect/>
          </a:stretch>
        </p:blipFill>
        <p:spPr>
          <a:xfrm>
            <a:off x="8963025" y="1493937"/>
            <a:ext cx="413147" cy="438150"/>
          </a:xfrm>
          <a:prstGeom prst="rect">
            <a:avLst/>
          </a:prstGeom>
        </p:spPr>
      </p:pic>
      <p:sp>
        <p:nvSpPr>
          <p:cNvPr id="15" name="Text 9"/>
          <p:cNvSpPr/>
          <p:nvPr/>
        </p:nvSpPr>
        <p:spPr>
          <a:xfrm>
            <a:off x="9528572" y="1390650"/>
            <a:ext cx="207290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31 %</a:t>
            </a:r>
            <a:endParaRPr lang="en-US" sz="3450" dirty="0"/>
          </a:p>
        </p:txBody>
      </p:sp>
      <p:sp>
        <p:nvSpPr>
          <p:cNvPr id="16" name="Text 10"/>
          <p:cNvSpPr/>
          <p:nvPr/>
        </p:nvSpPr>
        <p:spPr>
          <a:xfrm>
            <a:off x="9528572" y="1842095"/>
            <a:ext cx="20729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R&amp;D ON ENVIRONMENT</a:t>
            </a:r>
            <a:endParaRPr lang="en-US" sz="1050" dirty="0"/>
          </a:p>
        </p:txBody>
      </p:sp>
      <p:sp>
        <p:nvSpPr>
          <p:cNvPr id="17" name="Shape 11"/>
          <p:cNvSpPr/>
          <p:nvPr/>
        </p:nvSpPr>
        <p:spPr>
          <a:xfrm>
            <a:off x="304800" y="2381250"/>
            <a:ext cx="11334750" cy="9525"/>
          </a:xfrm>
          <a:prstGeom prst="rect">
            <a:avLst/>
          </a:prstGeom>
          <a:solidFill>
            <a:srgbClr val="C0C0C8"/>
          </a:solidFill>
          <a:ln/>
        </p:spPr>
        <p:txBody>
          <a:bodyPr/>
          <a:lstStyle/>
          <a:p>
            <a:endParaRPr lang="fr-FR"/>
          </a:p>
        </p:txBody>
      </p:sp>
      <p:sp>
        <p:nvSpPr>
          <p:cNvPr id="18" name="Text 12"/>
          <p:cNvSpPr/>
          <p:nvPr/>
        </p:nvSpPr>
        <p:spPr>
          <a:xfrm>
            <a:off x="304800" y="2523744"/>
            <a:ext cx="585216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THREE SCORES EXIST IN THE TWIN. THE FOURTH DOES NOT.</a:t>
            </a:r>
            <a:endParaRPr lang="en-US" sz="1125" dirty="0"/>
          </a:p>
        </p:txBody>
      </p:sp>
      <p:sp>
        <p:nvSpPr>
          <p:cNvPr id="19" name="Shape 13"/>
          <p:cNvSpPr/>
          <p:nvPr/>
        </p:nvSpPr>
        <p:spPr>
          <a:xfrm>
            <a:off x="304800" y="2834640"/>
            <a:ext cx="5848350" cy="658368"/>
          </a:xfrm>
          <a:prstGeom prst="rect">
            <a:avLst/>
          </a:prstGeom>
          <a:solidFill>
            <a:srgbClr val="F4F4F6"/>
          </a:solidFill>
          <a:ln>
            <a:noFill/>
          </a:ln>
        </p:spPr>
        <p:txBody>
          <a:bodyPr/>
          <a:lstStyle/>
          <a:p>
            <a:endParaRPr lang="fr-FR"/>
          </a:p>
        </p:txBody>
      </p:sp>
      <p:sp>
        <p:nvSpPr>
          <p:cNvPr id="21" name="Text 14"/>
          <p:cNvSpPr/>
          <p:nvPr/>
        </p:nvSpPr>
        <p:spPr>
          <a:xfrm>
            <a:off x="1047750" y="2852928"/>
            <a:ext cx="4206240" cy="2926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LEAN · COST SCORE</a:t>
            </a:r>
            <a:endParaRPr lang="en-US" sz="1650" dirty="0"/>
          </a:p>
        </p:txBody>
      </p:sp>
      <p:sp>
        <p:nvSpPr>
          <p:cNvPr id="22" name="Text 15"/>
          <p:cNvSpPr/>
          <p:nvPr/>
        </p:nvSpPr>
        <p:spPr>
          <a:xfrm>
            <a:off x="1047750" y="3163824"/>
            <a:ext cx="4754880" cy="27432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Cost, delay, excess stock</a:t>
            </a:r>
            <a:endParaRPr lang="en-US" sz="1350" dirty="0"/>
          </a:p>
        </p:txBody>
      </p:sp>
      <p:sp>
        <p:nvSpPr>
          <p:cNvPr id="23" name="Shape 16"/>
          <p:cNvSpPr/>
          <p:nvPr/>
        </p:nvSpPr>
        <p:spPr>
          <a:xfrm>
            <a:off x="304800" y="3566160"/>
            <a:ext cx="5848350" cy="658368"/>
          </a:xfrm>
          <a:prstGeom prst="rect">
            <a:avLst/>
          </a:prstGeom>
          <a:solidFill>
            <a:srgbClr val="F4F4F6"/>
          </a:solidFill>
          <a:ln>
            <a:noFill/>
          </a:ln>
        </p:spPr>
        <p:txBody>
          <a:bodyPr/>
          <a:lstStyle/>
          <a:p>
            <a:endParaRPr lang="fr-FR"/>
          </a:p>
        </p:txBody>
      </p:sp>
      <p:sp>
        <p:nvSpPr>
          <p:cNvPr id="25" name="Text 17"/>
          <p:cNvSpPr/>
          <p:nvPr/>
        </p:nvSpPr>
        <p:spPr>
          <a:xfrm>
            <a:off x="1047750" y="3584448"/>
            <a:ext cx="4206240" cy="2926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GREEN · CO2 SCORE</a:t>
            </a:r>
            <a:endParaRPr lang="en-US" sz="1650" dirty="0"/>
          </a:p>
        </p:txBody>
      </p:sp>
      <p:sp>
        <p:nvSpPr>
          <p:cNvPr id="26" name="Text 18"/>
          <p:cNvSpPr/>
          <p:nvPr/>
        </p:nvSpPr>
        <p:spPr>
          <a:xfrm>
            <a:off x="1047750" y="3895344"/>
            <a:ext cx="4754880" cy="27432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Carbon per transport leg, to GLEC v3.2 and ISO 14083</a:t>
            </a:r>
            <a:endParaRPr lang="en-US" sz="1350" dirty="0"/>
          </a:p>
        </p:txBody>
      </p:sp>
      <p:sp>
        <p:nvSpPr>
          <p:cNvPr id="27" name="Shape 19"/>
          <p:cNvSpPr/>
          <p:nvPr/>
        </p:nvSpPr>
        <p:spPr>
          <a:xfrm>
            <a:off x="304800" y="4297680"/>
            <a:ext cx="5848350" cy="658368"/>
          </a:xfrm>
          <a:prstGeom prst="rect">
            <a:avLst/>
          </a:prstGeom>
          <a:solidFill>
            <a:srgbClr val="F4F4F6"/>
          </a:solidFill>
          <a:ln>
            <a:noFill/>
          </a:ln>
        </p:spPr>
        <p:txBody>
          <a:bodyPr/>
          <a:lstStyle/>
          <a:p>
            <a:endParaRPr lang="fr-FR"/>
          </a:p>
        </p:txBody>
      </p:sp>
      <p:sp>
        <p:nvSpPr>
          <p:cNvPr id="29" name="Text 20"/>
          <p:cNvSpPr/>
          <p:nvPr/>
        </p:nvSpPr>
        <p:spPr>
          <a:xfrm>
            <a:off x="1047750" y="4315968"/>
            <a:ext cx="4206240" cy="2926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PREDICTIVE · RISK SCORE</a:t>
            </a:r>
            <a:endParaRPr lang="en-US" sz="1650" dirty="0"/>
          </a:p>
        </p:txBody>
      </p:sp>
      <p:sp>
        <p:nvSpPr>
          <p:cNvPr id="30" name="Text 21"/>
          <p:cNvSpPr/>
          <p:nvPr/>
        </p:nvSpPr>
        <p:spPr>
          <a:xfrm>
            <a:off x="1047750" y="4626864"/>
            <a:ext cx="4754880" cy="27432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Probability that a node disrupts</a:t>
            </a:r>
            <a:endParaRPr lang="en-US" sz="1350" dirty="0"/>
          </a:p>
        </p:txBody>
      </p:sp>
      <p:pic>
        <p:nvPicPr>
          <p:cNvPr id="33" name="Image 7" descr="preencoded.png"/>
          <p:cNvPicPr>
            <a:picLocks noChangeAspect="1"/>
          </p:cNvPicPr>
          <p:nvPr/>
        </p:nvPicPr>
        <p:blipFill>
          <a:blip r:embed="rId10"/>
          <a:srcRect t="-58" b="-58"/>
          <a:stretch/>
        </p:blipFill>
        <p:spPr>
          <a:xfrm>
            <a:off x="6400800" y="2495550"/>
            <a:ext cx="4667250" cy="3924300"/>
          </a:xfrm>
          <a:prstGeom prst="rect">
            <a:avLst/>
          </a:prstGeom>
        </p:spPr>
      </p:pic>
      <p:pic>
        <p:nvPicPr>
          <p:cNvPr id="35"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8" name="Text 20">
            <a:extLst>
              <a:ext uri="{FF2B5EF4-FFF2-40B4-BE49-F238E27FC236}">
                <a16:creationId xmlns:a16="http://schemas.microsoft.com/office/drawing/2014/main" id="{E070BF69-5671-B082-8CBB-E39AEEFEFE36}"/>
              </a:ext>
            </a:extLst>
          </p:cNvPr>
          <p:cNvSpPr/>
          <p:nvPr/>
        </p:nvSpPr>
        <p:spPr>
          <a:xfrm>
            <a:off x="7393801" y="6432253"/>
            <a:ext cx="3259912" cy="341908"/>
          </a:xfrm>
          <a:prstGeom prst="rect">
            <a:avLst/>
          </a:prstGeom>
          <a:noFill/>
          <a:ln/>
        </p:spPr>
        <p:txBody>
          <a:bodyPr wrap="square" lIns="25400" tIns="25400" rIns="25400" bIns="25400" rtlCol="0" anchor="t">
            <a:normAutofit fontScale="62500" lnSpcReduction="20000"/>
          </a:bodyPr>
          <a:lstStyle/>
          <a:p>
            <a:r>
              <a:rPr lang="en-US" sz="1650" b="1" dirty="0">
                <a:solidFill>
                  <a:srgbClr val="043962"/>
                </a:solidFill>
                <a:latin typeface="Arial Black" pitchFamily="34" charset="0"/>
                <a:ea typeface="Arial Black" pitchFamily="34" charset="-122"/>
                <a:cs typeface="Arial Black" pitchFamily="34" charset="-120"/>
              </a:rPr>
              <a:t>DISCO: the DIN's serious game and digital twin, 22 suppliers</a:t>
            </a:r>
            <a:endParaRPr lang="en-US" sz="1650" dirty="0"/>
          </a:p>
        </p:txBody>
      </p:sp>
      <p:sp>
        <p:nvSpPr>
          <p:cNvPr id="39" name="TextBox 38"/>
          <p:cNvSpPr txBox="1"/>
          <p:nvPr/>
        </p:nvSpPr>
        <p:spPr>
          <a:xfrm>
            <a:off x="457200" y="2944368"/>
            <a:ext cx="502920" cy="438912"/>
          </a:xfrm>
          <a:prstGeom prst="rect">
            <a:avLst/>
          </a:prstGeom>
          <a:noFill/>
        </p:spPr>
        <p:txBody>
          <a:bodyPr wrap="square" lIns="25400" rIns="25400" tIns="25400" bIns="25400" anchor="t">
            <a:spAutoFit/>
          </a:bodyPr>
          <a:lstStyle/>
          <a:p>
            <a:pPr algn="ctr"/>
            <a:r>
              <a:rPr sz="2100" b="1">
                <a:solidFill>
                  <a:srgbClr val="1D93C9"/>
                </a:solidFill>
                <a:latin typeface="Arial Black"/>
              </a:rPr>
              <a:t>1</a:t>
            </a:r>
          </a:p>
        </p:txBody>
      </p:sp>
      <p:sp>
        <p:nvSpPr>
          <p:cNvPr id="40" name="TextBox 39"/>
          <p:cNvSpPr txBox="1"/>
          <p:nvPr/>
        </p:nvSpPr>
        <p:spPr>
          <a:xfrm>
            <a:off x="457200" y="3675887"/>
            <a:ext cx="502920" cy="438912"/>
          </a:xfrm>
          <a:prstGeom prst="rect">
            <a:avLst/>
          </a:prstGeom>
          <a:noFill/>
        </p:spPr>
        <p:txBody>
          <a:bodyPr wrap="square" lIns="25400" rIns="25400" tIns="25400" bIns="25400" anchor="t">
            <a:spAutoFit/>
          </a:bodyPr>
          <a:lstStyle/>
          <a:p>
            <a:pPr algn="ctr"/>
            <a:r>
              <a:rPr sz="2100" b="1">
                <a:solidFill>
                  <a:srgbClr val="1D93C9"/>
                </a:solidFill>
                <a:latin typeface="Arial Black"/>
              </a:rPr>
              <a:t>2</a:t>
            </a:r>
          </a:p>
        </p:txBody>
      </p:sp>
      <p:sp>
        <p:nvSpPr>
          <p:cNvPr id="41" name="TextBox 40"/>
          <p:cNvSpPr txBox="1"/>
          <p:nvPr/>
        </p:nvSpPr>
        <p:spPr>
          <a:xfrm>
            <a:off x="457200" y="4407408"/>
            <a:ext cx="502920" cy="438912"/>
          </a:xfrm>
          <a:prstGeom prst="rect">
            <a:avLst/>
          </a:prstGeom>
          <a:noFill/>
        </p:spPr>
        <p:txBody>
          <a:bodyPr wrap="square" lIns="25400" rIns="25400" tIns="25400" bIns="25400" anchor="t">
            <a:spAutoFit/>
          </a:bodyPr>
          <a:lstStyle/>
          <a:p>
            <a:pPr algn="ctr"/>
            <a:r>
              <a:rPr sz="2100" b="1">
                <a:solidFill>
                  <a:srgbClr val="1D93C9"/>
                </a:solidFill>
                <a:latin typeface="Arial Black"/>
              </a:rPr>
              <a:t>3</a:t>
            </a:r>
          </a:p>
        </p:txBody>
      </p:sp>
      <p:sp>
        <p:nvSpPr>
          <p:cNvPr id="42" name="Rectangle 41"/>
          <p:cNvSpPr/>
          <p:nvPr/>
        </p:nvSpPr>
        <p:spPr>
          <a:xfrm>
            <a:off x="301752" y="5029200"/>
            <a:ext cx="5852160" cy="658368"/>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7200" y="5138928"/>
            <a:ext cx="502920" cy="438912"/>
          </a:xfrm>
          <a:prstGeom prst="rect">
            <a:avLst/>
          </a:prstGeom>
          <a:noFill/>
        </p:spPr>
        <p:txBody>
          <a:bodyPr wrap="square" lIns="25400" rIns="25400" tIns="25400" bIns="25400" anchor="t">
            <a:spAutoFit/>
          </a:bodyPr>
          <a:lstStyle/>
          <a:p>
            <a:pPr algn="ctr"/>
            <a:r>
              <a:rPr sz="2100" b="1">
                <a:solidFill>
                  <a:srgbClr val="043962"/>
                </a:solidFill>
                <a:latin typeface="Arial Black"/>
              </a:rPr>
              <a:t>4</a:t>
            </a:r>
          </a:p>
        </p:txBody>
      </p:sp>
      <p:sp>
        <p:nvSpPr>
          <p:cNvPr id="44" name="TextBox 43"/>
          <p:cNvSpPr txBox="1"/>
          <p:nvPr/>
        </p:nvSpPr>
        <p:spPr>
          <a:xfrm>
            <a:off x="1051560" y="5047488"/>
            <a:ext cx="4480560" cy="292608"/>
          </a:xfrm>
          <a:prstGeom prst="rect">
            <a:avLst/>
          </a:prstGeom>
          <a:noFill/>
        </p:spPr>
        <p:txBody>
          <a:bodyPr wrap="square" lIns="25400" rIns="25400" tIns="25400" bIns="25400" anchor="t">
            <a:spAutoFit/>
          </a:bodyPr>
          <a:lstStyle/>
          <a:p>
            <a:pPr algn="l"/>
            <a:r>
              <a:rPr sz="1650" b="1">
                <a:solidFill>
                  <a:srgbClr val="043962"/>
                </a:solidFill>
                <a:latin typeface="Arial Black"/>
              </a:rPr>
              <a:t>URGENCY · NO SCORE AT ALL</a:t>
            </a:r>
          </a:p>
        </p:txBody>
      </p:sp>
      <p:sp>
        <p:nvSpPr>
          <p:cNvPr id="45" name="TextBox 44"/>
          <p:cNvSpPr txBox="1"/>
          <p:nvPr/>
        </p:nvSpPr>
        <p:spPr>
          <a:xfrm>
            <a:off x="1051560" y="5358384"/>
            <a:ext cx="4846320" cy="274320"/>
          </a:xfrm>
          <a:prstGeom prst="rect">
            <a:avLst/>
          </a:prstGeom>
          <a:noFill/>
        </p:spPr>
        <p:txBody>
          <a:bodyPr wrap="square" lIns="25400" rIns="25400" tIns="25400" bIns="25400" anchor="t">
            <a:spAutoFit/>
          </a:bodyPr>
          <a:lstStyle/>
          <a:p>
            <a:pPr algn="l"/>
            <a:r>
              <a:rPr sz="1050" b="0">
                <a:solidFill>
                  <a:srgbClr val="043962"/>
                </a:solidFill>
                <a:latin typeface="Arial"/>
              </a:rPr>
              <a:t>Declared by a human every week, and never checked against anything.</a:t>
            </a:r>
          </a:p>
        </p:txBody>
      </p:sp>
      <p:sp>
        <p:nvSpPr>
          <p:cNvPr id="46" name="TextBox 45"/>
          <p:cNvSpPr txBox="1"/>
          <p:nvPr/>
        </p:nvSpPr>
        <p:spPr>
          <a:xfrm>
            <a:off x="301752" y="5797296"/>
            <a:ext cx="5943600" cy="274320"/>
          </a:xfrm>
          <a:prstGeom prst="rect">
            <a:avLst/>
          </a:prstGeom>
          <a:noFill/>
        </p:spPr>
        <p:txBody>
          <a:bodyPr wrap="square" lIns="25400" rIns="25400" tIns="25400" bIns="25400" anchor="t">
            <a:spAutoFit/>
          </a:bodyPr>
          <a:lstStyle/>
          <a:p>
            <a:pPr algn="l"/>
            <a:r>
              <a:rPr sz="1200" b="1">
                <a:solidFill>
                  <a:srgbClr val="176F98"/>
                </a:solidFill>
                <a:latin typeface="Arial"/>
              </a:rPr>
              <a:t>My mission is that fourth score.</a:t>
            </a:r>
          </a:p>
        </p:txBody>
      </p:sp>
      <p:sp>
        <p:nvSpPr>
          <p:cNvPr id="47" name="Rectangle 46"/>
          <p:cNvSpPr/>
          <p:nvPr/>
        </p:nvSpPr>
        <p:spPr>
          <a:xfrm>
            <a:off x="10332719"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1</a:t>
            </a:r>
          </a:p>
        </p:txBody>
      </p:sp>
      <p:sp>
        <p:nvSpPr>
          <p:cNvPr id="49" name="Rectangle 48"/>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51" name="Rectangle 50"/>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53" name="Rectangle 52"/>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55" name="Rectangle 54"/>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57" name="TextBox 56"/>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3C67"/>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FFFFFF"/>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FFFFFF"/>
                </a:solidFill>
                <a:latin typeface="Arial Black" pitchFamily="34" charset="0"/>
                <a:ea typeface="Arial Black" pitchFamily="34" charset="-122"/>
                <a:cs typeface="Arial Black" pitchFamily="34" charset="-120"/>
              </a:rPr>
              <a:t>THE PROBLEM</a:t>
            </a:r>
            <a:endParaRPr lang="en-US" sz="3225" dirty="0"/>
          </a:p>
        </p:txBody>
      </p:sp>
      <p:sp>
        <p:nvSpPr>
          <p:cNvPr id="4" name="Shape 2"/>
          <p:cNvSpPr/>
          <p:nvPr/>
        </p:nvSpPr>
        <p:spPr>
          <a:xfrm>
            <a:off x="352425" y="2029968"/>
            <a:ext cx="5553075" cy="731520"/>
          </a:xfrm>
          <a:prstGeom prst="rect">
            <a:avLst/>
          </a:prstGeom>
          <a:solidFill>
            <a:srgbClr val="FFFFFF">
              <a:alpha val="12000"/>
            </a:srgbClr>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81025" y="2212848"/>
            <a:ext cx="446187" cy="438150"/>
          </a:xfrm>
          <a:prstGeom prst="rect">
            <a:avLst/>
          </a:prstGeom>
        </p:spPr>
      </p:pic>
      <p:sp>
        <p:nvSpPr>
          <p:cNvPr id="6" name="Text 3"/>
          <p:cNvSpPr/>
          <p:nvPr/>
        </p:nvSpPr>
        <p:spPr>
          <a:xfrm>
            <a:off x="1198662" y="2084831"/>
            <a:ext cx="23387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HAS</a:t>
            </a:r>
            <a:endParaRPr lang="en-US" sz="1050" dirty="0"/>
          </a:p>
        </p:txBody>
      </p:sp>
      <p:sp>
        <p:nvSpPr>
          <p:cNvPr id="7" name="Text 4"/>
          <p:cNvSpPr/>
          <p:nvPr/>
        </p:nvSpPr>
        <p:spPr>
          <a:xfrm>
            <a:off x="1198662" y="2331720"/>
            <a:ext cx="2338774"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Computed physical state</a:t>
            </a:r>
            <a:endParaRPr lang="en-US" sz="1650" dirty="0"/>
          </a:p>
        </p:txBody>
      </p:sp>
      <p:sp>
        <p:nvSpPr>
          <p:cNvPr id="8" name="Shape 5"/>
          <p:cNvSpPr/>
          <p:nvPr/>
        </p:nvSpPr>
        <p:spPr>
          <a:xfrm>
            <a:off x="6096000" y="2029968"/>
            <a:ext cx="5553075" cy="731520"/>
          </a:xfrm>
          <a:prstGeom prst="rect">
            <a:avLst/>
          </a:prstGeom>
          <a:solidFill>
            <a:srgbClr val="FFFFFF">
              <a:alpha val="12000"/>
            </a:srgbClr>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6324600" y="2212848"/>
            <a:ext cx="420588" cy="438150"/>
          </a:xfrm>
          <a:prstGeom prst="rect">
            <a:avLst/>
          </a:prstGeom>
        </p:spPr>
      </p:pic>
      <p:sp>
        <p:nvSpPr>
          <p:cNvPr id="10" name="Text 6"/>
          <p:cNvSpPr/>
          <p:nvPr/>
        </p:nvSpPr>
        <p:spPr>
          <a:xfrm>
            <a:off x="6916638" y="2084831"/>
            <a:ext cx="2326442"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NEVER SEES</a:t>
            </a:r>
            <a:endParaRPr lang="en-US" sz="1050" dirty="0"/>
          </a:p>
        </p:txBody>
      </p:sp>
      <p:sp>
        <p:nvSpPr>
          <p:cNvPr id="11" name="Text 7"/>
          <p:cNvSpPr/>
          <p:nvPr/>
        </p:nvSpPr>
        <p:spPr>
          <a:xfrm>
            <a:off x="6916638" y="2331720"/>
            <a:ext cx="2326442"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The human who decides</a:t>
            </a:r>
            <a:endParaRPr lang="en-US" sz="1650" dirty="0"/>
          </a:p>
        </p:txBody>
      </p:sp>
      <p:sp>
        <p:nvSpPr>
          <p:cNvPr id="12" name="Shape 8"/>
          <p:cNvSpPr/>
          <p:nvPr/>
        </p:nvSpPr>
        <p:spPr>
          <a:xfrm>
            <a:off x="352426" y="2999232"/>
            <a:ext cx="11296650" cy="1874519"/>
          </a:xfrm>
          <a:prstGeom prst="rect">
            <a:avLst/>
          </a:prstGeom>
          <a:solidFill>
            <a:srgbClr val="FFDA65"/>
          </a:solidFill>
          <a:ln/>
        </p:spPr>
        <p:txBody>
          <a:bodyPr/>
          <a:lstStyle/>
          <a:p>
            <a:endParaRPr lang="fr-FR"/>
          </a:p>
        </p:txBody>
      </p:sp>
      <p:sp>
        <p:nvSpPr>
          <p:cNvPr id="13" name="Text 9"/>
          <p:cNvSpPr/>
          <p:nvPr/>
        </p:nvSpPr>
        <p:spPr>
          <a:xfrm>
            <a:off x="733425" y="3182112"/>
            <a:ext cx="1242631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80" dirty="0">
                <a:solidFill>
                  <a:srgbClr val="063C67"/>
                </a:solidFill>
                <a:latin typeface="Arial" pitchFamily="34" charset="0"/>
                <a:ea typeface="Arial" pitchFamily="34" charset="-122"/>
                <a:cs typeface="Arial" pitchFamily="34" charset="-120"/>
              </a:rPr>
              <a:t>RESEARCH QUESTION</a:t>
            </a:r>
            <a:endParaRPr lang="en-US" sz="1125" dirty="0"/>
          </a:p>
        </p:txBody>
      </p:sp>
      <p:sp>
        <p:nvSpPr>
          <p:cNvPr id="14" name="Text 10"/>
          <p:cNvSpPr/>
          <p:nvPr/>
        </p:nvSpPr>
        <p:spPr>
          <a:xfrm>
            <a:off x="733425" y="3493008"/>
            <a:ext cx="10915650" cy="1190030"/>
          </a:xfrm>
          <a:prstGeom prst="rect">
            <a:avLst/>
          </a:prstGeom>
          <a:noFill/>
          <a:ln/>
        </p:spPr>
        <p:txBody>
          <a:bodyPr wrap="square" lIns="25400" tIns="25400" rIns="25400" bIns="25400" rtlCol="0" anchor="t">
            <a:normAutofit/>
          </a:bodyPr>
          <a:lstStyle/>
          <a:p>
            <a:pPr marL="0" indent="0" algn="l">
              <a:lnSpc>
                <a:spcPct val="79579"/>
              </a:lnSpc>
              <a:buNone/>
            </a:pPr>
            <a:r>
              <a:rPr lang="en-US" sz="2700" b="1" dirty="0">
                <a:solidFill>
                  <a:srgbClr val="063C67"/>
                </a:solidFill>
                <a:latin typeface="Arial Black" pitchFamily="34" charset="0"/>
                <a:ea typeface="Arial Black" pitchFamily="34" charset="-122"/>
                <a:cs typeface="Arial Black" pitchFamily="34" charset="-120"/>
              </a:rPr>
              <a:t>Can the gap between declared and computed urgency be measured reliably enough, inside a working digital twin, to be acted upon?</a:t>
            </a:r>
            <a:endParaRPr lang="en-US" sz="2700" dirty="0"/>
          </a:p>
        </p:txBody>
      </p:sp>
      <p:sp>
        <p:nvSpPr>
          <p:cNvPr id="15" name="Shape 11"/>
          <p:cNvSpPr/>
          <p:nvPr/>
        </p:nvSpPr>
        <p:spPr>
          <a:xfrm>
            <a:off x="352425" y="5048250"/>
            <a:ext cx="3625850" cy="25400"/>
          </a:xfrm>
          <a:prstGeom prst="rect">
            <a:avLst/>
          </a:prstGeom>
          <a:solidFill>
            <a:srgbClr val="7ECBEE"/>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352425" y="5226050"/>
            <a:ext cx="348059" cy="400050"/>
          </a:xfrm>
          <a:prstGeom prst="rect">
            <a:avLst/>
          </a:prstGeom>
        </p:spPr>
      </p:pic>
      <p:sp>
        <p:nvSpPr>
          <p:cNvPr id="17" name="Text 12"/>
          <p:cNvSpPr/>
          <p:nvPr/>
        </p:nvSpPr>
        <p:spPr>
          <a:xfrm>
            <a:off x="852884" y="5226050"/>
            <a:ext cx="3150781" cy="282377"/>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say </a:t>
            </a:r>
            <a:r>
              <a:rPr lang="en-US" sz="1425" b="1" dirty="0">
                <a:solidFill>
                  <a:srgbClr val="FFFFFF"/>
                </a:solidFill>
                <a:latin typeface="Calibri" pitchFamily="34" charset="0"/>
                <a:ea typeface="Calibri" pitchFamily="34" charset="-122"/>
                <a:cs typeface="Calibri" pitchFamily="34" charset="-120"/>
              </a:rPr>
              <a:t>which node is mismanaged</a:t>
            </a:r>
            <a:endParaRPr lang="en-US" sz="1425" dirty="0"/>
          </a:p>
        </p:txBody>
      </p:sp>
      <p:sp>
        <p:nvSpPr>
          <p:cNvPr id="18" name="Shape 13"/>
          <p:cNvSpPr/>
          <p:nvPr/>
        </p:nvSpPr>
        <p:spPr>
          <a:xfrm>
            <a:off x="4187825" y="5048250"/>
            <a:ext cx="3625850" cy="25400"/>
          </a:xfrm>
          <a:prstGeom prst="rect">
            <a:avLst/>
          </a:prstGeom>
          <a:solidFill>
            <a:srgbClr val="7ECBEE"/>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4187825" y="5226050"/>
            <a:ext cx="350341" cy="400050"/>
          </a:xfrm>
          <a:prstGeom prst="rect">
            <a:avLst/>
          </a:prstGeom>
        </p:spPr>
      </p:pic>
      <p:sp>
        <p:nvSpPr>
          <p:cNvPr id="20" name="Text 14"/>
          <p:cNvSpPr/>
          <p:nvPr/>
        </p:nvSpPr>
        <p:spPr>
          <a:xfrm>
            <a:off x="4690567" y="5226050"/>
            <a:ext cx="321680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 reliable and explainable</a:t>
            </a:r>
            <a:endParaRPr lang="en-US" sz="1425" dirty="0"/>
          </a:p>
        </p:txBody>
      </p:sp>
      <p:sp>
        <p:nvSpPr>
          <p:cNvPr id="21" name="Shape 15"/>
          <p:cNvSpPr/>
          <p:nvPr/>
        </p:nvSpPr>
        <p:spPr>
          <a:xfrm>
            <a:off x="8023225" y="5048250"/>
            <a:ext cx="3625850" cy="25400"/>
          </a:xfrm>
          <a:prstGeom prst="rect">
            <a:avLst/>
          </a:prstGeom>
          <a:solidFill>
            <a:srgbClr val="FFDA65"/>
          </a:solidFill>
          <a:ln/>
        </p:spPr>
        <p:txBody>
          <a:bodyPr/>
          <a:lstStyle/>
          <a:p>
            <a:endParaRPr lang="fr-FR"/>
          </a:p>
        </p:txBody>
      </p:sp>
      <p:pic>
        <p:nvPicPr>
          <p:cNvPr id="22" name="Image 4" descr="preencoded.png"/>
          <p:cNvPicPr>
            <a:picLocks noChangeAspect="1"/>
          </p:cNvPicPr>
          <p:nvPr/>
        </p:nvPicPr>
        <p:blipFill>
          <a:blip r:embed="rId7"/>
          <a:stretch>
            <a:fillRect/>
          </a:stretch>
        </p:blipFill>
        <p:spPr>
          <a:xfrm>
            <a:off x="8023225" y="5226050"/>
            <a:ext cx="488454" cy="400050"/>
          </a:xfrm>
          <a:prstGeom prst="rect">
            <a:avLst/>
          </a:prstGeom>
        </p:spPr>
      </p:pic>
      <p:sp>
        <p:nvSpPr>
          <p:cNvPr id="23" name="Text 16"/>
          <p:cNvSpPr/>
          <p:nvPr/>
        </p:nvSpPr>
        <p:spPr>
          <a:xfrm>
            <a:off x="8664079" y="5226050"/>
            <a:ext cx="3074546"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beat the raw indicators a coordinator already has</a:t>
            </a:r>
            <a:endParaRPr lang="en-US" sz="1425" dirty="0"/>
          </a:p>
        </p:txBody>
      </p:sp>
      <p:pic>
        <p:nvPicPr>
          <p:cNvPr id="24" name="Image 5" descr="preencoded.png"/>
          <p:cNvPicPr>
            <a:picLocks noChangeAspect="1"/>
          </p:cNvPicPr>
          <p:nvPr/>
        </p:nvPicPr>
        <p:blipFill>
          <a:blip r:embed="rId8"/>
          <a:stretch>
            <a:fillRect/>
          </a:stretch>
        </p:blipFill>
        <p:spPr>
          <a:xfrm>
            <a:off x="11229975" y="6567488"/>
            <a:ext cx="714375" cy="71438"/>
          </a:xfrm>
          <a:prstGeom prst="rect">
            <a:avLst/>
          </a:prstGeom>
        </p:spPr>
      </p:pic>
      <p:sp>
        <p:nvSpPr>
          <p:cNvPr id="25" name="TextBox 24"/>
          <p:cNvSpPr txBox="1"/>
          <p:nvPr/>
        </p:nvSpPr>
        <p:spPr>
          <a:xfrm>
            <a:off x="356616" y="713232"/>
            <a:ext cx="8229600" cy="237744"/>
          </a:xfrm>
          <a:prstGeom prst="rect">
            <a:avLst/>
          </a:prstGeom>
          <a:noFill/>
        </p:spPr>
        <p:txBody>
          <a:bodyPr wrap="square" lIns="25400" rIns="25400" tIns="25400" bIns="25400" anchor="t">
            <a:spAutoFit/>
          </a:bodyPr>
          <a:lstStyle/>
          <a:p>
            <a:pPr algn="l"/>
            <a:r>
              <a:rPr sz="1125" b="1" spc="158">
                <a:solidFill>
                  <a:srgbClr val="7ECBEE"/>
                </a:solidFill>
                <a:latin typeface="Arial"/>
              </a:rPr>
              <a:t>WHAT A SUPPLY CHAIN COORDINATOR IS ASKED TO MANAGE</a:t>
            </a:r>
          </a:p>
        </p:txBody>
      </p:sp>
      <p:sp>
        <p:nvSpPr>
          <p:cNvPr id="26" name="Rectangle 25"/>
          <p:cNvSpPr/>
          <p:nvPr/>
        </p:nvSpPr>
        <p:spPr>
          <a:xfrm>
            <a:off x="356616" y="1005840"/>
            <a:ext cx="3630168" cy="841248"/>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1208" y="1051560"/>
            <a:ext cx="3291840" cy="219456"/>
          </a:xfrm>
          <a:prstGeom prst="rect">
            <a:avLst/>
          </a:prstGeom>
          <a:noFill/>
        </p:spPr>
        <p:txBody>
          <a:bodyPr wrap="square" lIns="25400" rIns="25400" tIns="25400" bIns="25400" anchor="t">
            <a:spAutoFit/>
          </a:bodyPr>
          <a:lstStyle/>
          <a:p>
            <a:pPr algn="l"/>
            <a:r>
              <a:rPr sz="1000" b="1" spc="158">
                <a:solidFill>
                  <a:srgbClr val="7ECBEE"/>
                </a:solidFill>
                <a:latin typeface="Arial"/>
              </a:rPr>
              <a:t>YESTERDAY</a:t>
            </a:r>
          </a:p>
        </p:txBody>
      </p:sp>
      <p:sp>
        <p:nvSpPr>
          <p:cNvPr id="28" name="TextBox 27"/>
          <p:cNvSpPr txBox="1"/>
          <p:nvPr/>
        </p:nvSpPr>
        <p:spPr>
          <a:xfrm>
            <a:off x="521208" y="1261872"/>
            <a:ext cx="3383280" cy="256032"/>
          </a:xfrm>
          <a:prstGeom prst="rect">
            <a:avLst/>
          </a:prstGeom>
          <a:noFill/>
        </p:spPr>
        <p:txBody>
          <a:bodyPr wrap="square" lIns="25400" rIns="25400" tIns="25400" bIns="25400" anchor="t">
            <a:spAutoFit/>
          </a:bodyPr>
          <a:lstStyle/>
          <a:p>
            <a:pPr algn="l"/>
            <a:r>
              <a:rPr sz="1400" b="1">
                <a:solidFill>
                  <a:srgbClr val="FFFFFF"/>
                </a:solidFill>
                <a:latin typeface="Arial Black"/>
              </a:rPr>
              <a:t>Projects and actions</a:t>
            </a:r>
          </a:p>
        </p:txBody>
      </p:sp>
      <p:sp>
        <p:nvSpPr>
          <p:cNvPr id="29" name="TextBox 28"/>
          <p:cNvSpPr txBox="1"/>
          <p:nvPr/>
        </p:nvSpPr>
        <p:spPr>
          <a:xfrm>
            <a:off x="521208" y="1536192"/>
            <a:ext cx="3383280" cy="237744"/>
          </a:xfrm>
          <a:prstGeom prst="rect">
            <a:avLst/>
          </a:prstGeom>
          <a:noFill/>
        </p:spPr>
        <p:txBody>
          <a:bodyPr wrap="square" lIns="25400" rIns="25400" tIns="25400" bIns="25400" anchor="t">
            <a:spAutoFit/>
          </a:bodyPr>
          <a:lstStyle/>
          <a:p>
            <a:pPr algn="l"/>
            <a:r>
              <a:rPr sz="1000" b="0">
                <a:solidFill>
                  <a:srgbClr val="7ECBEE"/>
                </a:solidFill>
                <a:latin typeface="Arial"/>
              </a:rPr>
              <a:t>A plan, and progress against it.</a:t>
            </a:r>
          </a:p>
        </p:txBody>
      </p:sp>
      <p:sp>
        <p:nvSpPr>
          <p:cNvPr id="30" name="Rectangle 29"/>
          <p:cNvSpPr/>
          <p:nvPr/>
        </p:nvSpPr>
        <p:spPr>
          <a:xfrm>
            <a:off x="4187952" y="1005840"/>
            <a:ext cx="3630168" cy="841248"/>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352544" y="1051560"/>
            <a:ext cx="3291840" cy="219456"/>
          </a:xfrm>
          <a:prstGeom prst="rect">
            <a:avLst/>
          </a:prstGeom>
          <a:noFill/>
        </p:spPr>
        <p:txBody>
          <a:bodyPr wrap="square" lIns="25400" rIns="25400" tIns="25400" bIns="25400" anchor="t">
            <a:spAutoFit/>
          </a:bodyPr>
          <a:lstStyle/>
          <a:p>
            <a:pPr algn="l"/>
            <a:r>
              <a:rPr sz="1000" b="1" spc="158">
                <a:solidFill>
                  <a:srgbClr val="7ECBEE"/>
                </a:solidFill>
                <a:latin typeface="Arial"/>
              </a:rPr>
              <a:t>TODAY</a:t>
            </a:r>
          </a:p>
        </p:txBody>
      </p:sp>
      <p:sp>
        <p:nvSpPr>
          <p:cNvPr id="32" name="TextBox 31"/>
          <p:cNvSpPr txBox="1"/>
          <p:nvPr/>
        </p:nvSpPr>
        <p:spPr>
          <a:xfrm>
            <a:off x="4352544" y="1261872"/>
            <a:ext cx="3383280" cy="256032"/>
          </a:xfrm>
          <a:prstGeom prst="rect">
            <a:avLst/>
          </a:prstGeom>
          <a:noFill/>
        </p:spPr>
        <p:txBody>
          <a:bodyPr wrap="square" lIns="25400" rIns="25400" tIns="25400" bIns="25400" anchor="t">
            <a:spAutoFit/>
          </a:bodyPr>
          <a:lstStyle/>
          <a:p>
            <a:pPr algn="l"/>
            <a:r>
              <a:rPr sz="1400" b="1">
                <a:solidFill>
                  <a:srgbClr val="FFFFFF"/>
                </a:solidFill>
                <a:latin typeface="Arial Black"/>
              </a:rPr>
              <a:t>A queue of urgencies</a:t>
            </a:r>
          </a:p>
        </p:txBody>
      </p:sp>
      <p:sp>
        <p:nvSpPr>
          <p:cNvPr id="33" name="TextBox 32"/>
          <p:cNvSpPr txBox="1"/>
          <p:nvPr/>
        </p:nvSpPr>
        <p:spPr>
          <a:xfrm>
            <a:off x="4352544" y="1536192"/>
            <a:ext cx="3383280" cy="237744"/>
          </a:xfrm>
          <a:prstGeom prst="rect">
            <a:avLst/>
          </a:prstGeom>
          <a:noFill/>
        </p:spPr>
        <p:txBody>
          <a:bodyPr wrap="square" lIns="25400" rIns="25400" tIns="25400" bIns="25400" anchor="t">
            <a:spAutoFit/>
          </a:bodyPr>
          <a:lstStyle/>
          <a:p>
            <a:pPr algn="l"/>
            <a:r>
              <a:rPr sz="1000" b="0">
                <a:solidFill>
                  <a:srgbClr val="7ECBEE"/>
                </a:solidFill>
                <a:latin typeface="Arial"/>
              </a:rPr>
              <a:t>Everything on the list is urgent.</a:t>
            </a:r>
          </a:p>
        </p:txBody>
      </p:sp>
      <p:sp>
        <p:nvSpPr>
          <p:cNvPr id="34" name="Rectangle 33"/>
          <p:cNvSpPr/>
          <p:nvPr/>
        </p:nvSpPr>
        <p:spPr>
          <a:xfrm>
            <a:off x="8019288" y="1005840"/>
            <a:ext cx="3630168" cy="841248"/>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83880" y="1051560"/>
            <a:ext cx="3291840" cy="219456"/>
          </a:xfrm>
          <a:prstGeom prst="rect">
            <a:avLst/>
          </a:prstGeom>
          <a:noFill/>
        </p:spPr>
        <p:txBody>
          <a:bodyPr wrap="square" lIns="25400" rIns="25400" tIns="25400" bIns="25400" anchor="t">
            <a:spAutoFit/>
          </a:bodyPr>
          <a:lstStyle/>
          <a:p>
            <a:pPr algn="l"/>
            <a:r>
              <a:rPr sz="1000" b="1" spc="158">
                <a:solidFill>
                  <a:srgbClr val="043962"/>
                </a:solidFill>
                <a:latin typeface="Arial"/>
              </a:rPr>
              <a:t>TOMORROW</a:t>
            </a:r>
          </a:p>
        </p:txBody>
      </p:sp>
      <p:sp>
        <p:nvSpPr>
          <p:cNvPr id="36" name="TextBox 35"/>
          <p:cNvSpPr txBox="1"/>
          <p:nvPr/>
        </p:nvSpPr>
        <p:spPr>
          <a:xfrm>
            <a:off x="8183880" y="1261872"/>
            <a:ext cx="3383280" cy="256032"/>
          </a:xfrm>
          <a:prstGeom prst="rect">
            <a:avLst/>
          </a:prstGeom>
          <a:noFill/>
        </p:spPr>
        <p:txBody>
          <a:bodyPr wrap="square" lIns="25400" rIns="25400" tIns="25400" bIns="25400" anchor="t">
            <a:spAutoFit/>
          </a:bodyPr>
          <a:lstStyle/>
          <a:p>
            <a:pPr algn="l"/>
            <a:r>
              <a:rPr sz="1400" b="1">
                <a:solidFill>
                  <a:srgbClr val="043962"/>
                </a:solidFill>
                <a:latin typeface="Arial Black"/>
              </a:rPr>
              <a:t>The urgency that is real</a:t>
            </a:r>
          </a:p>
        </p:txBody>
      </p:sp>
      <p:sp>
        <p:nvSpPr>
          <p:cNvPr id="37" name="TextBox 36"/>
          <p:cNvSpPr txBox="1"/>
          <p:nvPr/>
        </p:nvSpPr>
        <p:spPr>
          <a:xfrm>
            <a:off x="8183880" y="1536192"/>
            <a:ext cx="3383280" cy="237744"/>
          </a:xfrm>
          <a:prstGeom prst="rect">
            <a:avLst/>
          </a:prstGeom>
          <a:noFill/>
        </p:spPr>
        <p:txBody>
          <a:bodyPr wrap="square" lIns="25400" rIns="25400" tIns="25400" bIns="25400" anchor="t">
            <a:spAutoFit/>
          </a:bodyPr>
          <a:lstStyle/>
          <a:p>
            <a:pPr algn="l"/>
            <a:r>
              <a:rPr sz="1000" b="0">
                <a:solidFill>
                  <a:srgbClr val="043962"/>
                </a:solidFill>
                <a:latin typeface="Arial"/>
              </a:rPr>
              <a:t>Which one deserves the attention.</a:t>
            </a:r>
          </a:p>
        </p:txBody>
      </p:sp>
      <p:sp>
        <p:nvSpPr>
          <p:cNvPr id="38" name="Rectangle 37"/>
          <p:cNvSpPr/>
          <p:nvPr/>
        </p:nvSpPr>
        <p:spPr>
          <a:xfrm>
            <a:off x="10332719"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1</a:t>
            </a:r>
          </a:p>
        </p:txBody>
      </p:sp>
      <p:sp>
        <p:nvSpPr>
          <p:cNvPr id="40" name="Rectangle 39"/>
          <p:cNvSpPr/>
          <p:nvPr/>
        </p:nvSpPr>
        <p:spPr>
          <a:xfrm>
            <a:off x="10643615" y="219456"/>
            <a:ext cx="256032" cy="256032"/>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7ECBEE"/>
                </a:solidFill>
                <a:latin typeface="Arial"/>
              </a:rPr>
              <a:t>2</a:t>
            </a:r>
          </a:p>
        </p:txBody>
      </p:sp>
      <p:sp>
        <p:nvSpPr>
          <p:cNvPr id="42" name="Rectangle 41"/>
          <p:cNvSpPr/>
          <p:nvPr/>
        </p:nvSpPr>
        <p:spPr>
          <a:xfrm>
            <a:off x="10954511" y="219456"/>
            <a:ext cx="256032" cy="256032"/>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7ECBEE"/>
                </a:solidFill>
                <a:latin typeface="Arial"/>
              </a:rPr>
              <a:t>3</a:t>
            </a:r>
          </a:p>
        </p:txBody>
      </p:sp>
      <p:sp>
        <p:nvSpPr>
          <p:cNvPr id="44" name="Rectangle 43"/>
          <p:cNvSpPr/>
          <p:nvPr/>
        </p:nvSpPr>
        <p:spPr>
          <a:xfrm>
            <a:off x="11265407" y="219456"/>
            <a:ext cx="256032" cy="256032"/>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7ECBEE"/>
                </a:solidFill>
                <a:latin typeface="Arial"/>
              </a:rPr>
              <a:t>4</a:t>
            </a:r>
          </a:p>
        </p:txBody>
      </p:sp>
      <p:sp>
        <p:nvSpPr>
          <p:cNvPr id="46" name="Rectangle 45"/>
          <p:cNvSpPr/>
          <p:nvPr/>
        </p:nvSpPr>
        <p:spPr>
          <a:xfrm>
            <a:off x="11576303" y="219456"/>
            <a:ext cx="256032" cy="256032"/>
          </a:xfrm>
          <a:prstGeom prst="rect">
            <a:avLst/>
          </a:prstGeom>
          <a:solidFill>
            <a:srgbClr val="184E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7ECBEE"/>
                </a:solidFill>
                <a:latin typeface="Arial"/>
              </a:rPr>
              <a:t>5</a:t>
            </a:r>
          </a:p>
        </p:txBody>
      </p:sp>
      <p:sp>
        <p:nvSpPr>
          <p:cNvPr id="48" name="TextBox 47"/>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7ECBEE"/>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MISSION AND ITS OBJECTIVES</a:t>
            </a:r>
            <a:endParaRPr lang="en-US" sz="3225" dirty="0"/>
          </a:p>
        </p:txBody>
      </p:sp>
      <p:sp>
        <p:nvSpPr>
          <p:cNvPr id="4" name="Text 2"/>
          <p:cNvSpPr/>
          <p:nvPr/>
        </p:nvSpPr>
        <p:spPr>
          <a:xfrm>
            <a:off x="2178474" y="2676100"/>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OBJECTIVE</a:t>
            </a:r>
            <a:endParaRPr lang="en-US" sz="1050" dirty="0"/>
          </a:p>
        </p:txBody>
      </p:sp>
      <p:sp>
        <p:nvSpPr>
          <p:cNvPr id="5" name="Text 3"/>
          <p:cNvSpPr/>
          <p:nvPr/>
        </p:nvSpPr>
        <p:spPr>
          <a:xfrm>
            <a:off x="6559974" y="2676100"/>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INDICATOR</a:t>
            </a:r>
            <a:endParaRPr lang="en-US" sz="1050" dirty="0"/>
          </a:p>
        </p:txBody>
      </p:sp>
      <p:sp>
        <p:nvSpPr>
          <p:cNvPr id="7" name="Shape 5"/>
          <p:cNvSpPr/>
          <p:nvPr/>
        </p:nvSpPr>
        <p:spPr>
          <a:xfrm>
            <a:off x="1549824" y="2925635"/>
            <a:ext cx="438150" cy="9525"/>
          </a:xfrm>
          <a:prstGeom prst="rect">
            <a:avLst/>
          </a:prstGeom>
          <a:solidFill>
            <a:srgbClr val="C0C0C8"/>
          </a:solidFill>
          <a:ln/>
        </p:spPr>
        <p:txBody>
          <a:bodyPr/>
          <a:lstStyle/>
          <a:p>
            <a:endParaRPr lang="fr-FR"/>
          </a:p>
        </p:txBody>
      </p:sp>
      <p:sp>
        <p:nvSpPr>
          <p:cNvPr id="8" name="Text 6"/>
          <p:cNvSpPr/>
          <p:nvPr/>
        </p:nvSpPr>
        <p:spPr>
          <a:xfrm>
            <a:off x="1549824" y="307486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9" name="Shape 7"/>
          <p:cNvSpPr/>
          <p:nvPr/>
        </p:nvSpPr>
        <p:spPr>
          <a:xfrm>
            <a:off x="2178474" y="2925635"/>
            <a:ext cx="4191000" cy="9525"/>
          </a:xfrm>
          <a:prstGeom prst="rect">
            <a:avLst/>
          </a:prstGeom>
          <a:solidFill>
            <a:srgbClr val="C0C0C8"/>
          </a:solidFill>
          <a:ln/>
        </p:spPr>
        <p:txBody>
          <a:bodyPr/>
          <a:lstStyle/>
          <a:p>
            <a:endParaRPr lang="fr-FR"/>
          </a:p>
        </p:txBody>
      </p:sp>
      <p:sp>
        <p:nvSpPr>
          <p:cNvPr id="10" name="Text 8"/>
          <p:cNvSpPr/>
          <p:nvPr/>
        </p:nvSpPr>
        <p:spPr>
          <a:xfrm>
            <a:off x="2178474" y="30748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Define real/declared urgency and the adequacy score</a:t>
            </a:r>
            <a:endParaRPr lang="en-US" sz="1350" dirty="0"/>
          </a:p>
        </p:txBody>
      </p:sp>
      <p:sp>
        <p:nvSpPr>
          <p:cNvPr id="11" name="Shape 9"/>
          <p:cNvSpPr/>
          <p:nvPr/>
        </p:nvSpPr>
        <p:spPr>
          <a:xfrm>
            <a:off x="6559974" y="2925635"/>
            <a:ext cx="4191000" cy="9525"/>
          </a:xfrm>
          <a:prstGeom prst="rect">
            <a:avLst/>
          </a:prstGeom>
          <a:solidFill>
            <a:srgbClr val="C0C0C8"/>
          </a:solidFill>
          <a:ln/>
        </p:spPr>
        <p:txBody>
          <a:bodyPr/>
          <a:lstStyle/>
          <a:p>
            <a:endParaRPr lang="fr-FR"/>
          </a:p>
        </p:txBody>
      </p:sp>
      <p:sp>
        <p:nvSpPr>
          <p:cNvPr id="12" name="Text 10"/>
          <p:cNvSpPr/>
          <p:nvPr/>
        </p:nvSpPr>
        <p:spPr>
          <a:xfrm>
            <a:off x="6559974" y="30748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term decomposable, aggregation justified</a:t>
            </a:r>
            <a:endParaRPr lang="en-US" sz="1350" dirty="0"/>
          </a:p>
        </p:txBody>
      </p:sp>
      <p:sp>
        <p:nvSpPr>
          <p:cNvPr id="15" name="Shape 13"/>
          <p:cNvSpPr/>
          <p:nvPr/>
        </p:nvSpPr>
        <p:spPr>
          <a:xfrm>
            <a:off x="1549824" y="3465385"/>
            <a:ext cx="438150" cy="9525"/>
          </a:xfrm>
          <a:prstGeom prst="rect">
            <a:avLst/>
          </a:prstGeom>
          <a:solidFill>
            <a:srgbClr val="C0C0C8"/>
          </a:solidFill>
          <a:ln/>
        </p:spPr>
        <p:txBody>
          <a:bodyPr/>
          <a:lstStyle/>
          <a:p>
            <a:endParaRPr lang="fr-FR"/>
          </a:p>
        </p:txBody>
      </p:sp>
      <p:sp>
        <p:nvSpPr>
          <p:cNvPr id="16" name="Text 14"/>
          <p:cNvSpPr/>
          <p:nvPr/>
        </p:nvSpPr>
        <p:spPr>
          <a:xfrm>
            <a:off x="1549824" y="361461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7" name="Shape 15"/>
          <p:cNvSpPr/>
          <p:nvPr/>
        </p:nvSpPr>
        <p:spPr>
          <a:xfrm>
            <a:off x="2178474" y="3465385"/>
            <a:ext cx="4191000" cy="9525"/>
          </a:xfrm>
          <a:prstGeom prst="rect">
            <a:avLst/>
          </a:prstGeom>
          <a:solidFill>
            <a:srgbClr val="C0C0C8"/>
          </a:solidFill>
          <a:ln/>
        </p:spPr>
        <p:txBody>
          <a:bodyPr/>
          <a:lstStyle/>
          <a:p>
            <a:endParaRPr lang="fr-FR"/>
          </a:p>
        </p:txBody>
      </p:sp>
      <p:sp>
        <p:nvSpPr>
          <p:cNvPr id="18" name="Text 16"/>
          <p:cNvSpPr/>
          <p:nvPr/>
        </p:nvSpPr>
        <p:spPr>
          <a:xfrm>
            <a:off x="2173182" y="4155412"/>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Deliver a working, auditable application</a:t>
            </a:r>
            <a:endParaRPr lang="en-US" sz="1350" dirty="0"/>
          </a:p>
        </p:txBody>
      </p:sp>
      <p:sp>
        <p:nvSpPr>
          <p:cNvPr id="19" name="Shape 17"/>
          <p:cNvSpPr/>
          <p:nvPr/>
        </p:nvSpPr>
        <p:spPr>
          <a:xfrm>
            <a:off x="6559974" y="3465385"/>
            <a:ext cx="4191000" cy="9525"/>
          </a:xfrm>
          <a:prstGeom prst="rect">
            <a:avLst/>
          </a:prstGeom>
          <a:solidFill>
            <a:srgbClr val="C0C0C8"/>
          </a:solidFill>
          <a:ln/>
        </p:spPr>
        <p:txBody>
          <a:bodyPr/>
          <a:lstStyle/>
          <a:p>
            <a:endParaRPr lang="fr-FR"/>
          </a:p>
        </p:txBody>
      </p:sp>
      <p:sp>
        <p:nvSpPr>
          <p:cNvPr id="20" name="Text 18"/>
          <p:cNvSpPr/>
          <p:nvPr/>
        </p:nvSpPr>
        <p:spPr>
          <a:xfrm>
            <a:off x="6598920" y="4159679"/>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write logged, tests passing</a:t>
            </a:r>
            <a:endParaRPr lang="en-US" sz="1350" dirty="0"/>
          </a:p>
        </p:txBody>
      </p:sp>
      <p:sp>
        <p:nvSpPr>
          <p:cNvPr id="23" name="Shape 21"/>
          <p:cNvSpPr/>
          <p:nvPr/>
        </p:nvSpPr>
        <p:spPr>
          <a:xfrm>
            <a:off x="1549824" y="4005135"/>
            <a:ext cx="438150" cy="9525"/>
          </a:xfrm>
          <a:prstGeom prst="rect">
            <a:avLst/>
          </a:prstGeom>
          <a:solidFill>
            <a:srgbClr val="C0C0C8"/>
          </a:solidFill>
          <a:ln/>
        </p:spPr>
        <p:txBody>
          <a:bodyPr/>
          <a:lstStyle/>
          <a:p>
            <a:endParaRPr lang="fr-FR"/>
          </a:p>
        </p:txBody>
      </p:sp>
      <p:sp>
        <p:nvSpPr>
          <p:cNvPr id="24" name="Text 22"/>
          <p:cNvSpPr/>
          <p:nvPr/>
        </p:nvSpPr>
        <p:spPr>
          <a:xfrm>
            <a:off x="1549824" y="415436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5" name="Shape 23"/>
          <p:cNvSpPr/>
          <p:nvPr/>
        </p:nvSpPr>
        <p:spPr>
          <a:xfrm>
            <a:off x="2178474" y="4005135"/>
            <a:ext cx="4191000" cy="9525"/>
          </a:xfrm>
          <a:prstGeom prst="rect">
            <a:avLst/>
          </a:prstGeom>
          <a:solidFill>
            <a:srgbClr val="C0C0C8"/>
          </a:solidFill>
          <a:ln/>
        </p:spPr>
        <p:txBody>
          <a:bodyPr/>
          <a:lstStyle/>
          <a:p>
            <a:endParaRPr lang="fr-FR"/>
          </a:p>
        </p:txBody>
      </p:sp>
      <p:sp>
        <p:nvSpPr>
          <p:cNvPr id="26" name="Text 24"/>
          <p:cNvSpPr/>
          <p:nvPr/>
        </p:nvSpPr>
        <p:spPr>
          <a:xfrm>
            <a:off x="2178474" y="3604089"/>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Propagate across tiers, rank by criticality</a:t>
            </a:r>
            <a:endParaRPr lang="en-US" sz="1350" dirty="0"/>
          </a:p>
        </p:txBody>
      </p:sp>
      <p:sp>
        <p:nvSpPr>
          <p:cNvPr id="27" name="Shape 25"/>
          <p:cNvSpPr/>
          <p:nvPr/>
        </p:nvSpPr>
        <p:spPr>
          <a:xfrm>
            <a:off x="6559974" y="4005135"/>
            <a:ext cx="4191000" cy="9525"/>
          </a:xfrm>
          <a:prstGeom prst="rect">
            <a:avLst/>
          </a:prstGeom>
          <a:solidFill>
            <a:srgbClr val="C0C0C8"/>
          </a:solidFill>
          <a:ln/>
        </p:spPr>
        <p:txBody>
          <a:bodyPr/>
          <a:lstStyle/>
          <a:p>
            <a:endParaRPr lang="fr-FR"/>
          </a:p>
        </p:txBody>
      </p:sp>
      <p:sp>
        <p:nvSpPr>
          <p:cNvPr id="28" name="Text 26"/>
          <p:cNvSpPr/>
          <p:nvPr/>
        </p:nvSpPr>
        <p:spPr>
          <a:xfrm>
            <a:off x="6559974" y="3604058"/>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Real-programme scale, interactive time budget</a:t>
            </a:r>
            <a:endParaRPr lang="en-US" sz="1350" dirty="0"/>
          </a:p>
        </p:txBody>
      </p:sp>
      <p:sp>
        <p:nvSpPr>
          <p:cNvPr id="31" name="Shape 29"/>
          <p:cNvSpPr/>
          <p:nvPr/>
        </p:nvSpPr>
        <p:spPr>
          <a:xfrm>
            <a:off x="1549824" y="4544885"/>
            <a:ext cx="438150" cy="539750"/>
          </a:xfrm>
          <a:prstGeom prst="rect">
            <a:avLst/>
          </a:prstGeom>
          <a:solidFill>
            <a:srgbClr val="063C67"/>
          </a:solidFill>
          <a:ln/>
        </p:spPr>
        <p:txBody>
          <a:bodyPr/>
          <a:lstStyle/>
          <a:p>
            <a:endParaRPr lang="fr-FR"/>
          </a:p>
        </p:txBody>
      </p:sp>
      <p:sp>
        <p:nvSpPr>
          <p:cNvPr id="32" name="Shape 30"/>
          <p:cNvSpPr/>
          <p:nvPr/>
        </p:nvSpPr>
        <p:spPr>
          <a:xfrm>
            <a:off x="1549824" y="4544885"/>
            <a:ext cx="438150" cy="9525"/>
          </a:xfrm>
          <a:prstGeom prst="rect">
            <a:avLst/>
          </a:prstGeom>
          <a:solidFill>
            <a:srgbClr val="C0C0C8"/>
          </a:solidFill>
          <a:ln/>
        </p:spPr>
        <p:txBody>
          <a:bodyPr/>
          <a:lstStyle/>
          <a:p>
            <a:endParaRPr lang="fr-FR"/>
          </a:p>
        </p:txBody>
      </p:sp>
      <p:sp>
        <p:nvSpPr>
          <p:cNvPr id="33" name="Text 31"/>
          <p:cNvSpPr/>
          <p:nvPr/>
        </p:nvSpPr>
        <p:spPr>
          <a:xfrm>
            <a:off x="1511724" y="4694110"/>
            <a:ext cx="514350" cy="285750"/>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34" name="Shape 32"/>
          <p:cNvSpPr/>
          <p:nvPr/>
        </p:nvSpPr>
        <p:spPr>
          <a:xfrm>
            <a:off x="2178474" y="4544885"/>
            <a:ext cx="4191000" cy="539750"/>
          </a:xfrm>
          <a:prstGeom prst="rect">
            <a:avLst/>
          </a:prstGeom>
          <a:solidFill>
            <a:srgbClr val="FFF6DA"/>
          </a:solidFill>
          <a:ln/>
        </p:spPr>
        <p:txBody>
          <a:bodyPr/>
          <a:lstStyle/>
          <a:p>
            <a:endParaRPr lang="fr-FR"/>
          </a:p>
        </p:txBody>
      </p:sp>
      <p:sp>
        <p:nvSpPr>
          <p:cNvPr id="35" name="Shape 33"/>
          <p:cNvSpPr/>
          <p:nvPr/>
        </p:nvSpPr>
        <p:spPr>
          <a:xfrm>
            <a:off x="2178474" y="4544885"/>
            <a:ext cx="4191000" cy="9525"/>
          </a:xfrm>
          <a:prstGeom prst="rect">
            <a:avLst/>
          </a:prstGeom>
          <a:solidFill>
            <a:srgbClr val="C0C0C8"/>
          </a:solidFill>
          <a:ln/>
        </p:spPr>
        <p:txBody>
          <a:bodyPr/>
          <a:lstStyle/>
          <a:p>
            <a:endParaRPr lang="fr-FR"/>
          </a:p>
        </p:txBody>
      </p:sp>
      <p:sp>
        <p:nvSpPr>
          <p:cNvPr id="36" name="Text 34"/>
          <p:cNvSpPr/>
          <p:nvPr/>
        </p:nvSpPr>
        <p:spPr>
          <a:xfrm>
            <a:off x="2178474" y="4694110"/>
            <a:ext cx="3921125"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Establish whether the signal predicts outcomes</a:t>
            </a:r>
            <a:endParaRPr lang="en-US" sz="1350" dirty="0"/>
          </a:p>
        </p:txBody>
      </p:sp>
      <p:sp>
        <p:nvSpPr>
          <p:cNvPr id="37" name="Shape 35"/>
          <p:cNvSpPr/>
          <p:nvPr/>
        </p:nvSpPr>
        <p:spPr>
          <a:xfrm>
            <a:off x="6559974" y="4544885"/>
            <a:ext cx="4191000" cy="539750"/>
          </a:xfrm>
          <a:prstGeom prst="rect">
            <a:avLst/>
          </a:prstGeom>
          <a:solidFill>
            <a:srgbClr val="FFF6DA"/>
          </a:solidFill>
          <a:ln/>
        </p:spPr>
        <p:txBody>
          <a:bodyPr/>
          <a:lstStyle/>
          <a:p>
            <a:endParaRPr lang="fr-FR"/>
          </a:p>
        </p:txBody>
      </p:sp>
      <p:sp>
        <p:nvSpPr>
          <p:cNvPr id="38" name="Shape 36"/>
          <p:cNvSpPr/>
          <p:nvPr/>
        </p:nvSpPr>
        <p:spPr>
          <a:xfrm>
            <a:off x="6559974" y="4544885"/>
            <a:ext cx="4191000" cy="9525"/>
          </a:xfrm>
          <a:prstGeom prst="rect">
            <a:avLst/>
          </a:prstGeom>
          <a:solidFill>
            <a:srgbClr val="C0C0C8"/>
          </a:solidFill>
          <a:ln/>
        </p:spPr>
        <p:txBody>
          <a:bodyPr/>
          <a:lstStyle/>
          <a:p>
            <a:endParaRPr lang="fr-FR"/>
          </a:p>
        </p:txBody>
      </p:sp>
      <p:sp>
        <p:nvSpPr>
          <p:cNvPr id="39" name="Text 37"/>
          <p:cNvSpPr/>
          <p:nvPr/>
        </p:nvSpPr>
        <p:spPr>
          <a:xfrm>
            <a:off x="6559974" y="46941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highlight>
                  <a:srgbClr val="FFF6DA"/>
                </a:highlight>
                <a:latin typeface="Calibri" pitchFamily="34" charset="0"/>
                <a:ea typeface="Calibri" pitchFamily="34" charset="-122"/>
                <a:cs typeface="Calibri" pitchFamily="34" charset="-120"/>
              </a:rPr>
              <a:t>Tested in the serious game, against a baseline</a:t>
            </a:r>
            <a:endParaRPr lang="en-US" sz="1350" b="1" dirty="0"/>
          </a:p>
        </p:txBody>
      </p:sp>
      <p:sp>
        <p:nvSpPr>
          <p:cNvPr id="43" name="Shape 41"/>
          <p:cNvSpPr/>
          <p:nvPr/>
        </p:nvSpPr>
        <p:spPr>
          <a:xfrm>
            <a:off x="1549824" y="5084635"/>
            <a:ext cx="438150" cy="9525"/>
          </a:xfrm>
          <a:prstGeom prst="rect">
            <a:avLst/>
          </a:prstGeom>
          <a:solidFill>
            <a:srgbClr val="C0C0C8"/>
          </a:solidFill>
          <a:ln/>
        </p:spPr>
        <p:txBody>
          <a:bodyPr/>
          <a:lstStyle/>
          <a:p>
            <a:endParaRPr lang="fr-FR"/>
          </a:p>
        </p:txBody>
      </p:sp>
      <p:sp>
        <p:nvSpPr>
          <p:cNvPr id="45" name="Shape 43"/>
          <p:cNvSpPr/>
          <p:nvPr/>
        </p:nvSpPr>
        <p:spPr>
          <a:xfrm>
            <a:off x="2178474" y="5084635"/>
            <a:ext cx="4191000" cy="9525"/>
          </a:xfrm>
          <a:prstGeom prst="rect">
            <a:avLst/>
          </a:prstGeom>
          <a:solidFill>
            <a:srgbClr val="C0C0C8"/>
          </a:solidFill>
          <a:ln/>
        </p:spPr>
        <p:txBody>
          <a:bodyPr/>
          <a:lstStyle/>
          <a:p>
            <a:endParaRPr lang="fr-FR"/>
          </a:p>
        </p:txBody>
      </p:sp>
      <p:sp>
        <p:nvSpPr>
          <p:cNvPr id="47" name="Shape 45"/>
          <p:cNvSpPr/>
          <p:nvPr/>
        </p:nvSpPr>
        <p:spPr>
          <a:xfrm>
            <a:off x="6559974" y="5084635"/>
            <a:ext cx="4191000" cy="9525"/>
          </a:xfrm>
          <a:prstGeom prst="rect">
            <a:avLst/>
          </a:prstGeom>
          <a:solidFill>
            <a:srgbClr val="C0C0C8"/>
          </a:solidFill>
          <a:ln/>
        </p:spPr>
        <p:txBody>
          <a:bodyPr/>
          <a:lstStyle/>
          <a:p>
            <a:endParaRPr lang="fr-FR"/>
          </a:p>
        </p:txBody>
      </p:sp>
      <p:sp>
        <p:nvSpPr>
          <p:cNvPr id="51" name="Shape 49"/>
          <p:cNvSpPr/>
          <p:nvPr/>
        </p:nvSpPr>
        <p:spPr>
          <a:xfrm>
            <a:off x="1549824" y="5625976"/>
            <a:ext cx="438150" cy="9525"/>
          </a:xfrm>
          <a:prstGeom prst="rect">
            <a:avLst/>
          </a:prstGeom>
          <a:solidFill>
            <a:srgbClr val="C0C0C8"/>
          </a:solidFill>
          <a:ln/>
        </p:spPr>
        <p:txBody>
          <a:bodyPr/>
          <a:lstStyle/>
          <a:p>
            <a:endParaRPr lang="fr-FR"/>
          </a:p>
        </p:txBody>
      </p:sp>
      <p:sp>
        <p:nvSpPr>
          <p:cNvPr id="52" name="Shape 50"/>
          <p:cNvSpPr/>
          <p:nvPr/>
        </p:nvSpPr>
        <p:spPr>
          <a:xfrm>
            <a:off x="1549824" y="5086226"/>
            <a:ext cx="438150" cy="9525"/>
          </a:xfrm>
          <a:prstGeom prst="rect">
            <a:avLst/>
          </a:prstGeom>
          <a:solidFill>
            <a:srgbClr val="C0C0C8"/>
          </a:solidFill>
          <a:ln/>
        </p:spPr>
        <p:txBody>
          <a:bodyPr/>
          <a:lstStyle/>
          <a:p>
            <a:endParaRPr lang="fr-FR"/>
          </a:p>
        </p:txBody>
      </p:sp>
      <p:sp>
        <p:nvSpPr>
          <p:cNvPr id="53" name="Text 51"/>
          <p:cNvSpPr/>
          <p:nvPr/>
        </p:nvSpPr>
        <p:spPr>
          <a:xfrm>
            <a:off x="1549824" y="5235451"/>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54" name="Shape 52"/>
          <p:cNvSpPr/>
          <p:nvPr/>
        </p:nvSpPr>
        <p:spPr>
          <a:xfrm>
            <a:off x="2178474" y="5625976"/>
            <a:ext cx="4191000" cy="9525"/>
          </a:xfrm>
          <a:prstGeom prst="rect">
            <a:avLst/>
          </a:prstGeom>
          <a:solidFill>
            <a:srgbClr val="C0C0C8"/>
          </a:solidFill>
          <a:ln/>
        </p:spPr>
        <p:txBody>
          <a:bodyPr/>
          <a:lstStyle/>
          <a:p>
            <a:endParaRPr lang="fr-FR"/>
          </a:p>
        </p:txBody>
      </p:sp>
      <p:sp>
        <p:nvSpPr>
          <p:cNvPr id="55" name="Shape 53"/>
          <p:cNvSpPr/>
          <p:nvPr/>
        </p:nvSpPr>
        <p:spPr>
          <a:xfrm>
            <a:off x="2178474" y="5086226"/>
            <a:ext cx="4191000" cy="9525"/>
          </a:xfrm>
          <a:prstGeom prst="rect">
            <a:avLst/>
          </a:prstGeom>
          <a:solidFill>
            <a:srgbClr val="C0C0C8"/>
          </a:solidFill>
          <a:ln/>
        </p:spPr>
        <p:txBody>
          <a:bodyPr/>
          <a:lstStyle/>
          <a:p>
            <a:endParaRPr lang="fr-FR"/>
          </a:p>
        </p:txBody>
      </p:sp>
      <p:sp>
        <p:nvSpPr>
          <p:cNvPr id="56" name="Text 54"/>
          <p:cNvSpPr/>
          <p:nvPr/>
        </p:nvSpPr>
        <p:spPr>
          <a:xfrm>
            <a:off x="2178474" y="5235451"/>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Estimate warehouse capacity from satellite imagery</a:t>
            </a:r>
            <a:endParaRPr lang="en-US" sz="1350" b="1" dirty="0"/>
          </a:p>
        </p:txBody>
      </p:sp>
      <p:sp>
        <p:nvSpPr>
          <p:cNvPr id="57" name="Shape 55"/>
          <p:cNvSpPr/>
          <p:nvPr/>
        </p:nvSpPr>
        <p:spPr>
          <a:xfrm>
            <a:off x="6559974" y="5625976"/>
            <a:ext cx="4191000" cy="9525"/>
          </a:xfrm>
          <a:prstGeom prst="rect">
            <a:avLst/>
          </a:prstGeom>
          <a:solidFill>
            <a:srgbClr val="C0C0C8"/>
          </a:solidFill>
          <a:ln/>
        </p:spPr>
        <p:txBody>
          <a:bodyPr/>
          <a:lstStyle/>
          <a:p>
            <a:endParaRPr lang="fr-FR"/>
          </a:p>
        </p:txBody>
      </p:sp>
      <p:sp>
        <p:nvSpPr>
          <p:cNvPr id="58" name="Shape 56"/>
          <p:cNvSpPr/>
          <p:nvPr/>
        </p:nvSpPr>
        <p:spPr>
          <a:xfrm>
            <a:off x="6559974" y="5086226"/>
            <a:ext cx="4191000" cy="9525"/>
          </a:xfrm>
          <a:prstGeom prst="rect">
            <a:avLst/>
          </a:prstGeom>
          <a:solidFill>
            <a:srgbClr val="C0C0C8"/>
          </a:solidFill>
          <a:ln/>
        </p:spPr>
        <p:txBody>
          <a:bodyPr/>
          <a:lstStyle/>
          <a:p>
            <a:endParaRPr lang="fr-FR"/>
          </a:p>
        </p:txBody>
      </p:sp>
      <p:sp>
        <p:nvSpPr>
          <p:cNvPr id="59" name="Text 57"/>
          <p:cNvSpPr/>
          <p:nvPr/>
        </p:nvSpPr>
        <p:spPr>
          <a:xfrm>
            <a:off x="6559974" y="5235451"/>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Segmentation quality, calibrated volume</a:t>
            </a:r>
            <a:endParaRPr lang="en-US" sz="1350" b="1" dirty="0"/>
          </a:p>
        </p:txBody>
      </p:sp>
      <p:pic>
        <p:nvPicPr>
          <p:cNvPr id="63" name="Image 0" descr="preencoded.png"/>
          <p:cNvPicPr>
            <a:picLocks noChangeAspect="1"/>
          </p:cNvPicPr>
          <p:nvPr/>
        </p:nvPicPr>
        <p:blipFill>
          <a:blip r:embed="rId3"/>
          <a:stretch>
            <a:fillRect/>
          </a:stretch>
        </p:blipFill>
        <p:spPr>
          <a:xfrm>
            <a:off x="11229975" y="6988112"/>
            <a:ext cx="714375" cy="71438"/>
          </a:xfrm>
          <a:prstGeom prst="rect">
            <a:avLst/>
          </a:prstGeom>
        </p:spPr>
      </p:pic>
      <p:sp>
        <p:nvSpPr>
          <p:cNvPr id="64" name="TextBox 63"/>
          <p:cNvSpPr txBox="1"/>
          <p:nvPr/>
        </p:nvSpPr>
        <p:spPr>
          <a:xfrm>
            <a:off x="356616" y="658368"/>
            <a:ext cx="10515600" cy="329184"/>
          </a:xfrm>
          <a:prstGeom prst="rect">
            <a:avLst/>
          </a:prstGeom>
          <a:noFill/>
        </p:spPr>
        <p:txBody>
          <a:bodyPr wrap="square" lIns="25400" rIns="25400" tIns="25400" bIns="25400" anchor="t">
            <a:spAutoFit/>
          </a:bodyPr>
          <a:lstStyle/>
          <a:p>
            <a:pPr algn="l"/>
            <a:r>
              <a:rPr sz="1725" b="0">
                <a:solidFill>
                  <a:srgbClr val="1D93C9"/>
                </a:solidFill>
                <a:latin typeface="Arial"/>
              </a:rPr>
              <a:t>Build the fourth score: elicit an urgency, compute its counterpart, measure the distance</a:t>
            </a:r>
          </a:p>
        </p:txBody>
      </p:sp>
      <p:sp>
        <p:nvSpPr>
          <p:cNvPr id="65" name="TextBox 64"/>
          <p:cNvSpPr txBox="1"/>
          <p:nvPr/>
        </p:nvSpPr>
        <p:spPr>
          <a:xfrm>
            <a:off x="356616" y="1152144"/>
            <a:ext cx="73152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THE MISSION, IN THREE MOVES</a:t>
            </a:r>
          </a:p>
        </p:txBody>
      </p:sp>
      <p:sp>
        <p:nvSpPr>
          <p:cNvPr id="66" name="Rectangle 65"/>
          <p:cNvSpPr/>
          <p:nvPr/>
        </p:nvSpPr>
        <p:spPr>
          <a:xfrm>
            <a:off x="356616" y="1426464"/>
            <a:ext cx="3630168" cy="804672"/>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484632" y="1453896"/>
            <a:ext cx="365760" cy="274320"/>
          </a:xfrm>
          <a:prstGeom prst="rect">
            <a:avLst/>
          </a:prstGeom>
          <a:noFill/>
        </p:spPr>
        <p:txBody>
          <a:bodyPr wrap="square" lIns="25400" rIns="25400" tIns="25400" bIns="25400" anchor="t">
            <a:spAutoFit/>
          </a:bodyPr>
          <a:lstStyle/>
          <a:p>
            <a:pPr algn="l"/>
            <a:r>
              <a:rPr sz="1500" b="1">
                <a:solidFill>
                  <a:srgbClr val="1D93C9"/>
                </a:solidFill>
                <a:latin typeface="Arial Black"/>
              </a:rPr>
              <a:t>1</a:t>
            </a:r>
          </a:p>
        </p:txBody>
      </p:sp>
      <p:sp>
        <p:nvSpPr>
          <p:cNvPr id="68" name="TextBox 67"/>
          <p:cNvSpPr txBox="1"/>
          <p:nvPr/>
        </p:nvSpPr>
        <p:spPr>
          <a:xfrm>
            <a:off x="850392" y="1463040"/>
            <a:ext cx="3017520" cy="256032"/>
          </a:xfrm>
          <a:prstGeom prst="rect">
            <a:avLst/>
          </a:prstGeom>
          <a:noFill/>
        </p:spPr>
        <p:txBody>
          <a:bodyPr wrap="square" lIns="25400" rIns="25400" tIns="25400" bIns="25400" anchor="t">
            <a:spAutoFit/>
          </a:bodyPr>
          <a:lstStyle/>
          <a:p>
            <a:pPr algn="l"/>
            <a:r>
              <a:rPr sz="1350" b="1">
                <a:solidFill>
                  <a:srgbClr val="043962"/>
                </a:solidFill>
                <a:latin typeface="Arial Black"/>
              </a:rPr>
              <a:t>ELICIT</a:t>
            </a:r>
          </a:p>
        </p:txBody>
      </p:sp>
      <p:sp>
        <p:nvSpPr>
          <p:cNvPr id="69" name="TextBox 68"/>
          <p:cNvSpPr txBox="1"/>
          <p:nvPr/>
        </p:nvSpPr>
        <p:spPr>
          <a:xfrm>
            <a:off x="484632" y="1755648"/>
            <a:ext cx="3401568" cy="457200"/>
          </a:xfrm>
          <a:prstGeom prst="rect">
            <a:avLst/>
          </a:prstGeom>
          <a:noFill/>
        </p:spPr>
        <p:txBody>
          <a:bodyPr wrap="square" lIns="25400" rIns="25400" tIns="25400" bIns="25400" anchor="t">
            <a:spAutoFit/>
          </a:bodyPr>
          <a:lstStyle/>
          <a:p>
            <a:pPr algn="l"/>
            <a:r>
              <a:rPr sz="950" b="0">
                <a:solidFill>
                  <a:srgbClr val="063C67"/>
                </a:solidFill>
                <a:latin typeface="Arial"/>
              </a:rPr>
              <a:t>Ask the operator to declare an urgency on a node, and refuse an incoherent answer.</a:t>
            </a:r>
          </a:p>
        </p:txBody>
      </p:sp>
      <p:sp>
        <p:nvSpPr>
          <p:cNvPr id="70" name="Rectangle 69"/>
          <p:cNvSpPr/>
          <p:nvPr/>
        </p:nvSpPr>
        <p:spPr>
          <a:xfrm>
            <a:off x="4187952" y="1426464"/>
            <a:ext cx="3630168" cy="804672"/>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4315968" y="1453896"/>
            <a:ext cx="365760" cy="274320"/>
          </a:xfrm>
          <a:prstGeom prst="rect">
            <a:avLst/>
          </a:prstGeom>
          <a:noFill/>
        </p:spPr>
        <p:txBody>
          <a:bodyPr wrap="square" lIns="25400" rIns="25400" tIns="25400" bIns="25400" anchor="t">
            <a:spAutoFit/>
          </a:bodyPr>
          <a:lstStyle/>
          <a:p>
            <a:pPr algn="l"/>
            <a:r>
              <a:rPr sz="1500" b="1">
                <a:solidFill>
                  <a:srgbClr val="1D93C9"/>
                </a:solidFill>
                <a:latin typeface="Arial Black"/>
              </a:rPr>
              <a:t>2</a:t>
            </a:r>
          </a:p>
        </p:txBody>
      </p:sp>
      <p:sp>
        <p:nvSpPr>
          <p:cNvPr id="72" name="TextBox 71"/>
          <p:cNvSpPr txBox="1"/>
          <p:nvPr/>
        </p:nvSpPr>
        <p:spPr>
          <a:xfrm>
            <a:off x="4681728" y="1463040"/>
            <a:ext cx="3017520" cy="256032"/>
          </a:xfrm>
          <a:prstGeom prst="rect">
            <a:avLst/>
          </a:prstGeom>
          <a:noFill/>
        </p:spPr>
        <p:txBody>
          <a:bodyPr wrap="square" lIns="25400" rIns="25400" tIns="25400" bIns="25400" anchor="t">
            <a:spAutoFit/>
          </a:bodyPr>
          <a:lstStyle/>
          <a:p>
            <a:pPr algn="l"/>
            <a:r>
              <a:rPr sz="1350" b="1">
                <a:solidFill>
                  <a:srgbClr val="043962"/>
                </a:solidFill>
                <a:latin typeface="Arial Black"/>
              </a:rPr>
              <a:t>COMPUTE</a:t>
            </a:r>
          </a:p>
        </p:txBody>
      </p:sp>
      <p:sp>
        <p:nvSpPr>
          <p:cNvPr id="73" name="TextBox 72"/>
          <p:cNvSpPr txBox="1"/>
          <p:nvPr/>
        </p:nvSpPr>
        <p:spPr>
          <a:xfrm>
            <a:off x="4315968" y="1755648"/>
            <a:ext cx="3401568" cy="457200"/>
          </a:xfrm>
          <a:prstGeom prst="rect">
            <a:avLst/>
          </a:prstGeom>
          <a:noFill/>
        </p:spPr>
        <p:txBody>
          <a:bodyPr wrap="square" lIns="25400" rIns="25400" tIns="25400" bIns="25400" anchor="t">
            <a:spAutoFit/>
          </a:bodyPr>
          <a:lstStyle/>
          <a:p>
            <a:pPr algn="l"/>
            <a:r>
              <a:rPr sz="950" b="0">
                <a:solidFill>
                  <a:srgbClr val="063C67"/>
                </a:solidFill>
                <a:latin typeface="Arial"/>
              </a:rPr>
              <a:t>Read the same node's urgency from its operational state, with no human in the path.</a:t>
            </a:r>
          </a:p>
        </p:txBody>
      </p:sp>
      <p:sp>
        <p:nvSpPr>
          <p:cNvPr id="74" name="Rectangle 73"/>
          <p:cNvSpPr/>
          <p:nvPr/>
        </p:nvSpPr>
        <p:spPr>
          <a:xfrm>
            <a:off x="8019288" y="1426464"/>
            <a:ext cx="3630168" cy="804672"/>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8147304" y="1453896"/>
            <a:ext cx="365760" cy="274320"/>
          </a:xfrm>
          <a:prstGeom prst="rect">
            <a:avLst/>
          </a:prstGeom>
          <a:noFill/>
        </p:spPr>
        <p:txBody>
          <a:bodyPr wrap="square" lIns="25400" rIns="25400" tIns="25400" bIns="25400" anchor="t">
            <a:spAutoFit/>
          </a:bodyPr>
          <a:lstStyle/>
          <a:p>
            <a:pPr algn="l"/>
            <a:r>
              <a:rPr sz="1500" b="1">
                <a:solidFill>
                  <a:srgbClr val="1D93C9"/>
                </a:solidFill>
                <a:latin typeface="Arial Black"/>
              </a:rPr>
              <a:t>3</a:t>
            </a:r>
          </a:p>
        </p:txBody>
      </p:sp>
      <p:sp>
        <p:nvSpPr>
          <p:cNvPr id="76" name="TextBox 75"/>
          <p:cNvSpPr txBox="1"/>
          <p:nvPr/>
        </p:nvSpPr>
        <p:spPr>
          <a:xfrm>
            <a:off x="8513064" y="1463040"/>
            <a:ext cx="3017520" cy="256032"/>
          </a:xfrm>
          <a:prstGeom prst="rect">
            <a:avLst/>
          </a:prstGeom>
          <a:noFill/>
        </p:spPr>
        <p:txBody>
          <a:bodyPr wrap="square" lIns="25400" rIns="25400" tIns="25400" bIns="25400" anchor="t">
            <a:spAutoFit/>
          </a:bodyPr>
          <a:lstStyle/>
          <a:p>
            <a:pPr algn="l"/>
            <a:r>
              <a:rPr sz="1350" b="1">
                <a:solidFill>
                  <a:srgbClr val="043962"/>
                </a:solidFill>
                <a:latin typeface="Arial Black"/>
              </a:rPr>
              <a:t>COMPARE</a:t>
            </a:r>
          </a:p>
        </p:txBody>
      </p:sp>
      <p:sp>
        <p:nvSpPr>
          <p:cNvPr id="77" name="TextBox 76"/>
          <p:cNvSpPr txBox="1"/>
          <p:nvPr/>
        </p:nvSpPr>
        <p:spPr>
          <a:xfrm>
            <a:off x="8147304" y="1755648"/>
            <a:ext cx="3401568" cy="457200"/>
          </a:xfrm>
          <a:prstGeom prst="rect">
            <a:avLst/>
          </a:prstGeom>
          <a:noFill/>
        </p:spPr>
        <p:txBody>
          <a:bodyPr wrap="square" lIns="25400" rIns="25400" tIns="25400" bIns="25400" anchor="t">
            <a:spAutoFit/>
          </a:bodyPr>
          <a:lstStyle/>
          <a:p>
            <a:pPr algn="l"/>
            <a:r>
              <a:rPr sz="950" b="0">
                <a:solidFill>
                  <a:srgbClr val="063C67"/>
                </a:solidFill>
                <a:latin typeface="Arial"/>
              </a:rPr>
              <a:t>Score the distance between the two, propagate it, and explain it term by term.</a:t>
            </a:r>
          </a:p>
        </p:txBody>
      </p:sp>
      <p:sp>
        <p:nvSpPr>
          <p:cNvPr id="78" name="TextBox 77"/>
          <p:cNvSpPr txBox="1"/>
          <p:nvPr/>
        </p:nvSpPr>
        <p:spPr>
          <a:xfrm>
            <a:off x="1545336" y="2395728"/>
            <a:ext cx="64008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AND THE FIVE OBJECTIVES IT WAS BROKEN INTO</a:t>
            </a:r>
          </a:p>
        </p:txBody>
      </p:sp>
      <p:sp>
        <p:nvSpPr>
          <p:cNvPr id="79" name="Rectangle 78"/>
          <p:cNvSpPr/>
          <p:nvPr/>
        </p:nvSpPr>
        <p:spPr>
          <a:xfrm>
            <a:off x="10332719"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1</a:t>
            </a:r>
          </a:p>
        </p:txBody>
      </p:sp>
      <p:sp>
        <p:nvSpPr>
          <p:cNvPr id="81" name="Rectangle 80"/>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83" name="Rectangle 82"/>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85" name="Rectangle 84"/>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87" name="Rectangle 86"/>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89" name="TextBox 88"/>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HOW THE WORK RAN</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One situation, two signals elicited independently, and four loops of measurement</a:t>
            </a:r>
            <a:endParaRPr lang="en-US" sz="1725" dirty="0"/>
          </a:p>
        </p:txBody>
      </p:sp>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7" name="TextBox 6"/>
          <p:cNvSpPr txBox="1"/>
          <p:nvPr/>
        </p:nvSpPr>
        <p:spPr>
          <a:xfrm>
            <a:off x="356616" y="1170432"/>
            <a:ext cx="54864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THE INSTRUMENT</a:t>
            </a:r>
          </a:p>
        </p:txBody>
      </p:sp>
      <p:sp>
        <p:nvSpPr>
          <p:cNvPr id="8" name="Rectangle 7"/>
          <p:cNvSpPr/>
          <p:nvPr/>
        </p:nvSpPr>
        <p:spPr>
          <a:xfrm>
            <a:off x="356616" y="1444752"/>
            <a:ext cx="2103120" cy="12801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4632" y="1490472"/>
            <a:ext cx="1874519" cy="237744"/>
          </a:xfrm>
          <a:prstGeom prst="rect">
            <a:avLst/>
          </a:prstGeom>
          <a:noFill/>
        </p:spPr>
        <p:txBody>
          <a:bodyPr wrap="square" lIns="25400" rIns="25400" tIns="25400" bIns="25400" anchor="t">
            <a:spAutoFit/>
          </a:bodyPr>
          <a:lstStyle/>
          <a:p>
            <a:pPr algn="l"/>
            <a:r>
              <a:rPr sz="1300" b="1">
                <a:solidFill>
                  <a:srgbClr val="1D93C9"/>
                </a:solidFill>
                <a:latin typeface="Arial Black"/>
              </a:rPr>
              <a:t>1</a:t>
            </a:r>
          </a:p>
        </p:txBody>
      </p:sp>
      <p:sp>
        <p:nvSpPr>
          <p:cNvPr id="10" name="TextBox 9"/>
          <p:cNvSpPr txBox="1"/>
          <p:nvPr/>
        </p:nvSpPr>
        <p:spPr>
          <a:xfrm>
            <a:off x="484632" y="1700784"/>
            <a:ext cx="1874519" cy="274320"/>
          </a:xfrm>
          <a:prstGeom prst="rect">
            <a:avLst/>
          </a:prstGeom>
          <a:noFill/>
        </p:spPr>
        <p:txBody>
          <a:bodyPr wrap="square" lIns="25400" rIns="25400" tIns="25400" bIns="25400" anchor="t">
            <a:spAutoFit/>
          </a:bodyPr>
          <a:lstStyle/>
          <a:p>
            <a:pPr algn="l"/>
            <a:r>
              <a:rPr sz="1200" b="1">
                <a:solidFill>
                  <a:srgbClr val="043962"/>
                </a:solidFill>
                <a:latin typeface="Arial Black"/>
              </a:rPr>
              <a:t>A SITUATION</a:t>
            </a:r>
          </a:p>
        </p:txBody>
      </p:sp>
      <p:sp>
        <p:nvSpPr>
          <p:cNvPr id="11" name="TextBox 10"/>
          <p:cNvSpPr txBox="1"/>
          <p:nvPr/>
        </p:nvSpPr>
        <p:spPr>
          <a:xfrm>
            <a:off x="484632" y="1975104"/>
            <a:ext cx="1883664" cy="713232"/>
          </a:xfrm>
          <a:prstGeom prst="rect">
            <a:avLst/>
          </a:prstGeom>
          <a:noFill/>
        </p:spPr>
        <p:txBody>
          <a:bodyPr wrap="square" lIns="25400" rIns="25400" tIns="25400" bIns="25400" anchor="t">
            <a:spAutoFit/>
          </a:bodyPr>
          <a:lstStyle/>
          <a:p>
            <a:pPr algn="l"/>
            <a:r>
              <a:rPr sz="900" b="0">
                <a:solidFill>
                  <a:srgbClr val="063C67"/>
                </a:solidFill>
                <a:latin typeface="Arial"/>
              </a:rPr>
              <a:t>A frozen supply chain: nodes, arcs, milestones, and the events of one week.</a:t>
            </a:r>
          </a:p>
        </p:txBody>
      </p:sp>
      <p:sp>
        <p:nvSpPr>
          <p:cNvPr id="12" name="Right Arrow 11"/>
          <p:cNvSpPr/>
          <p:nvPr/>
        </p:nvSpPr>
        <p:spPr>
          <a:xfrm>
            <a:off x="2496312" y="1636776"/>
            <a:ext cx="256032" cy="182880"/>
          </a:xfrm>
          <a:prstGeom prst="rightArrow">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2496312" y="2350008"/>
            <a:ext cx="256032" cy="182880"/>
          </a:xfrm>
          <a:prstGeom prst="rightArrow">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88920" y="1444752"/>
            <a:ext cx="2834640" cy="56692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16936" y="1472184"/>
            <a:ext cx="274320" cy="237744"/>
          </a:xfrm>
          <a:prstGeom prst="rect">
            <a:avLst/>
          </a:prstGeom>
          <a:noFill/>
        </p:spPr>
        <p:txBody>
          <a:bodyPr wrap="square" lIns="25400" rIns="25400" tIns="25400" bIns="25400" anchor="t">
            <a:spAutoFit/>
          </a:bodyPr>
          <a:lstStyle/>
          <a:p>
            <a:pPr algn="l"/>
            <a:r>
              <a:rPr sz="1300" b="1">
                <a:solidFill>
                  <a:srgbClr val="1D93C9"/>
                </a:solidFill>
                <a:latin typeface="Arial Black"/>
              </a:rPr>
              <a:t>2</a:t>
            </a:r>
          </a:p>
        </p:txBody>
      </p:sp>
      <p:sp>
        <p:nvSpPr>
          <p:cNvPr id="16" name="TextBox 15"/>
          <p:cNvSpPr txBox="1"/>
          <p:nvPr/>
        </p:nvSpPr>
        <p:spPr>
          <a:xfrm>
            <a:off x="3218688" y="1481328"/>
            <a:ext cx="2286000" cy="237744"/>
          </a:xfrm>
          <a:prstGeom prst="rect">
            <a:avLst/>
          </a:prstGeom>
          <a:noFill/>
        </p:spPr>
        <p:txBody>
          <a:bodyPr wrap="square" lIns="25400" rIns="25400" tIns="25400" bIns="25400" anchor="t">
            <a:spAutoFit/>
          </a:bodyPr>
          <a:lstStyle/>
          <a:p>
            <a:pPr algn="l"/>
            <a:r>
              <a:rPr sz="1200" b="1">
                <a:solidFill>
                  <a:srgbClr val="043962"/>
                </a:solidFill>
                <a:latin typeface="Arial Black"/>
              </a:rPr>
              <a:t>DECLARED  Ud</a:t>
            </a:r>
          </a:p>
        </p:txBody>
      </p:sp>
      <p:sp>
        <p:nvSpPr>
          <p:cNvPr id="17" name="TextBox 16"/>
          <p:cNvSpPr txBox="1"/>
          <p:nvPr/>
        </p:nvSpPr>
        <p:spPr>
          <a:xfrm>
            <a:off x="2916936" y="1700784"/>
            <a:ext cx="2615184" cy="274320"/>
          </a:xfrm>
          <a:prstGeom prst="rect">
            <a:avLst/>
          </a:prstGeom>
          <a:noFill/>
        </p:spPr>
        <p:txBody>
          <a:bodyPr wrap="square" lIns="25400" rIns="25400" tIns="25400" bIns="25400" anchor="t">
            <a:spAutoFit/>
          </a:bodyPr>
          <a:lstStyle/>
          <a:p>
            <a:pPr algn="l"/>
            <a:r>
              <a:rPr sz="900" b="0">
                <a:solidFill>
                  <a:srgbClr val="063C67"/>
                </a:solidFill>
                <a:latin typeface="Arial"/>
              </a:rPr>
              <a:t>A human answers the questionnaire. AHP, four criteria.</a:t>
            </a:r>
          </a:p>
        </p:txBody>
      </p:sp>
      <p:sp>
        <p:nvSpPr>
          <p:cNvPr id="18" name="Rectangle 17"/>
          <p:cNvSpPr/>
          <p:nvPr/>
        </p:nvSpPr>
        <p:spPr>
          <a:xfrm>
            <a:off x="2788920" y="2157984"/>
            <a:ext cx="2834640" cy="56692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16936" y="2185416"/>
            <a:ext cx="274320" cy="237744"/>
          </a:xfrm>
          <a:prstGeom prst="rect">
            <a:avLst/>
          </a:prstGeom>
          <a:noFill/>
        </p:spPr>
        <p:txBody>
          <a:bodyPr wrap="square" lIns="25400" rIns="25400" tIns="25400" bIns="25400" anchor="t">
            <a:spAutoFit/>
          </a:bodyPr>
          <a:lstStyle/>
          <a:p>
            <a:pPr algn="l"/>
            <a:r>
              <a:rPr sz="1300" b="1">
                <a:solidFill>
                  <a:srgbClr val="1D93C9"/>
                </a:solidFill>
                <a:latin typeface="Arial Black"/>
              </a:rPr>
              <a:t>3</a:t>
            </a:r>
          </a:p>
        </p:txBody>
      </p:sp>
      <p:sp>
        <p:nvSpPr>
          <p:cNvPr id="20" name="TextBox 19"/>
          <p:cNvSpPr txBox="1"/>
          <p:nvPr/>
        </p:nvSpPr>
        <p:spPr>
          <a:xfrm>
            <a:off x="3218688" y="2194560"/>
            <a:ext cx="2286000" cy="237744"/>
          </a:xfrm>
          <a:prstGeom prst="rect">
            <a:avLst/>
          </a:prstGeom>
          <a:noFill/>
        </p:spPr>
        <p:txBody>
          <a:bodyPr wrap="square" lIns="25400" rIns="25400" tIns="25400" bIns="25400" anchor="t">
            <a:spAutoFit/>
          </a:bodyPr>
          <a:lstStyle/>
          <a:p>
            <a:pPr algn="l"/>
            <a:r>
              <a:rPr sz="1200" b="1">
                <a:solidFill>
                  <a:srgbClr val="043962"/>
                </a:solidFill>
                <a:latin typeface="Arial Black"/>
              </a:rPr>
              <a:t>COMPUTED  Ur</a:t>
            </a:r>
          </a:p>
        </p:txBody>
      </p:sp>
      <p:sp>
        <p:nvSpPr>
          <p:cNvPr id="21" name="TextBox 20"/>
          <p:cNvSpPr txBox="1"/>
          <p:nvPr/>
        </p:nvSpPr>
        <p:spPr>
          <a:xfrm>
            <a:off x="2916936" y="2414016"/>
            <a:ext cx="2615184" cy="274320"/>
          </a:xfrm>
          <a:prstGeom prst="rect">
            <a:avLst/>
          </a:prstGeom>
          <a:noFill/>
        </p:spPr>
        <p:txBody>
          <a:bodyPr wrap="square" lIns="25400" rIns="25400" tIns="25400" bIns="25400" anchor="t">
            <a:spAutoFit/>
          </a:bodyPr>
          <a:lstStyle/>
          <a:p>
            <a:pPr algn="l"/>
            <a:r>
              <a:rPr sz="900" b="0">
                <a:solidFill>
                  <a:srgbClr val="063C67"/>
                </a:solidFill>
                <a:latin typeface="Arial"/>
              </a:rPr>
              <a:t>The twin reads six KPI blocks. No human in the path.</a:t>
            </a:r>
          </a:p>
        </p:txBody>
      </p:sp>
      <p:sp>
        <p:nvSpPr>
          <p:cNvPr id="22" name="Right Arrow 21"/>
          <p:cNvSpPr/>
          <p:nvPr/>
        </p:nvSpPr>
        <p:spPr>
          <a:xfrm>
            <a:off x="5660136" y="1636776"/>
            <a:ext cx="256032" cy="182880"/>
          </a:xfrm>
          <a:prstGeom prst="rightArrow">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5660136" y="2350008"/>
            <a:ext cx="256032" cy="182880"/>
          </a:xfrm>
          <a:prstGeom prst="rightArrow">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61888" y="1444752"/>
            <a:ext cx="2606040" cy="1280160"/>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89904" y="1490472"/>
            <a:ext cx="2377440" cy="237744"/>
          </a:xfrm>
          <a:prstGeom prst="rect">
            <a:avLst/>
          </a:prstGeom>
          <a:noFill/>
        </p:spPr>
        <p:txBody>
          <a:bodyPr wrap="square" lIns="25400" rIns="25400" tIns="25400" bIns="25400" anchor="t">
            <a:spAutoFit/>
          </a:bodyPr>
          <a:lstStyle/>
          <a:p>
            <a:pPr algn="l"/>
            <a:r>
              <a:rPr sz="1300" b="1">
                <a:solidFill>
                  <a:srgbClr val="043962"/>
                </a:solidFill>
                <a:latin typeface="Arial Black"/>
              </a:rPr>
              <a:t>4</a:t>
            </a:r>
          </a:p>
        </p:txBody>
      </p:sp>
      <p:sp>
        <p:nvSpPr>
          <p:cNvPr id="26" name="TextBox 25"/>
          <p:cNvSpPr txBox="1"/>
          <p:nvPr/>
        </p:nvSpPr>
        <p:spPr>
          <a:xfrm>
            <a:off x="6089904" y="1700784"/>
            <a:ext cx="2377440" cy="274320"/>
          </a:xfrm>
          <a:prstGeom prst="rect">
            <a:avLst/>
          </a:prstGeom>
          <a:noFill/>
        </p:spPr>
        <p:txBody>
          <a:bodyPr wrap="square" lIns="25400" rIns="25400" tIns="25400" bIns="25400" anchor="t">
            <a:spAutoFit/>
          </a:bodyPr>
          <a:lstStyle/>
          <a:p>
            <a:pPr algn="l"/>
            <a:r>
              <a:rPr sz="1200" b="1">
                <a:solidFill>
                  <a:srgbClr val="043962"/>
                </a:solidFill>
                <a:latin typeface="Arial Black"/>
              </a:rPr>
              <a:t>THE ADEQUACY  A</a:t>
            </a:r>
          </a:p>
        </p:txBody>
      </p:sp>
      <p:sp>
        <p:nvSpPr>
          <p:cNvPr id="27" name="TextBox 26"/>
          <p:cNvSpPr txBox="1"/>
          <p:nvPr/>
        </p:nvSpPr>
        <p:spPr>
          <a:xfrm>
            <a:off x="6089904" y="1975104"/>
            <a:ext cx="2386584" cy="713232"/>
          </a:xfrm>
          <a:prstGeom prst="rect">
            <a:avLst/>
          </a:prstGeom>
          <a:noFill/>
        </p:spPr>
        <p:txBody>
          <a:bodyPr wrap="square" lIns="25400" rIns="25400" tIns="25400" bIns="25400" anchor="t">
            <a:spAutoFit/>
          </a:bodyPr>
          <a:lstStyle/>
          <a:p>
            <a:pPr algn="l"/>
            <a:r>
              <a:rPr sz="900" b="0">
                <a:solidFill>
                  <a:srgbClr val="043962"/>
                </a:solidFill>
                <a:latin typeface="Arial"/>
              </a:rPr>
              <a:t>The distance between them, on 0 to 100. Over-declared is false urgency, under-declared is hidden risk.</a:t>
            </a:r>
          </a:p>
        </p:txBody>
      </p:sp>
      <p:sp>
        <p:nvSpPr>
          <p:cNvPr id="28" name="Right Arrow 27"/>
          <p:cNvSpPr/>
          <p:nvPr/>
        </p:nvSpPr>
        <p:spPr>
          <a:xfrm>
            <a:off x="8604504" y="1993392"/>
            <a:ext cx="256032" cy="182880"/>
          </a:xfrm>
          <a:prstGeom prst="rightArrow">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06256" y="1444752"/>
            <a:ext cx="2926080" cy="12801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034272" y="1490472"/>
            <a:ext cx="2651760" cy="237744"/>
          </a:xfrm>
          <a:prstGeom prst="rect">
            <a:avLst/>
          </a:prstGeom>
          <a:noFill/>
        </p:spPr>
        <p:txBody>
          <a:bodyPr wrap="square" lIns="25400" rIns="25400" tIns="25400" bIns="25400" anchor="t">
            <a:spAutoFit/>
          </a:bodyPr>
          <a:lstStyle/>
          <a:p>
            <a:pPr algn="l"/>
            <a:r>
              <a:rPr sz="1300" b="1">
                <a:solidFill>
                  <a:srgbClr val="1D93C9"/>
                </a:solidFill>
                <a:latin typeface="Arial Black"/>
              </a:rPr>
              <a:t>5</a:t>
            </a:r>
          </a:p>
        </p:txBody>
      </p:sp>
      <p:sp>
        <p:nvSpPr>
          <p:cNvPr id="31" name="TextBox 30"/>
          <p:cNvSpPr txBox="1"/>
          <p:nvPr/>
        </p:nvSpPr>
        <p:spPr>
          <a:xfrm>
            <a:off x="9034272" y="1700784"/>
            <a:ext cx="2651760" cy="274320"/>
          </a:xfrm>
          <a:prstGeom prst="rect">
            <a:avLst/>
          </a:prstGeom>
          <a:noFill/>
        </p:spPr>
        <p:txBody>
          <a:bodyPr wrap="square" lIns="25400" rIns="25400" tIns="25400" bIns="25400" anchor="t">
            <a:spAutoFit/>
          </a:bodyPr>
          <a:lstStyle/>
          <a:p>
            <a:pPr algn="l"/>
            <a:r>
              <a:rPr sz="1200" b="1">
                <a:solidFill>
                  <a:srgbClr val="043962"/>
                </a:solidFill>
                <a:latin typeface="Arial Black"/>
              </a:rPr>
              <a:t>WHAT THE OPERATOR SEES</a:t>
            </a:r>
          </a:p>
        </p:txBody>
      </p:sp>
      <p:sp>
        <p:nvSpPr>
          <p:cNvPr id="32" name="TextBox 31"/>
          <p:cNvSpPr txBox="1"/>
          <p:nvPr/>
        </p:nvSpPr>
        <p:spPr>
          <a:xfrm>
            <a:off x="9034272" y="1975104"/>
            <a:ext cx="2706624" cy="713232"/>
          </a:xfrm>
          <a:prstGeom prst="rect">
            <a:avLst/>
          </a:prstGeom>
          <a:noFill/>
        </p:spPr>
        <p:txBody>
          <a:bodyPr wrap="square" lIns="25400" rIns="25400" tIns="25400" bIns="25400" anchor="t">
            <a:spAutoFit/>
          </a:bodyPr>
          <a:lstStyle/>
          <a:p>
            <a:pPr algn="l"/>
            <a:r>
              <a:rPr sz="900" b="0">
                <a:solidFill>
                  <a:srgbClr val="063C67"/>
                </a:solidFill>
                <a:latin typeface="Arial"/>
              </a:rPr>
              <a:t>A ranked list of nodes, and one page that rebuilds any score term by term.</a:t>
            </a:r>
          </a:p>
        </p:txBody>
      </p:sp>
      <p:sp>
        <p:nvSpPr>
          <p:cNvPr id="33" name="TextBox 32"/>
          <p:cNvSpPr txBox="1"/>
          <p:nvPr/>
        </p:nvSpPr>
        <p:spPr>
          <a:xfrm>
            <a:off x="356616" y="2926080"/>
            <a:ext cx="73152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FOUR LOOPS, AND WHAT EACH ONE CHANGED</a:t>
            </a:r>
          </a:p>
        </p:txBody>
      </p:sp>
      <p:sp>
        <p:nvSpPr>
          <p:cNvPr id="34" name="Rectangle 33"/>
          <p:cNvSpPr/>
          <p:nvPr/>
        </p:nvSpPr>
        <p:spPr>
          <a:xfrm>
            <a:off x="356616" y="3200400"/>
            <a:ext cx="2194560" cy="54864"/>
          </a:xfrm>
          <a:prstGeom prst="rect">
            <a:avLst/>
          </a:prstGeom>
          <a:solidFill>
            <a:srgbClr val="FFC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56616" y="3255264"/>
            <a:ext cx="2194560" cy="786384"/>
          </a:xfrm>
          <a:prstGeom prst="rect">
            <a:avLst/>
          </a:prstGeom>
          <a:solidFill>
            <a:srgbClr val="FFF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66344" y="3273552"/>
            <a:ext cx="1920240" cy="219456"/>
          </a:xfrm>
          <a:prstGeom prst="rect">
            <a:avLst/>
          </a:prstGeom>
          <a:noFill/>
        </p:spPr>
        <p:txBody>
          <a:bodyPr wrap="square" lIns="25400" rIns="25400" tIns="25400" bIns="25400" anchor="t">
            <a:spAutoFit/>
          </a:bodyPr>
          <a:lstStyle/>
          <a:p>
            <a:pPr algn="l"/>
            <a:r>
              <a:rPr sz="950" b="1" spc="120">
                <a:solidFill>
                  <a:srgbClr val="FFC800"/>
                </a:solidFill>
                <a:latin typeface="Arial"/>
              </a:rPr>
              <a:t>LOOP 0</a:t>
            </a:r>
          </a:p>
        </p:txBody>
      </p:sp>
      <p:sp>
        <p:nvSpPr>
          <p:cNvPr id="37" name="TextBox 36"/>
          <p:cNvSpPr txBox="1"/>
          <p:nvPr/>
        </p:nvSpPr>
        <p:spPr>
          <a:xfrm>
            <a:off x="466344" y="3456432"/>
            <a:ext cx="2011680" cy="219456"/>
          </a:xfrm>
          <a:prstGeom prst="rect">
            <a:avLst/>
          </a:prstGeom>
          <a:noFill/>
        </p:spPr>
        <p:txBody>
          <a:bodyPr wrap="square" lIns="25400" rIns="25400" tIns="25400" bIns="25400" anchor="t">
            <a:spAutoFit/>
          </a:bodyPr>
          <a:lstStyle/>
          <a:p>
            <a:pPr algn="l"/>
            <a:r>
              <a:rPr sz="1100" b="1">
                <a:solidFill>
                  <a:srgbClr val="043962"/>
                </a:solidFill>
                <a:latin typeface="Arial Black"/>
              </a:rPr>
              <a:t>Synthetic dry run</a:t>
            </a:r>
          </a:p>
        </p:txBody>
      </p:sp>
      <p:sp>
        <p:nvSpPr>
          <p:cNvPr id="38" name="TextBox 37"/>
          <p:cNvSpPr txBox="1"/>
          <p:nvPr/>
        </p:nvSpPr>
        <p:spPr>
          <a:xfrm>
            <a:off x="466344" y="3675887"/>
            <a:ext cx="2029968" cy="365760"/>
          </a:xfrm>
          <a:prstGeom prst="rect">
            <a:avLst/>
          </a:prstGeom>
          <a:noFill/>
        </p:spPr>
        <p:txBody>
          <a:bodyPr wrap="square" lIns="25400" rIns="25400" tIns="25400" bIns="25400" anchor="t">
            <a:spAutoFit/>
          </a:bodyPr>
          <a:lstStyle/>
          <a:p>
            <a:pPr algn="l"/>
            <a:r>
              <a:rPr sz="850" b="0">
                <a:solidFill>
                  <a:srgbClr val="063C67"/>
                </a:solidFill>
                <a:latin typeface="Arial"/>
              </a:rPr>
              <a:t>Declaration anchored on the computed value. Not usable.</a:t>
            </a:r>
          </a:p>
        </p:txBody>
      </p:sp>
      <p:sp>
        <p:nvSpPr>
          <p:cNvPr id="39" name="Rectangle 38"/>
          <p:cNvSpPr/>
          <p:nvPr/>
        </p:nvSpPr>
        <p:spPr>
          <a:xfrm>
            <a:off x="2679192" y="3200400"/>
            <a:ext cx="2194560" cy="54864"/>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679192" y="3255264"/>
            <a:ext cx="2194560" cy="7863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788920" y="3273552"/>
            <a:ext cx="1920240" cy="219456"/>
          </a:xfrm>
          <a:prstGeom prst="rect">
            <a:avLst/>
          </a:prstGeom>
          <a:noFill/>
        </p:spPr>
        <p:txBody>
          <a:bodyPr wrap="square" lIns="25400" rIns="25400" tIns="25400" bIns="25400" anchor="t">
            <a:spAutoFit/>
          </a:bodyPr>
          <a:lstStyle/>
          <a:p>
            <a:pPr algn="l"/>
            <a:r>
              <a:rPr sz="950" b="1" spc="120">
                <a:solidFill>
                  <a:srgbClr val="1D93C9"/>
                </a:solidFill>
                <a:latin typeface="Arial"/>
              </a:rPr>
              <a:t>LOOP 1</a:t>
            </a:r>
          </a:p>
        </p:txBody>
      </p:sp>
      <p:sp>
        <p:nvSpPr>
          <p:cNvPr id="42" name="TextBox 41"/>
          <p:cNvSpPr txBox="1"/>
          <p:nvPr/>
        </p:nvSpPr>
        <p:spPr>
          <a:xfrm>
            <a:off x="2788920" y="3456432"/>
            <a:ext cx="2011680" cy="219456"/>
          </a:xfrm>
          <a:prstGeom prst="rect">
            <a:avLst/>
          </a:prstGeom>
          <a:noFill/>
        </p:spPr>
        <p:txBody>
          <a:bodyPr wrap="square" lIns="25400" rIns="25400" tIns="25400" bIns="25400" anchor="t">
            <a:spAutoFit/>
          </a:bodyPr>
          <a:lstStyle/>
          <a:p>
            <a:pPr algn="l"/>
            <a:r>
              <a:rPr sz="1100" b="1">
                <a:solidFill>
                  <a:srgbClr val="043962"/>
                </a:solidFill>
                <a:latin typeface="Arial Black"/>
              </a:rPr>
              <a:t>Eight blind agents</a:t>
            </a:r>
          </a:p>
        </p:txBody>
      </p:sp>
      <p:sp>
        <p:nvSpPr>
          <p:cNvPr id="43" name="TextBox 42"/>
          <p:cNvSpPr txBox="1"/>
          <p:nvPr/>
        </p:nvSpPr>
        <p:spPr>
          <a:xfrm>
            <a:off x="2788920" y="3675887"/>
            <a:ext cx="2029968" cy="365760"/>
          </a:xfrm>
          <a:prstGeom prst="rect">
            <a:avLst/>
          </a:prstGeom>
          <a:noFill/>
        </p:spPr>
        <p:txBody>
          <a:bodyPr wrap="square" lIns="25400" rIns="25400" tIns="25400" bIns="25400" anchor="t">
            <a:spAutoFit/>
          </a:bodyPr>
          <a:lstStyle/>
          <a:p>
            <a:pPr algn="l"/>
            <a:r>
              <a:rPr sz="850" b="0">
                <a:solidFill>
                  <a:srgbClr val="063C67"/>
                </a:solidFill>
                <a:latin typeface="Arial"/>
              </a:rPr>
              <a:t>Built the interface and the agent harness. 152 declarations.</a:t>
            </a:r>
          </a:p>
        </p:txBody>
      </p:sp>
      <p:sp>
        <p:nvSpPr>
          <p:cNvPr id="44" name="Rectangle 43"/>
          <p:cNvSpPr/>
          <p:nvPr/>
        </p:nvSpPr>
        <p:spPr>
          <a:xfrm>
            <a:off x="5001768" y="3200400"/>
            <a:ext cx="2194560" cy="54864"/>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5001768" y="3255264"/>
            <a:ext cx="2194560" cy="7863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111496" y="3273552"/>
            <a:ext cx="1920240" cy="219456"/>
          </a:xfrm>
          <a:prstGeom prst="rect">
            <a:avLst/>
          </a:prstGeom>
          <a:noFill/>
        </p:spPr>
        <p:txBody>
          <a:bodyPr wrap="square" lIns="25400" rIns="25400" tIns="25400" bIns="25400" anchor="t">
            <a:spAutoFit/>
          </a:bodyPr>
          <a:lstStyle/>
          <a:p>
            <a:pPr algn="l"/>
            <a:r>
              <a:rPr sz="950" b="1" spc="120">
                <a:solidFill>
                  <a:srgbClr val="1D93C9"/>
                </a:solidFill>
                <a:latin typeface="Arial"/>
              </a:rPr>
              <a:t>LOOP 2</a:t>
            </a:r>
          </a:p>
        </p:txBody>
      </p:sp>
      <p:sp>
        <p:nvSpPr>
          <p:cNvPr id="47" name="TextBox 46"/>
          <p:cNvSpPr txBox="1"/>
          <p:nvPr/>
        </p:nvSpPr>
        <p:spPr>
          <a:xfrm>
            <a:off x="5111496" y="3456432"/>
            <a:ext cx="2011680" cy="219456"/>
          </a:xfrm>
          <a:prstGeom prst="rect">
            <a:avLst/>
          </a:prstGeom>
          <a:noFill/>
        </p:spPr>
        <p:txBody>
          <a:bodyPr wrap="square" lIns="25400" rIns="25400" tIns="25400" bIns="25400" anchor="t">
            <a:spAutoFit/>
          </a:bodyPr>
          <a:lstStyle/>
          <a:p>
            <a:pPr algn="l"/>
            <a:r>
              <a:rPr sz="1100" b="1">
                <a:solidFill>
                  <a:srgbClr val="043962"/>
                </a:solidFill>
                <a:latin typeface="Arial Black"/>
              </a:rPr>
              <a:t>Forecast shown</a:t>
            </a:r>
          </a:p>
        </p:txBody>
      </p:sp>
      <p:sp>
        <p:nvSpPr>
          <p:cNvPr id="48" name="TextBox 47"/>
          <p:cNvSpPr txBox="1"/>
          <p:nvPr/>
        </p:nvSpPr>
        <p:spPr>
          <a:xfrm>
            <a:off x="5111496" y="3675887"/>
            <a:ext cx="2029968" cy="365760"/>
          </a:xfrm>
          <a:prstGeom prst="rect">
            <a:avLst/>
          </a:prstGeom>
          <a:noFill/>
        </p:spPr>
        <p:txBody>
          <a:bodyPr wrap="square" lIns="25400" rIns="25400" tIns="25400" bIns="25400" anchor="t">
            <a:spAutoFit/>
          </a:bodyPr>
          <a:lstStyle/>
          <a:p>
            <a:pPr algn="l"/>
            <a:r>
              <a:rPr sz="850" b="0">
                <a:solidFill>
                  <a:srgbClr val="063C67"/>
                </a:solidFill>
                <a:latin typeface="Arial"/>
              </a:rPr>
              <a:t>One change only: the model's output reaches the declarant.</a:t>
            </a:r>
          </a:p>
        </p:txBody>
      </p:sp>
      <p:sp>
        <p:nvSpPr>
          <p:cNvPr id="49" name="Rectangle 48"/>
          <p:cNvSpPr/>
          <p:nvPr/>
        </p:nvSpPr>
        <p:spPr>
          <a:xfrm>
            <a:off x="7324344" y="3200400"/>
            <a:ext cx="2194560" cy="54864"/>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7324344" y="3255264"/>
            <a:ext cx="2194560" cy="7863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434071" y="3273552"/>
            <a:ext cx="1920240" cy="219456"/>
          </a:xfrm>
          <a:prstGeom prst="rect">
            <a:avLst/>
          </a:prstGeom>
          <a:noFill/>
        </p:spPr>
        <p:txBody>
          <a:bodyPr wrap="square" lIns="25400" rIns="25400" tIns="25400" bIns="25400" anchor="t">
            <a:spAutoFit/>
          </a:bodyPr>
          <a:lstStyle/>
          <a:p>
            <a:pPr algn="l"/>
            <a:r>
              <a:rPr sz="950" b="1" spc="120">
                <a:solidFill>
                  <a:srgbClr val="1D93C9"/>
                </a:solidFill>
                <a:latin typeface="Arial"/>
              </a:rPr>
              <a:t>LOOP 3</a:t>
            </a:r>
          </a:p>
        </p:txBody>
      </p:sp>
      <p:sp>
        <p:nvSpPr>
          <p:cNvPr id="52" name="TextBox 51"/>
          <p:cNvSpPr txBox="1"/>
          <p:nvPr/>
        </p:nvSpPr>
        <p:spPr>
          <a:xfrm>
            <a:off x="7434071" y="3456432"/>
            <a:ext cx="2011680" cy="219456"/>
          </a:xfrm>
          <a:prstGeom prst="rect">
            <a:avLst/>
          </a:prstGeom>
          <a:noFill/>
        </p:spPr>
        <p:txBody>
          <a:bodyPr wrap="square" lIns="25400" rIns="25400" tIns="25400" bIns="25400" anchor="t">
            <a:spAutoFit/>
          </a:bodyPr>
          <a:lstStyle/>
          <a:p>
            <a:pPr algn="l"/>
            <a:r>
              <a:rPr sz="1100" b="1">
                <a:solidFill>
                  <a:srgbClr val="043962"/>
                </a:solidFill>
                <a:latin typeface="Arial Black"/>
              </a:rPr>
              <a:t>A second chain</a:t>
            </a:r>
          </a:p>
        </p:txBody>
      </p:sp>
      <p:sp>
        <p:nvSpPr>
          <p:cNvPr id="53" name="TextBox 52"/>
          <p:cNvSpPr txBox="1"/>
          <p:nvPr/>
        </p:nvSpPr>
        <p:spPr>
          <a:xfrm>
            <a:off x="7434071" y="3675887"/>
            <a:ext cx="2029968" cy="365760"/>
          </a:xfrm>
          <a:prstGeom prst="rect">
            <a:avLst/>
          </a:prstGeom>
          <a:noFill/>
        </p:spPr>
        <p:txBody>
          <a:bodyPr wrap="square" lIns="25400" rIns="25400" tIns="25400" bIns="25400" anchor="t">
            <a:spAutoFit/>
          </a:bodyPr>
          <a:lstStyle/>
          <a:p>
            <a:pPr algn="l"/>
            <a:r>
              <a:rPr sz="850" b="0">
                <a:solidFill>
                  <a:srgbClr val="063C67"/>
                </a:solidFill>
                <a:latin typeface="Arial"/>
              </a:rPr>
              <a:t>15 nodes, no external shock. The boundary of the claim.</a:t>
            </a:r>
          </a:p>
        </p:txBody>
      </p:sp>
      <p:sp>
        <p:nvSpPr>
          <p:cNvPr id="54" name="Rectangle 53"/>
          <p:cNvSpPr/>
          <p:nvPr/>
        </p:nvSpPr>
        <p:spPr>
          <a:xfrm>
            <a:off x="9646920" y="3200400"/>
            <a:ext cx="2194560" cy="54864"/>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646920" y="3255264"/>
            <a:ext cx="2194560" cy="7863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756648" y="3273552"/>
            <a:ext cx="1920240" cy="219456"/>
          </a:xfrm>
          <a:prstGeom prst="rect">
            <a:avLst/>
          </a:prstGeom>
          <a:noFill/>
        </p:spPr>
        <p:txBody>
          <a:bodyPr wrap="square" lIns="25400" rIns="25400" tIns="25400" bIns="25400" anchor="t">
            <a:spAutoFit/>
          </a:bodyPr>
          <a:lstStyle/>
          <a:p>
            <a:pPr algn="l"/>
            <a:r>
              <a:rPr sz="950" b="1" spc="120">
                <a:solidFill>
                  <a:srgbClr val="1D93C9"/>
                </a:solidFill>
                <a:latin typeface="Arial"/>
              </a:rPr>
              <a:t>LOOP 4</a:t>
            </a:r>
          </a:p>
        </p:txBody>
      </p:sp>
      <p:sp>
        <p:nvSpPr>
          <p:cNvPr id="57" name="TextBox 56"/>
          <p:cNvSpPr txBox="1"/>
          <p:nvPr/>
        </p:nvSpPr>
        <p:spPr>
          <a:xfrm>
            <a:off x="9756648" y="3456432"/>
            <a:ext cx="2011680" cy="219456"/>
          </a:xfrm>
          <a:prstGeom prst="rect">
            <a:avLst/>
          </a:prstGeom>
          <a:noFill/>
        </p:spPr>
        <p:txBody>
          <a:bodyPr wrap="square" lIns="25400" rIns="25400" tIns="25400" bIns="25400" anchor="t">
            <a:spAutoFit/>
          </a:bodyPr>
          <a:lstStyle/>
          <a:p>
            <a:pPr algn="l"/>
            <a:r>
              <a:rPr sz="1100" b="1">
                <a:solidFill>
                  <a:srgbClr val="043962"/>
                </a:solidFill>
                <a:latin typeface="Arial Black"/>
              </a:rPr>
              <a:t>Closed loop</a:t>
            </a:r>
          </a:p>
        </p:txBody>
      </p:sp>
      <p:sp>
        <p:nvSpPr>
          <p:cNvPr id="58" name="TextBox 57"/>
          <p:cNvSpPr txBox="1"/>
          <p:nvPr/>
        </p:nvSpPr>
        <p:spPr>
          <a:xfrm>
            <a:off x="9756648" y="3675887"/>
            <a:ext cx="2029968" cy="365760"/>
          </a:xfrm>
          <a:prstGeom prst="rect">
            <a:avLst/>
          </a:prstGeom>
          <a:noFill/>
        </p:spPr>
        <p:txBody>
          <a:bodyPr wrap="square" lIns="25400" rIns="25400" tIns="25400" bIns="25400" anchor="t">
            <a:spAutoFit/>
          </a:bodyPr>
          <a:lstStyle/>
          <a:p>
            <a:pPr algn="l"/>
            <a:r>
              <a:rPr sz="850" b="0">
                <a:solidFill>
                  <a:srgbClr val="063C67"/>
                </a:solidFill>
                <a:latin typeface="Arial"/>
              </a:rPr>
              <a:t>Declarants act on the terrain, after the repair.</a:t>
            </a:r>
          </a:p>
        </p:txBody>
      </p:sp>
      <p:sp>
        <p:nvSpPr>
          <p:cNvPr id="59" name="Rectangle 58"/>
          <p:cNvSpPr/>
          <p:nvPr/>
        </p:nvSpPr>
        <p:spPr>
          <a:xfrm>
            <a:off x="356616" y="4169663"/>
            <a:ext cx="11475720" cy="420624"/>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02920" y="4215384"/>
            <a:ext cx="11247120" cy="347472"/>
          </a:xfrm>
          <a:prstGeom prst="rect">
            <a:avLst/>
          </a:prstGeom>
          <a:noFill/>
        </p:spPr>
        <p:txBody>
          <a:bodyPr wrap="square" lIns="25400" rIns="25400" tIns="25400" bIns="25400" anchor="t">
            <a:spAutoFit/>
          </a:bodyPr>
          <a:lstStyle/>
          <a:p>
            <a:pPr algn="l"/>
            <a:r>
              <a:rPr sz="1100" b="1">
                <a:solidFill>
                  <a:srgbClr val="043962"/>
                </a:solidFill>
                <a:latin typeface="Arial"/>
              </a:rPr>
              <a:t>Loop 0 did not convince me: the two signals were not independent. That is why the interface and the agents exist at all.</a:t>
            </a:r>
          </a:p>
        </p:txBody>
      </p:sp>
      <p:sp>
        <p:nvSpPr>
          <p:cNvPr id="61" name="TextBox 60"/>
          <p:cNvSpPr txBox="1"/>
          <p:nvPr/>
        </p:nvSpPr>
        <p:spPr>
          <a:xfrm>
            <a:off x="356616" y="4773168"/>
            <a:ext cx="73152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AND THEN TWO QUESTIONS, IN THIS ORDER</a:t>
            </a:r>
          </a:p>
        </p:txBody>
      </p:sp>
      <p:sp>
        <p:nvSpPr>
          <p:cNvPr id="62" name="Rectangle 61"/>
          <p:cNvSpPr/>
          <p:nvPr/>
        </p:nvSpPr>
        <p:spPr>
          <a:xfrm>
            <a:off x="356616" y="5047488"/>
            <a:ext cx="5614416" cy="1298448"/>
          </a:xfrm>
          <a:prstGeom prst="rect">
            <a:avLst/>
          </a:prstGeom>
          <a:solidFill>
            <a:srgbClr val="063C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539496" y="5102352"/>
            <a:ext cx="365760" cy="256032"/>
          </a:xfrm>
          <a:prstGeom prst="rect">
            <a:avLst/>
          </a:prstGeom>
          <a:noFill/>
        </p:spPr>
        <p:txBody>
          <a:bodyPr wrap="square" lIns="25400" rIns="25400" tIns="25400" bIns="25400" anchor="t">
            <a:spAutoFit/>
          </a:bodyPr>
          <a:lstStyle/>
          <a:p>
            <a:pPr algn="l"/>
            <a:r>
              <a:rPr sz="1300" b="1">
                <a:solidFill>
                  <a:srgbClr val="FFDA65"/>
                </a:solidFill>
                <a:latin typeface="Arial Black"/>
              </a:rPr>
              <a:t>6</a:t>
            </a:r>
          </a:p>
        </p:txBody>
      </p:sp>
      <p:sp>
        <p:nvSpPr>
          <p:cNvPr id="64" name="TextBox 63"/>
          <p:cNvSpPr txBox="1"/>
          <p:nvPr/>
        </p:nvSpPr>
        <p:spPr>
          <a:xfrm>
            <a:off x="539496" y="5340096"/>
            <a:ext cx="5303520" cy="274320"/>
          </a:xfrm>
          <a:prstGeom prst="rect">
            <a:avLst/>
          </a:prstGeom>
          <a:noFill/>
        </p:spPr>
        <p:txBody>
          <a:bodyPr wrap="square" lIns="25400" rIns="25400" tIns="25400" bIns="25400" anchor="t">
            <a:spAutoFit/>
          </a:bodyPr>
          <a:lstStyle/>
          <a:p>
            <a:pPr algn="l"/>
            <a:r>
              <a:rPr sz="1300" b="1">
                <a:solidFill>
                  <a:srgbClr val="FFFFFF"/>
                </a:solidFill>
                <a:latin typeface="Arial Black"/>
              </a:rPr>
              <a:t>DOES IT SEE WHAT ACTUALLY HAPPENED?</a:t>
            </a:r>
          </a:p>
        </p:txBody>
      </p:sp>
      <p:sp>
        <p:nvSpPr>
          <p:cNvPr id="65" name="TextBox 64"/>
          <p:cNvSpPr txBox="1"/>
          <p:nvPr/>
        </p:nvSpPr>
        <p:spPr>
          <a:xfrm>
            <a:off x="539496" y="5632704"/>
            <a:ext cx="5303520" cy="658368"/>
          </a:xfrm>
          <a:prstGeom prst="rect">
            <a:avLst/>
          </a:prstGeom>
          <a:noFill/>
        </p:spPr>
        <p:txBody>
          <a:bodyPr wrap="square" lIns="25400" rIns="25400" tIns="25400" bIns="25400" anchor="t">
            <a:spAutoFit/>
          </a:bodyPr>
          <a:lstStyle/>
          <a:p>
            <a:pPr algn="l"/>
            <a:r>
              <a:rPr sz="950" b="0">
                <a:solidFill>
                  <a:srgbClr val="7ECBEE"/>
                </a:solidFill>
                <a:latin typeface="Arial"/>
              </a:rPr>
              <a:t>Replay the 2020 to 2022 semiconductor shortage, a crisis whose outcome is known, and check what the score flagged before it became public.</a:t>
            </a:r>
          </a:p>
        </p:txBody>
      </p:sp>
      <p:sp>
        <p:nvSpPr>
          <p:cNvPr id="66" name="Rectangle 65"/>
          <p:cNvSpPr/>
          <p:nvPr/>
        </p:nvSpPr>
        <p:spPr>
          <a:xfrm>
            <a:off x="6217920" y="5047488"/>
            <a:ext cx="5614416" cy="1298448"/>
          </a:xfrm>
          <a:prstGeom prst="rect">
            <a:avLst/>
          </a:prstGeom>
          <a:solidFill>
            <a:srgbClr val="063C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400800" y="5102352"/>
            <a:ext cx="365760" cy="256032"/>
          </a:xfrm>
          <a:prstGeom prst="rect">
            <a:avLst/>
          </a:prstGeom>
          <a:noFill/>
        </p:spPr>
        <p:txBody>
          <a:bodyPr wrap="square" lIns="25400" rIns="25400" tIns="25400" bIns="25400" anchor="t">
            <a:spAutoFit/>
          </a:bodyPr>
          <a:lstStyle/>
          <a:p>
            <a:pPr algn="l"/>
            <a:r>
              <a:rPr sz="1300" b="1">
                <a:solidFill>
                  <a:srgbClr val="FFDA65"/>
                </a:solidFill>
                <a:latin typeface="Arial Black"/>
              </a:rPr>
              <a:t>7</a:t>
            </a:r>
          </a:p>
        </p:txBody>
      </p:sp>
      <p:sp>
        <p:nvSpPr>
          <p:cNvPr id="68" name="TextBox 67"/>
          <p:cNvSpPr txBox="1"/>
          <p:nvPr/>
        </p:nvSpPr>
        <p:spPr>
          <a:xfrm>
            <a:off x="6400800" y="5340096"/>
            <a:ext cx="5303520" cy="274320"/>
          </a:xfrm>
          <a:prstGeom prst="rect">
            <a:avLst/>
          </a:prstGeom>
          <a:noFill/>
        </p:spPr>
        <p:txBody>
          <a:bodyPr wrap="square" lIns="25400" rIns="25400" tIns="25400" bIns="25400" anchor="t">
            <a:spAutoFit/>
          </a:bodyPr>
          <a:lstStyle/>
          <a:p>
            <a:pPr algn="l"/>
            <a:r>
              <a:rPr sz="1300" b="1">
                <a:solidFill>
                  <a:srgbClr val="FFFFFF"/>
                </a:solidFill>
                <a:latin typeface="Arial Black"/>
              </a:rPr>
              <a:t>CAN IT FORECAST WHAT HAS NOT HAPPENED YET?</a:t>
            </a:r>
          </a:p>
        </p:txBody>
      </p:sp>
      <p:sp>
        <p:nvSpPr>
          <p:cNvPr id="69" name="TextBox 68"/>
          <p:cNvSpPr txBox="1"/>
          <p:nvPr/>
        </p:nvSpPr>
        <p:spPr>
          <a:xfrm>
            <a:off x="6400800" y="5632704"/>
            <a:ext cx="5303520" cy="658368"/>
          </a:xfrm>
          <a:prstGeom prst="rect">
            <a:avLst/>
          </a:prstGeom>
          <a:noFill/>
        </p:spPr>
        <p:txBody>
          <a:bodyPr wrap="square" lIns="25400" rIns="25400" tIns="25400" bIns="25400" anchor="t">
            <a:spAutoFit/>
          </a:bodyPr>
          <a:lstStyle/>
          <a:p>
            <a:pPr algn="l"/>
            <a:r>
              <a:rPr sz="950" b="0">
                <a:solidFill>
                  <a:srgbClr val="7ECBEE"/>
                </a:solidFill>
                <a:latin typeface="Arial"/>
              </a:rPr>
              <a:t>Attach a probability to a named week, 500 Monte-Carlo trajectories, and score it against a baseline that uses no model at all.</a:t>
            </a:r>
          </a:p>
        </p:txBody>
      </p:sp>
      <p:sp>
        <p:nvSpPr>
          <p:cNvPr id="70" name="Rectangle 69"/>
          <p:cNvSpPr/>
          <p:nvPr/>
        </p:nvSpPr>
        <p:spPr>
          <a:xfrm>
            <a:off x="10332719"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1</a:t>
            </a:r>
          </a:p>
        </p:txBody>
      </p:sp>
      <p:sp>
        <p:nvSpPr>
          <p:cNvPr id="72" name="Rectangle 71"/>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74" name="Rectangle 73"/>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76" name="Rectangle 75"/>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78" name="Rectangle 77"/>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80" name="TextBox 79"/>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91C29B8C-CA92-AF7D-5196-6DCA0E81429E}"/>
              </a:ext>
            </a:extLst>
          </p:cNvPr>
          <p:cNvSpPr/>
          <p:nvPr/>
        </p:nvSpPr>
        <p:spPr>
          <a:xfrm>
            <a:off x="352426" y="2406700"/>
            <a:ext cx="6286499" cy="704850"/>
          </a:xfrm>
          <a:prstGeom prst="rect">
            <a:avLst/>
          </a:prstGeom>
          <a:solidFill>
            <a:srgbClr val="FFDA65"/>
          </a:solidFill>
          <a:ln/>
        </p:spPr>
        <p:txBody>
          <a:bodyPr/>
          <a:lstStyle/>
          <a:p>
            <a:endParaRPr lang="fr-FR"/>
          </a:p>
        </p:txBody>
      </p:sp>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42925" y="1657350"/>
            <a:ext cx="419100" cy="419100"/>
          </a:xfrm>
          <a:prstGeom prst="rect">
            <a:avLst/>
          </a:prstGeom>
        </p:spPr>
      </p:pic>
      <p:sp>
        <p:nvSpPr>
          <p:cNvPr id="6" name="Text 3"/>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p:cNvPicPr>
            <a:picLocks noChangeAspect="1"/>
          </p:cNvPicPr>
          <p:nvPr/>
        </p:nvPicPr>
        <p:blipFill>
          <a:blip r:embed="rId4"/>
          <a:stretch>
            <a:fillRect/>
          </a:stretch>
        </p:blipFill>
        <p:spPr>
          <a:xfrm>
            <a:off x="542925" y="2514600"/>
            <a:ext cx="331887" cy="419100"/>
          </a:xfrm>
          <a:prstGeom prst="rect">
            <a:avLst/>
          </a:prstGeom>
        </p:spPr>
      </p:pic>
      <p:sp>
        <p:nvSpPr>
          <p:cNvPr id="10" name="Text 6"/>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42925" y="3371850"/>
            <a:ext cx="419100" cy="419100"/>
          </a:xfrm>
          <a:prstGeom prst="rect">
            <a:avLst/>
          </a:prstGeom>
        </p:spPr>
      </p:pic>
      <p:sp>
        <p:nvSpPr>
          <p:cNvPr id="14" name="Text 9"/>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p:cNvPicPr>
            <a:picLocks noChangeAspect="1"/>
          </p:cNvPicPr>
          <p:nvPr/>
        </p:nvPicPr>
        <p:blipFill>
          <a:blip r:embed="rId6"/>
          <a:stretch>
            <a:fillRect/>
          </a:stretch>
        </p:blipFill>
        <p:spPr>
          <a:xfrm>
            <a:off x="542925" y="4229100"/>
            <a:ext cx="471785" cy="419100"/>
          </a:xfrm>
          <a:prstGeom prst="rect">
            <a:avLst/>
          </a:prstGeom>
        </p:spPr>
      </p:pic>
      <p:sp>
        <p:nvSpPr>
          <p:cNvPr id="18" name="Text 12"/>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p:cNvPicPr>
            <a:picLocks noChangeAspect="1"/>
          </p:cNvPicPr>
          <p:nvPr/>
        </p:nvPicPr>
        <p:blipFill>
          <a:blip r:embed="rId7"/>
          <a:stretch>
            <a:fillRect/>
          </a:stretch>
        </p:blipFill>
        <p:spPr>
          <a:xfrm>
            <a:off x="542925" y="5086350"/>
            <a:ext cx="469900" cy="419100"/>
          </a:xfrm>
          <a:prstGeom prst="rect">
            <a:avLst/>
          </a:prstGeom>
        </p:spPr>
      </p:pic>
      <p:sp>
        <p:nvSpPr>
          <p:cNvPr id="22" name="Text 15"/>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31F3B511-AF0C-3891-2B64-96BB88C4B580}"/>
              </a:ext>
            </a:extLst>
          </p:cNvPr>
          <p:cNvGrpSpPr/>
          <p:nvPr/>
        </p:nvGrpSpPr>
        <p:grpSpPr>
          <a:xfrm>
            <a:off x="1624310" y="1708051"/>
            <a:ext cx="4953000" cy="3784699"/>
            <a:chOff x="1624310" y="1708051"/>
            <a:chExt cx="4953000" cy="3784699"/>
          </a:xfrm>
        </p:grpSpPr>
        <p:sp>
          <p:nvSpPr>
            <p:cNvPr id="7" name="Text 4"/>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858591"/>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WEEK</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V-cycle on the model · a one-week Agile loop on the team</a:t>
            </a:r>
            <a:endParaRPr lang="en-US" sz="1725" dirty="0"/>
          </a:p>
        </p:txBody>
      </p:sp>
      <p:sp>
        <p:nvSpPr>
          <p:cNvPr id="5" name="Shape 3"/>
          <p:cNvSpPr/>
          <p:nvPr/>
        </p:nvSpPr>
        <p:spPr>
          <a:xfrm>
            <a:off x="352425" y="1428750"/>
            <a:ext cx="2152650" cy="1298448"/>
          </a:xfrm>
          <a:prstGeom prst="rect">
            <a:avLst/>
          </a:prstGeom>
          <a:solidFill>
            <a:srgbClr val="E9F5FB"/>
          </a:solidFill>
          <a:ln>
            <a:noFill/>
          </a:ln>
        </p:spPr>
        <p:txBody>
          <a:bodyPr/>
          <a:lstStyle/>
          <a:p>
            <a:endParaRPr lang="fr-FR"/>
          </a:p>
        </p:txBody>
      </p:sp>
      <p:sp>
        <p:nvSpPr>
          <p:cNvPr id="6" name="Shape 4"/>
          <p:cNvSpPr/>
          <p:nvPr/>
        </p:nvSpPr>
        <p:spPr>
          <a:xfrm>
            <a:off x="352425" y="1428750"/>
            <a:ext cx="2152650" cy="44450"/>
          </a:xfrm>
          <a:prstGeom prst="rect">
            <a:avLst/>
          </a:prstGeom>
          <a:solidFill>
            <a:srgbClr val="1D93C9"/>
          </a:solidFill>
          <a:ln>
            <a:noFill/>
          </a:ln>
        </p:spPr>
        <p:txBody>
          <a:bodyPr/>
          <a:lstStyle/>
          <a:p>
            <a:endParaRPr lang="fr-FR"/>
          </a:p>
        </p:txBody>
      </p:sp>
      <p:sp>
        <p:nvSpPr>
          <p:cNvPr id="7" name="Text 5"/>
          <p:cNvSpPr/>
          <p:nvPr/>
        </p:nvSpPr>
        <p:spPr>
          <a:xfrm>
            <a:off x="523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MON</a:t>
            </a:r>
            <a:endParaRPr lang="en-US" sz="1575" dirty="0"/>
          </a:p>
        </p:txBody>
      </p:sp>
      <p:sp>
        <p:nvSpPr>
          <p:cNvPr id="8" name="Text 6"/>
          <p:cNvSpPr/>
          <p:nvPr/>
        </p:nvSpPr>
        <p:spPr>
          <a:xfrm>
            <a:off x="523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Planning</a:t>
            </a:r>
            <a:endParaRPr lang="en-US" sz="1425" dirty="0"/>
          </a:p>
        </p:txBody>
      </p:sp>
      <p:sp>
        <p:nvSpPr>
          <p:cNvPr id="9" name="Text 7"/>
          <p:cNvSpPr/>
          <p:nvPr/>
        </p:nvSpPr>
        <p:spPr>
          <a:xfrm>
            <a:off x="523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The week’s objective</a:t>
            </a:r>
            <a:endParaRPr lang="en-US" sz="1275" dirty="0"/>
          </a:p>
        </p:txBody>
      </p:sp>
      <p:sp>
        <p:nvSpPr>
          <p:cNvPr id="10" name="Shape 8"/>
          <p:cNvSpPr/>
          <p:nvPr/>
        </p:nvSpPr>
        <p:spPr>
          <a:xfrm>
            <a:off x="2638425" y="1428750"/>
            <a:ext cx="2152650" cy="1298448"/>
          </a:xfrm>
          <a:prstGeom prst="rect">
            <a:avLst/>
          </a:prstGeom>
          <a:solidFill>
            <a:srgbClr val="E9F5FB"/>
          </a:solidFill>
          <a:ln>
            <a:noFill/>
          </a:ln>
        </p:spPr>
        <p:txBody>
          <a:bodyPr/>
          <a:lstStyle/>
          <a:p>
            <a:endParaRPr lang="fr-FR"/>
          </a:p>
        </p:txBody>
      </p:sp>
      <p:sp>
        <p:nvSpPr>
          <p:cNvPr id="11" name="Shape 9"/>
          <p:cNvSpPr/>
          <p:nvPr/>
        </p:nvSpPr>
        <p:spPr>
          <a:xfrm>
            <a:off x="2638425" y="1428750"/>
            <a:ext cx="2152650" cy="44450"/>
          </a:xfrm>
          <a:prstGeom prst="rect">
            <a:avLst/>
          </a:prstGeom>
          <a:solidFill>
            <a:srgbClr val="1D93C9"/>
          </a:solidFill>
          <a:ln>
            <a:noFill/>
          </a:ln>
        </p:spPr>
        <p:txBody>
          <a:bodyPr/>
          <a:lstStyle/>
          <a:p>
            <a:endParaRPr lang="fr-FR"/>
          </a:p>
        </p:txBody>
      </p:sp>
      <p:sp>
        <p:nvSpPr>
          <p:cNvPr id="12" name="Text 10"/>
          <p:cNvSpPr/>
          <p:nvPr/>
        </p:nvSpPr>
        <p:spPr>
          <a:xfrm>
            <a:off x="2809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TUE</a:t>
            </a:r>
            <a:endParaRPr lang="en-US" sz="1575" dirty="0"/>
          </a:p>
        </p:txBody>
      </p:sp>
      <p:sp>
        <p:nvSpPr>
          <p:cNvPr id="13" name="Text 11"/>
          <p:cNvSpPr/>
          <p:nvPr/>
        </p:nvSpPr>
        <p:spPr>
          <a:xfrm>
            <a:off x="2809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14" name="Text 12"/>
          <p:cNvSpPr/>
          <p:nvPr/>
        </p:nvSpPr>
        <p:spPr>
          <a:xfrm>
            <a:off x="2809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Blockages surface in a day</a:t>
            </a:r>
            <a:endParaRPr lang="en-US" sz="1275" dirty="0"/>
          </a:p>
        </p:txBody>
      </p:sp>
      <p:sp>
        <p:nvSpPr>
          <p:cNvPr id="15" name="Shape 13"/>
          <p:cNvSpPr/>
          <p:nvPr/>
        </p:nvSpPr>
        <p:spPr>
          <a:xfrm>
            <a:off x="4924425" y="1428750"/>
            <a:ext cx="2152650" cy="1298448"/>
          </a:xfrm>
          <a:prstGeom prst="rect">
            <a:avLst/>
          </a:prstGeom>
          <a:solidFill>
            <a:srgbClr val="FFF6DA"/>
          </a:solidFill>
          <a:ln>
            <a:noFill/>
          </a:ln>
        </p:spPr>
        <p:txBody>
          <a:bodyPr/>
          <a:lstStyle/>
          <a:p>
            <a:endParaRPr lang="fr-FR"/>
          </a:p>
        </p:txBody>
      </p:sp>
      <p:sp>
        <p:nvSpPr>
          <p:cNvPr id="16" name="Shape 14"/>
          <p:cNvSpPr/>
          <p:nvPr/>
        </p:nvSpPr>
        <p:spPr>
          <a:xfrm>
            <a:off x="4924425" y="1428750"/>
            <a:ext cx="2152650" cy="44450"/>
          </a:xfrm>
          <a:prstGeom prst="rect">
            <a:avLst/>
          </a:prstGeom>
          <a:solidFill>
            <a:srgbClr val="FFC800"/>
          </a:solidFill>
          <a:ln>
            <a:noFill/>
          </a:ln>
        </p:spPr>
        <p:txBody>
          <a:bodyPr/>
          <a:lstStyle/>
          <a:p>
            <a:endParaRPr lang="fr-FR"/>
          </a:p>
        </p:txBody>
      </p:sp>
      <p:sp>
        <p:nvSpPr>
          <p:cNvPr id="17" name="Text 15"/>
          <p:cNvSpPr/>
          <p:nvPr/>
        </p:nvSpPr>
        <p:spPr>
          <a:xfrm>
            <a:off x="5095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WED</a:t>
            </a:r>
            <a:endParaRPr lang="en-US" sz="1575" dirty="0"/>
          </a:p>
        </p:txBody>
      </p:sp>
      <p:sp>
        <p:nvSpPr>
          <p:cNvPr id="18" name="Text 16"/>
          <p:cNvSpPr/>
          <p:nvPr/>
        </p:nvSpPr>
        <p:spPr>
          <a:xfrm>
            <a:off x="5095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Programme director</a:t>
            </a:r>
            <a:endParaRPr lang="en-US" sz="1425" dirty="0"/>
          </a:p>
        </p:txBody>
      </p:sp>
      <p:sp>
        <p:nvSpPr>
          <p:cNvPr id="19" name="Text 17"/>
          <p:cNvSpPr/>
          <p:nvPr/>
        </p:nvSpPr>
        <p:spPr>
          <a:xfrm>
            <a:off x="5095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Taken in place of the scrum</a:t>
            </a:r>
            <a:endParaRPr lang="en-US" sz="1275" dirty="0"/>
          </a:p>
        </p:txBody>
      </p:sp>
      <p:sp>
        <p:nvSpPr>
          <p:cNvPr id="20" name="Shape 18"/>
          <p:cNvSpPr/>
          <p:nvPr/>
        </p:nvSpPr>
        <p:spPr>
          <a:xfrm>
            <a:off x="7210425" y="1428750"/>
            <a:ext cx="2152650" cy="1298448"/>
          </a:xfrm>
          <a:prstGeom prst="rect">
            <a:avLst/>
          </a:prstGeom>
          <a:solidFill>
            <a:srgbClr val="E9F5FB"/>
          </a:solidFill>
          <a:ln>
            <a:noFill/>
          </a:ln>
        </p:spPr>
        <p:txBody>
          <a:bodyPr/>
          <a:lstStyle/>
          <a:p>
            <a:endParaRPr lang="fr-FR"/>
          </a:p>
        </p:txBody>
      </p:sp>
      <p:sp>
        <p:nvSpPr>
          <p:cNvPr id="21" name="Shape 19"/>
          <p:cNvSpPr/>
          <p:nvPr/>
        </p:nvSpPr>
        <p:spPr>
          <a:xfrm>
            <a:off x="7210425" y="1428750"/>
            <a:ext cx="2152650" cy="44450"/>
          </a:xfrm>
          <a:prstGeom prst="rect">
            <a:avLst/>
          </a:prstGeom>
          <a:solidFill>
            <a:srgbClr val="1D93C9"/>
          </a:solidFill>
          <a:ln>
            <a:noFill/>
          </a:ln>
        </p:spPr>
        <p:txBody>
          <a:bodyPr/>
          <a:lstStyle/>
          <a:p>
            <a:endParaRPr lang="fr-FR"/>
          </a:p>
        </p:txBody>
      </p:sp>
      <p:sp>
        <p:nvSpPr>
          <p:cNvPr id="22" name="Text 20"/>
          <p:cNvSpPr/>
          <p:nvPr/>
        </p:nvSpPr>
        <p:spPr>
          <a:xfrm>
            <a:off x="7381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THU</a:t>
            </a:r>
            <a:endParaRPr lang="en-US" sz="1575" dirty="0"/>
          </a:p>
        </p:txBody>
      </p:sp>
      <p:sp>
        <p:nvSpPr>
          <p:cNvPr id="23" name="Text 21"/>
          <p:cNvSpPr/>
          <p:nvPr/>
        </p:nvSpPr>
        <p:spPr>
          <a:xfrm>
            <a:off x="7381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24" name="Text 22"/>
          <p:cNvSpPr/>
          <p:nvPr/>
        </p:nvSpPr>
        <p:spPr>
          <a:xfrm>
            <a:off x="7381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Course correction</a:t>
            </a:r>
            <a:endParaRPr lang="en-US" sz="1275" dirty="0"/>
          </a:p>
        </p:txBody>
      </p:sp>
      <p:sp>
        <p:nvSpPr>
          <p:cNvPr id="25" name="Shape 23"/>
          <p:cNvSpPr/>
          <p:nvPr/>
        </p:nvSpPr>
        <p:spPr>
          <a:xfrm>
            <a:off x="9496425" y="1428750"/>
            <a:ext cx="2152650" cy="1298448"/>
          </a:xfrm>
          <a:prstGeom prst="rect">
            <a:avLst/>
          </a:prstGeom>
          <a:solidFill>
            <a:srgbClr val="FFDA65"/>
          </a:solidFill>
          <a:ln>
            <a:noFill/>
          </a:ln>
        </p:spPr>
        <p:txBody>
          <a:bodyPr/>
          <a:lstStyle/>
          <a:p>
            <a:endParaRPr lang="fr-FR"/>
          </a:p>
        </p:txBody>
      </p:sp>
      <p:sp>
        <p:nvSpPr>
          <p:cNvPr id="26" name="Shape 24"/>
          <p:cNvSpPr/>
          <p:nvPr/>
        </p:nvSpPr>
        <p:spPr>
          <a:xfrm>
            <a:off x="9496425" y="1428750"/>
            <a:ext cx="2152650" cy="44450"/>
          </a:xfrm>
          <a:prstGeom prst="rect">
            <a:avLst/>
          </a:prstGeom>
          <a:solidFill>
            <a:srgbClr val="FFC800"/>
          </a:solidFill>
          <a:ln>
            <a:noFill/>
          </a:ln>
        </p:spPr>
        <p:txBody>
          <a:bodyPr/>
          <a:lstStyle/>
          <a:p>
            <a:endParaRPr lang="fr-FR"/>
          </a:p>
        </p:txBody>
      </p:sp>
      <p:sp>
        <p:nvSpPr>
          <p:cNvPr id="27" name="Text 25"/>
          <p:cNvSpPr/>
          <p:nvPr/>
        </p:nvSpPr>
        <p:spPr>
          <a:xfrm>
            <a:off x="9667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FRI</a:t>
            </a:r>
            <a:endParaRPr lang="en-US" sz="1575" dirty="0"/>
          </a:p>
        </p:txBody>
      </p:sp>
      <p:sp>
        <p:nvSpPr>
          <p:cNvPr id="28" name="Text 26"/>
          <p:cNvSpPr/>
          <p:nvPr/>
        </p:nvSpPr>
        <p:spPr>
          <a:xfrm>
            <a:off x="9667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Demonstration</a:t>
            </a:r>
            <a:endParaRPr lang="en-US" sz="1425" dirty="0"/>
          </a:p>
        </p:txBody>
      </p:sp>
      <p:sp>
        <p:nvSpPr>
          <p:cNvPr id="29" name="Text 27"/>
          <p:cNvSpPr/>
          <p:nvPr/>
        </p:nvSpPr>
        <p:spPr>
          <a:xfrm>
            <a:off x="9667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Shown</a:t>
            </a:r>
            <a:endParaRPr lang="en-US" sz="1275" dirty="0"/>
          </a:p>
        </p:txBody>
      </p:sp>
      <p:sp>
        <p:nvSpPr>
          <p:cNvPr id="30" name="Text 28"/>
          <p:cNvSpPr/>
          <p:nvPr/>
        </p:nvSpPr>
        <p:spPr>
          <a:xfrm>
            <a:off x="352425" y="3895344"/>
            <a:ext cx="1263586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TEST AND LEARN COUNTS ONLY IF SOMETHING WAS DROPPED</a:t>
            </a:r>
            <a:endParaRPr lang="en-US" sz="1125" dirty="0"/>
          </a:p>
        </p:txBody>
      </p:sp>
      <p:sp>
        <p:nvSpPr>
          <p:cNvPr id="31" name="Shape 29"/>
          <p:cNvSpPr/>
          <p:nvPr/>
        </p:nvSpPr>
        <p:spPr>
          <a:xfrm>
            <a:off x="352425" y="4187952"/>
            <a:ext cx="7839075" cy="25400"/>
          </a:xfrm>
          <a:prstGeom prst="rect">
            <a:avLst/>
          </a:prstGeom>
          <a:solidFill>
            <a:srgbClr val="FFDA65"/>
          </a:solidFill>
          <a:ln/>
        </p:spPr>
        <p:txBody>
          <a:bodyPr/>
          <a:lstStyle/>
          <a:p>
            <a:endParaRPr lang="fr-FR"/>
          </a:p>
        </p:txBody>
      </p:sp>
      <p:pic>
        <p:nvPicPr>
          <p:cNvPr id="32" name="Image 0" descr="preencoded.png"/>
          <p:cNvPicPr>
            <a:picLocks noChangeAspect="1"/>
          </p:cNvPicPr>
          <p:nvPr/>
        </p:nvPicPr>
        <p:blipFill>
          <a:blip r:embed="rId3"/>
          <a:stretch>
            <a:fillRect/>
          </a:stretch>
        </p:blipFill>
        <p:spPr>
          <a:xfrm>
            <a:off x="352425" y="4315968"/>
            <a:ext cx="381000" cy="381000"/>
          </a:xfrm>
          <a:prstGeom prst="rect">
            <a:avLst/>
          </a:prstGeom>
        </p:spPr>
      </p:pic>
      <p:sp>
        <p:nvSpPr>
          <p:cNvPr id="33" name="Text 30"/>
          <p:cNvSpPr/>
          <p:nvPr/>
        </p:nvSpPr>
        <p:spPr>
          <a:xfrm>
            <a:off x="866775" y="4389120"/>
            <a:ext cx="4369882" cy="278110"/>
          </a:xfrm>
          <a:prstGeom prst="rect">
            <a:avLst/>
          </a:prstGeom>
          <a:noFill/>
          <a:ln/>
        </p:spPr>
        <p:txBody>
          <a:bodyPr wrap="square" lIns="25400" tIns="25400" rIns="25400" bIns="25400" rtlCol="0" anchor="t">
            <a:normAutofit lnSpcReduction="10000"/>
          </a:bodyPr>
          <a:lstStyle/>
          <a:p>
            <a:pPr marL="0" indent="0" algn="l">
              <a:lnSpc>
                <a:spcPct val="99474"/>
              </a:lnSpc>
              <a:buNone/>
            </a:pPr>
            <a:r>
              <a:rPr lang="en-US" sz="1575" b="1" dirty="0">
                <a:solidFill>
                  <a:srgbClr val="063C67"/>
                </a:solidFill>
                <a:latin typeface="Calibri" pitchFamily="34" charset="0"/>
                <a:ea typeface="Calibri" pitchFamily="34" charset="-122"/>
                <a:cs typeface="Calibri" pitchFamily="34" charset="-120"/>
              </a:rPr>
              <a:t>The first urgency model, and why it could not fit</a:t>
            </a:r>
            <a:endParaRPr lang="en-US" sz="1575" dirty="0"/>
          </a:p>
        </p:txBody>
      </p:sp>
      <p:sp>
        <p:nvSpPr>
          <p:cNvPr id="34" name="Shape 31"/>
          <p:cNvSpPr/>
          <p:nvPr/>
        </p:nvSpPr>
        <p:spPr>
          <a:xfrm>
            <a:off x="352425" y="4736592"/>
            <a:ext cx="7839075" cy="476250"/>
          </a:xfrm>
          <a:prstGeom prst="rect">
            <a:avLst/>
          </a:prstGeom>
          <a:solidFill>
            <a:srgbClr val="F4F4F6"/>
          </a:solidFill>
          <a:ln/>
        </p:spPr>
        <p:txBody>
          <a:bodyPr/>
          <a:lstStyle/>
          <a:p>
            <a:endParaRPr lang="fr-FR"/>
          </a:p>
        </p:txBody>
      </p:sp>
      <p:pic>
        <p:nvPicPr>
          <p:cNvPr id="35" name="Image 1" descr="preencoded.png"/>
          <p:cNvPicPr>
            <a:picLocks noChangeAspect="1"/>
          </p:cNvPicPr>
          <p:nvPr/>
        </p:nvPicPr>
        <p:blipFill>
          <a:blip r:embed="rId4"/>
          <a:stretch>
            <a:fillRect/>
          </a:stretch>
        </p:blipFill>
        <p:spPr>
          <a:xfrm>
            <a:off x="545406" y="4791456"/>
            <a:ext cx="321369" cy="381217"/>
          </a:xfrm>
          <a:prstGeom prst="rect">
            <a:avLst/>
          </a:prstGeom>
        </p:spPr>
      </p:pic>
      <p:sp>
        <p:nvSpPr>
          <p:cNvPr id="36" name="Text 32"/>
          <p:cNvSpPr/>
          <p:nvPr/>
        </p:nvSpPr>
        <p:spPr>
          <a:xfrm>
            <a:off x="998934" y="4864608"/>
            <a:ext cx="543673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 single time-driven curve: urgency rose only as a deadline approached</a:t>
            </a:r>
            <a:endParaRPr lang="en-US" sz="1350" dirty="0"/>
          </a:p>
        </p:txBody>
      </p:sp>
      <p:sp>
        <p:nvSpPr>
          <p:cNvPr id="37" name="Shape 33"/>
          <p:cNvSpPr/>
          <p:nvPr/>
        </p:nvSpPr>
        <p:spPr>
          <a:xfrm>
            <a:off x="352425" y="5266944"/>
            <a:ext cx="7839075" cy="476250"/>
          </a:xfrm>
          <a:prstGeom prst="rect">
            <a:avLst/>
          </a:prstGeom>
          <a:solidFill>
            <a:srgbClr val="F4F4F6"/>
          </a:solidFill>
          <a:ln/>
        </p:spPr>
        <p:txBody>
          <a:bodyPr/>
          <a:lstStyle/>
          <a:p>
            <a:endParaRPr lang="fr-FR"/>
          </a:p>
        </p:txBody>
      </p:sp>
      <p:pic>
        <p:nvPicPr>
          <p:cNvPr id="38" name="Image 2" descr="preencoded.png"/>
          <p:cNvPicPr>
            <a:picLocks noChangeAspect="1"/>
          </p:cNvPicPr>
          <p:nvPr/>
        </p:nvPicPr>
        <p:blipFill>
          <a:blip r:embed="rId5"/>
          <a:stretch>
            <a:fillRect/>
          </a:stretch>
        </p:blipFill>
        <p:spPr>
          <a:xfrm>
            <a:off x="485775" y="5367528"/>
            <a:ext cx="398859" cy="266700"/>
          </a:xfrm>
          <a:prstGeom prst="rect">
            <a:avLst/>
          </a:prstGeom>
        </p:spPr>
      </p:pic>
      <p:sp>
        <p:nvSpPr>
          <p:cNvPr id="39" name="Text 34"/>
          <p:cNvSpPr/>
          <p:nvPr/>
        </p:nvSpPr>
        <p:spPr>
          <a:xfrm>
            <a:off x="998934" y="5394960"/>
            <a:ext cx="4387126"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could not represent a node </a:t>
            </a:r>
            <a:r>
              <a:rPr lang="en-US" sz="1350" b="1" dirty="0">
                <a:solidFill>
                  <a:srgbClr val="063C67"/>
                </a:solidFill>
                <a:latin typeface="Calibri" pitchFamily="34" charset="0"/>
                <a:ea typeface="Calibri" pitchFamily="34" charset="-122"/>
                <a:cs typeface="Calibri" pitchFamily="34" charset="-120"/>
              </a:rPr>
              <a:t>on time but out of capacity</a:t>
            </a:r>
            <a:endParaRPr lang="en-US" sz="1350" dirty="0"/>
          </a:p>
        </p:txBody>
      </p:sp>
      <p:sp>
        <p:nvSpPr>
          <p:cNvPr id="40" name="Shape 35"/>
          <p:cNvSpPr/>
          <p:nvPr/>
        </p:nvSpPr>
        <p:spPr>
          <a:xfrm>
            <a:off x="352425" y="5797296"/>
            <a:ext cx="7839075" cy="476250"/>
          </a:xfrm>
          <a:prstGeom prst="rect">
            <a:avLst/>
          </a:prstGeom>
          <a:solidFill>
            <a:srgbClr val="F4F4F6"/>
          </a:solidFill>
          <a:ln/>
        </p:spPr>
        <p:txBody>
          <a:bodyPr/>
          <a:lstStyle/>
          <a:p>
            <a:endParaRPr lang="fr-FR"/>
          </a:p>
        </p:txBody>
      </p:sp>
      <p:pic>
        <p:nvPicPr>
          <p:cNvPr id="41" name="Image 3" descr="preencoded.png"/>
          <p:cNvPicPr>
            <a:picLocks noChangeAspect="1"/>
          </p:cNvPicPr>
          <p:nvPr/>
        </p:nvPicPr>
        <p:blipFill>
          <a:blip r:embed="rId6"/>
          <a:stretch>
            <a:fillRect/>
          </a:stretch>
        </p:blipFill>
        <p:spPr>
          <a:xfrm>
            <a:off x="491067" y="5888736"/>
            <a:ext cx="351963" cy="351963"/>
          </a:xfrm>
          <a:prstGeom prst="rect">
            <a:avLst/>
          </a:prstGeom>
        </p:spPr>
      </p:pic>
      <p:sp>
        <p:nvSpPr>
          <p:cNvPr id="42" name="Text 36"/>
          <p:cNvSpPr/>
          <p:nvPr/>
        </p:nvSpPr>
        <p:spPr>
          <a:xfrm>
            <a:off x="998934" y="5925312"/>
            <a:ext cx="335225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discarded indicators the twin already held</a:t>
            </a:r>
            <a:endParaRPr lang="en-US" sz="1350" dirty="0"/>
          </a:p>
        </p:txBody>
      </p:sp>
      <p:pic>
        <p:nvPicPr>
          <p:cNvPr id="46" name="Image 5" descr="preencoded.png"/>
          <p:cNvPicPr>
            <a:picLocks noChangeAspect="1"/>
          </p:cNvPicPr>
          <p:nvPr/>
        </p:nvPicPr>
        <p:blipFill>
          <a:blip r:embed="rId7"/>
          <a:stretch>
            <a:fillRect/>
          </a:stretch>
        </p:blipFill>
        <p:spPr>
          <a:xfrm>
            <a:off x="11229975" y="6567488"/>
            <a:ext cx="714375" cy="71438"/>
          </a:xfrm>
          <a:prstGeom prst="rect">
            <a:avLst/>
          </a:prstGeom>
        </p:spPr>
      </p:pic>
      <p:sp>
        <p:nvSpPr>
          <p:cNvPr id="47" name="TextBox 46"/>
          <p:cNvSpPr txBox="1"/>
          <p:nvPr/>
        </p:nvSpPr>
        <p:spPr>
          <a:xfrm>
            <a:off x="356616" y="2816352"/>
            <a:ext cx="11338560" cy="237744"/>
          </a:xfrm>
          <a:prstGeom prst="rect">
            <a:avLst/>
          </a:prstGeom>
          <a:noFill/>
        </p:spPr>
        <p:txBody>
          <a:bodyPr wrap="square" lIns="25400" rIns="25400" tIns="25400" bIns="25400" anchor="t">
            <a:spAutoFit/>
          </a:bodyPr>
          <a:lstStyle/>
          <a:p>
            <a:pPr algn="l"/>
            <a:r>
              <a:rPr sz="1000" b="0">
                <a:solidFill>
                  <a:srgbClr val="858591"/>
                </a:solidFill>
                <a:latin typeface="Arial"/>
              </a:rPr>
              <a:t>Blue: the team's own rhythm.    Ochre: someone outside the team judges the week.</a:t>
            </a:r>
          </a:p>
        </p:txBody>
      </p:sp>
      <p:sp>
        <p:nvSpPr>
          <p:cNvPr id="48" name="Rectangle 47"/>
          <p:cNvSpPr/>
          <p:nvPr/>
        </p:nvSpPr>
        <p:spPr>
          <a:xfrm>
            <a:off x="356616" y="3145536"/>
            <a:ext cx="11292840" cy="548640"/>
          </a:xfrm>
          <a:prstGeom prst="rect">
            <a:avLst/>
          </a:prstGeom>
          <a:solidFill>
            <a:srgbClr val="FFF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02920" y="3200400"/>
            <a:ext cx="11064240" cy="438912"/>
          </a:xfrm>
          <a:prstGeom prst="rect">
            <a:avLst/>
          </a:prstGeom>
          <a:noFill/>
        </p:spPr>
        <p:txBody>
          <a:bodyPr wrap="square" lIns="25400" rIns="25400" tIns="25400" bIns="25400" anchor="t">
            <a:spAutoFit/>
          </a:bodyPr>
          <a:lstStyle/>
          <a:p>
            <a:pPr algn="l"/>
            <a:r>
              <a:rPr sz="1150" b="1">
                <a:solidFill>
                  <a:srgbClr val="043962"/>
                </a:solidFill>
                <a:latin typeface="Arial"/>
              </a:rPr>
              <a:t>Why one week: new consultants join the Toulouse Lab every Monday afternoon, so the team that opens a sprint is rarely the team that closes it.</a:t>
            </a:r>
          </a:p>
        </p:txBody>
      </p:sp>
      <p:sp>
        <p:nvSpPr>
          <p:cNvPr id="50" name="TextBox 49"/>
          <p:cNvSpPr txBox="1"/>
          <p:nvPr/>
        </p:nvSpPr>
        <p:spPr>
          <a:xfrm>
            <a:off x="356616" y="6345936"/>
            <a:ext cx="7772400" cy="237744"/>
          </a:xfrm>
          <a:prstGeom prst="rect">
            <a:avLst/>
          </a:prstGeom>
          <a:noFill/>
        </p:spPr>
        <p:txBody>
          <a:bodyPr wrap="square" lIns="25400" rIns="25400" tIns="25400" bIns="25400" anchor="t">
            <a:spAutoFit/>
          </a:bodyPr>
          <a:lstStyle/>
          <a:p>
            <a:pPr algn="l"/>
            <a:r>
              <a:rPr sz="950" b="0">
                <a:solidFill>
                  <a:srgbClr val="858591"/>
                </a:solidFill>
                <a:latin typeface="Arial"/>
              </a:rPr>
              <a:t>Dropped in April, at a cost of three weeks. It was R&amp;D, and the loop is what caught it.</a:t>
            </a:r>
          </a:p>
        </p:txBody>
      </p:sp>
      <p:sp>
        <p:nvSpPr>
          <p:cNvPr id="51" name="TextBox 50"/>
          <p:cNvSpPr txBox="1"/>
          <p:nvPr/>
        </p:nvSpPr>
        <p:spPr>
          <a:xfrm>
            <a:off x="8503920" y="3895344"/>
            <a:ext cx="32004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WHO I ANSWERED TO</a:t>
            </a:r>
          </a:p>
        </p:txBody>
      </p:sp>
      <p:sp>
        <p:nvSpPr>
          <p:cNvPr id="52" name="Rectangle 51"/>
          <p:cNvSpPr/>
          <p:nvPr/>
        </p:nvSpPr>
        <p:spPr>
          <a:xfrm>
            <a:off x="8503920" y="4187952"/>
            <a:ext cx="3145536" cy="475488"/>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8631936" y="4215384"/>
            <a:ext cx="2926080" cy="237744"/>
          </a:xfrm>
          <a:prstGeom prst="rect">
            <a:avLst/>
          </a:prstGeom>
          <a:noFill/>
        </p:spPr>
        <p:txBody>
          <a:bodyPr wrap="square" lIns="25400" rIns="25400" tIns="25400" bIns="25400" anchor="t">
            <a:spAutoFit/>
          </a:bodyPr>
          <a:lstStyle/>
          <a:p>
            <a:pPr algn="l"/>
            <a:r>
              <a:rPr sz="1050" b="1">
                <a:solidFill>
                  <a:srgbClr val="043962"/>
                </a:solidFill>
                <a:latin typeface="Arial"/>
              </a:rPr>
              <a:t>Innovation Division (DIN)</a:t>
            </a:r>
          </a:p>
        </p:txBody>
      </p:sp>
      <p:sp>
        <p:nvSpPr>
          <p:cNvPr id="54" name="TextBox 53"/>
          <p:cNvSpPr txBox="1"/>
          <p:nvPr/>
        </p:nvSpPr>
        <p:spPr>
          <a:xfrm>
            <a:off x="8631936" y="4425696"/>
            <a:ext cx="2926080" cy="219456"/>
          </a:xfrm>
          <a:prstGeom prst="rect">
            <a:avLst/>
          </a:prstGeom>
          <a:noFill/>
        </p:spPr>
        <p:txBody>
          <a:bodyPr wrap="square" lIns="25400" rIns="25400" tIns="25400" bIns="25400" anchor="t">
            <a:spAutoFit/>
          </a:bodyPr>
          <a:lstStyle/>
          <a:p>
            <a:pPr algn="l"/>
            <a:r>
              <a:rPr sz="900" b="0">
                <a:solidFill>
                  <a:srgbClr val="858591"/>
                </a:solidFill>
                <a:latin typeface="Arial"/>
              </a:rPr>
              <a:t>the internal R&amp;D operation</a:t>
            </a:r>
          </a:p>
        </p:txBody>
      </p:sp>
      <p:sp>
        <p:nvSpPr>
          <p:cNvPr id="55" name="Rectangle 54"/>
          <p:cNvSpPr/>
          <p:nvPr/>
        </p:nvSpPr>
        <p:spPr>
          <a:xfrm>
            <a:off x="8503920" y="4754880"/>
            <a:ext cx="3145536" cy="47548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631936" y="4782312"/>
            <a:ext cx="2926080" cy="237744"/>
          </a:xfrm>
          <a:prstGeom prst="rect">
            <a:avLst/>
          </a:prstGeom>
          <a:noFill/>
        </p:spPr>
        <p:txBody>
          <a:bodyPr wrap="square" lIns="25400" rIns="25400" tIns="25400" bIns="25400" anchor="t">
            <a:spAutoFit/>
          </a:bodyPr>
          <a:lstStyle/>
          <a:p>
            <a:pPr algn="l"/>
            <a:r>
              <a:rPr sz="1050" b="1">
                <a:solidFill>
                  <a:srgbClr val="043962"/>
                </a:solidFill>
                <a:latin typeface="Arial"/>
              </a:rPr>
              <a:t>Smart &amp; Green Supply Chain</a:t>
            </a:r>
          </a:p>
        </p:txBody>
      </p:sp>
      <p:sp>
        <p:nvSpPr>
          <p:cNvPr id="57" name="TextBox 56"/>
          <p:cNvSpPr txBox="1"/>
          <p:nvPr/>
        </p:nvSpPr>
        <p:spPr>
          <a:xfrm>
            <a:off x="8631936" y="4992624"/>
            <a:ext cx="2926080" cy="219456"/>
          </a:xfrm>
          <a:prstGeom prst="rect">
            <a:avLst/>
          </a:prstGeom>
          <a:noFill/>
        </p:spPr>
        <p:txBody>
          <a:bodyPr wrap="square" lIns="25400" rIns="25400" tIns="25400" bIns="25400" anchor="t">
            <a:spAutoFit/>
          </a:bodyPr>
          <a:lstStyle/>
          <a:p>
            <a:pPr algn="l"/>
            <a:r>
              <a:rPr sz="900" b="0">
                <a:solidFill>
                  <a:srgbClr val="858591"/>
                </a:solidFill>
                <a:latin typeface="Arial"/>
              </a:rPr>
              <a:t>the programme, 2 company tutors</a:t>
            </a:r>
          </a:p>
        </p:txBody>
      </p:sp>
      <p:sp>
        <p:nvSpPr>
          <p:cNvPr id="58" name="Rectangle 57"/>
          <p:cNvSpPr/>
          <p:nvPr/>
        </p:nvSpPr>
        <p:spPr>
          <a:xfrm>
            <a:off x="8503920" y="5321808"/>
            <a:ext cx="3145536" cy="475488"/>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631936" y="5349240"/>
            <a:ext cx="2926080" cy="237744"/>
          </a:xfrm>
          <a:prstGeom prst="rect">
            <a:avLst/>
          </a:prstGeom>
          <a:noFill/>
        </p:spPr>
        <p:txBody>
          <a:bodyPr wrap="square" lIns="25400" rIns="25400" tIns="25400" bIns="25400" anchor="t">
            <a:spAutoFit/>
          </a:bodyPr>
          <a:lstStyle/>
          <a:p>
            <a:pPr algn="l"/>
            <a:r>
              <a:rPr sz="1050" b="1">
                <a:solidFill>
                  <a:srgbClr val="043962"/>
                </a:solidFill>
                <a:latin typeface="Arial"/>
              </a:rPr>
              <a:t>SupplyScore</a:t>
            </a:r>
          </a:p>
        </p:txBody>
      </p:sp>
      <p:sp>
        <p:nvSpPr>
          <p:cNvPr id="60" name="TextBox 59"/>
          <p:cNvSpPr txBox="1"/>
          <p:nvPr/>
        </p:nvSpPr>
        <p:spPr>
          <a:xfrm>
            <a:off x="8631936" y="5559552"/>
            <a:ext cx="2926080" cy="219456"/>
          </a:xfrm>
          <a:prstGeom prst="rect">
            <a:avLst/>
          </a:prstGeom>
          <a:noFill/>
        </p:spPr>
        <p:txBody>
          <a:bodyPr wrap="square" lIns="25400" rIns="25400" tIns="25400" bIns="25400" anchor="t">
            <a:spAutoFit/>
          </a:bodyPr>
          <a:lstStyle/>
          <a:p>
            <a:pPr algn="l"/>
            <a:r>
              <a:rPr sz="900" b="0">
                <a:solidFill>
                  <a:srgbClr val="858591"/>
                </a:solidFill>
                <a:latin typeface="Arial"/>
              </a:rPr>
              <a:t>the project, mine to run</a:t>
            </a:r>
          </a:p>
        </p:txBody>
      </p:sp>
      <p:sp>
        <p:nvSpPr>
          <p:cNvPr id="61" name="Rectangle 60"/>
          <p:cNvSpPr/>
          <p:nvPr/>
        </p:nvSpPr>
        <p:spPr>
          <a:xfrm>
            <a:off x="8503920" y="5888736"/>
            <a:ext cx="3145536" cy="47548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631936" y="5916168"/>
            <a:ext cx="2926080" cy="237744"/>
          </a:xfrm>
          <a:prstGeom prst="rect">
            <a:avLst/>
          </a:prstGeom>
          <a:noFill/>
        </p:spPr>
        <p:txBody>
          <a:bodyPr wrap="square" lIns="25400" rIns="25400" tIns="25400" bIns="25400" anchor="t">
            <a:spAutoFit/>
          </a:bodyPr>
          <a:lstStyle/>
          <a:p>
            <a:pPr algn="l"/>
            <a:r>
              <a:rPr sz="1050" b="1">
                <a:solidFill>
                  <a:srgbClr val="043962"/>
                </a:solidFill>
                <a:latin typeface="Arial"/>
              </a:rPr>
              <a:t>8 declarants per campaign</a:t>
            </a:r>
          </a:p>
        </p:txBody>
      </p:sp>
      <p:sp>
        <p:nvSpPr>
          <p:cNvPr id="63" name="TextBox 62"/>
          <p:cNvSpPr txBox="1"/>
          <p:nvPr/>
        </p:nvSpPr>
        <p:spPr>
          <a:xfrm>
            <a:off x="8631936" y="6126479"/>
            <a:ext cx="2926080" cy="219456"/>
          </a:xfrm>
          <a:prstGeom prst="rect">
            <a:avLst/>
          </a:prstGeom>
          <a:noFill/>
        </p:spPr>
        <p:txBody>
          <a:bodyPr wrap="square" lIns="25400" rIns="25400" tIns="25400" bIns="25400" anchor="t">
            <a:spAutoFit/>
          </a:bodyPr>
          <a:lstStyle/>
          <a:p>
            <a:pPr algn="l"/>
            <a:r>
              <a:rPr sz="900" b="0">
                <a:solidFill>
                  <a:srgbClr val="858591"/>
                </a:solidFill>
                <a:latin typeface="Arial"/>
              </a:rPr>
              <a:t>the people the tool asks</a:t>
            </a:r>
          </a:p>
        </p:txBody>
      </p:sp>
      <p:sp>
        <p:nvSpPr>
          <p:cNvPr id="64" name="Rectangle 63"/>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66" name="Rectangle 65"/>
          <p:cNvSpPr/>
          <p:nvPr/>
        </p:nvSpPr>
        <p:spPr>
          <a:xfrm>
            <a:off x="10643615"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2</a:t>
            </a:r>
          </a:p>
        </p:txBody>
      </p:sp>
      <p:sp>
        <p:nvSpPr>
          <p:cNvPr id="68" name="Rectangle 67"/>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70" name="Rectangle 69"/>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72" name="Rectangle 71"/>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74" name="TextBox 73"/>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PHASES AND MILESTONES</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10 phases · 9 milestones · one week inside each of them</a:t>
            </a:r>
            <a:endParaRPr lang="en-US" sz="1725" dirty="0"/>
          </a:p>
        </p:txBody>
      </p:sp>
      <p:pic>
        <p:nvPicPr>
          <p:cNvPr id="5" name="Image 0" descr="preencoded.png"/>
          <p:cNvPicPr>
            <a:picLocks noChangeAspect="1"/>
          </p:cNvPicPr>
          <p:nvPr/>
        </p:nvPicPr>
        <p:blipFill>
          <a:blip r:embed="rId3"/>
          <a:srcRect l="-154" t="3772" r="-154"/>
          <a:stretch>
            <a:fillRect/>
          </a:stretch>
        </p:blipFill>
        <p:spPr>
          <a:xfrm>
            <a:off x="1428750" y="1287780"/>
            <a:ext cx="9334500" cy="5151120"/>
          </a:xfrm>
          <a:prstGeom prst="rect">
            <a:avLst/>
          </a:prstGeom>
        </p:spPr>
      </p:pic>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7" name="TextBox 6"/>
          <p:cNvSpPr txBox="1"/>
          <p:nvPr/>
        </p:nvSpPr>
        <p:spPr>
          <a:xfrm>
            <a:off x="356616" y="1316736"/>
            <a:ext cx="1280160" cy="237744"/>
          </a:xfrm>
          <a:prstGeom prst="rect">
            <a:avLst/>
          </a:prstGeom>
          <a:noFill/>
        </p:spPr>
        <p:txBody>
          <a:bodyPr wrap="square" lIns="25400" rIns="25400" tIns="25400" bIns="25400" anchor="t">
            <a:spAutoFit/>
          </a:bodyPr>
          <a:lstStyle/>
          <a:p>
            <a:pPr algn="l"/>
            <a:r>
              <a:rPr sz="1125" b="1" spc="158">
                <a:solidFill>
                  <a:srgbClr val="1D93C9"/>
                </a:solidFill>
                <a:latin typeface="Arial"/>
              </a:rPr>
              <a:t>THE CALL</a:t>
            </a:r>
          </a:p>
        </p:txBody>
      </p:sp>
      <p:sp>
        <p:nvSpPr>
          <p:cNvPr id="8" name="TextBox 7"/>
          <p:cNvSpPr txBox="1"/>
          <p:nvPr/>
        </p:nvSpPr>
        <p:spPr>
          <a:xfrm>
            <a:off x="356616" y="1627632"/>
            <a:ext cx="1024128" cy="2926080"/>
          </a:xfrm>
          <a:prstGeom prst="rect">
            <a:avLst/>
          </a:prstGeom>
          <a:noFill/>
        </p:spPr>
        <p:txBody>
          <a:bodyPr wrap="square" lIns="25400" rIns="25400" tIns="25400" bIns="25400" anchor="t">
            <a:spAutoFit/>
          </a:bodyPr>
          <a:lstStyle/>
          <a:p>
            <a:pPr algn="l"/>
            <a:r>
              <a:rPr sz="800" b="0">
                <a:solidFill>
                  <a:srgbClr val="063C67"/>
                </a:solidFill>
                <a:latin typeface="Arial"/>
              </a:rPr>
              <a:t>The plan gave the second half to extending the model.</a:t>
            </a:r>
          </a:p>
          <a:p>
            <a:pPr algn="l"/>
            <a:r>
              <a:rPr sz="800" b="0">
                <a:solidFill>
                  <a:srgbClr val="063C67"/>
                </a:solidFill>
                <a:latin typeface="Arial"/>
              </a:rPr>
              <a:t/>
            </a:r>
          </a:p>
          <a:p>
            <a:pPr algn="l"/>
            <a:r>
              <a:rPr sz="800" b="0">
                <a:solidFill>
                  <a:srgbClr val="063C67"/>
                </a:solidFill>
                <a:latin typeface="Arial"/>
              </a:rPr>
              <a:t>I moved it to validating what already existed.</a:t>
            </a:r>
          </a:p>
          <a:p>
            <a:pPr algn="l"/>
            <a:r>
              <a:rPr sz="800" b="0">
                <a:solidFill>
                  <a:srgbClr val="063C67"/>
                </a:solidFill>
                <a:latin typeface="Arial"/>
              </a:rPr>
              <a:t/>
            </a:r>
          </a:p>
          <a:p>
            <a:pPr algn="l"/>
            <a:r>
              <a:rPr sz="800" b="0">
                <a:solidFill>
                  <a:srgbClr val="063C67"/>
                </a:solidFill>
                <a:latin typeface="Arial"/>
              </a:rPr>
              <a:t>An unvalidated extension of an unvalidated model compounds the problem.</a:t>
            </a:r>
          </a:p>
        </p:txBody>
      </p:sp>
      <p:sp>
        <p:nvSpPr>
          <p:cNvPr id="9" name="Rectangle 8"/>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11" name="Rectangle 10"/>
          <p:cNvSpPr/>
          <p:nvPr/>
        </p:nvSpPr>
        <p:spPr>
          <a:xfrm>
            <a:off x="10643615"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2</a:t>
            </a:r>
          </a:p>
        </p:txBody>
      </p:sp>
      <p:sp>
        <p:nvSpPr>
          <p:cNvPr id="13" name="Rectangle 12"/>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15" name="Rectangle 14"/>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17" name="Rectangle 16"/>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19" name="TextBox 18"/>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0099-49B8-0358-01CD-962E09D8098C}"/>
            </a:ext>
          </a:extLst>
        </p:cNvPr>
        <p:cNvGrpSpPr/>
        <p:nvPr/>
      </p:nvGrpSpPr>
      <p:grpSpPr>
        <a:xfrm>
          <a:off x="0" y="0"/>
          <a:ext cx="0" cy="0"/>
          <a:chOff x="0" y="0"/>
          <a:chExt cx="0" cy="0"/>
        </a:xfrm>
      </p:grpSpPr>
      <p:sp>
        <p:nvSpPr>
          <p:cNvPr id="12" name="Shape 8">
            <a:extLst>
              <a:ext uri="{FF2B5EF4-FFF2-40B4-BE49-F238E27FC236}">
                <a16:creationId xmlns:a16="http://schemas.microsoft.com/office/drawing/2014/main" id="{66092BC6-BE74-4D4A-4EED-CE6C03EA7788}"/>
              </a:ext>
            </a:extLst>
          </p:cNvPr>
          <p:cNvSpPr/>
          <p:nvPr/>
        </p:nvSpPr>
        <p:spPr>
          <a:xfrm>
            <a:off x="352426" y="2379732"/>
            <a:ext cx="6286500" cy="723900"/>
          </a:xfrm>
          <a:prstGeom prst="rect">
            <a:avLst/>
          </a:prstGeom>
          <a:solidFill>
            <a:srgbClr val="F4F4F6"/>
          </a:solidFill>
          <a:ln/>
        </p:spPr>
        <p:txBody>
          <a:bodyPr/>
          <a:lstStyle/>
          <a:p>
            <a:endParaRPr lang="fr-FR"/>
          </a:p>
        </p:txBody>
      </p:sp>
      <p:sp>
        <p:nvSpPr>
          <p:cNvPr id="31" name="Shape 19">
            <a:extLst>
              <a:ext uri="{FF2B5EF4-FFF2-40B4-BE49-F238E27FC236}">
                <a16:creationId xmlns:a16="http://schemas.microsoft.com/office/drawing/2014/main" id="{4010960D-99DC-9543-9B74-A6DC5A3689D9}"/>
              </a:ext>
            </a:extLst>
          </p:cNvPr>
          <p:cNvSpPr/>
          <p:nvPr/>
        </p:nvSpPr>
        <p:spPr>
          <a:xfrm>
            <a:off x="352426" y="323850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686D90B2-FDB9-9597-D5BF-A02CF4C3C83F}"/>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60395A88-CD09-32BB-4B3C-60C4C4CF4948}"/>
              </a:ext>
            </a:extLst>
          </p:cNvPr>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C87F667A-1F03-D57D-1140-8F893AF0626D}"/>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1BB12552-6AA7-3AD6-A5C5-712245F14779}"/>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61A02A8A-E7FC-BA0C-5568-7F3904386ADA}"/>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a:extLst>
              <a:ext uri="{FF2B5EF4-FFF2-40B4-BE49-F238E27FC236}">
                <a16:creationId xmlns:a16="http://schemas.microsoft.com/office/drawing/2014/main" id="{E8E850DA-45A3-3616-F14B-9019B4E3948F}"/>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AB750641-0CAF-B533-847D-65B8A48AD2C5}"/>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pic>
        <p:nvPicPr>
          <p:cNvPr id="13" name="Image 2" descr="preencoded.png">
            <a:extLst>
              <a:ext uri="{FF2B5EF4-FFF2-40B4-BE49-F238E27FC236}">
                <a16:creationId xmlns:a16="http://schemas.microsoft.com/office/drawing/2014/main" id="{9029CB01-D305-F959-FA2D-AFC16FEFCE51}"/>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B550A8BE-DC98-F635-AED7-42468F1FDE3C}"/>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0EE2918B-ED79-9BF2-1170-2DB87213A6B6}"/>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036A8EEF-C7F8-818D-B4E6-AACD08275E3B}"/>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FF392D4E-21CD-2087-ADA1-48287CAC86D0}"/>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2151D5FC-3793-CB55-3927-13E666D8B456}"/>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59C67F44-04B0-0F8F-1D5E-C3E2BB14798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3ED36E35-60D7-CBA9-C513-C9716FBF7C3E}"/>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5D0B97E-7076-DEE1-FD57-5E9D026F2E37}"/>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C2CA352-D469-9DC6-53E2-310961EB40F8}"/>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F4F7728D-4589-757B-4C11-13C572800F80}"/>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26698250-51B5-3BA6-CC42-FF51C9C3BB9E}"/>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ABE781E2-2E52-47F5-AB3C-09B956523B5E}"/>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9EB9B85-58CF-15C0-D85E-0A95EFC9C1F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3EE3E648-4578-80DB-7A26-A1F43F5E91A5}"/>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2B5FCB71-783C-83ED-2627-DB2B9FF1ECC1}"/>
              </a:ext>
            </a:extLst>
          </p:cNvPr>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858591"/>
                </a:solidFill>
                <a:latin typeface="Arial"/>
              </a:rPr>
              <a:t>10</a:t>
            </a:r>
          </a:p>
        </p:txBody>
      </p:sp>
    </p:spTree>
    <p:extLst>
      <p:ext uri="{BB962C8B-B14F-4D97-AF65-F5344CB8AC3E}">
        <p14:creationId xmlns:p14="http://schemas.microsoft.com/office/powerpoint/2010/main" val="4172163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LITERATURE: WHAT NOBODY JOINS UP</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Six streams, three patents, and one empty box</a:t>
            </a:r>
            <a:endParaRPr lang="en-US" sz="1725" dirty="0"/>
          </a:p>
        </p:txBody>
      </p:sp>
      <p:sp>
        <p:nvSpPr>
          <p:cNvPr id="5" name="Text 3"/>
          <p:cNvSpPr/>
          <p:nvPr/>
        </p:nvSpPr>
        <p:spPr>
          <a:xfrm>
            <a:off x="352425" y="1428750"/>
            <a:ext cx="686752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PUBLISHED RESEARCH</a:t>
            </a:r>
            <a:endParaRPr lang="en-US" sz="1050" dirty="0"/>
          </a:p>
        </p:txBody>
      </p:sp>
      <p:sp>
        <p:nvSpPr>
          <p:cNvPr id="6" name="Shape 4"/>
          <p:cNvSpPr/>
          <p:nvPr/>
        </p:nvSpPr>
        <p:spPr>
          <a:xfrm>
            <a:off x="352425" y="1717278"/>
            <a:ext cx="6667500" cy="53340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485775" y="1822053"/>
            <a:ext cx="273050" cy="323850"/>
          </a:xfrm>
          <a:prstGeom prst="rect">
            <a:avLst/>
          </a:prstGeom>
        </p:spPr>
      </p:pic>
      <p:sp>
        <p:nvSpPr>
          <p:cNvPr id="8" name="Text 5"/>
          <p:cNvSpPr/>
          <p:nvPr/>
        </p:nvSpPr>
        <p:spPr>
          <a:xfrm>
            <a:off x="892175" y="1859657"/>
            <a:ext cx="424884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Deadline-driven value. </a:t>
            </a:r>
            <a:r>
              <a:rPr lang="en-US" sz="1350" dirty="0">
                <a:solidFill>
                  <a:srgbClr val="063C67"/>
                </a:solidFill>
                <a:latin typeface="Calibri" pitchFamily="34" charset="0"/>
                <a:ea typeface="Calibri" pitchFamily="34" charset="-122"/>
                <a:cs typeface="Calibri" pitchFamily="34" charset="-120"/>
              </a:rPr>
              <a:t>Time-varying, but one task only.</a:t>
            </a:r>
            <a:endParaRPr lang="en-US" sz="1350" dirty="0"/>
          </a:p>
        </p:txBody>
      </p:sp>
      <p:sp>
        <p:nvSpPr>
          <p:cNvPr id="9" name="Shape 6"/>
          <p:cNvSpPr/>
          <p:nvPr/>
        </p:nvSpPr>
        <p:spPr>
          <a:xfrm>
            <a:off x="352425" y="2336403"/>
            <a:ext cx="6667500" cy="53340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485775" y="2441178"/>
            <a:ext cx="323850" cy="323850"/>
          </a:xfrm>
          <a:prstGeom prst="rect">
            <a:avLst/>
          </a:prstGeom>
        </p:spPr>
      </p:pic>
      <p:sp>
        <p:nvSpPr>
          <p:cNvPr id="11" name="Text 7"/>
          <p:cNvSpPr/>
          <p:nvPr/>
        </p:nvSpPr>
        <p:spPr>
          <a:xfrm>
            <a:off x="942975" y="2478782"/>
            <a:ext cx="4607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Ripple effect. </a:t>
            </a:r>
            <a:r>
              <a:rPr lang="en-US" sz="1350" dirty="0">
                <a:solidFill>
                  <a:srgbClr val="063C67"/>
                </a:solidFill>
                <a:latin typeface="Calibri" pitchFamily="34" charset="0"/>
                <a:ea typeface="Calibri" pitchFamily="34" charset="-122"/>
                <a:cs typeface="Calibri" pitchFamily="34" charset="-120"/>
              </a:rPr>
              <a:t>Propagates, but takes the node score as given.</a:t>
            </a:r>
            <a:endParaRPr lang="en-US" sz="1350" dirty="0"/>
          </a:p>
        </p:txBody>
      </p:sp>
      <p:sp>
        <p:nvSpPr>
          <p:cNvPr id="12" name="Shape 8"/>
          <p:cNvSpPr/>
          <p:nvPr/>
        </p:nvSpPr>
        <p:spPr>
          <a:xfrm>
            <a:off x="352425" y="2955528"/>
            <a:ext cx="6667500" cy="5334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485775" y="3060303"/>
            <a:ext cx="458788" cy="323850"/>
          </a:xfrm>
          <a:prstGeom prst="rect">
            <a:avLst/>
          </a:prstGeom>
        </p:spPr>
      </p:pic>
      <p:sp>
        <p:nvSpPr>
          <p:cNvPr id="14" name="Text 9"/>
          <p:cNvSpPr/>
          <p:nvPr/>
        </p:nvSpPr>
        <p:spPr>
          <a:xfrm>
            <a:off x="1077913" y="3097907"/>
            <a:ext cx="479127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Rupture indicators. </a:t>
            </a:r>
            <a:r>
              <a:rPr lang="en-US" sz="1350" dirty="0">
                <a:solidFill>
                  <a:srgbClr val="063C67"/>
                </a:solidFill>
                <a:latin typeface="Calibri" pitchFamily="34" charset="0"/>
                <a:ea typeface="Calibri" pitchFamily="34" charset="-122"/>
                <a:cs typeface="Calibri" pitchFamily="34" charset="-120"/>
              </a:rPr>
              <a:t>Monitored one at a time, never combined.</a:t>
            </a:r>
            <a:endParaRPr lang="en-US" sz="1350" dirty="0"/>
          </a:p>
        </p:txBody>
      </p:sp>
      <p:sp>
        <p:nvSpPr>
          <p:cNvPr id="15" name="Shape 10"/>
          <p:cNvSpPr/>
          <p:nvPr/>
        </p:nvSpPr>
        <p:spPr>
          <a:xfrm>
            <a:off x="352425" y="3574653"/>
            <a:ext cx="6667500" cy="533400"/>
          </a:xfrm>
          <a:prstGeom prst="rect">
            <a:avLst/>
          </a:prstGeom>
          <a:solidFill>
            <a:srgbClr val="F4F4F6"/>
          </a:solidFill>
          <a:ln/>
        </p:spPr>
        <p:txBody>
          <a:bodyPr/>
          <a:lstStyle/>
          <a:p>
            <a:endParaRPr lang="fr-FR"/>
          </a:p>
        </p:txBody>
      </p:sp>
      <p:pic>
        <p:nvPicPr>
          <p:cNvPr id="16" name="Image 3" descr="preencoded.png"/>
          <p:cNvPicPr>
            <a:picLocks noChangeAspect="1"/>
          </p:cNvPicPr>
          <p:nvPr/>
        </p:nvPicPr>
        <p:blipFill>
          <a:blip r:embed="rId6"/>
          <a:stretch>
            <a:fillRect/>
          </a:stretch>
        </p:blipFill>
        <p:spPr>
          <a:xfrm>
            <a:off x="485775" y="3679428"/>
            <a:ext cx="310852" cy="323850"/>
          </a:xfrm>
          <a:prstGeom prst="rect">
            <a:avLst/>
          </a:prstGeom>
        </p:spPr>
      </p:pic>
      <p:sp>
        <p:nvSpPr>
          <p:cNvPr id="17" name="Text 11"/>
          <p:cNvSpPr/>
          <p:nvPr/>
        </p:nvSpPr>
        <p:spPr>
          <a:xfrm>
            <a:off x="929977" y="3717032"/>
            <a:ext cx="48380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Cognitive bias. </a:t>
            </a:r>
            <a:r>
              <a:rPr lang="en-US" sz="1350" dirty="0">
                <a:solidFill>
                  <a:srgbClr val="063C67"/>
                </a:solidFill>
                <a:latin typeface="Calibri" pitchFamily="34" charset="0"/>
                <a:ea typeface="Calibri" pitchFamily="34" charset="-122"/>
                <a:cs typeface="Calibri" pitchFamily="34" charset="-120"/>
              </a:rPr>
              <a:t>Quantified in the lab, no operational correction.</a:t>
            </a:r>
            <a:endParaRPr lang="en-US" sz="1350" dirty="0"/>
          </a:p>
        </p:txBody>
      </p:sp>
      <p:sp>
        <p:nvSpPr>
          <p:cNvPr id="18" name="Shape 12"/>
          <p:cNvSpPr/>
          <p:nvPr/>
        </p:nvSpPr>
        <p:spPr>
          <a:xfrm>
            <a:off x="352425" y="4193778"/>
            <a:ext cx="6667500" cy="533400"/>
          </a:xfrm>
          <a:prstGeom prst="rect">
            <a:avLst/>
          </a:prstGeom>
          <a:solidFill>
            <a:srgbClr val="F4F4F6"/>
          </a:solidFill>
          <a:ln/>
        </p:spPr>
        <p:txBody>
          <a:bodyPr/>
          <a:lstStyle/>
          <a:p>
            <a:endParaRPr lang="fr-FR"/>
          </a:p>
        </p:txBody>
      </p:sp>
      <p:pic>
        <p:nvPicPr>
          <p:cNvPr id="19" name="Image 4" descr="preencoded.png"/>
          <p:cNvPicPr>
            <a:picLocks noChangeAspect="1"/>
          </p:cNvPicPr>
          <p:nvPr/>
        </p:nvPicPr>
        <p:blipFill>
          <a:blip r:embed="rId7"/>
          <a:stretch>
            <a:fillRect/>
          </a:stretch>
        </p:blipFill>
        <p:spPr>
          <a:xfrm>
            <a:off x="485775" y="4298553"/>
            <a:ext cx="323850" cy="323850"/>
          </a:xfrm>
          <a:prstGeom prst="rect">
            <a:avLst/>
          </a:prstGeom>
        </p:spPr>
      </p:pic>
      <p:sp>
        <p:nvSpPr>
          <p:cNvPr id="20" name="Text 13"/>
          <p:cNvSpPr/>
          <p:nvPr/>
        </p:nvSpPr>
        <p:spPr>
          <a:xfrm>
            <a:off x="942975" y="4336157"/>
            <a:ext cx="5764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AHP, BWM, PROMETHEE. </a:t>
            </a:r>
            <a:r>
              <a:rPr lang="en-US" sz="1350" dirty="0">
                <a:solidFill>
                  <a:srgbClr val="063C67"/>
                </a:solidFill>
                <a:latin typeface="Calibri" pitchFamily="34" charset="0"/>
                <a:ea typeface="Calibri" pitchFamily="34" charset="-122"/>
                <a:cs typeface="Calibri" pitchFamily="34" charset="-120"/>
              </a:rPr>
              <a:t>Static, and never compared to a computed value.</a:t>
            </a:r>
            <a:endParaRPr lang="en-US" sz="1350" dirty="0"/>
          </a:p>
        </p:txBody>
      </p:sp>
      <p:sp>
        <p:nvSpPr>
          <p:cNvPr id="21" name="Shape 14"/>
          <p:cNvSpPr/>
          <p:nvPr/>
        </p:nvSpPr>
        <p:spPr>
          <a:xfrm>
            <a:off x="352425" y="4812903"/>
            <a:ext cx="6667500" cy="533400"/>
          </a:xfrm>
          <a:prstGeom prst="rect">
            <a:avLst/>
          </a:prstGeom>
          <a:solidFill>
            <a:srgbClr val="F4F4F6"/>
          </a:solidFill>
          <a:ln/>
        </p:spPr>
        <p:txBody>
          <a:bodyPr/>
          <a:lstStyle/>
          <a:p>
            <a:endParaRPr lang="fr-FR"/>
          </a:p>
        </p:txBody>
      </p:sp>
      <p:pic>
        <p:nvPicPr>
          <p:cNvPr id="22" name="Image 5" descr="preencoded.png"/>
          <p:cNvPicPr>
            <a:picLocks noChangeAspect="1"/>
          </p:cNvPicPr>
          <p:nvPr/>
        </p:nvPicPr>
        <p:blipFill>
          <a:blip r:embed="rId8"/>
          <a:stretch>
            <a:fillRect/>
          </a:stretch>
        </p:blipFill>
        <p:spPr>
          <a:xfrm>
            <a:off x="485775" y="4917678"/>
            <a:ext cx="364034" cy="323850"/>
          </a:xfrm>
          <a:prstGeom prst="rect">
            <a:avLst/>
          </a:prstGeom>
        </p:spPr>
      </p:pic>
      <p:sp>
        <p:nvSpPr>
          <p:cNvPr id="23" name="Text 15"/>
          <p:cNvSpPr/>
          <p:nvPr/>
        </p:nvSpPr>
        <p:spPr>
          <a:xfrm>
            <a:off x="983159" y="4955282"/>
            <a:ext cx="497615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twins. </a:t>
            </a:r>
            <a:r>
              <a:rPr lang="en-US" sz="1350" dirty="0">
                <a:solidFill>
                  <a:srgbClr val="063C67"/>
                </a:solidFill>
                <a:latin typeface="Calibri" pitchFamily="34" charset="0"/>
                <a:ea typeface="Calibri" pitchFamily="34" charset="-122"/>
                <a:cs typeface="Calibri" pitchFamily="34" charset="-120"/>
              </a:rPr>
              <a:t>Scored on state; their inputs are assumed to arrive.</a:t>
            </a:r>
            <a:endParaRPr lang="en-US" sz="1350" dirty="0"/>
          </a:p>
        </p:txBody>
      </p:sp>
      <p:sp>
        <p:nvSpPr>
          <p:cNvPr id="24" name="Text 16"/>
          <p:cNvSpPr/>
          <p:nvPr/>
        </p:nvSpPr>
        <p:spPr>
          <a:xfrm>
            <a:off x="7381875" y="1428750"/>
            <a:ext cx="4395216"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THE PATENT RECORD: THREE LINES</a:t>
            </a:r>
            <a:endParaRPr lang="en-US" sz="1050" dirty="0"/>
          </a:p>
        </p:txBody>
      </p:sp>
      <p:sp>
        <p:nvSpPr>
          <p:cNvPr id="25" name="Shape 17"/>
          <p:cNvSpPr/>
          <p:nvPr/>
        </p:nvSpPr>
        <p:spPr>
          <a:xfrm>
            <a:off x="7381875" y="1717278"/>
            <a:ext cx="4267200" cy="744736"/>
          </a:xfrm>
          <a:prstGeom prst="rect">
            <a:avLst/>
          </a:prstGeom>
          <a:solidFill>
            <a:srgbClr val="E9F5FB"/>
          </a:solidFill>
          <a:ln/>
        </p:spPr>
        <p:txBody>
          <a:bodyPr/>
          <a:lstStyle/>
          <a:p>
            <a:endParaRPr lang="fr-FR"/>
          </a:p>
        </p:txBody>
      </p:sp>
      <p:sp>
        <p:nvSpPr>
          <p:cNvPr id="26" name="Text 18"/>
          <p:cNvSpPr/>
          <p:nvPr/>
        </p:nvSpPr>
        <p:spPr>
          <a:xfrm>
            <a:off x="7534275" y="1841103"/>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IBM. </a:t>
            </a:r>
            <a:r>
              <a:rPr lang="en-US" sz="1350" dirty="0">
                <a:solidFill>
                  <a:srgbClr val="063C67"/>
                </a:solidFill>
                <a:highlight>
                  <a:srgbClr val="E9F5FB"/>
                </a:highlight>
                <a:latin typeface="Calibri" pitchFamily="34" charset="0"/>
                <a:ea typeface="Calibri" pitchFamily="34" charset="-122"/>
                <a:cs typeface="Calibri" pitchFamily="34" charset="-120"/>
              </a:rPr>
              <a:t>Revenue at risk from measured inputs. No operator opinion anywhere in the claims.</a:t>
            </a:r>
            <a:endParaRPr lang="en-US" sz="1350" dirty="0"/>
          </a:p>
        </p:txBody>
      </p:sp>
      <p:sp>
        <p:nvSpPr>
          <p:cNvPr id="27" name="Shape 19"/>
          <p:cNvSpPr/>
          <p:nvPr/>
        </p:nvSpPr>
        <p:spPr>
          <a:xfrm>
            <a:off x="7381875" y="2547739"/>
            <a:ext cx="4267200" cy="744736"/>
          </a:xfrm>
          <a:prstGeom prst="rect">
            <a:avLst/>
          </a:prstGeom>
          <a:solidFill>
            <a:srgbClr val="E9F5FB"/>
          </a:solidFill>
          <a:ln/>
        </p:spPr>
        <p:txBody>
          <a:bodyPr/>
          <a:lstStyle/>
          <a:p>
            <a:endParaRPr lang="fr-FR"/>
          </a:p>
        </p:txBody>
      </p:sp>
      <p:sp>
        <p:nvSpPr>
          <p:cNvPr id="28" name="Text 20"/>
          <p:cNvSpPr/>
          <p:nvPr/>
        </p:nvSpPr>
        <p:spPr>
          <a:xfrm>
            <a:off x="7534275" y="2671564"/>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Wipro. </a:t>
            </a:r>
            <a:r>
              <a:rPr lang="en-US" sz="1350" dirty="0">
                <a:solidFill>
                  <a:srgbClr val="063C67"/>
                </a:solidFill>
                <a:highlight>
                  <a:srgbClr val="E9F5FB"/>
                </a:highlight>
                <a:latin typeface="Calibri" pitchFamily="34" charset="0"/>
                <a:ea typeface="Calibri" pitchFamily="34" charset="-122"/>
                <a:cs typeface="Calibri" pitchFamily="34" charset="-120"/>
              </a:rPr>
              <a:t>Inputs replaced by language. The human narrates; nothing evaluates the narration.</a:t>
            </a:r>
            <a:endParaRPr lang="en-US" sz="1350" dirty="0"/>
          </a:p>
        </p:txBody>
      </p:sp>
      <p:sp>
        <p:nvSpPr>
          <p:cNvPr id="29" name="Shape 21"/>
          <p:cNvSpPr/>
          <p:nvPr/>
        </p:nvSpPr>
        <p:spPr>
          <a:xfrm>
            <a:off x="7381875" y="3378200"/>
            <a:ext cx="4267200" cy="744736"/>
          </a:xfrm>
          <a:prstGeom prst="rect">
            <a:avLst/>
          </a:prstGeom>
          <a:solidFill>
            <a:srgbClr val="E9F5FB"/>
          </a:solidFill>
          <a:ln/>
        </p:spPr>
        <p:txBody>
          <a:bodyPr/>
          <a:lstStyle/>
          <a:p>
            <a:endParaRPr lang="fr-FR"/>
          </a:p>
        </p:txBody>
      </p:sp>
      <p:sp>
        <p:nvSpPr>
          <p:cNvPr id="30" name="Text 22"/>
          <p:cNvSpPr/>
          <p:nvPr/>
        </p:nvSpPr>
        <p:spPr>
          <a:xfrm>
            <a:off x="7534275" y="3502025"/>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 control tower. </a:t>
            </a:r>
            <a:r>
              <a:rPr lang="en-US" sz="1350" dirty="0">
                <a:solidFill>
                  <a:srgbClr val="063C67"/>
                </a:solidFill>
                <a:highlight>
                  <a:srgbClr val="E9F5FB"/>
                </a:highlight>
                <a:latin typeface="Calibri" pitchFamily="34" charset="0"/>
                <a:ea typeface="Calibri" pitchFamily="34" charset="-122"/>
                <a:cs typeface="Calibri" pitchFamily="34" charset="-120"/>
              </a:rPr>
              <a:t>Oriented to automation. The operator receives decisions.</a:t>
            </a:r>
            <a:endParaRPr lang="en-US" sz="1350" dirty="0"/>
          </a:p>
        </p:txBody>
      </p:sp>
      <p:pic>
        <p:nvPicPr>
          <p:cNvPr id="31" name="Image 6" descr="preencoded.png"/>
          <p:cNvPicPr>
            <a:picLocks noChangeAspect="1"/>
          </p:cNvPicPr>
          <p:nvPr/>
        </p:nvPicPr>
        <p:blipFill>
          <a:blip r:embed="rId9"/>
          <a:stretch>
            <a:fillRect/>
          </a:stretch>
        </p:blipFill>
        <p:spPr>
          <a:xfrm>
            <a:off x="7381875" y="4275336"/>
            <a:ext cx="183158" cy="285750"/>
          </a:xfrm>
          <a:prstGeom prst="rect">
            <a:avLst/>
          </a:prstGeom>
        </p:spPr>
      </p:pic>
      <p:sp>
        <p:nvSpPr>
          <p:cNvPr id="32" name="Text 23"/>
          <p:cNvSpPr/>
          <p:nvPr/>
        </p:nvSpPr>
        <p:spPr>
          <a:xfrm>
            <a:off x="7698383" y="4313138"/>
            <a:ext cx="3888020" cy="247650"/>
          </a:xfrm>
          <a:prstGeom prst="rect">
            <a:avLst/>
          </a:prstGeom>
          <a:noFill/>
          <a:ln/>
        </p:spPr>
        <p:txBody>
          <a:bodyPr wrap="square" lIns="0" tIns="0" rIns="0" bIns="0" rtlCol="0" anchor="t">
            <a:normAutofit/>
          </a:bodyPr>
          <a:lstStyle/>
          <a:p>
            <a:pPr marL="0" indent="0" algn="l">
              <a:lnSpc>
                <a:spcPct val="106364"/>
              </a:lnSpc>
              <a:buNone/>
            </a:pPr>
            <a:r>
              <a:rPr lang="en-US" sz="1350" dirty="0">
                <a:solidFill>
                  <a:srgbClr val="858591"/>
                </a:solidFill>
                <a:latin typeface="Calibri" pitchFamily="34" charset="0"/>
                <a:ea typeface="Calibri" pitchFamily="34" charset="-122"/>
                <a:cs typeface="Calibri" pitchFamily="34" charset="-120"/>
              </a:rPr>
              <a:t>Fifteen years spent removing the human declarant.</a:t>
            </a:r>
            <a:endParaRPr lang="en-US" sz="1350" dirty="0"/>
          </a:p>
        </p:txBody>
      </p:sp>
      <p:sp>
        <p:nvSpPr>
          <p:cNvPr id="33" name="Shape 24"/>
          <p:cNvSpPr/>
          <p:nvPr/>
        </p:nvSpPr>
        <p:spPr>
          <a:xfrm>
            <a:off x="323850" y="5495925"/>
            <a:ext cx="11858625" cy="866775"/>
          </a:xfrm>
          <a:prstGeom prst="rect">
            <a:avLst/>
          </a:prstGeom>
          <a:solidFill>
            <a:srgbClr val="063C67"/>
          </a:solidFill>
          <a:ln/>
        </p:spPr>
        <p:txBody>
          <a:bodyPr/>
          <a:lstStyle/>
          <a:p>
            <a:endParaRPr lang="fr-FR"/>
          </a:p>
        </p:txBody>
      </p:sp>
      <p:pic>
        <p:nvPicPr>
          <p:cNvPr id="34" name="Image 7" descr="preencoded.png"/>
          <p:cNvPicPr>
            <a:picLocks noChangeAspect="1"/>
          </p:cNvPicPr>
          <p:nvPr/>
        </p:nvPicPr>
        <p:blipFill>
          <a:blip r:embed="rId10"/>
          <a:stretch>
            <a:fillRect/>
          </a:stretch>
        </p:blipFill>
        <p:spPr>
          <a:xfrm>
            <a:off x="590550" y="5672138"/>
            <a:ext cx="481012" cy="514350"/>
          </a:xfrm>
          <a:prstGeom prst="rect">
            <a:avLst/>
          </a:prstGeom>
        </p:spPr>
      </p:pic>
      <p:sp>
        <p:nvSpPr>
          <p:cNvPr id="35" name="Text 25"/>
          <p:cNvSpPr/>
          <p:nvPr/>
        </p:nvSpPr>
        <p:spPr>
          <a:xfrm>
            <a:off x="1300163" y="5529362"/>
            <a:ext cx="116771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GAP</a:t>
            </a:r>
            <a:endParaRPr lang="en-US" sz="1050" dirty="0"/>
          </a:p>
        </p:txBody>
      </p:sp>
      <p:sp>
        <p:nvSpPr>
          <p:cNvPr id="36" name="Text 26"/>
          <p:cNvSpPr/>
          <p:nvPr/>
        </p:nvSpPr>
        <p:spPr>
          <a:xfrm>
            <a:off x="1290637" y="5703094"/>
            <a:ext cx="10790237" cy="578048"/>
          </a:xfrm>
          <a:prstGeom prst="rect">
            <a:avLst/>
          </a:prstGeom>
          <a:noFill/>
          <a:ln/>
        </p:spPr>
        <p:txBody>
          <a:bodyPr wrap="square" lIns="25400" tIns="25400" rIns="25400" bIns="25400" rtlCol="0" anchor="t">
            <a:normAutofit/>
          </a:bodyPr>
          <a:lstStyle/>
          <a:p>
            <a:pPr marL="0" indent="0" algn="l">
              <a:lnSpc>
                <a:spcPct val="111908"/>
              </a:lnSpc>
              <a:buNone/>
            </a:pPr>
            <a:r>
              <a:rPr lang="en-US" sz="1575" dirty="0">
                <a:solidFill>
                  <a:srgbClr val="FFFFFF"/>
                </a:solidFill>
                <a:latin typeface="Calibri" pitchFamily="34" charset="0"/>
                <a:ea typeface="Calibri" pitchFamily="34" charset="-122"/>
                <a:cs typeface="Calibri" pitchFamily="34" charset="-120"/>
              </a:rPr>
              <a:t>No system, published or patented, elicits a declared urgency, computes its counterpart on the same node, and scores the difference against what happened.</a:t>
            </a:r>
            <a:endParaRPr lang="en-US" sz="1575" dirty="0"/>
          </a:p>
        </p:txBody>
      </p:sp>
      <p:pic>
        <p:nvPicPr>
          <p:cNvPr id="37"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8" name="Rectangle 37"/>
          <p:cNvSpPr/>
          <p:nvPr/>
        </p:nvSpPr>
        <p:spPr>
          <a:xfrm>
            <a:off x="7379208" y="4645152"/>
            <a:ext cx="4270248" cy="731520"/>
          </a:xfrm>
          <a:prstGeom prst="rect">
            <a:avLst/>
          </a:prstGeom>
          <a:solidFill>
            <a:srgbClr val="FFF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525512" y="4681728"/>
            <a:ext cx="4023360" cy="219456"/>
          </a:xfrm>
          <a:prstGeom prst="rect">
            <a:avLst/>
          </a:prstGeom>
          <a:noFill/>
        </p:spPr>
        <p:txBody>
          <a:bodyPr wrap="square" lIns="25400" rIns="25400" tIns="25400" bIns="25400" anchor="t">
            <a:spAutoFit/>
          </a:bodyPr>
          <a:lstStyle/>
          <a:p>
            <a:pPr algn="l"/>
            <a:r>
              <a:rPr sz="950" b="1" spc="120">
                <a:solidFill>
                  <a:srgbClr val="FFC800"/>
                </a:solidFill>
                <a:latin typeface="Arial"/>
              </a:rPr>
              <a:t>AND THE FIELD IS TURNING BACK</a:t>
            </a:r>
          </a:p>
        </p:txBody>
      </p:sp>
      <p:sp>
        <p:nvSpPr>
          <p:cNvPr id="40" name="TextBox 39"/>
          <p:cNvSpPr txBox="1"/>
          <p:nvPr/>
        </p:nvSpPr>
        <p:spPr>
          <a:xfrm>
            <a:off x="7525512" y="4882896"/>
            <a:ext cx="4023360" cy="475488"/>
          </a:xfrm>
          <a:prstGeom prst="rect">
            <a:avLst/>
          </a:prstGeom>
          <a:noFill/>
        </p:spPr>
        <p:txBody>
          <a:bodyPr wrap="square" lIns="25400" rIns="25400" tIns="25400" bIns="25400" anchor="t">
            <a:spAutoFit/>
          </a:bodyPr>
          <a:lstStyle/>
          <a:p>
            <a:pPr algn="l"/>
            <a:r>
              <a:rPr sz="850" b="0">
                <a:solidFill>
                  <a:srgbClr val="063C67"/>
                </a:solidFill>
                <a:latin typeface="Arial"/>
              </a:rPr>
              <a:t>Industry 5.0 puts the human at the centre again (European Commission, 2021). Tesla called over-automation at Fremont a mistake in its own 2018 update letter.</a:t>
            </a:r>
          </a:p>
        </p:txBody>
      </p:sp>
      <p:sp>
        <p:nvSpPr>
          <p:cNvPr id="41" name="Rectangle 40"/>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43" name="Rectangle 42"/>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45" name="Rectangle 44"/>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47" name="Rectangle 46"/>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49" name="Rectangle 48"/>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51" name="TextBox 50"/>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URGENCY SCORE, TERM BY TERM</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Two signals elicited separately, and a deliberately asymmetric distance</a:t>
            </a:r>
            <a:endParaRPr lang="en-US" sz="1725" dirty="0"/>
          </a:p>
        </p:txBody>
      </p:sp>
      <p:pic>
        <p:nvPicPr>
          <p:cNvPr id="5" name="Image 0" descr="preencoded.png"/>
          <p:cNvPicPr>
            <a:picLocks noChangeAspect="1"/>
          </p:cNvPicPr>
          <p:nvPr/>
        </p:nvPicPr>
        <p:blipFill>
          <a:blip r:embed="rId3"/>
          <a:stretch>
            <a:fillRect/>
          </a:stretch>
        </p:blipFill>
        <p:spPr>
          <a:xfrm>
            <a:off x="352425" y="1254522"/>
            <a:ext cx="365720" cy="381000"/>
          </a:xfrm>
          <a:prstGeom prst="rect">
            <a:avLst/>
          </a:prstGeom>
        </p:spPr>
      </p:pic>
      <p:sp>
        <p:nvSpPr>
          <p:cNvPr id="6" name="Text 3"/>
          <p:cNvSpPr/>
          <p:nvPr/>
        </p:nvSpPr>
        <p:spPr>
          <a:xfrm>
            <a:off x="851495" y="1162050"/>
            <a:ext cx="3009039"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DECLARED U</a:t>
            </a:r>
            <a:r>
              <a:rPr lang="en-US" sz="1500" b="1" baseline="-40000" dirty="0">
                <a:solidFill>
                  <a:srgbClr val="043962"/>
                </a:solidFill>
                <a:latin typeface="Arial Black" pitchFamily="34" charset="0"/>
                <a:ea typeface="Arial Black" pitchFamily="34" charset="-122"/>
                <a:cs typeface="Arial Black" pitchFamily="34" charset="-120"/>
              </a:rPr>
              <a:t>D</a:t>
            </a:r>
            <a:endParaRPr lang="en-US" sz="1800" dirty="0"/>
          </a:p>
        </p:txBody>
      </p:sp>
      <p:sp>
        <p:nvSpPr>
          <p:cNvPr id="7" name="Text 4"/>
          <p:cNvSpPr/>
          <p:nvPr/>
        </p:nvSpPr>
        <p:spPr>
          <a:xfrm>
            <a:off x="851495" y="1534716"/>
            <a:ext cx="512064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AHP · FOUR CRITERIA · CONSISTENCY GATE</a:t>
            </a:r>
            <a:endParaRPr lang="en-US" sz="1050" dirty="0"/>
          </a:p>
        </p:txBody>
      </p:sp>
      <p:pic>
        <p:nvPicPr>
          <p:cNvPr id="8" name="Image 1" descr="preencoded.png"/>
          <p:cNvPicPr>
            <a:picLocks noChangeAspect="1"/>
          </p:cNvPicPr>
          <p:nvPr/>
        </p:nvPicPr>
        <p:blipFill>
          <a:blip r:embed="rId4"/>
          <a:stretch>
            <a:fillRect/>
          </a:stretch>
        </p:blipFill>
        <p:spPr>
          <a:xfrm>
            <a:off x="6438900" y="1254522"/>
            <a:ext cx="387945" cy="381000"/>
          </a:xfrm>
          <a:prstGeom prst="rect">
            <a:avLst/>
          </a:prstGeom>
        </p:spPr>
      </p:pic>
      <p:sp>
        <p:nvSpPr>
          <p:cNvPr id="9" name="Text 5"/>
          <p:cNvSpPr/>
          <p:nvPr/>
        </p:nvSpPr>
        <p:spPr>
          <a:xfrm>
            <a:off x="6960196" y="1162050"/>
            <a:ext cx="2476798"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COMPUTED U</a:t>
            </a:r>
            <a:r>
              <a:rPr lang="en-US" sz="1500" b="1" baseline="-40000" dirty="0">
                <a:solidFill>
                  <a:srgbClr val="043962"/>
                </a:solidFill>
                <a:latin typeface="Arial Black" pitchFamily="34" charset="0"/>
                <a:ea typeface="Arial Black" pitchFamily="34" charset="-122"/>
                <a:cs typeface="Arial Black" pitchFamily="34" charset="-120"/>
              </a:rPr>
              <a:t>R</a:t>
            </a:r>
            <a:endParaRPr lang="en-US" sz="1800" dirty="0"/>
          </a:p>
        </p:txBody>
      </p:sp>
      <p:sp>
        <p:nvSpPr>
          <p:cNvPr id="10" name="Text 6"/>
          <p:cNvSpPr/>
          <p:nvPr/>
        </p:nvSpPr>
        <p:spPr>
          <a:xfrm>
            <a:off x="6960196" y="1534716"/>
            <a:ext cx="3512272" cy="231378"/>
          </a:xfrm>
          <a:prstGeom prst="rect">
            <a:avLst/>
          </a:prstGeom>
          <a:noFill/>
          <a:ln/>
        </p:spPr>
        <p:txBody>
          <a:bodyPr wrap="square" lIns="25400" tIns="25400" rIns="25400" bIns="25400" rtlCol="0" anchor="t">
            <a:normAutofit fontScale="77500" lnSpcReduction="2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SIX KPI BLOCKS · PROBABILISTIC OR</a:t>
            </a:r>
            <a:endParaRPr lang="en-US" sz="1050" dirty="0"/>
          </a:p>
        </p:txBody>
      </p:sp>
      <p:sp>
        <p:nvSpPr>
          <p:cNvPr id="11" name="Shape 7"/>
          <p:cNvSpPr/>
          <p:nvPr/>
        </p:nvSpPr>
        <p:spPr>
          <a:xfrm>
            <a:off x="352425" y="1813719"/>
            <a:ext cx="5400675" cy="496193"/>
          </a:xfrm>
          <a:prstGeom prst="rect">
            <a:avLst/>
          </a:prstGeom>
          <a:solidFill>
            <a:srgbClr val="E9F5FB"/>
          </a:solidFill>
          <a:ln/>
        </p:spPr>
        <p:txBody>
          <a:bodyPr/>
          <a:lstStyle/>
          <a:p>
            <a:endParaRPr lang="fr-FR"/>
          </a:p>
        </p:txBody>
      </p:sp>
      <p:sp>
        <p:nvSpPr>
          <p:cNvPr id="12" name="Text 8"/>
          <p:cNvSpPr/>
          <p:nvPr/>
        </p:nvSpPr>
        <p:spPr>
          <a:xfrm>
            <a:off x="504825"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3" name="Text 9"/>
          <p:cNvSpPr/>
          <p:nvPr/>
        </p:nvSpPr>
        <p:spPr>
          <a:xfrm>
            <a:off x="5800725" y="1909862"/>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4" name="Shape 10"/>
          <p:cNvSpPr/>
          <p:nvPr/>
        </p:nvSpPr>
        <p:spPr>
          <a:xfrm>
            <a:off x="6438900" y="1813719"/>
            <a:ext cx="5400675" cy="496193"/>
          </a:xfrm>
          <a:prstGeom prst="rect">
            <a:avLst/>
          </a:prstGeom>
          <a:solidFill>
            <a:srgbClr val="F4F4F6"/>
          </a:solidFill>
          <a:ln/>
        </p:spPr>
        <p:txBody>
          <a:bodyPr/>
          <a:lstStyle/>
          <a:p>
            <a:endParaRPr lang="fr-FR"/>
          </a:p>
        </p:txBody>
      </p:sp>
      <p:sp>
        <p:nvSpPr>
          <p:cNvPr id="15" name="Text 11"/>
          <p:cNvSpPr/>
          <p:nvPr/>
        </p:nvSpPr>
        <p:spPr>
          <a:xfrm>
            <a:off x="6591300"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Performance and capacity</a:t>
            </a:r>
            <a:endParaRPr lang="en-US" sz="1350" dirty="0"/>
          </a:p>
        </p:txBody>
      </p:sp>
      <p:sp>
        <p:nvSpPr>
          <p:cNvPr id="16" name="Shape 12"/>
          <p:cNvSpPr/>
          <p:nvPr/>
        </p:nvSpPr>
        <p:spPr>
          <a:xfrm>
            <a:off x="352425" y="2395637"/>
            <a:ext cx="5400675" cy="496193"/>
          </a:xfrm>
          <a:prstGeom prst="rect">
            <a:avLst/>
          </a:prstGeom>
          <a:solidFill>
            <a:srgbClr val="E9F5FB"/>
          </a:solidFill>
          <a:ln/>
        </p:spPr>
        <p:txBody>
          <a:bodyPr/>
          <a:lstStyle/>
          <a:p>
            <a:endParaRPr lang="fr-FR"/>
          </a:p>
        </p:txBody>
      </p:sp>
      <p:sp>
        <p:nvSpPr>
          <p:cNvPr id="17" name="Text 13"/>
          <p:cNvSpPr/>
          <p:nvPr/>
        </p:nvSpPr>
        <p:spPr>
          <a:xfrm>
            <a:off x="504825"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8" name="Text 14"/>
          <p:cNvSpPr/>
          <p:nvPr/>
        </p:nvSpPr>
        <p:spPr>
          <a:xfrm>
            <a:off x="5800725" y="2491780"/>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9" name="Shape 15"/>
          <p:cNvSpPr/>
          <p:nvPr/>
        </p:nvSpPr>
        <p:spPr>
          <a:xfrm>
            <a:off x="6438900" y="2395637"/>
            <a:ext cx="5400675" cy="496193"/>
          </a:xfrm>
          <a:prstGeom prst="rect">
            <a:avLst/>
          </a:prstGeom>
          <a:solidFill>
            <a:srgbClr val="F4F4F6"/>
          </a:solidFill>
          <a:ln/>
        </p:spPr>
        <p:txBody>
          <a:bodyPr/>
          <a:lstStyle/>
          <a:p>
            <a:endParaRPr lang="fr-FR"/>
          </a:p>
        </p:txBody>
      </p:sp>
      <p:sp>
        <p:nvSpPr>
          <p:cNvPr id="20" name="Text 16"/>
          <p:cNvSpPr/>
          <p:nvPr/>
        </p:nvSpPr>
        <p:spPr>
          <a:xfrm>
            <a:off x="6591300"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against the next deadline</a:t>
            </a:r>
            <a:endParaRPr lang="en-US" sz="1350" dirty="0"/>
          </a:p>
        </p:txBody>
      </p:sp>
      <p:sp>
        <p:nvSpPr>
          <p:cNvPr id="21" name="Shape 17"/>
          <p:cNvSpPr/>
          <p:nvPr/>
        </p:nvSpPr>
        <p:spPr>
          <a:xfrm>
            <a:off x="352425" y="2977555"/>
            <a:ext cx="5400675" cy="496193"/>
          </a:xfrm>
          <a:prstGeom prst="rect">
            <a:avLst/>
          </a:prstGeom>
          <a:solidFill>
            <a:srgbClr val="E9F5FB"/>
          </a:solidFill>
          <a:ln/>
        </p:spPr>
        <p:txBody>
          <a:bodyPr/>
          <a:lstStyle/>
          <a:p>
            <a:endParaRPr lang="fr-FR"/>
          </a:p>
        </p:txBody>
      </p:sp>
      <p:sp>
        <p:nvSpPr>
          <p:cNvPr id="22" name="Text 18"/>
          <p:cNvSpPr/>
          <p:nvPr/>
        </p:nvSpPr>
        <p:spPr>
          <a:xfrm>
            <a:off x="504825"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23" name="Text 19"/>
          <p:cNvSpPr/>
          <p:nvPr/>
        </p:nvSpPr>
        <p:spPr>
          <a:xfrm>
            <a:off x="5800725" y="3073698"/>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4" name="Shape 20"/>
          <p:cNvSpPr/>
          <p:nvPr/>
        </p:nvSpPr>
        <p:spPr>
          <a:xfrm>
            <a:off x="6438900" y="2977555"/>
            <a:ext cx="5400675" cy="496193"/>
          </a:xfrm>
          <a:prstGeom prst="rect">
            <a:avLst/>
          </a:prstGeom>
          <a:solidFill>
            <a:srgbClr val="F4F4F6"/>
          </a:solidFill>
          <a:ln/>
        </p:spPr>
        <p:txBody>
          <a:bodyPr/>
          <a:lstStyle/>
          <a:p>
            <a:endParaRPr lang="fr-FR"/>
          </a:p>
        </p:txBody>
      </p:sp>
      <p:sp>
        <p:nvSpPr>
          <p:cNvPr id="25" name="Text 21"/>
          <p:cNvSpPr/>
          <p:nvPr/>
        </p:nvSpPr>
        <p:spPr>
          <a:xfrm>
            <a:off x="6591300"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Severity propagated across tiers</a:t>
            </a:r>
            <a:endParaRPr lang="en-US" sz="1350" dirty="0"/>
          </a:p>
        </p:txBody>
      </p:sp>
      <p:sp>
        <p:nvSpPr>
          <p:cNvPr id="26" name="Shape 22"/>
          <p:cNvSpPr/>
          <p:nvPr/>
        </p:nvSpPr>
        <p:spPr>
          <a:xfrm>
            <a:off x="352425" y="3559473"/>
            <a:ext cx="5400675" cy="496193"/>
          </a:xfrm>
          <a:prstGeom prst="rect">
            <a:avLst/>
          </a:prstGeom>
          <a:solidFill>
            <a:srgbClr val="E9F5FB"/>
          </a:solidFill>
          <a:ln/>
        </p:spPr>
        <p:txBody>
          <a:bodyPr/>
          <a:lstStyle/>
          <a:p>
            <a:endParaRPr lang="fr-FR"/>
          </a:p>
        </p:txBody>
      </p:sp>
      <p:sp>
        <p:nvSpPr>
          <p:cNvPr id="27" name="Text 23"/>
          <p:cNvSpPr/>
          <p:nvPr/>
        </p:nvSpPr>
        <p:spPr>
          <a:xfrm>
            <a:off x="504825"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28" name="Text 24"/>
          <p:cNvSpPr/>
          <p:nvPr/>
        </p:nvSpPr>
        <p:spPr>
          <a:xfrm>
            <a:off x="5800725" y="3655616"/>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9" name="Shape 25"/>
          <p:cNvSpPr/>
          <p:nvPr/>
        </p:nvSpPr>
        <p:spPr>
          <a:xfrm>
            <a:off x="6438900" y="3559473"/>
            <a:ext cx="5400675" cy="496193"/>
          </a:xfrm>
          <a:prstGeom prst="rect">
            <a:avLst/>
          </a:prstGeom>
          <a:solidFill>
            <a:srgbClr val="F4F4F6"/>
          </a:solidFill>
          <a:ln/>
        </p:spPr>
        <p:txBody>
          <a:bodyPr/>
          <a:lstStyle/>
          <a:p>
            <a:endParaRPr lang="fr-FR"/>
          </a:p>
        </p:txBody>
      </p:sp>
      <p:sp>
        <p:nvSpPr>
          <p:cNvPr id="30" name="Text 26"/>
          <p:cNvSpPr/>
          <p:nvPr/>
        </p:nvSpPr>
        <p:spPr>
          <a:xfrm>
            <a:off x="6591300"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Risk, through its recovery term</a:t>
            </a:r>
            <a:endParaRPr lang="en-US" sz="1350" dirty="0"/>
          </a:p>
        </p:txBody>
      </p:sp>
      <p:sp>
        <p:nvSpPr>
          <p:cNvPr id="31" name="Text 27"/>
          <p:cNvSpPr/>
          <p:nvPr/>
        </p:nvSpPr>
        <p:spPr>
          <a:xfrm>
            <a:off x="504825"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i="1" dirty="0">
                <a:solidFill>
                  <a:srgbClr val="858591"/>
                </a:solidFill>
                <a:latin typeface="Calibri" pitchFamily="34" charset="0"/>
                <a:ea typeface="Calibri" pitchFamily="34" charset="-122"/>
                <a:cs typeface="Calibri" pitchFamily="34" charset="-120"/>
              </a:rPr>
              <a:t>No declared counterpart</a:t>
            </a:r>
            <a:endParaRPr lang="en-US" sz="1350" dirty="0"/>
          </a:p>
        </p:txBody>
      </p:sp>
      <p:sp>
        <p:nvSpPr>
          <p:cNvPr id="32" name="Text 28"/>
          <p:cNvSpPr/>
          <p:nvPr/>
        </p:nvSpPr>
        <p:spPr>
          <a:xfrm>
            <a:off x="5800725" y="4237534"/>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C0C0C8"/>
                </a:solidFill>
                <a:latin typeface="Calibri" pitchFamily="34" charset="0"/>
                <a:ea typeface="Calibri" pitchFamily="34" charset="-122"/>
                <a:cs typeface="Calibri" pitchFamily="34" charset="-120"/>
              </a:rPr>
              <a:t>↔</a:t>
            </a:r>
            <a:endParaRPr lang="en-US" sz="1650" dirty="0"/>
          </a:p>
        </p:txBody>
      </p:sp>
      <p:sp>
        <p:nvSpPr>
          <p:cNvPr id="33" name="Shape 29"/>
          <p:cNvSpPr/>
          <p:nvPr/>
        </p:nvSpPr>
        <p:spPr>
          <a:xfrm>
            <a:off x="6438900" y="4141391"/>
            <a:ext cx="5400675" cy="496193"/>
          </a:xfrm>
          <a:prstGeom prst="rect">
            <a:avLst/>
          </a:prstGeom>
          <a:solidFill>
            <a:srgbClr val="E9E9ED"/>
          </a:solidFill>
          <a:ln/>
        </p:spPr>
        <p:txBody>
          <a:bodyPr/>
          <a:lstStyle/>
          <a:p>
            <a:endParaRPr lang="fr-FR"/>
          </a:p>
        </p:txBody>
      </p:sp>
      <p:sp>
        <p:nvSpPr>
          <p:cNvPr id="34" name="Text 30"/>
          <p:cNvSpPr/>
          <p:nvPr/>
        </p:nvSpPr>
        <p:spPr>
          <a:xfrm>
            <a:off x="6591300"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Cost and carbon, arbitration only</a:t>
            </a:r>
            <a:endParaRPr lang="en-US" sz="1350" dirty="0"/>
          </a:p>
        </p:txBody>
      </p:sp>
      <p:sp>
        <p:nvSpPr>
          <p:cNvPr id="35" name="Shape 31"/>
          <p:cNvSpPr/>
          <p:nvPr/>
        </p:nvSpPr>
        <p:spPr>
          <a:xfrm>
            <a:off x="5962650" y="4724400"/>
            <a:ext cx="266700" cy="368598"/>
          </a:xfrm>
          <a:prstGeom prst="rect">
            <a:avLst/>
          </a:prstGeom>
          <a:solidFill>
            <a:srgbClr val="063C67"/>
          </a:solidFill>
          <a:ln/>
        </p:spPr>
        <p:txBody>
          <a:bodyPr/>
          <a:lstStyle/>
          <a:p>
            <a:endParaRPr lang="fr-FR"/>
          </a:p>
        </p:txBody>
      </p:sp>
      <p:sp>
        <p:nvSpPr>
          <p:cNvPr id="36" name="Shape 32"/>
          <p:cNvSpPr/>
          <p:nvPr/>
        </p:nvSpPr>
        <p:spPr>
          <a:xfrm>
            <a:off x="352425" y="5029201"/>
            <a:ext cx="11496770" cy="1436390"/>
          </a:xfrm>
          <a:prstGeom prst="rect">
            <a:avLst/>
          </a:prstGeom>
          <a:solidFill>
            <a:srgbClr val="063C67"/>
          </a:solidFill>
          <a:ln/>
        </p:spPr>
        <p:txBody>
          <a:bodyPr/>
          <a:lstStyle/>
          <a:p>
            <a:endParaRPr lang="fr-FR"/>
          </a:p>
        </p:txBody>
      </p:sp>
      <p:sp>
        <p:nvSpPr>
          <p:cNvPr id="37" name="Text 33"/>
          <p:cNvSpPr/>
          <p:nvPr/>
        </p:nvSpPr>
        <p:spPr>
          <a:xfrm>
            <a:off x="581025" y="5181600"/>
            <a:ext cx="126358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ADEQUACY SCORE</a:t>
            </a:r>
            <a:endParaRPr lang="en-US" sz="1650" dirty="0"/>
          </a:p>
        </p:txBody>
      </p:sp>
      <p:sp>
        <p:nvSpPr>
          <p:cNvPr id="38" name="Text 34"/>
          <p:cNvSpPr/>
          <p:nvPr/>
        </p:nvSpPr>
        <p:spPr>
          <a:xfrm>
            <a:off x="581025" y="5504688"/>
            <a:ext cx="2743200" cy="420624"/>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FFFFFF"/>
                </a:solidFill>
                <a:latin typeface="Calibri" pitchFamily="34" charset="0"/>
                <a:ea typeface="Calibri" pitchFamily="34" charset="-122"/>
                <a:cs typeface="Calibri" pitchFamily="34" charset="-120"/>
              </a:rPr>
              <a:t>The distance between the two signals, on a 0 to 100 scale.</a:t>
            </a:r>
            <a:endParaRPr lang="en-US" sz="1350" dirty="0"/>
          </a:p>
        </p:txBody>
      </p:sp>
      <p:pic>
        <p:nvPicPr>
          <p:cNvPr id="39" name="Image 2" descr="preencoded.png"/>
          <p:cNvPicPr>
            <a:picLocks noChangeAspect="1"/>
          </p:cNvPicPr>
          <p:nvPr/>
        </p:nvPicPr>
        <p:blipFill>
          <a:blip r:embed="rId5"/>
          <a:stretch>
            <a:fillRect/>
          </a:stretch>
        </p:blipFill>
        <p:spPr>
          <a:xfrm>
            <a:off x="3381375" y="5600601"/>
            <a:ext cx="433784" cy="266700"/>
          </a:xfrm>
          <a:prstGeom prst="rect">
            <a:avLst/>
          </a:prstGeom>
        </p:spPr>
      </p:pic>
      <p:sp>
        <p:nvSpPr>
          <p:cNvPr id="40" name="Shape 35"/>
          <p:cNvSpPr/>
          <p:nvPr/>
        </p:nvSpPr>
        <p:spPr>
          <a:xfrm>
            <a:off x="3929460" y="5561608"/>
            <a:ext cx="4069358" cy="95250"/>
          </a:xfrm>
          <a:prstGeom prst="rect">
            <a:avLst/>
          </a:prstGeom>
          <a:solidFill>
            <a:srgbClr val="7ECBEE"/>
          </a:solidFill>
          <a:ln/>
        </p:spPr>
        <p:txBody>
          <a:bodyPr/>
          <a:lstStyle/>
          <a:p>
            <a:endParaRPr lang="fr-FR"/>
          </a:p>
        </p:txBody>
      </p:sp>
      <p:sp>
        <p:nvSpPr>
          <p:cNvPr id="41" name="Text 36"/>
          <p:cNvSpPr/>
          <p:nvPr/>
        </p:nvSpPr>
        <p:spPr>
          <a:xfrm>
            <a:off x="3929460" y="5685433"/>
            <a:ext cx="8952588"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False urgency · declared above computed · weight 1.0</a:t>
            </a:r>
            <a:endParaRPr lang="en-US" sz="1200" dirty="0"/>
          </a:p>
        </p:txBody>
      </p:sp>
      <p:pic>
        <p:nvPicPr>
          <p:cNvPr id="42" name="Image 3" descr="preencoded.png"/>
          <p:cNvPicPr>
            <a:picLocks noChangeAspect="1"/>
          </p:cNvPicPr>
          <p:nvPr/>
        </p:nvPicPr>
        <p:blipFill>
          <a:blip r:embed="rId6"/>
          <a:stretch>
            <a:fillRect/>
          </a:stretch>
        </p:blipFill>
        <p:spPr>
          <a:xfrm>
            <a:off x="3588411" y="6021586"/>
            <a:ext cx="232073" cy="266700"/>
          </a:xfrm>
          <a:prstGeom prst="rect">
            <a:avLst/>
          </a:prstGeom>
        </p:spPr>
      </p:pic>
      <p:sp>
        <p:nvSpPr>
          <p:cNvPr id="43" name="Shape 37"/>
          <p:cNvSpPr/>
          <p:nvPr/>
        </p:nvSpPr>
        <p:spPr>
          <a:xfrm>
            <a:off x="3934784" y="5982593"/>
            <a:ext cx="7883227" cy="95250"/>
          </a:xfrm>
          <a:prstGeom prst="rect">
            <a:avLst/>
          </a:prstGeom>
          <a:solidFill>
            <a:srgbClr val="FFDA65"/>
          </a:solidFill>
          <a:ln/>
        </p:spPr>
        <p:txBody>
          <a:bodyPr/>
          <a:lstStyle/>
          <a:p>
            <a:endParaRPr lang="fr-FR"/>
          </a:p>
        </p:txBody>
      </p:sp>
      <p:sp>
        <p:nvSpPr>
          <p:cNvPr id="44" name="Text 38"/>
          <p:cNvSpPr/>
          <p:nvPr/>
        </p:nvSpPr>
        <p:spPr>
          <a:xfrm>
            <a:off x="3934784" y="6106418"/>
            <a:ext cx="917447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Hidden risk · computed above declared · weight 2.25</a:t>
            </a:r>
            <a:endParaRPr lang="en-US" sz="1200" dirty="0"/>
          </a:p>
        </p:txBody>
      </p:sp>
      <p:sp>
        <p:nvSpPr>
          <p:cNvPr id="45" name="Text 39"/>
          <p:cNvSpPr/>
          <p:nvPr/>
        </p:nvSpPr>
        <p:spPr>
          <a:xfrm>
            <a:off x="585216" y="5925312"/>
            <a:ext cx="2743200" cy="219456"/>
          </a:xfrm>
          <a:prstGeom prst="rect">
            <a:avLst/>
          </a:prstGeom>
          <a:noFill/>
          <a:ln/>
        </p:spPr>
        <p:txBody>
          <a:bodyPr wrap="square" lIns="25400" tIns="25400" rIns="25400" bIns="25400" rtlCol="0" anchor="t">
            <a:normAutofit/>
          </a:bodyPr>
          <a:lstStyle/>
          <a:p>
            <a:pPr marL="0" indent="0" algn="l">
              <a:lnSpc>
                <a:spcPct val="120000"/>
              </a:lnSpc>
              <a:buNone/>
            </a:pPr>
            <a:r>
              <a:rPr lang="en-US" sz="850" dirty="0" b="0">
                <a:solidFill>
                  <a:srgbClr val="7ECBEE"/>
                </a:solidFill>
                <a:latin typeface="Calibri" pitchFamily="34" charset="0"/>
                <a:ea typeface="Calibri" pitchFamily="34" charset="-122"/>
                <a:cs typeface="Calibri" pitchFamily="34" charset="-120"/>
              </a:rPr>
              <a:t>Weight 2.25 is Prospect Theory's loss aversion.</a:t>
            </a:r>
            <a:endParaRPr lang="en-US" sz="1200" dirty="0"/>
          </a:p>
        </p:txBody>
      </p:sp>
      <p:pic>
        <p:nvPicPr>
          <p:cNvPr id="46" name="Image 4" descr="preencoded.png"/>
          <p:cNvPicPr>
            <a:picLocks noChangeAspect="1"/>
          </p:cNvPicPr>
          <p:nvPr/>
        </p:nvPicPr>
        <p:blipFill>
          <a:blip r:embed="rId7"/>
          <a:stretch>
            <a:fillRect/>
          </a:stretch>
        </p:blipFill>
        <p:spPr>
          <a:xfrm>
            <a:off x="11229975" y="6567488"/>
            <a:ext cx="714375" cy="71438"/>
          </a:xfrm>
          <a:prstGeom prst="rect">
            <a:avLst/>
          </a:prstGeom>
        </p:spPr>
      </p:pic>
      <p:sp>
        <p:nvSpPr>
          <p:cNvPr id="47" name="TextBox 46"/>
          <p:cNvSpPr txBox="1"/>
          <p:nvPr/>
        </p:nvSpPr>
        <p:spPr>
          <a:xfrm>
            <a:off x="585216" y="6126480"/>
            <a:ext cx="2743200" cy="274320"/>
          </a:xfrm>
          <a:prstGeom prst="rect">
            <a:avLst/>
          </a:prstGeom>
          <a:noFill/>
        </p:spPr>
        <p:txBody>
          <a:bodyPr wrap="square" lIns="25400" rIns="25400" tIns="25400" bIns="25400" anchor="t">
            <a:spAutoFit/>
          </a:bodyPr>
          <a:lstStyle/>
          <a:p>
            <a:pPr algn="l"/>
            <a:r>
              <a:rPr sz="850" b="0">
                <a:solidFill>
                  <a:srgbClr val="7ECBEE"/>
                </a:solidFill>
                <a:latin typeface="Arial"/>
              </a:rPr>
              <a:t>Under-triage costs a life where over-triage costs a queue.</a:t>
            </a:r>
          </a:p>
        </p:txBody>
      </p:sp>
      <p:sp>
        <p:nvSpPr>
          <p:cNvPr id="48" name="Rectangle 47"/>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50" name="Rectangle 49"/>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52" name="Rectangle 51"/>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54" name="Rectangle 53"/>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56" name="Rectangle 55"/>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58" name="TextBox 57"/>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REAL URGENCY</a:t>
            </a:r>
            <a:endParaRPr lang="en-US" sz="3225" dirty="0"/>
          </a:p>
        </p:txBody>
      </p:sp>
      <p:sp>
        <p:nvSpPr>
          <p:cNvPr id="4" name="Text 2"/>
          <p:cNvSpPr/>
          <p:nvPr/>
        </p:nvSpPr>
        <p:spPr>
          <a:xfrm>
            <a:off x="352425" y="666750"/>
            <a:ext cx="10607040" cy="295771"/>
          </a:xfrm>
          <a:prstGeom prst="rect">
            <a:avLst/>
          </a:prstGeom>
          <a:noFill/>
          <a:ln/>
        </p:spPr>
        <p:txBody>
          <a:bodyPr wrap="square" lIns="25400" tIns="25400" rIns="25400" bIns="25400" rtlCol="0" anchor="t">
            <a:normAutofit fontScale="85000" lnSpcReduction="2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Non-compensatory aggregation: one failed block cannot be masked</a:t>
            </a:r>
            <a:endParaRPr lang="en-US" sz="1725" dirty="0"/>
          </a:p>
        </p:txBody>
      </p:sp>
      <p:sp>
        <p:nvSpPr>
          <p:cNvPr id="5" name="Shape 3"/>
          <p:cNvSpPr/>
          <p:nvPr/>
        </p:nvSpPr>
        <p:spPr>
          <a:xfrm>
            <a:off x="352425" y="1333500"/>
            <a:ext cx="11753850" cy="677466"/>
          </a:xfrm>
          <a:prstGeom prst="rect">
            <a:avLst/>
          </a:prstGeom>
          <a:solidFill>
            <a:srgbClr val="F4F4F6"/>
          </a:solidFill>
          <a:ln/>
        </p:spPr>
        <p:txBody>
          <a:bodyPr/>
          <a:lstStyle/>
          <a:p>
            <a:endParaRPr lang="fr-FR"/>
          </a:p>
        </p:txBody>
      </p:sp>
      <p:sp>
        <p:nvSpPr>
          <p:cNvPr id="6" name="Text 4"/>
          <p:cNvSpPr/>
          <p:nvPr/>
        </p:nvSpPr>
        <p:spPr>
          <a:xfrm>
            <a:off x="581025" y="1541066"/>
            <a:ext cx="6773486"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 node is in trouble if </a:t>
            </a:r>
            <a:r>
              <a:rPr lang="en-US" sz="1425" b="1" dirty="0">
                <a:solidFill>
                  <a:srgbClr val="063C67"/>
                </a:solidFill>
                <a:latin typeface="Calibri" pitchFamily="34" charset="0"/>
                <a:ea typeface="Calibri" pitchFamily="34" charset="-122"/>
                <a:cs typeface="Calibri" pitchFamily="34" charset="-120"/>
              </a:rPr>
              <a:t>any one </a:t>
            </a:r>
            <a:r>
              <a:rPr lang="en-US" sz="1425" dirty="0">
                <a:solidFill>
                  <a:srgbClr val="063C67"/>
                </a:solidFill>
                <a:latin typeface="Calibri" pitchFamily="34" charset="0"/>
                <a:ea typeface="Calibri" pitchFamily="34" charset="-122"/>
                <a:cs typeface="Calibri" pitchFamily="34" charset="-120"/>
              </a:rPr>
              <a:t>block fires. A healthy block cannot offset a failed one.</a:t>
            </a:r>
            <a:endParaRPr lang="en-US" sz="1425" dirty="0"/>
          </a:p>
        </p:txBody>
      </p:sp>
      <p:sp>
        <p:nvSpPr>
          <p:cNvPr id="7" name="Text 5"/>
          <p:cNvSpPr/>
          <p:nvPr/>
        </p:nvSpPr>
        <p:spPr>
          <a:xfrm>
            <a:off x="7005439" y="1466850"/>
            <a:ext cx="2467471" cy="448866"/>
          </a:xfrm>
          <a:prstGeom prst="rect">
            <a:avLst/>
          </a:prstGeom>
          <a:noFill/>
          <a:ln/>
        </p:spPr>
        <p:txBody>
          <a:bodyPr wrap="none" lIns="25400" tIns="25400" rIns="25400" bIns="25400" rtlCol="0" anchor="t">
            <a:normAutofit/>
          </a:bodyPr>
          <a:lstStyle/>
          <a:p>
            <a:pPr marL="0" indent="0" algn="l">
              <a:lnSpc>
                <a:spcPct val="127317"/>
              </a:lnSpc>
              <a:buNone/>
            </a:pPr>
            <a:r>
              <a:rPr lang="en-US" sz="1800" i="1" dirty="0">
                <a:solidFill>
                  <a:srgbClr val="063C67"/>
                </a:solidFill>
                <a:latin typeface="Georgia" pitchFamily="34" charset="0"/>
                <a:ea typeface="Georgia" pitchFamily="34" charset="-122"/>
                <a:cs typeface="Georgia" pitchFamily="34" charset="-120"/>
              </a:rPr>
              <a:t>U</a:t>
            </a:r>
            <a:r>
              <a:rPr lang="en-US" sz="1500" i="1" baseline="-40000" dirty="0">
                <a:solidFill>
                  <a:srgbClr val="063C67"/>
                </a:solidFill>
                <a:latin typeface="Georgia" pitchFamily="34" charset="0"/>
                <a:ea typeface="Georgia" pitchFamily="34" charset="-122"/>
                <a:cs typeface="Georgia" pitchFamily="34" charset="-120"/>
              </a:rPr>
              <a:t>r </a:t>
            </a:r>
            <a:r>
              <a:rPr lang="en-US" sz="1800" i="1" dirty="0">
                <a:solidFill>
                  <a:srgbClr val="063C67"/>
                </a:solidFill>
                <a:latin typeface="Georgia" pitchFamily="34" charset="0"/>
                <a:ea typeface="Georgia" pitchFamily="34" charset="-122"/>
                <a:cs typeface="Georgia" pitchFamily="34" charset="-120"/>
              </a:rPr>
              <a:t>= 1 − ∏</a:t>
            </a:r>
            <a:r>
              <a:rPr lang="en-US" sz="1500" i="1" baseline="-40000" dirty="0">
                <a:solidFill>
                  <a:srgbClr val="063C67"/>
                </a:solidFill>
                <a:latin typeface="Georgia" pitchFamily="34" charset="0"/>
                <a:ea typeface="Georgia" pitchFamily="34" charset="-122"/>
                <a:cs typeface="Georgia" pitchFamily="34" charset="-120"/>
              </a:rPr>
              <a:t>m </a:t>
            </a:r>
            <a:r>
              <a:rPr lang="en-US" sz="1800" i="1" dirty="0">
                <a:solidFill>
                  <a:srgbClr val="063C67"/>
                </a:solidFill>
                <a:latin typeface="Georgia" pitchFamily="34" charset="0"/>
                <a:ea typeface="Georgia" pitchFamily="34" charset="-122"/>
                <a:cs typeface="Georgia" pitchFamily="34" charset="-120"/>
              </a:rPr>
              <a:t>(1 − u</a:t>
            </a:r>
            <a:r>
              <a:rPr lang="en-US" sz="1500" i="1" baseline="-40000" dirty="0">
                <a:solidFill>
                  <a:srgbClr val="063C67"/>
                </a:solidFill>
                <a:latin typeface="Georgia" pitchFamily="34" charset="0"/>
                <a:ea typeface="Georgia" pitchFamily="34" charset="-122"/>
                <a:cs typeface="Georgia" pitchFamily="34" charset="-120"/>
              </a:rPr>
              <a:t>m</a:t>
            </a:r>
            <a:r>
              <a:rPr lang="en-US" sz="1800" i="1" dirty="0">
                <a:solidFill>
                  <a:srgbClr val="063C67"/>
                </a:solidFill>
                <a:latin typeface="Georgia" pitchFamily="34" charset="0"/>
                <a:ea typeface="Georgia" pitchFamily="34" charset="-122"/>
                <a:cs typeface="Georgia" pitchFamily="34" charset="-120"/>
              </a:rPr>
              <a:t>)</a:t>
            </a:r>
            <a:r>
              <a:rPr lang="en-US" sz="1500" i="1" baseline="30000" dirty="0">
                <a:solidFill>
                  <a:srgbClr val="063C67"/>
                </a:solidFill>
                <a:latin typeface="Georgia" pitchFamily="34" charset="0"/>
                <a:ea typeface="Georgia" pitchFamily="34" charset="-122"/>
                <a:cs typeface="Georgia" pitchFamily="34" charset="-120"/>
              </a:rPr>
              <a:t>ω</a:t>
            </a:r>
            <a:r>
              <a:rPr lang="en-US" sz="1250" i="1" baseline="-40000" dirty="0">
                <a:solidFill>
                  <a:srgbClr val="063C67"/>
                </a:solidFill>
                <a:latin typeface="Georgia" pitchFamily="34" charset="0"/>
                <a:ea typeface="Georgia" pitchFamily="34" charset="-122"/>
                <a:cs typeface="Georgia" pitchFamily="34" charset="-120"/>
              </a:rPr>
              <a:t>m</a:t>
            </a:r>
            <a:endParaRPr lang="en-US" sz="1800" dirty="0"/>
          </a:p>
        </p:txBody>
      </p:sp>
      <p:sp>
        <p:nvSpPr>
          <p:cNvPr id="8" name="Text 6"/>
          <p:cNvSpPr/>
          <p:nvPr/>
        </p:nvSpPr>
        <p:spPr>
          <a:xfrm>
            <a:off x="35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A</a:t>
            </a:r>
            <a:endParaRPr lang="en-US" sz="1800" dirty="0"/>
          </a:p>
        </p:txBody>
      </p:sp>
      <p:sp>
        <p:nvSpPr>
          <p:cNvPr id="9" name="Text 7"/>
          <p:cNvSpPr/>
          <p:nvPr/>
        </p:nvSpPr>
        <p:spPr>
          <a:xfrm>
            <a:off x="35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one block has failed</a:t>
            </a:r>
            <a:endParaRPr lang="en-US" sz="1350" dirty="0"/>
          </a:p>
        </p:txBody>
      </p:sp>
      <p:sp>
        <p:nvSpPr>
          <p:cNvPr id="10" name="Text 8"/>
          <p:cNvSpPr/>
          <p:nvPr/>
        </p:nvSpPr>
        <p:spPr>
          <a:xfrm>
            <a:off x="35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11" name="Shape 9"/>
          <p:cNvSpPr/>
          <p:nvPr/>
        </p:nvSpPr>
        <p:spPr>
          <a:xfrm>
            <a:off x="1400175" y="2872185"/>
            <a:ext cx="1790700" cy="184150"/>
          </a:xfrm>
          <a:prstGeom prst="rect">
            <a:avLst/>
          </a:prstGeom>
          <a:ln w="6350">
            <a:solidFill>
              <a:srgbClr val="C0C0C8"/>
            </a:solidFill>
            <a:prstDash val="solid"/>
          </a:ln>
        </p:spPr>
        <p:txBody>
          <a:bodyPr/>
          <a:lstStyle/>
          <a:p>
            <a:endParaRPr lang="fr-FR"/>
          </a:p>
        </p:txBody>
      </p:sp>
      <p:sp>
        <p:nvSpPr>
          <p:cNvPr id="12" name="Shape 10"/>
          <p:cNvSpPr/>
          <p:nvPr/>
        </p:nvSpPr>
        <p:spPr>
          <a:xfrm>
            <a:off x="1406525" y="2878534"/>
            <a:ext cx="88900" cy="171450"/>
          </a:xfrm>
          <a:prstGeom prst="rect">
            <a:avLst/>
          </a:prstGeom>
          <a:solidFill>
            <a:srgbClr val="1D93C9"/>
          </a:solidFill>
          <a:ln/>
        </p:spPr>
        <p:txBody>
          <a:bodyPr/>
          <a:lstStyle/>
          <a:p>
            <a:endParaRPr lang="fr-FR"/>
          </a:p>
        </p:txBody>
      </p:sp>
      <p:sp>
        <p:nvSpPr>
          <p:cNvPr id="13" name="Text 11"/>
          <p:cNvSpPr/>
          <p:nvPr/>
        </p:nvSpPr>
        <p:spPr>
          <a:xfrm>
            <a:off x="320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14" name="Text 12"/>
          <p:cNvSpPr/>
          <p:nvPr/>
        </p:nvSpPr>
        <p:spPr>
          <a:xfrm>
            <a:off x="35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15" name="Shape 13"/>
          <p:cNvSpPr/>
          <p:nvPr/>
        </p:nvSpPr>
        <p:spPr>
          <a:xfrm>
            <a:off x="1400175" y="3192661"/>
            <a:ext cx="1790700" cy="184150"/>
          </a:xfrm>
          <a:prstGeom prst="rect">
            <a:avLst/>
          </a:prstGeom>
          <a:ln w="6350">
            <a:solidFill>
              <a:srgbClr val="C0C0C8"/>
            </a:solidFill>
            <a:prstDash val="solid"/>
          </a:ln>
        </p:spPr>
        <p:txBody>
          <a:bodyPr/>
          <a:lstStyle/>
          <a:p>
            <a:endParaRPr lang="fr-FR"/>
          </a:p>
        </p:txBody>
      </p:sp>
      <p:sp>
        <p:nvSpPr>
          <p:cNvPr id="16" name="Shape 14"/>
          <p:cNvSpPr/>
          <p:nvPr/>
        </p:nvSpPr>
        <p:spPr>
          <a:xfrm>
            <a:off x="1406525" y="3199011"/>
            <a:ext cx="1600200" cy="171450"/>
          </a:xfrm>
          <a:prstGeom prst="rect">
            <a:avLst/>
          </a:prstGeom>
          <a:solidFill>
            <a:srgbClr val="FFC800"/>
          </a:solidFill>
          <a:ln/>
        </p:spPr>
        <p:txBody>
          <a:bodyPr/>
          <a:lstStyle/>
          <a:p>
            <a:endParaRPr lang="fr-FR"/>
          </a:p>
        </p:txBody>
      </p:sp>
      <p:sp>
        <p:nvSpPr>
          <p:cNvPr id="17" name="Text 15"/>
          <p:cNvSpPr/>
          <p:nvPr/>
        </p:nvSpPr>
        <p:spPr>
          <a:xfrm>
            <a:off x="320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b="1" dirty="0">
                <a:solidFill>
                  <a:srgbClr val="176F98"/>
                </a:solidFill>
                <a:latin typeface="Calibri" pitchFamily="34" charset="0"/>
                <a:ea typeface="Calibri" pitchFamily="34" charset="-122"/>
                <a:cs typeface="Calibri" pitchFamily="34" charset="-120"/>
              </a:rPr>
              <a:t>0.90</a:t>
            </a:r>
            <a:endParaRPr lang="en-US" sz="1275" dirty="0"/>
          </a:p>
        </p:txBody>
      </p:sp>
      <p:sp>
        <p:nvSpPr>
          <p:cNvPr id="18" name="Text 16"/>
          <p:cNvSpPr/>
          <p:nvPr/>
        </p:nvSpPr>
        <p:spPr>
          <a:xfrm>
            <a:off x="35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19" name="Shape 17"/>
          <p:cNvSpPr/>
          <p:nvPr/>
        </p:nvSpPr>
        <p:spPr>
          <a:xfrm>
            <a:off x="1400175" y="3513138"/>
            <a:ext cx="1790700" cy="184150"/>
          </a:xfrm>
          <a:prstGeom prst="rect">
            <a:avLst/>
          </a:prstGeom>
          <a:ln w="6350">
            <a:solidFill>
              <a:srgbClr val="C0C0C8"/>
            </a:solidFill>
            <a:prstDash val="solid"/>
          </a:ln>
        </p:spPr>
        <p:txBody>
          <a:bodyPr/>
          <a:lstStyle/>
          <a:p>
            <a:endParaRPr lang="fr-FR"/>
          </a:p>
        </p:txBody>
      </p:sp>
      <p:sp>
        <p:nvSpPr>
          <p:cNvPr id="20" name="Shape 18"/>
          <p:cNvSpPr/>
          <p:nvPr/>
        </p:nvSpPr>
        <p:spPr>
          <a:xfrm>
            <a:off x="1406525" y="3519488"/>
            <a:ext cx="88900" cy="171450"/>
          </a:xfrm>
          <a:prstGeom prst="rect">
            <a:avLst/>
          </a:prstGeom>
          <a:solidFill>
            <a:srgbClr val="1D93C9"/>
          </a:solidFill>
          <a:ln/>
        </p:spPr>
        <p:txBody>
          <a:bodyPr/>
          <a:lstStyle/>
          <a:p>
            <a:endParaRPr lang="fr-FR"/>
          </a:p>
        </p:txBody>
      </p:sp>
      <p:sp>
        <p:nvSpPr>
          <p:cNvPr id="21" name="Text 19"/>
          <p:cNvSpPr/>
          <p:nvPr/>
        </p:nvSpPr>
        <p:spPr>
          <a:xfrm>
            <a:off x="320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2" name="Text 20"/>
          <p:cNvSpPr/>
          <p:nvPr/>
        </p:nvSpPr>
        <p:spPr>
          <a:xfrm>
            <a:off x="35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23" name="Shape 21"/>
          <p:cNvSpPr/>
          <p:nvPr/>
        </p:nvSpPr>
        <p:spPr>
          <a:xfrm>
            <a:off x="1400175" y="3833614"/>
            <a:ext cx="1790700" cy="184150"/>
          </a:xfrm>
          <a:prstGeom prst="rect">
            <a:avLst/>
          </a:prstGeom>
          <a:ln w="6350">
            <a:solidFill>
              <a:srgbClr val="C0C0C8"/>
            </a:solidFill>
            <a:prstDash val="solid"/>
          </a:ln>
        </p:spPr>
        <p:txBody>
          <a:bodyPr/>
          <a:lstStyle/>
          <a:p>
            <a:endParaRPr lang="fr-FR"/>
          </a:p>
        </p:txBody>
      </p:sp>
      <p:sp>
        <p:nvSpPr>
          <p:cNvPr id="24" name="Shape 22"/>
          <p:cNvSpPr/>
          <p:nvPr/>
        </p:nvSpPr>
        <p:spPr>
          <a:xfrm>
            <a:off x="1406525" y="3839964"/>
            <a:ext cx="88900" cy="171450"/>
          </a:xfrm>
          <a:prstGeom prst="rect">
            <a:avLst/>
          </a:prstGeom>
          <a:solidFill>
            <a:srgbClr val="1D93C9"/>
          </a:solidFill>
          <a:ln/>
        </p:spPr>
        <p:txBody>
          <a:bodyPr/>
          <a:lstStyle/>
          <a:p>
            <a:endParaRPr lang="fr-FR"/>
          </a:p>
        </p:txBody>
      </p:sp>
      <p:sp>
        <p:nvSpPr>
          <p:cNvPr id="25" name="Text 23"/>
          <p:cNvSpPr/>
          <p:nvPr/>
        </p:nvSpPr>
        <p:spPr>
          <a:xfrm>
            <a:off x="320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6" name="Text 24"/>
          <p:cNvSpPr/>
          <p:nvPr/>
        </p:nvSpPr>
        <p:spPr>
          <a:xfrm>
            <a:off x="35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27" name="Shape 25"/>
          <p:cNvSpPr/>
          <p:nvPr/>
        </p:nvSpPr>
        <p:spPr>
          <a:xfrm>
            <a:off x="1400175" y="4154091"/>
            <a:ext cx="1790700" cy="184150"/>
          </a:xfrm>
          <a:prstGeom prst="rect">
            <a:avLst/>
          </a:prstGeom>
          <a:ln w="6350">
            <a:solidFill>
              <a:srgbClr val="C0C0C8"/>
            </a:solidFill>
            <a:prstDash val="solid"/>
          </a:ln>
        </p:spPr>
        <p:txBody>
          <a:bodyPr/>
          <a:lstStyle/>
          <a:p>
            <a:endParaRPr lang="fr-FR"/>
          </a:p>
        </p:txBody>
      </p:sp>
      <p:sp>
        <p:nvSpPr>
          <p:cNvPr id="28" name="Shape 26"/>
          <p:cNvSpPr/>
          <p:nvPr/>
        </p:nvSpPr>
        <p:spPr>
          <a:xfrm>
            <a:off x="1406525" y="4160441"/>
            <a:ext cx="88900" cy="171450"/>
          </a:xfrm>
          <a:prstGeom prst="rect">
            <a:avLst/>
          </a:prstGeom>
          <a:solidFill>
            <a:srgbClr val="1D93C9"/>
          </a:solidFill>
          <a:ln/>
        </p:spPr>
        <p:txBody>
          <a:bodyPr/>
          <a:lstStyle/>
          <a:p>
            <a:endParaRPr lang="fr-FR"/>
          </a:p>
        </p:txBody>
      </p:sp>
      <p:sp>
        <p:nvSpPr>
          <p:cNvPr id="29" name="Text 27"/>
          <p:cNvSpPr/>
          <p:nvPr/>
        </p:nvSpPr>
        <p:spPr>
          <a:xfrm>
            <a:off x="320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0" name="Text 28"/>
          <p:cNvSpPr/>
          <p:nvPr/>
        </p:nvSpPr>
        <p:spPr>
          <a:xfrm>
            <a:off x="35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31" name="Shape 29"/>
          <p:cNvSpPr/>
          <p:nvPr/>
        </p:nvSpPr>
        <p:spPr>
          <a:xfrm>
            <a:off x="1400175" y="4474567"/>
            <a:ext cx="1790700" cy="184150"/>
          </a:xfrm>
          <a:prstGeom prst="rect">
            <a:avLst/>
          </a:prstGeom>
          <a:ln w="6350">
            <a:solidFill>
              <a:srgbClr val="C0C0C8"/>
            </a:solidFill>
            <a:prstDash val="solid"/>
          </a:ln>
        </p:spPr>
        <p:txBody>
          <a:bodyPr/>
          <a:lstStyle/>
          <a:p>
            <a:endParaRPr lang="fr-FR"/>
          </a:p>
        </p:txBody>
      </p:sp>
      <p:sp>
        <p:nvSpPr>
          <p:cNvPr id="32" name="Shape 30"/>
          <p:cNvSpPr/>
          <p:nvPr/>
        </p:nvSpPr>
        <p:spPr>
          <a:xfrm>
            <a:off x="1406525" y="4480917"/>
            <a:ext cx="88900" cy="171450"/>
          </a:xfrm>
          <a:prstGeom prst="rect">
            <a:avLst/>
          </a:prstGeom>
          <a:solidFill>
            <a:srgbClr val="1D93C9"/>
          </a:solidFill>
          <a:ln/>
        </p:spPr>
        <p:txBody>
          <a:bodyPr/>
          <a:lstStyle/>
          <a:p>
            <a:endParaRPr lang="fr-FR"/>
          </a:p>
        </p:txBody>
      </p:sp>
      <p:sp>
        <p:nvSpPr>
          <p:cNvPr id="33" name="Text 31"/>
          <p:cNvSpPr/>
          <p:nvPr/>
        </p:nvSpPr>
        <p:spPr>
          <a:xfrm>
            <a:off x="320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4" name="Shape 32"/>
          <p:cNvSpPr/>
          <p:nvPr/>
        </p:nvSpPr>
        <p:spPr>
          <a:xfrm>
            <a:off x="352425" y="4855468"/>
            <a:ext cx="3352800" cy="477143"/>
          </a:xfrm>
          <a:prstGeom prst="rect">
            <a:avLst/>
          </a:prstGeom>
          <a:solidFill>
            <a:srgbClr val="E9E9ED"/>
          </a:solidFill>
          <a:ln/>
        </p:spPr>
        <p:txBody>
          <a:bodyPr/>
          <a:lstStyle/>
          <a:p>
            <a:endParaRPr lang="fr-FR"/>
          </a:p>
        </p:txBody>
      </p:sp>
      <p:sp>
        <p:nvSpPr>
          <p:cNvPr id="35" name="Text 33"/>
          <p:cNvSpPr/>
          <p:nvPr/>
        </p:nvSpPr>
        <p:spPr>
          <a:xfrm>
            <a:off x="49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36" name="Text 34"/>
          <p:cNvSpPr/>
          <p:nvPr/>
        </p:nvSpPr>
        <p:spPr>
          <a:xfrm>
            <a:off x="2755999" y="4969768"/>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0.19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37" name="Shape 35"/>
          <p:cNvSpPr/>
          <p:nvPr/>
        </p:nvSpPr>
        <p:spPr>
          <a:xfrm>
            <a:off x="352425" y="5418336"/>
            <a:ext cx="3352800" cy="477143"/>
          </a:xfrm>
          <a:prstGeom prst="rect">
            <a:avLst/>
          </a:prstGeom>
          <a:solidFill>
            <a:srgbClr val="FFDA65"/>
          </a:solidFill>
          <a:ln/>
        </p:spPr>
        <p:txBody>
          <a:bodyPr/>
          <a:lstStyle/>
          <a:p>
            <a:endParaRPr lang="fr-FR"/>
          </a:p>
        </p:txBody>
      </p:sp>
      <p:sp>
        <p:nvSpPr>
          <p:cNvPr id="38" name="Text 36"/>
          <p:cNvSpPr/>
          <p:nvPr/>
        </p:nvSpPr>
        <p:spPr>
          <a:xfrm>
            <a:off x="49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39" name="Text 37"/>
          <p:cNvSpPr/>
          <p:nvPr/>
        </p:nvSpPr>
        <p:spPr>
          <a:xfrm>
            <a:off x="2810272" y="5532636"/>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0.92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40" name="Text 38"/>
          <p:cNvSpPr/>
          <p:nvPr/>
        </p:nvSpPr>
        <p:spPr>
          <a:xfrm>
            <a:off x="416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B</a:t>
            </a:r>
            <a:endParaRPr lang="en-US" sz="1800" dirty="0"/>
          </a:p>
        </p:txBody>
      </p:sp>
      <p:sp>
        <p:nvSpPr>
          <p:cNvPr id="41" name="Text 39"/>
          <p:cNvSpPr/>
          <p:nvPr/>
        </p:nvSpPr>
        <p:spPr>
          <a:xfrm>
            <a:off x="416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nothing has failed</a:t>
            </a:r>
            <a:endParaRPr lang="en-US" sz="1350" dirty="0"/>
          </a:p>
        </p:txBody>
      </p:sp>
      <p:sp>
        <p:nvSpPr>
          <p:cNvPr id="42" name="Text 40"/>
          <p:cNvSpPr/>
          <p:nvPr/>
        </p:nvSpPr>
        <p:spPr>
          <a:xfrm>
            <a:off x="416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43" name="Shape 41"/>
          <p:cNvSpPr/>
          <p:nvPr/>
        </p:nvSpPr>
        <p:spPr>
          <a:xfrm>
            <a:off x="5210175" y="2872185"/>
            <a:ext cx="1790700" cy="184150"/>
          </a:xfrm>
          <a:prstGeom prst="rect">
            <a:avLst/>
          </a:prstGeom>
          <a:ln w="6350">
            <a:solidFill>
              <a:srgbClr val="C0C0C8"/>
            </a:solidFill>
            <a:prstDash val="solid"/>
          </a:ln>
        </p:spPr>
        <p:txBody>
          <a:bodyPr/>
          <a:lstStyle/>
          <a:p>
            <a:endParaRPr lang="fr-FR"/>
          </a:p>
        </p:txBody>
      </p:sp>
      <p:sp>
        <p:nvSpPr>
          <p:cNvPr id="44" name="Shape 42"/>
          <p:cNvSpPr/>
          <p:nvPr/>
        </p:nvSpPr>
        <p:spPr>
          <a:xfrm>
            <a:off x="5216525" y="2878534"/>
            <a:ext cx="355600" cy="171450"/>
          </a:xfrm>
          <a:prstGeom prst="rect">
            <a:avLst/>
          </a:prstGeom>
          <a:solidFill>
            <a:srgbClr val="7ECBEE"/>
          </a:solidFill>
          <a:ln/>
        </p:spPr>
        <p:txBody>
          <a:bodyPr/>
          <a:lstStyle/>
          <a:p>
            <a:endParaRPr lang="fr-FR"/>
          </a:p>
        </p:txBody>
      </p:sp>
      <p:sp>
        <p:nvSpPr>
          <p:cNvPr id="45" name="Text 43"/>
          <p:cNvSpPr/>
          <p:nvPr/>
        </p:nvSpPr>
        <p:spPr>
          <a:xfrm>
            <a:off x="701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46" name="Text 44"/>
          <p:cNvSpPr/>
          <p:nvPr/>
        </p:nvSpPr>
        <p:spPr>
          <a:xfrm>
            <a:off x="416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47" name="Shape 45"/>
          <p:cNvSpPr/>
          <p:nvPr/>
        </p:nvSpPr>
        <p:spPr>
          <a:xfrm>
            <a:off x="5210175" y="3192661"/>
            <a:ext cx="1790700" cy="184150"/>
          </a:xfrm>
          <a:prstGeom prst="rect">
            <a:avLst/>
          </a:prstGeom>
          <a:ln w="6350">
            <a:solidFill>
              <a:srgbClr val="C0C0C8"/>
            </a:solidFill>
            <a:prstDash val="solid"/>
          </a:ln>
        </p:spPr>
        <p:txBody>
          <a:bodyPr/>
          <a:lstStyle/>
          <a:p>
            <a:endParaRPr lang="fr-FR"/>
          </a:p>
        </p:txBody>
      </p:sp>
      <p:sp>
        <p:nvSpPr>
          <p:cNvPr id="48" name="Shape 46"/>
          <p:cNvSpPr/>
          <p:nvPr/>
        </p:nvSpPr>
        <p:spPr>
          <a:xfrm>
            <a:off x="5216525" y="3199011"/>
            <a:ext cx="355600" cy="171450"/>
          </a:xfrm>
          <a:prstGeom prst="rect">
            <a:avLst/>
          </a:prstGeom>
          <a:solidFill>
            <a:srgbClr val="7ECBEE"/>
          </a:solidFill>
          <a:ln/>
        </p:spPr>
        <p:txBody>
          <a:bodyPr/>
          <a:lstStyle/>
          <a:p>
            <a:endParaRPr lang="fr-FR"/>
          </a:p>
        </p:txBody>
      </p:sp>
      <p:sp>
        <p:nvSpPr>
          <p:cNvPr id="49" name="Text 47"/>
          <p:cNvSpPr/>
          <p:nvPr/>
        </p:nvSpPr>
        <p:spPr>
          <a:xfrm>
            <a:off x="701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0" name="Text 48"/>
          <p:cNvSpPr/>
          <p:nvPr/>
        </p:nvSpPr>
        <p:spPr>
          <a:xfrm>
            <a:off x="416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51" name="Shape 49"/>
          <p:cNvSpPr/>
          <p:nvPr/>
        </p:nvSpPr>
        <p:spPr>
          <a:xfrm>
            <a:off x="5210175" y="3513138"/>
            <a:ext cx="1790700" cy="184150"/>
          </a:xfrm>
          <a:prstGeom prst="rect">
            <a:avLst/>
          </a:prstGeom>
          <a:ln w="6350">
            <a:solidFill>
              <a:srgbClr val="C0C0C8"/>
            </a:solidFill>
            <a:prstDash val="solid"/>
          </a:ln>
        </p:spPr>
        <p:txBody>
          <a:bodyPr/>
          <a:lstStyle/>
          <a:p>
            <a:endParaRPr lang="fr-FR"/>
          </a:p>
        </p:txBody>
      </p:sp>
      <p:sp>
        <p:nvSpPr>
          <p:cNvPr id="52" name="Shape 50"/>
          <p:cNvSpPr/>
          <p:nvPr/>
        </p:nvSpPr>
        <p:spPr>
          <a:xfrm>
            <a:off x="5216525" y="3519488"/>
            <a:ext cx="355600" cy="171450"/>
          </a:xfrm>
          <a:prstGeom prst="rect">
            <a:avLst/>
          </a:prstGeom>
          <a:solidFill>
            <a:srgbClr val="7ECBEE"/>
          </a:solidFill>
          <a:ln/>
        </p:spPr>
        <p:txBody>
          <a:bodyPr/>
          <a:lstStyle/>
          <a:p>
            <a:endParaRPr lang="fr-FR"/>
          </a:p>
        </p:txBody>
      </p:sp>
      <p:sp>
        <p:nvSpPr>
          <p:cNvPr id="53" name="Text 51"/>
          <p:cNvSpPr/>
          <p:nvPr/>
        </p:nvSpPr>
        <p:spPr>
          <a:xfrm>
            <a:off x="701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4" name="Text 52"/>
          <p:cNvSpPr/>
          <p:nvPr/>
        </p:nvSpPr>
        <p:spPr>
          <a:xfrm>
            <a:off x="416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55" name="Shape 53"/>
          <p:cNvSpPr/>
          <p:nvPr/>
        </p:nvSpPr>
        <p:spPr>
          <a:xfrm>
            <a:off x="5210175" y="3833614"/>
            <a:ext cx="1790700" cy="184150"/>
          </a:xfrm>
          <a:prstGeom prst="rect">
            <a:avLst/>
          </a:prstGeom>
          <a:ln w="6350">
            <a:solidFill>
              <a:srgbClr val="C0C0C8"/>
            </a:solidFill>
            <a:prstDash val="solid"/>
          </a:ln>
        </p:spPr>
        <p:txBody>
          <a:bodyPr/>
          <a:lstStyle/>
          <a:p>
            <a:endParaRPr lang="fr-FR"/>
          </a:p>
        </p:txBody>
      </p:sp>
      <p:sp>
        <p:nvSpPr>
          <p:cNvPr id="56" name="Shape 54"/>
          <p:cNvSpPr/>
          <p:nvPr/>
        </p:nvSpPr>
        <p:spPr>
          <a:xfrm>
            <a:off x="5216525" y="3839964"/>
            <a:ext cx="355600" cy="171450"/>
          </a:xfrm>
          <a:prstGeom prst="rect">
            <a:avLst/>
          </a:prstGeom>
          <a:solidFill>
            <a:srgbClr val="7ECBEE"/>
          </a:solidFill>
          <a:ln/>
        </p:spPr>
        <p:txBody>
          <a:bodyPr/>
          <a:lstStyle/>
          <a:p>
            <a:endParaRPr lang="fr-FR"/>
          </a:p>
        </p:txBody>
      </p:sp>
      <p:sp>
        <p:nvSpPr>
          <p:cNvPr id="57" name="Text 55"/>
          <p:cNvSpPr/>
          <p:nvPr/>
        </p:nvSpPr>
        <p:spPr>
          <a:xfrm>
            <a:off x="701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8" name="Text 56"/>
          <p:cNvSpPr/>
          <p:nvPr/>
        </p:nvSpPr>
        <p:spPr>
          <a:xfrm>
            <a:off x="416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59" name="Shape 57"/>
          <p:cNvSpPr/>
          <p:nvPr/>
        </p:nvSpPr>
        <p:spPr>
          <a:xfrm>
            <a:off x="5210175" y="4154091"/>
            <a:ext cx="1790700" cy="184150"/>
          </a:xfrm>
          <a:prstGeom prst="rect">
            <a:avLst/>
          </a:prstGeom>
          <a:ln w="6350">
            <a:solidFill>
              <a:srgbClr val="C0C0C8"/>
            </a:solidFill>
            <a:prstDash val="solid"/>
          </a:ln>
        </p:spPr>
        <p:txBody>
          <a:bodyPr/>
          <a:lstStyle/>
          <a:p>
            <a:endParaRPr lang="fr-FR"/>
          </a:p>
        </p:txBody>
      </p:sp>
      <p:sp>
        <p:nvSpPr>
          <p:cNvPr id="60" name="Shape 58"/>
          <p:cNvSpPr/>
          <p:nvPr/>
        </p:nvSpPr>
        <p:spPr>
          <a:xfrm>
            <a:off x="5216525" y="4160441"/>
            <a:ext cx="355600" cy="171450"/>
          </a:xfrm>
          <a:prstGeom prst="rect">
            <a:avLst/>
          </a:prstGeom>
          <a:solidFill>
            <a:srgbClr val="7ECBEE"/>
          </a:solidFill>
          <a:ln/>
        </p:spPr>
        <p:txBody>
          <a:bodyPr/>
          <a:lstStyle/>
          <a:p>
            <a:endParaRPr lang="fr-FR"/>
          </a:p>
        </p:txBody>
      </p:sp>
      <p:sp>
        <p:nvSpPr>
          <p:cNvPr id="61" name="Text 59"/>
          <p:cNvSpPr/>
          <p:nvPr/>
        </p:nvSpPr>
        <p:spPr>
          <a:xfrm>
            <a:off x="701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2" name="Text 60"/>
          <p:cNvSpPr/>
          <p:nvPr/>
        </p:nvSpPr>
        <p:spPr>
          <a:xfrm>
            <a:off x="416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63" name="Shape 61"/>
          <p:cNvSpPr/>
          <p:nvPr/>
        </p:nvSpPr>
        <p:spPr>
          <a:xfrm>
            <a:off x="5210175" y="4474567"/>
            <a:ext cx="1790700" cy="184150"/>
          </a:xfrm>
          <a:prstGeom prst="rect">
            <a:avLst/>
          </a:prstGeom>
          <a:ln w="6350">
            <a:solidFill>
              <a:srgbClr val="C0C0C8"/>
            </a:solidFill>
            <a:prstDash val="solid"/>
          </a:ln>
        </p:spPr>
        <p:txBody>
          <a:bodyPr/>
          <a:lstStyle/>
          <a:p>
            <a:endParaRPr lang="fr-FR"/>
          </a:p>
        </p:txBody>
      </p:sp>
      <p:sp>
        <p:nvSpPr>
          <p:cNvPr id="64" name="Shape 62"/>
          <p:cNvSpPr/>
          <p:nvPr/>
        </p:nvSpPr>
        <p:spPr>
          <a:xfrm>
            <a:off x="5216525" y="4480917"/>
            <a:ext cx="355600" cy="171450"/>
          </a:xfrm>
          <a:prstGeom prst="rect">
            <a:avLst/>
          </a:prstGeom>
          <a:solidFill>
            <a:srgbClr val="7ECBEE"/>
          </a:solidFill>
          <a:ln/>
        </p:spPr>
        <p:txBody>
          <a:bodyPr/>
          <a:lstStyle/>
          <a:p>
            <a:endParaRPr lang="fr-FR"/>
          </a:p>
        </p:txBody>
      </p:sp>
      <p:sp>
        <p:nvSpPr>
          <p:cNvPr id="65" name="Text 63"/>
          <p:cNvSpPr/>
          <p:nvPr/>
        </p:nvSpPr>
        <p:spPr>
          <a:xfrm>
            <a:off x="701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6" name="Shape 64"/>
          <p:cNvSpPr/>
          <p:nvPr/>
        </p:nvSpPr>
        <p:spPr>
          <a:xfrm>
            <a:off x="4162425" y="4855468"/>
            <a:ext cx="3352800" cy="477143"/>
          </a:xfrm>
          <a:prstGeom prst="rect">
            <a:avLst/>
          </a:prstGeom>
          <a:solidFill>
            <a:srgbClr val="E9E9ED"/>
          </a:solidFill>
          <a:ln/>
        </p:spPr>
        <p:txBody>
          <a:bodyPr/>
          <a:lstStyle/>
          <a:p>
            <a:endParaRPr lang="fr-FR"/>
          </a:p>
        </p:txBody>
      </p:sp>
      <p:sp>
        <p:nvSpPr>
          <p:cNvPr id="67" name="Text 65"/>
          <p:cNvSpPr/>
          <p:nvPr/>
        </p:nvSpPr>
        <p:spPr>
          <a:xfrm>
            <a:off x="430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68" name="Text 66"/>
          <p:cNvSpPr/>
          <p:nvPr/>
        </p:nvSpPr>
        <p:spPr>
          <a:xfrm>
            <a:off x="6620272" y="4969768"/>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0.20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69" name="Shape 67"/>
          <p:cNvSpPr/>
          <p:nvPr/>
        </p:nvSpPr>
        <p:spPr>
          <a:xfrm>
            <a:off x="4162425" y="5418336"/>
            <a:ext cx="3352800" cy="477143"/>
          </a:xfrm>
          <a:prstGeom prst="rect">
            <a:avLst/>
          </a:prstGeom>
          <a:solidFill>
            <a:srgbClr val="F4F4F6"/>
          </a:solidFill>
          <a:ln/>
        </p:spPr>
        <p:txBody>
          <a:bodyPr/>
          <a:lstStyle/>
          <a:p>
            <a:endParaRPr lang="fr-FR"/>
          </a:p>
        </p:txBody>
      </p:sp>
      <p:sp>
        <p:nvSpPr>
          <p:cNvPr id="70" name="Text 68"/>
          <p:cNvSpPr/>
          <p:nvPr/>
        </p:nvSpPr>
        <p:spPr>
          <a:xfrm>
            <a:off x="430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71" name="Text 69"/>
          <p:cNvSpPr/>
          <p:nvPr/>
        </p:nvSpPr>
        <p:spPr>
          <a:xfrm>
            <a:off x="6565999" y="5532636"/>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0.74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72" name="Shape 70"/>
          <p:cNvSpPr/>
          <p:nvPr/>
        </p:nvSpPr>
        <p:spPr>
          <a:xfrm>
            <a:off x="7972425" y="2133600"/>
            <a:ext cx="3676650" cy="1557338"/>
          </a:xfrm>
          <a:prstGeom prst="rect">
            <a:avLst/>
          </a:prstGeom>
          <a:solidFill>
            <a:srgbClr val="063C67"/>
          </a:solidFill>
          <a:ln/>
        </p:spPr>
        <p:txBody>
          <a:bodyPr/>
          <a:lstStyle/>
          <a:p>
            <a:endParaRPr lang="fr-FR"/>
          </a:p>
        </p:txBody>
      </p:sp>
      <p:sp>
        <p:nvSpPr>
          <p:cNvPr id="73" name="Text 71"/>
          <p:cNvSpPr/>
          <p:nvPr/>
        </p:nvSpPr>
        <p:spPr>
          <a:xfrm>
            <a:off x="8220075" y="2362200"/>
            <a:ext cx="3291650" cy="1905000"/>
          </a:xfrm>
          <a:prstGeom prst="rect">
            <a:avLst/>
          </a:prstGeom>
          <a:noFill/>
          <a:ln/>
        </p:spPr>
        <p:txBody>
          <a:bodyPr wrap="square" lIns="25400" tIns="25400" rIns="25400" bIns="25400" rtlCol="0" anchor="t">
            <a:normAutofit/>
          </a:bodyPr>
          <a:lstStyle/>
          <a:p>
            <a:pPr marL="0" indent="0" algn="l">
              <a:lnSpc>
                <a:spcPct val="113514"/>
              </a:lnSpc>
              <a:buNone/>
            </a:pPr>
            <a:r>
              <a:rPr lang="en-US" sz="1500" dirty="0">
                <a:solidFill>
                  <a:srgbClr val="FFFFFF"/>
                </a:solidFill>
                <a:highlight>
                  <a:srgbClr val="063C67"/>
                </a:highlight>
                <a:latin typeface="Calibri" pitchFamily="34" charset="0"/>
                <a:ea typeface="Calibri" pitchFamily="34" charset="-122"/>
                <a:cs typeface="Calibri" pitchFamily="34" charset="-120"/>
              </a:rPr>
              <a:t>The average sends the coordinator to </a:t>
            </a:r>
            <a:r>
              <a:rPr lang="en-US" sz="1500" b="1" dirty="0">
                <a:solidFill>
                  <a:srgbClr val="FFFFFF"/>
                </a:solidFill>
                <a:latin typeface="Calibri" pitchFamily="34" charset="0"/>
                <a:ea typeface="Calibri" pitchFamily="34" charset="-122"/>
                <a:cs typeface="Calibri" pitchFamily="34" charset="-120"/>
              </a:rPr>
              <a:t>Node B </a:t>
            </a:r>
            <a:r>
              <a:rPr lang="en-US" sz="1500" dirty="0">
                <a:solidFill>
                  <a:srgbClr val="FFFFFF"/>
                </a:solidFill>
                <a:highlight>
                  <a:srgbClr val="063C67"/>
                </a:highlight>
                <a:latin typeface="Calibri" pitchFamily="34" charset="0"/>
                <a:ea typeface="Calibri" pitchFamily="34" charset="-122"/>
                <a:cs typeface="Calibri" pitchFamily="34" charset="-120"/>
              </a:rPr>
              <a:t>, where nothing broke. The OR sends them to </a:t>
            </a:r>
            <a:r>
              <a:rPr lang="en-US" sz="1500" b="1" dirty="0">
                <a:solidFill>
                  <a:srgbClr val="FFFFFF"/>
                </a:solidFill>
                <a:latin typeface="Calibri" pitchFamily="34" charset="0"/>
                <a:ea typeface="Calibri" pitchFamily="34" charset="-122"/>
                <a:cs typeface="Calibri" pitchFamily="34" charset="-120"/>
              </a:rPr>
              <a:t>Node A </a:t>
            </a:r>
            <a:r>
              <a:rPr lang="en-US" sz="1500" dirty="0">
                <a:solidFill>
                  <a:srgbClr val="FFFFFF"/>
                </a:solidFill>
                <a:highlight>
                  <a:srgbClr val="063C67"/>
                </a:highlight>
                <a:latin typeface="Calibri" pitchFamily="34" charset="0"/>
                <a:ea typeface="Calibri" pitchFamily="34" charset="-122"/>
                <a:cs typeface="Calibri" pitchFamily="34" charset="-120"/>
              </a:rPr>
              <a:t>, where capacity did. </a:t>
            </a:r>
            <a:r>
              <a:rPr lang="en-US" sz="1500" b="1" dirty="0">
                <a:solidFill>
                  <a:srgbClr val="FFDA65"/>
                </a:solidFill>
                <a:latin typeface="Calibri" pitchFamily="34" charset="0"/>
                <a:ea typeface="Calibri" pitchFamily="34" charset="-122"/>
                <a:cs typeface="Calibri" pitchFamily="34" charset="-120"/>
              </a:rPr>
              <a:t>Same six numbers, opposite ranking.</a:t>
            </a:r>
            <a:endParaRPr lang="en-US" sz="1500" dirty="0"/>
          </a:p>
        </p:txBody>
      </p:sp>
      <p:sp>
        <p:nvSpPr>
          <p:cNvPr id="74" name="Text 72"/>
          <p:cNvSpPr/>
          <p:nvPr/>
        </p:nvSpPr>
        <p:spPr>
          <a:xfrm>
            <a:off x="7972425" y="3799414"/>
            <a:ext cx="4044315" cy="217587"/>
          </a:xfrm>
          <a:prstGeom prst="rect">
            <a:avLst/>
          </a:prstGeom>
          <a:noFill/>
          <a:ln/>
        </p:spPr>
        <p:txBody>
          <a:bodyPr wrap="square" lIns="25400" tIns="25400" rIns="25400" bIns="25400" rtlCol="0" anchor="t">
            <a:normAutofit lnSpcReduction="10000"/>
          </a:bodyPr>
          <a:lstStyle/>
          <a:p>
            <a:pPr marL="0" indent="0" algn="l">
              <a:lnSpc>
                <a:spcPct val="122935"/>
              </a:lnSpc>
              <a:buNone/>
            </a:pPr>
            <a:r>
              <a:rPr lang="en-US" sz="975" b="1" kern="0" spc="137" dirty="0">
                <a:solidFill>
                  <a:srgbClr val="1D93C9"/>
                </a:solidFill>
                <a:latin typeface="Arial" pitchFamily="34" charset="0"/>
                <a:ea typeface="Arial" pitchFamily="34" charset="-122"/>
                <a:cs typeface="Arial" pitchFamily="34" charset="-120"/>
              </a:rPr>
              <a:t>SIX BLOCKS: FOUR CAUSES, TWO CONSTRAINTS</a:t>
            </a:r>
            <a:endParaRPr lang="en-US" sz="975" dirty="0"/>
          </a:p>
        </p:txBody>
      </p:sp>
      <p:sp>
        <p:nvSpPr>
          <p:cNvPr id="75" name="Shape 73"/>
          <p:cNvSpPr/>
          <p:nvPr/>
        </p:nvSpPr>
        <p:spPr>
          <a:xfrm>
            <a:off x="7972425" y="4074151"/>
            <a:ext cx="1162050" cy="892770"/>
          </a:xfrm>
          <a:prstGeom prst="rect">
            <a:avLst/>
          </a:prstGeom>
          <a:solidFill>
            <a:srgbClr val="F4F4F6"/>
          </a:solidFill>
          <a:ln/>
        </p:spPr>
        <p:txBody>
          <a:bodyPr/>
          <a:lstStyle/>
          <a:p>
            <a:endParaRPr lang="fr-FR"/>
          </a:p>
        </p:txBody>
      </p:sp>
      <p:pic>
        <p:nvPicPr>
          <p:cNvPr id="76" name="Image 0" descr="preencoded.png"/>
          <p:cNvPicPr>
            <a:picLocks noChangeAspect="1"/>
          </p:cNvPicPr>
          <p:nvPr/>
        </p:nvPicPr>
        <p:blipFill>
          <a:blip r:embed="rId3"/>
          <a:stretch>
            <a:fillRect/>
          </a:stretch>
        </p:blipFill>
        <p:spPr>
          <a:xfrm>
            <a:off x="8416925" y="4188451"/>
            <a:ext cx="273050" cy="323850"/>
          </a:xfrm>
          <a:prstGeom prst="rect">
            <a:avLst/>
          </a:prstGeom>
        </p:spPr>
      </p:pic>
      <p:sp>
        <p:nvSpPr>
          <p:cNvPr id="77" name="Text 74"/>
          <p:cNvSpPr/>
          <p:nvPr/>
        </p:nvSpPr>
        <p:spPr>
          <a:xfrm>
            <a:off x="79914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Time</a:t>
            </a:r>
            <a:endParaRPr lang="en-US" sz="1200" dirty="0"/>
          </a:p>
        </p:txBody>
      </p:sp>
      <p:sp>
        <p:nvSpPr>
          <p:cNvPr id="78" name="Shape 75"/>
          <p:cNvSpPr/>
          <p:nvPr/>
        </p:nvSpPr>
        <p:spPr>
          <a:xfrm>
            <a:off x="9229725" y="4074151"/>
            <a:ext cx="1162050" cy="892770"/>
          </a:xfrm>
          <a:prstGeom prst="rect">
            <a:avLst/>
          </a:prstGeom>
          <a:solidFill>
            <a:srgbClr val="F4F4F6"/>
          </a:solidFill>
          <a:ln/>
        </p:spPr>
        <p:txBody>
          <a:bodyPr/>
          <a:lstStyle/>
          <a:p>
            <a:endParaRPr lang="fr-FR"/>
          </a:p>
        </p:txBody>
      </p:sp>
      <p:pic>
        <p:nvPicPr>
          <p:cNvPr id="79" name="Image 1" descr="preencoded.png"/>
          <p:cNvPicPr>
            <a:picLocks noChangeAspect="1"/>
          </p:cNvPicPr>
          <p:nvPr/>
        </p:nvPicPr>
        <p:blipFill>
          <a:blip r:embed="rId4"/>
          <a:stretch>
            <a:fillRect/>
          </a:stretch>
        </p:blipFill>
        <p:spPr>
          <a:xfrm>
            <a:off x="9568557" y="4188451"/>
            <a:ext cx="484386" cy="323850"/>
          </a:xfrm>
          <a:prstGeom prst="rect">
            <a:avLst/>
          </a:prstGeom>
        </p:spPr>
      </p:pic>
      <p:sp>
        <p:nvSpPr>
          <p:cNvPr id="80" name="Text 76"/>
          <p:cNvSpPr/>
          <p:nvPr/>
        </p:nvSpPr>
        <p:spPr>
          <a:xfrm>
            <a:off x="92487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Capacity</a:t>
            </a:r>
            <a:endParaRPr lang="en-US" sz="1200" dirty="0"/>
          </a:p>
        </p:txBody>
      </p:sp>
      <p:sp>
        <p:nvSpPr>
          <p:cNvPr id="81" name="Shape 77"/>
          <p:cNvSpPr/>
          <p:nvPr/>
        </p:nvSpPr>
        <p:spPr>
          <a:xfrm>
            <a:off x="10487025" y="4074151"/>
            <a:ext cx="1162050" cy="892770"/>
          </a:xfrm>
          <a:prstGeom prst="rect">
            <a:avLst/>
          </a:prstGeom>
          <a:solidFill>
            <a:srgbClr val="F4F4F6"/>
          </a:solidFill>
          <a:ln/>
        </p:spPr>
        <p:txBody>
          <a:bodyPr/>
          <a:lstStyle/>
          <a:p>
            <a:endParaRPr lang="fr-FR"/>
          </a:p>
        </p:txBody>
      </p:sp>
      <p:pic>
        <p:nvPicPr>
          <p:cNvPr id="82" name="Image 2" descr="preencoded.png"/>
          <p:cNvPicPr>
            <a:picLocks noChangeAspect="1"/>
          </p:cNvPicPr>
          <p:nvPr/>
        </p:nvPicPr>
        <p:blipFill>
          <a:blip r:embed="rId5"/>
          <a:stretch>
            <a:fillRect/>
          </a:stretch>
        </p:blipFill>
        <p:spPr>
          <a:xfrm>
            <a:off x="10906125" y="4188451"/>
            <a:ext cx="323850" cy="323850"/>
          </a:xfrm>
          <a:prstGeom prst="rect">
            <a:avLst/>
          </a:prstGeom>
        </p:spPr>
      </p:pic>
      <p:sp>
        <p:nvSpPr>
          <p:cNvPr id="83" name="Text 78"/>
          <p:cNvSpPr/>
          <p:nvPr/>
        </p:nvSpPr>
        <p:spPr>
          <a:xfrm>
            <a:off x="10506075" y="463166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Performance</a:t>
            </a:r>
            <a:endParaRPr lang="en-US" sz="1200" dirty="0"/>
          </a:p>
        </p:txBody>
      </p:sp>
      <p:sp>
        <p:nvSpPr>
          <p:cNvPr id="84" name="Shape 79"/>
          <p:cNvSpPr/>
          <p:nvPr/>
        </p:nvSpPr>
        <p:spPr>
          <a:xfrm>
            <a:off x="7972425" y="5062171"/>
            <a:ext cx="1162050" cy="892770"/>
          </a:xfrm>
          <a:prstGeom prst="rect">
            <a:avLst/>
          </a:prstGeom>
          <a:solidFill>
            <a:srgbClr val="F4F4F6"/>
          </a:solidFill>
          <a:ln/>
        </p:spPr>
        <p:txBody>
          <a:bodyPr/>
          <a:lstStyle/>
          <a:p>
            <a:endParaRPr lang="fr-FR"/>
          </a:p>
        </p:txBody>
      </p:sp>
      <p:pic>
        <p:nvPicPr>
          <p:cNvPr id="85" name="Image 3" descr="preencoded.png"/>
          <p:cNvPicPr>
            <a:picLocks noChangeAspect="1"/>
          </p:cNvPicPr>
          <p:nvPr/>
        </p:nvPicPr>
        <p:blipFill>
          <a:blip r:embed="rId6"/>
          <a:stretch>
            <a:fillRect/>
          </a:stretch>
        </p:blipFill>
        <p:spPr>
          <a:xfrm>
            <a:off x="8391525" y="5176471"/>
            <a:ext cx="323850" cy="323850"/>
          </a:xfrm>
          <a:prstGeom prst="rect">
            <a:avLst/>
          </a:prstGeom>
        </p:spPr>
      </p:pic>
      <p:sp>
        <p:nvSpPr>
          <p:cNvPr id="86" name="Text 80"/>
          <p:cNvSpPr/>
          <p:nvPr/>
        </p:nvSpPr>
        <p:spPr>
          <a:xfrm>
            <a:off x="79914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Risk</a:t>
            </a:r>
            <a:endParaRPr lang="en-US" sz="1200" dirty="0"/>
          </a:p>
        </p:txBody>
      </p:sp>
      <p:sp>
        <p:nvSpPr>
          <p:cNvPr id="87" name="Shape 81"/>
          <p:cNvSpPr/>
          <p:nvPr/>
        </p:nvSpPr>
        <p:spPr>
          <a:xfrm>
            <a:off x="9229725" y="5062171"/>
            <a:ext cx="1162050" cy="892770"/>
          </a:xfrm>
          <a:prstGeom prst="rect">
            <a:avLst/>
          </a:prstGeom>
          <a:solidFill>
            <a:srgbClr val="E9E9ED"/>
          </a:solidFill>
          <a:ln/>
        </p:spPr>
        <p:txBody>
          <a:bodyPr/>
          <a:lstStyle/>
          <a:p>
            <a:endParaRPr lang="fr-FR"/>
          </a:p>
        </p:txBody>
      </p:sp>
      <p:pic>
        <p:nvPicPr>
          <p:cNvPr id="88" name="Image 4" descr="preencoded.png"/>
          <p:cNvPicPr>
            <a:picLocks noChangeAspect="1"/>
          </p:cNvPicPr>
          <p:nvPr/>
        </p:nvPicPr>
        <p:blipFill>
          <a:blip r:embed="rId7"/>
          <a:stretch>
            <a:fillRect/>
          </a:stretch>
        </p:blipFill>
        <p:spPr>
          <a:xfrm>
            <a:off x="9648825" y="5176471"/>
            <a:ext cx="323850" cy="323850"/>
          </a:xfrm>
          <a:prstGeom prst="rect">
            <a:avLst/>
          </a:prstGeom>
        </p:spPr>
      </p:pic>
      <p:sp>
        <p:nvSpPr>
          <p:cNvPr id="89" name="Text 82"/>
          <p:cNvSpPr/>
          <p:nvPr/>
        </p:nvSpPr>
        <p:spPr>
          <a:xfrm>
            <a:off x="92487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Cost</a:t>
            </a:r>
            <a:endParaRPr lang="en-US" sz="1200" dirty="0"/>
          </a:p>
        </p:txBody>
      </p:sp>
      <p:sp>
        <p:nvSpPr>
          <p:cNvPr id="90" name="Shape 83"/>
          <p:cNvSpPr/>
          <p:nvPr/>
        </p:nvSpPr>
        <p:spPr>
          <a:xfrm>
            <a:off x="10487025" y="5062171"/>
            <a:ext cx="1162050" cy="892770"/>
          </a:xfrm>
          <a:prstGeom prst="rect">
            <a:avLst/>
          </a:prstGeom>
          <a:solidFill>
            <a:srgbClr val="E9E9ED"/>
          </a:solidFill>
          <a:ln/>
        </p:spPr>
        <p:txBody>
          <a:bodyPr/>
          <a:lstStyle/>
          <a:p>
            <a:endParaRPr lang="fr-FR"/>
          </a:p>
        </p:txBody>
      </p:sp>
      <p:pic>
        <p:nvPicPr>
          <p:cNvPr id="91" name="Image 5" descr="preencoded.png"/>
          <p:cNvPicPr>
            <a:picLocks noChangeAspect="1"/>
          </p:cNvPicPr>
          <p:nvPr/>
        </p:nvPicPr>
        <p:blipFill>
          <a:blip r:embed="rId8"/>
          <a:stretch>
            <a:fillRect/>
          </a:stretch>
        </p:blipFill>
        <p:spPr>
          <a:xfrm>
            <a:off x="10906125" y="5176471"/>
            <a:ext cx="323850" cy="323850"/>
          </a:xfrm>
          <a:prstGeom prst="rect">
            <a:avLst/>
          </a:prstGeom>
        </p:spPr>
      </p:pic>
      <p:sp>
        <p:nvSpPr>
          <p:cNvPr id="92" name="Text 84"/>
          <p:cNvSpPr/>
          <p:nvPr/>
        </p:nvSpPr>
        <p:spPr>
          <a:xfrm>
            <a:off x="10506075" y="5619681"/>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Carbon</a:t>
            </a:r>
            <a:endParaRPr lang="en-US" sz="1200" dirty="0"/>
          </a:p>
        </p:txBody>
      </p:sp>
      <p:pic>
        <p:nvPicPr>
          <p:cNvPr id="94"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95" name="Rectangle 94"/>
          <p:cNvSpPr/>
          <p:nvPr/>
        </p:nvSpPr>
        <p:spPr>
          <a:xfrm>
            <a:off x="7973568" y="6053328"/>
            <a:ext cx="3675887" cy="475488"/>
          </a:xfrm>
          <a:prstGeom prst="rect">
            <a:avLst/>
          </a:prstGeom>
          <a:solidFill>
            <a:srgbClr val="FFF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8101583" y="6089904"/>
            <a:ext cx="3474720" cy="402336"/>
          </a:xfrm>
          <a:prstGeom prst="rect">
            <a:avLst/>
          </a:prstGeom>
          <a:noFill/>
        </p:spPr>
        <p:txBody>
          <a:bodyPr wrap="square" lIns="25400" rIns="25400" tIns="25400" bIns="25400" anchor="t">
            <a:spAutoFit/>
          </a:bodyPr>
          <a:lstStyle/>
          <a:p>
            <a:pPr algn="l"/>
            <a:r>
              <a:rPr sz="850" b="1">
                <a:solidFill>
                  <a:srgbClr val="043962"/>
                </a:solidFill>
                <a:latin typeface="Arial"/>
              </a:rPr>
              <a:t>The same six blocks and the same weights also drive PROMETHEE II, which ranks the nodes against each other.</a:t>
            </a:r>
          </a:p>
        </p:txBody>
      </p:sp>
      <p:sp>
        <p:nvSpPr>
          <p:cNvPr id="97" name="Rectangle 96"/>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99" name="Rectangle 98"/>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101" name="Rectangle 100"/>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103" name="Rectangle 102"/>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105" name="Rectangle 104"/>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107" name="TextBox 106"/>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DECLARED URGENCY</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from the operator, gated on consistency, then propagated downstream</a:t>
            </a:r>
            <a:endParaRPr lang="en-US" sz="1725" dirty="0"/>
          </a:p>
        </p:txBody>
      </p:sp>
      <p:sp>
        <p:nvSpPr>
          <p:cNvPr id="5" name="Shape 3"/>
          <p:cNvSpPr/>
          <p:nvPr/>
        </p:nvSpPr>
        <p:spPr>
          <a:xfrm>
            <a:off x="352425" y="1257300"/>
            <a:ext cx="6927850" cy="2374900"/>
          </a:xfrm>
          <a:prstGeom prst="rect">
            <a:avLst/>
          </a:prstGeom>
          <a:ln w="6350">
            <a:solidFill>
              <a:srgbClr val="C0C0C8"/>
            </a:solidFill>
            <a:prstDash val="solid"/>
          </a:ln>
        </p:spPr>
        <p:txBody>
          <a:bodyPr/>
          <a:lstStyle/>
          <a:p>
            <a:endParaRPr lang="fr-FR"/>
          </a:p>
        </p:txBody>
      </p:sp>
      <p:pic>
        <p:nvPicPr>
          <p:cNvPr id="6" name="Image 0" descr="preencoded.png"/>
          <p:cNvPicPr>
            <a:picLocks noChangeAspect="1"/>
          </p:cNvPicPr>
          <p:nvPr/>
        </p:nvPicPr>
        <p:blipFill>
          <a:blip r:embed="rId3"/>
          <a:srcRect t="-309" b="-309"/>
          <a:stretch/>
        </p:blipFill>
        <p:spPr>
          <a:xfrm>
            <a:off x="352425" y="1257300"/>
            <a:ext cx="6927850" cy="2374900"/>
          </a:xfrm>
          <a:prstGeom prst="rect">
            <a:avLst/>
          </a:prstGeom>
        </p:spPr>
      </p:pic>
      <p:sp>
        <p:nvSpPr>
          <p:cNvPr id="7" name="Text 4"/>
          <p:cNvSpPr/>
          <p:nvPr/>
        </p:nvSpPr>
        <p:spPr>
          <a:xfrm>
            <a:off x="352425" y="3714750"/>
            <a:ext cx="712260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The application is operated by a French research programme, so its interface is French. The report carries an English key for every term on screen.</a:t>
            </a:r>
            <a:endParaRPr lang="en-US" sz="1200" dirty="0"/>
          </a:p>
        </p:txBody>
      </p:sp>
      <p:sp>
        <p:nvSpPr>
          <p:cNvPr id="8" name="Text 5"/>
          <p:cNvSpPr/>
          <p:nvPr/>
        </p:nvSpPr>
        <p:spPr>
          <a:xfrm>
            <a:off x="352425" y="4267200"/>
            <a:ext cx="76066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FOUR CRITERIA, EACH WITH A COMPUTED COUNTERPART</a:t>
            </a:r>
            <a:endParaRPr lang="en-US" sz="1050" dirty="0"/>
          </a:p>
        </p:txBody>
      </p:sp>
      <p:sp>
        <p:nvSpPr>
          <p:cNvPr id="9" name="Shape 6"/>
          <p:cNvSpPr/>
          <p:nvPr/>
        </p:nvSpPr>
        <p:spPr>
          <a:xfrm>
            <a:off x="352425" y="4574778"/>
            <a:ext cx="3414713" cy="477143"/>
          </a:xfrm>
          <a:prstGeom prst="rect">
            <a:avLst/>
          </a:prstGeom>
          <a:solidFill>
            <a:srgbClr val="E9F5FB"/>
          </a:solidFill>
          <a:ln/>
        </p:spPr>
        <p:txBody>
          <a:bodyPr/>
          <a:lstStyle/>
          <a:p>
            <a:endParaRPr lang="fr-FR"/>
          </a:p>
        </p:txBody>
      </p:sp>
      <p:sp>
        <p:nvSpPr>
          <p:cNvPr id="10" name="Text 7"/>
          <p:cNvSpPr/>
          <p:nvPr/>
        </p:nvSpPr>
        <p:spPr>
          <a:xfrm>
            <a:off x="495300"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1" name="Shape 8"/>
          <p:cNvSpPr/>
          <p:nvPr/>
        </p:nvSpPr>
        <p:spPr>
          <a:xfrm>
            <a:off x="3852863" y="4574778"/>
            <a:ext cx="3414713" cy="477143"/>
          </a:xfrm>
          <a:prstGeom prst="rect">
            <a:avLst/>
          </a:prstGeom>
          <a:solidFill>
            <a:srgbClr val="E9F5FB"/>
          </a:solidFill>
          <a:ln/>
        </p:spPr>
        <p:txBody>
          <a:bodyPr/>
          <a:lstStyle/>
          <a:p>
            <a:endParaRPr lang="fr-FR"/>
          </a:p>
        </p:txBody>
      </p:sp>
      <p:sp>
        <p:nvSpPr>
          <p:cNvPr id="12" name="Text 9"/>
          <p:cNvSpPr/>
          <p:nvPr/>
        </p:nvSpPr>
        <p:spPr>
          <a:xfrm>
            <a:off x="3995738"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3" name="Shape 10"/>
          <p:cNvSpPr/>
          <p:nvPr/>
        </p:nvSpPr>
        <p:spPr>
          <a:xfrm>
            <a:off x="352425" y="5137646"/>
            <a:ext cx="3414713" cy="477143"/>
          </a:xfrm>
          <a:prstGeom prst="rect">
            <a:avLst/>
          </a:prstGeom>
          <a:solidFill>
            <a:srgbClr val="E9F5FB"/>
          </a:solidFill>
          <a:ln/>
        </p:spPr>
        <p:txBody>
          <a:bodyPr/>
          <a:lstStyle/>
          <a:p>
            <a:endParaRPr lang="fr-FR"/>
          </a:p>
        </p:txBody>
      </p:sp>
      <p:sp>
        <p:nvSpPr>
          <p:cNvPr id="14" name="Text 11"/>
          <p:cNvSpPr/>
          <p:nvPr/>
        </p:nvSpPr>
        <p:spPr>
          <a:xfrm>
            <a:off x="495300"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15" name="Shape 12"/>
          <p:cNvSpPr/>
          <p:nvPr/>
        </p:nvSpPr>
        <p:spPr>
          <a:xfrm>
            <a:off x="3852863" y="5137646"/>
            <a:ext cx="3414713" cy="477143"/>
          </a:xfrm>
          <a:prstGeom prst="rect">
            <a:avLst/>
          </a:prstGeom>
          <a:solidFill>
            <a:srgbClr val="E9F5FB"/>
          </a:solidFill>
          <a:ln/>
        </p:spPr>
        <p:txBody>
          <a:bodyPr/>
          <a:lstStyle/>
          <a:p>
            <a:endParaRPr lang="fr-FR"/>
          </a:p>
        </p:txBody>
      </p:sp>
      <p:sp>
        <p:nvSpPr>
          <p:cNvPr id="16" name="Text 13"/>
          <p:cNvSpPr/>
          <p:nvPr/>
        </p:nvSpPr>
        <p:spPr>
          <a:xfrm>
            <a:off x="3995738"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17" name="Shape 14"/>
          <p:cNvSpPr/>
          <p:nvPr/>
        </p:nvSpPr>
        <p:spPr>
          <a:xfrm>
            <a:off x="7572375" y="1257300"/>
            <a:ext cx="4076700" cy="2529483"/>
          </a:xfrm>
          <a:prstGeom prst="rect">
            <a:avLst/>
          </a:prstGeom>
          <a:solidFill>
            <a:srgbClr val="063C67"/>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7800975" y="1466850"/>
            <a:ext cx="407392" cy="361950"/>
          </a:xfrm>
          <a:prstGeom prst="rect">
            <a:avLst/>
          </a:prstGeom>
        </p:spPr>
      </p:pic>
      <p:sp>
        <p:nvSpPr>
          <p:cNvPr id="19" name="Text 15"/>
          <p:cNvSpPr/>
          <p:nvPr/>
        </p:nvSpPr>
        <p:spPr>
          <a:xfrm>
            <a:off x="8341718" y="1495921"/>
            <a:ext cx="32365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THE CONSISTENCY GATE</a:t>
            </a:r>
            <a:endParaRPr lang="en-US" sz="1650" dirty="0"/>
          </a:p>
        </p:txBody>
      </p:sp>
      <p:sp>
        <p:nvSpPr>
          <p:cNvPr id="20" name="Text 16"/>
          <p:cNvSpPr/>
          <p:nvPr/>
        </p:nvSpPr>
        <p:spPr>
          <a:xfrm>
            <a:off x="7800975" y="1943100"/>
            <a:ext cx="3728085" cy="1051322"/>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 weight vector whose consistency ratio exceeds the threshold is </a:t>
            </a:r>
            <a:r>
              <a:rPr lang="en-US" sz="1425" b="1" dirty="0">
                <a:solidFill>
                  <a:srgbClr val="FFDA65"/>
                </a:solidFill>
                <a:latin typeface="Calibri" pitchFamily="34" charset="0"/>
                <a:ea typeface="Calibri" pitchFamily="34" charset="-122"/>
                <a:cs typeface="Calibri" pitchFamily="34" charset="-120"/>
              </a:rPr>
              <a:t>refused </a:t>
            </a:r>
            <a:r>
              <a:rPr lang="en-US" sz="1425" dirty="0">
                <a:solidFill>
                  <a:srgbClr val="FFFFFF"/>
                </a:solidFill>
                <a:latin typeface="Calibri" pitchFamily="34" charset="0"/>
                <a:ea typeface="Calibri" pitchFamily="34" charset="-122"/>
                <a:cs typeface="Calibri" pitchFamily="34" charset="-120"/>
              </a:rPr>
              <a:t>. The operator is sent back to the most contradictory of their own comparisons.</a:t>
            </a:r>
            <a:endParaRPr lang="en-US" sz="1425" dirty="0"/>
          </a:p>
        </p:txBody>
      </p:sp>
      <p:sp>
        <p:nvSpPr>
          <p:cNvPr id="21" name="Text 17"/>
          <p:cNvSpPr/>
          <p:nvPr/>
        </p:nvSpPr>
        <p:spPr>
          <a:xfrm>
            <a:off x="7800975" y="3070622"/>
            <a:ext cx="3728085"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Without it, an incoherent judgment would propagate as though it were a considered one.</a:t>
            </a:r>
            <a:endParaRPr lang="en-US" sz="1425" dirty="0"/>
          </a:p>
        </p:txBody>
      </p:sp>
      <p:sp>
        <p:nvSpPr>
          <p:cNvPr id="22" name="Shape 18"/>
          <p:cNvSpPr/>
          <p:nvPr/>
        </p:nvSpPr>
        <p:spPr>
          <a:xfrm>
            <a:off x="7572375" y="3977283"/>
            <a:ext cx="4076700" cy="533400"/>
          </a:xfrm>
          <a:prstGeom prst="rect">
            <a:avLst/>
          </a:prstGeom>
          <a:solidFill>
            <a:srgbClr val="F4F4F6"/>
          </a:solidFill>
          <a:ln/>
        </p:spPr>
        <p:txBody>
          <a:bodyPr/>
          <a:lstStyle/>
          <a:p>
            <a:endParaRPr lang="fr-FR"/>
          </a:p>
        </p:txBody>
      </p:sp>
      <p:pic>
        <p:nvPicPr>
          <p:cNvPr id="23" name="Image 2" descr="preencoded.png"/>
          <p:cNvPicPr>
            <a:picLocks noChangeAspect="1"/>
          </p:cNvPicPr>
          <p:nvPr/>
        </p:nvPicPr>
        <p:blipFill>
          <a:blip r:embed="rId5"/>
          <a:stretch>
            <a:fillRect/>
          </a:stretch>
        </p:blipFill>
        <p:spPr>
          <a:xfrm>
            <a:off x="7715250" y="4101108"/>
            <a:ext cx="285750" cy="285750"/>
          </a:xfrm>
          <a:prstGeom prst="rect">
            <a:avLst/>
          </a:prstGeom>
        </p:spPr>
      </p:pic>
      <p:sp>
        <p:nvSpPr>
          <p:cNvPr id="24" name="Text 19"/>
          <p:cNvSpPr/>
          <p:nvPr/>
        </p:nvSpPr>
        <p:spPr>
          <a:xfrm>
            <a:off x="8124825" y="4132560"/>
            <a:ext cx="355318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Pairwise comparisons, not a free-text estimate</a:t>
            </a:r>
            <a:endParaRPr lang="en-US" sz="1350" dirty="0"/>
          </a:p>
        </p:txBody>
      </p:sp>
      <p:sp>
        <p:nvSpPr>
          <p:cNvPr id="25" name="Shape 20"/>
          <p:cNvSpPr/>
          <p:nvPr/>
        </p:nvSpPr>
        <p:spPr>
          <a:xfrm>
            <a:off x="7572375" y="4615458"/>
            <a:ext cx="4076700" cy="533400"/>
          </a:xfrm>
          <a:prstGeom prst="rect">
            <a:avLst/>
          </a:prstGeom>
          <a:solidFill>
            <a:srgbClr val="F4F4F6"/>
          </a:solidFill>
          <a:ln/>
        </p:spPr>
        <p:txBody>
          <a:bodyPr/>
          <a:lstStyle/>
          <a:p>
            <a:endParaRPr lang="fr-FR"/>
          </a:p>
        </p:txBody>
      </p:sp>
      <p:pic>
        <p:nvPicPr>
          <p:cNvPr id="26" name="Image 3" descr="preencoded.png"/>
          <p:cNvPicPr>
            <a:picLocks noChangeAspect="1"/>
          </p:cNvPicPr>
          <p:nvPr/>
        </p:nvPicPr>
        <p:blipFill>
          <a:blip r:embed="rId6"/>
          <a:stretch>
            <a:fillRect/>
          </a:stretch>
        </p:blipFill>
        <p:spPr>
          <a:xfrm>
            <a:off x="7715250" y="4739283"/>
            <a:ext cx="285750" cy="285750"/>
          </a:xfrm>
          <a:prstGeom prst="rect">
            <a:avLst/>
          </a:prstGeom>
        </p:spPr>
      </p:pic>
      <p:sp>
        <p:nvSpPr>
          <p:cNvPr id="27" name="Text 21"/>
          <p:cNvSpPr/>
          <p:nvPr/>
        </p:nvSpPr>
        <p:spPr>
          <a:xfrm>
            <a:off x="8124825" y="4770735"/>
            <a:ext cx="255869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Saaty scale · consistency ratio below 0.10</a:t>
            </a:r>
            <a:endParaRPr lang="en-US" sz="1350" dirty="0"/>
          </a:p>
        </p:txBody>
      </p:sp>
      <p:pic>
        <p:nvPicPr>
          <p:cNvPr id="33" name="Image 4" descr="preencoded.png"/>
          <p:cNvPicPr>
            <a:picLocks noChangeAspect="1"/>
          </p:cNvPicPr>
          <p:nvPr/>
        </p:nvPicPr>
        <p:blipFill>
          <a:blip r:embed="rId7"/>
          <a:stretch>
            <a:fillRect/>
          </a:stretch>
        </p:blipFill>
        <p:spPr>
          <a:xfrm>
            <a:off x="11229975" y="6567488"/>
            <a:ext cx="714375" cy="71438"/>
          </a:xfrm>
          <a:prstGeom prst="rect">
            <a:avLst/>
          </a:prstGeom>
        </p:spPr>
      </p:pic>
      <p:sp>
        <p:nvSpPr>
          <p:cNvPr id="34" name="TextBox 33"/>
          <p:cNvSpPr txBox="1"/>
          <p:nvPr/>
        </p:nvSpPr>
        <p:spPr>
          <a:xfrm>
            <a:off x="7571231" y="5431536"/>
            <a:ext cx="4078224" cy="822960"/>
          </a:xfrm>
          <a:prstGeom prst="rect">
            <a:avLst/>
          </a:prstGeom>
          <a:noFill/>
        </p:spPr>
        <p:txBody>
          <a:bodyPr wrap="square" lIns="25400" rIns="25400" tIns="25400" bIns="25400" anchor="t">
            <a:spAutoFit/>
          </a:bodyPr>
          <a:lstStyle/>
          <a:p>
            <a:pPr algn="l"/>
            <a:r>
              <a:rPr sz="900" b="0">
                <a:solidFill>
                  <a:srgbClr val="063C67"/>
                </a:solidFill>
                <a:latin typeface="Arial"/>
              </a:rPr>
              <a:t>Four criteria and not more: pairwise comparison degrades past about seven. The six computed blocks are weighted by Fuzzy BWM instead, which needs nine comparisons where AHP would need fifteen.</a:t>
            </a:r>
          </a:p>
        </p:txBody>
      </p:sp>
      <p:sp>
        <p:nvSpPr>
          <p:cNvPr id="35" name="Rectangle 34"/>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37" name="Rectangle 36"/>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39" name="Rectangle 38"/>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41" name="Rectangle 40"/>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43" name="Rectangle 42"/>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45" name="TextBox 44"/>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ADEQUACY</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separately, propagated in opposite directions</a:t>
            </a:r>
            <a:endParaRPr lang="en-US" sz="1725" dirty="0"/>
          </a:p>
        </p:txBody>
      </p:sp>
      <p:pic>
        <p:nvPicPr>
          <p:cNvPr id="5" name="Image 0" descr="preencoded.png"/>
          <p:cNvPicPr>
            <a:picLocks noChangeAspect="1"/>
          </p:cNvPicPr>
          <p:nvPr/>
        </p:nvPicPr>
        <p:blipFill>
          <a:blip r:embed="rId3"/>
          <a:srcRect t="-129" b="-129"/>
          <a:stretch/>
        </p:blipFill>
        <p:spPr>
          <a:xfrm>
            <a:off x="209550" y="1219200"/>
            <a:ext cx="6877050" cy="4248150"/>
          </a:xfrm>
          <a:prstGeom prst="rect">
            <a:avLst/>
          </a:prstGeom>
        </p:spPr>
      </p:pic>
      <p:sp>
        <p:nvSpPr>
          <p:cNvPr id="6" name="Text 3"/>
          <p:cNvSpPr/>
          <p:nvPr/>
        </p:nvSpPr>
        <p:spPr>
          <a:xfrm>
            <a:off x="7524750" y="1257300"/>
            <a:ext cx="47463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PROPAGATION ACROSS THE NETWORK</a:t>
            </a:r>
            <a:endParaRPr lang="en-US" sz="1050" dirty="0"/>
          </a:p>
        </p:txBody>
      </p:sp>
      <p:sp>
        <p:nvSpPr>
          <p:cNvPr id="7" name="Text 4"/>
          <p:cNvSpPr/>
          <p:nvPr/>
        </p:nvSpPr>
        <p:spPr>
          <a:xfrm>
            <a:off x="7657009" y="1583928"/>
            <a:ext cx="19258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1D93C9"/>
                </a:solidFill>
                <a:latin typeface="Arial Black" pitchFamily="34" charset="0"/>
                <a:ea typeface="Arial Black" pitchFamily="34" charset="-122"/>
                <a:cs typeface="Arial Black" pitchFamily="34" charset="-120"/>
              </a:rPr>
              <a:t>γ</a:t>
            </a:r>
            <a:endParaRPr lang="en-US" sz="1500" dirty="0"/>
          </a:p>
        </p:txBody>
      </p:sp>
      <p:sp>
        <p:nvSpPr>
          <p:cNvPr id="8" name="Shape 5"/>
          <p:cNvSpPr/>
          <p:nvPr/>
        </p:nvSpPr>
        <p:spPr>
          <a:xfrm>
            <a:off x="7696200" y="1917303"/>
            <a:ext cx="38100" cy="1740297"/>
          </a:xfrm>
          <a:prstGeom prst="rect">
            <a:avLst/>
          </a:prstGeom>
          <a:solidFill>
            <a:srgbClr val="1D93C9"/>
          </a:solidFill>
          <a:ln/>
        </p:spPr>
        <p:txBody>
          <a:bodyPr/>
          <a:lstStyle/>
          <a:p>
            <a:endParaRPr lang="fr-FR"/>
          </a:p>
        </p:txBody>
      </p:sp>
      <p:sp>
        <p:nvSpPr>
          <p:cNvPr id="9" name="Shape 6"/>
          <p:cNvSpPr/>
          <p:nvPr/>
        </p:nvSpPr>
        <p:spPr>
          <a:xfrm>
            <a:off x="7632700" y="3657600"/>
            <a:ext cx="165100" cy="120650"/>
          </a:xfrm>
          <a:prstGeom prst="rect">
            <a:avLst/>
          </a:prstGeom>
          <a:solidFill>
            <a:srgbClr val="1D93C9"/>
          </a:solidFill>
          <a:ln/>
        </p:spPr>
        <p:txBody>
          <a:bodyPr/>
          <a:lstStyle/>
          <a:p>
            <a:endParaRPr lang="fr-FR"/>
          </a:p>
        </p:txBody>
      </p:sp>
      <p:sp>
        <p:nvSpPr>
          <p:cNvPr id="10" name="Shape 7"/>
          <p:cNvSpPr/>
          <p:nvPr/>
        </p:nvSpPr>
        <p:spPr>
          <a:xfrm>
            <a:off x="8020050" y="1583928"/>
            <a:ext cx="3324225" cy="477143"/>
          </a:xfrm>
          <a:prstGeom prst="rect">
            <a:avLst/>
          </a:prstGeom>
          <a:solidFill>
            <a:srgbClr val="E9F5FB"/>
          </a:solidFill>
          <a:ln/>
        </p:spPr>
        <p:txBody>
          <a:bodyPr/>
          <a:lstStyle/>
          <a:p>
            <a:endParaRPr lang="fr-FR"/>
          </a:p>
        </p:txBody>
      </p:sp>
      <p:sp>
        <p:nvSpPr>
          <p:cNvPr id="11" name="Text 8"/>
          <p:cNvSpPr/>
          <p:nvPr/>
        </p:nvSpPr>
        <p:spPr>
          <a:xfrm>
            <a:off x="8162925" y="1698228"/>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Customer </a:t>
            </a:r>
            <a:r>
              <a:rPr lang="en-US" sz="1350" dirty="0">
                <a:solidFill>
                  <a:srgbClr val="063C67"/>
                </a:solidFill>
                <a:highlight>
                  <a:srgbClr val="E9F5FB"/>
                </a:highlight>
                <a:latin typeface="Calibri" pitchFamily="34" charset="0"/>
                <a:ea typeface="Calibri" pitchFamily="34" charset="-122"/>
                <a:cs typeface="Calibri" pitchFamily="34" charset="-120"/>
              </a:rPr>
              <a:t>· final assembly</a:t>
            </a:r>
            <a:endParaRPr lang="en-US" sz="1350" dirty="0"/>
          </a:p>
        </p:txBody>
      </p:sp>
      <p:sp>
        <p:nvSpPr>
          <p:cNvPr id="12" name="Shape 9"/>
          <p:cNvSpPr/>
          <p:nvPr/>
        </p:nvSpPr>
        <p:spPr>
          <a:xfrm>
            <a:off x="8020050" y="2156321"/>
            <a:ext cx="3324225" cy="477143"/>
          </a:xfrm>
          <a:prstGeom prst="rect">
            <a:avLst/>
          </a:prstGeom>
          <a:solidFill>
            <a:srgbClr val="F4F4F6"/>
          </a:solidFill>
          <a:ln/>
        </p:spPr>
        <p:txBody>
          <a:bodyPr/>
          <a:lstStyle/>
          <a:p>
            <a:endParaRPr lang="fr-FR"/>
          </a:p>
        </p:txBody>
      </p:sp>
      <p:sp>
        <p:nvSpPr>
          <p:cNvPr id="13" name="Text 10"/>
          <p:cNvSpPr/>
          <p:nvPr/>
        </p:nvSpPr>
        <p:spPr>
          <a:xfrm>
            <a:off x="8162925" y="2270621"/>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1 · systems</a:t>
            </a:r>
            <a:endParaRPr lang="en-US" sz="1350" dirty="0"/>
          </a:p>
        </p:txBody>
      </p:sp>
      <p:sp>
        <p:nvSpPr>
          <p:cNvPr id="14" name="Shape 11"/>
          <p:cNvSpPr/>
          <p:nvPr/>
        </p:nvSpPr>
        <p:spPr>
          <a:xfrm>
            <a:off x="8020050" y="2728714"/>
            <a:ext cx="3324225" cy="477143"/>
          </a:xfrm>
          <a:prstGeom prst="rect">
            <a:avLst/>
          </a:prstGeom>
          <a:solidFill>
            <a:srgbClr val="F4F4F6"/>
          </a:solidFill>
          <a:ln/>
        </p:spPr>
        <p:txBody>
          <a:bodyPr/>
          <a:lstStyle/>
          <a:p>
            <a:endParaRPr lang="fr-FR"/>
          </a:p>
        </p:txBody>
      </p:sp>
      <p:sp>
        <p:nvSpPr>
          <p:cNvPr id="15" name="Text 12"/>
          <p:cNvSpPr/>
          <p:nvPr/>
        </p:nvSpPr>
        <p:spPr>
          <a:xfrm>
            <a:off x="8162925" y="2843014"/>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2 · subassemblies</a:t>
            </a:r>
            <a:endParaRPr lang="en-US" sz="1350" dirty="0"/>
          </a:p>
        </p:txBody>
      </p:sp>
      <p:sp>
        <p:nvSpPr>
          <p:cNvPr id="16" name="Shape 13"/>
          <p:cNvSpPr/>
          <p:nvPr/>
        </p:nvSpPr>
        <p:spPr>
          <a:xfrm>
            <a:off x="8020050" y="3301107"/>
            <a:ext cx="3324225" cy="477143"/>
          </a:xfrm>
          <a:prstGeom prst="rect">
            <a:avLst/>
          </a:prstGeom>
          <a:solidFill>
            <a:srgbClr val="FFF6DA"/>
          </a:solidFill>
          <a:ln/>
        </p:spPr>
        <p:txBody>
          <a:bodyPr/>
          <a:lstStyle/>
          <a:p>
            <a:endParaRPr lang="fr-FR"/>
          </a:p>
        </p:txBody>
      </p:sp>
      <p:sp>
        <p:nvSpPr>
          <p:cNvPr id="17" name="Text 14"/>
          <p:cNvSpPr/>
          <p:nvPr/>
        </p:nvSpPr>
        <p:spPr>
          <a:xfrm>
            <a:off x="8162925" y="3415407"/>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Tier 3 </a:t>
            </a:r>
            <a:r>
              <a:rPr lang="en-US" sz="1350" dirty="0">
                <a:solidFill>
                  <a:srgbClr val="063C67"/>
                </a:solidFill>
                <a:highlight>
                  <a:srgbClr val="FFF6DA"/>
                </a:highlight>
                <a:latin typeface="Calibri" pitchFamily="34" charset="0"/>
                <a:ea typeface="Calibri" pitchFamily="34" charset="-122"/>
                <a:cs typeface="Calibri" pitchFamily="34" charset="-120"/>
              </a:rPr>
              <a:t>· raw material</a:t>
            </a:r>
            <a:endParaRPr lang="en-US" sz="1350" dirty="0"/>
          </a:p>
        </p:txBody>
      </p:sp>
      <p:sp>
        <p:nvSpPr>
          <p:cNvPr id="18" name="Shape 15"/>
          <p:cNvSpPr/>
          <p:nvPr/>
        </p:nvSpPr>
        <p:spPr>
          <a:xfrm>
            <a:off x="11566525" y="1583928"/>
            <a:ext cx="165100" cy="120650"/>
          </a:xfrm>
          <a:prstGeom prst="rect">
            <a:avLst/>
          </a:prstGeom>
          <a:solidFill>
            <a:srgbClr val="FFC800"/>
          </a:solidFill>
          <a:ln/>
        </p:spPr>
        <p:txBody>
          <a:bodyPr/>
          <a:lstStyle/>
          <a:p>
            <a:endParaRPr lang="fr-FR"/>
          </a:p>
        </p:txBody>
      </p:sp>
      <p:sp>
        <p:nvSpPr>
          <p:cNvPr id="19" name="Shape 16"/>
          <p:cNvSpPr/>
          <p:nvPr/>
        </p:nvSpPr>
        <p:spPr>
          <a:xfrm>
            <a:off x="11630025" y="1704578"/>
            <a:ext cx="38100" cy="1740297"/>
          </a:xfrm>
          <a:prstGeom prst="rect">
            <a:avLst/>
          </a:prstGeom>
          <a:solidFill>
            <a:srgbClr val="FFC800"/>
          </a:solidFill>
          <a:ln/>
        </p:spPr>
        <p:txBody>
          <a:bodyPr/>
          <a:lstStyle/>
          <a:p>
            <a:endParaRPr lang="fr-FR"/>
          </a:p>
        </p:txBody>
      </p:sp>
      <p:sp>
        <p:nvSpPr>
          <p:cNvPr id="20" name="Text 17"/>
          <p:cNvSpPr/>
          <p:nvPr/>
        </p:nvSpPr>
        <p:spPr>
          <a:xfrm>
            <a:off x="11587659" y="3502025"/>
            <a:ext cx="19893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FFC800"/>
                </a:solidFill>
                <a:latin typeface="Arial Black" pitchFamily="34" charset="0"/>
                <a:ea typeface="Arial Black" pitchFamily="34" charset="-122"/>
                <a:cs typeface="Arial Black" pitchFamily="34" charset="-120"/>
              </a:rPr>
              <a:t>β</a:t>
            </a:r>
            <a:endParaRPr lang="en-US" sz="1500" dirty="0"/>
          </a:p>
        </p:txBody>
      </p:sp>
      <p:sp>
        <p:nvSpPr>
          <p:cNvPr id="21" name="Text 18"/>
          <p:cNvSpPr/>
          <p:nvPr/>
        </p:nvSpPr>
        <p:spPr>
          <a:xfrm>
            <a:off x="7524750" y="3930650"/>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1D93C9"/>
                </a:solidFill>
                <a:latin typeface="Calibri" pitchFamily="34" charset="0"/>
                <a:ea typeface="Calibri" pitchFamily="34" charset="-122"/>
                <a:cs typeface="Calibri" pitchFamily="34" charset="-120"/>
              </a:rPr>
              <a:t>γ carries the declaration down to suppliers: demand pressure is what a customer transmits</a:t>
            </a:r>
            <a:endParaRPr lang="en-US" sz="1275" dirty="0"/>
          </a:p>
        </p:txBody>
      </p:sp>
      <p:sp>
        <p:nvSpPr>
          <p:cNvPr id="22" name="Text 19"/>
          <p:cNvSpPr/>
          <p:nvPr/>
        </p:nvSpPr>
        <p:spPr>
          <a:xfrm>
            <a:off x="7524750" y="4437261"/>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FFC800"/>
                </a:solidFill>
                <a:latin typeface="Calibri" pitchFamily="34" charset="0"/>
                <a:ea typeface="Calibri" pitchFamily="34" charset="-122"/>
                <a:cs typeface="Calibri" pitchFamily="34" charset="-120"/>
              </a:rPr>
              <a:t>β carries computed risk up to the customer: physical risk is what a supplier transmits</a:t>
            </a:r>
            <a:endParaRPr lang="en-US" sz="1275" dirty="0"/>
          </a:p>
        </p:txBody>
      </p:sp>
      <p:pic>
        <p:nvPicPr>
          <p:cNvPr id="23"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24" name="TextBox 23"/>
          <p:cNvSpPr txBox="1"/>
          <p:nvPr/>
        </p:nvSpPr>
        <p:spPr>
          <a:xfrm>
            <a:off x="7525512" y="4974336"/>
            <a:ext cx="4443984" cy="365760"/>
          </a:xfrm>
          <a:prstGeom prst="rect">
            <a:avLst/>
          </a:prstGeom>
          <a:noFill/>
        </p:spPr>
        <p:txBody>
          <a:bodyPr wrap="square" lIns="25400" rIns="25400" tIns="25400" bIns="25400" anchor="t">
            <a:spAutoFit/>
          </a:bodyPr>
          <a:lstStyle/>
          <a:p>
            <a:pPr algn="l"/>
            <a:r>
              <a:rPr sz="900" b="0">
                <a:solidFill>
                  <a:srgbClr val="858591"/>
                </a:solidFill>
                <a:latin typeface="Arial"/>
              </a:rPr>
              <a:t>Same propagation law both ways. Only the direction and the coefficient differ.</a:t>
            </a:r>
          </a:p>
        </p:txBody>
      </p:sp>
      <p:sp>
        <p:nvSpPr>
          <p:cNvPr id="25" name="Rectangle 24"/>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27" name="Rectangle 26"/>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29" name="Rectangle 28"/>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31" name="Rectangle 30"/>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33" name="Rectangle 32"/>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35" name="TextBox 34"/>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SUPPLYSCORE: THE APPLICATION</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Eleven pages. This is where the declaration is collected and the score is read.</a:t>
            </a:r>
            <a:endParaRPr lang="en-US" sz="1725" dirty="0"/>
          </a:p>
        </p:txBody>
      </p:sp>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pic>
        <p:nvPicPr>
          <p:cNvPr id="7" name="Picture 6" descr="13-explication.png"/>
          <p:cNvPicPr>
            <a:picLocks noChangeAspect="1"/>
          </p:cNvPicPr>
          <p:nvPr/>
        </p:nvPicPr>
        <p:blipFill>
          <a:blip r:embed="rId2"/>
          <a:srcRect b="10000"/>
          <a:stretch>
            <a:fillRect/>
          </a:stretch>
        </p:blipFill>
        <p:spPr>
          <a:xfrm>
            <a:off x="356616" y="1207008"/>
            <a:ext cx="6903720" cy="3368201"/>
          </a:xfrm>
          <a:prstGeom prst="rect">
            <a:avLst/>
          </a:prstGeom>
        </p:spPr>
      </p:pic>
      <p:sp>
        <p:nvSpPr>
          <p:cNvPr id="8" name="TextBox 7"/>
          <p:cNvSpPr txBox="1"/>
          <p:nvPr/>
        </p:nvSpPr>
        <p:spPr>
          <a:xfrm>
            <a:off x="356616" y="4663440"/>
            <a:ext cx="6903720" cy="256032"/>
          </a:xfrm>
          <a:prstGeom prst="rect">
            <a:avLst/>
          </a:prstGeom>
          <a:noFill/>
        </p:spPr>
        <p:txBody>
          <a:bodyPr wrap="square" lIns="25400" rIns="25400" tIns="25400" bIns="25400" anchor="t">
            <a:spAutoFit/>
          </a:bodyPr>
          <a:lstStyle/>
          <a:p>
            <a:pPr algn="l"/>
            <a:r>
              <a:rPr sz="1100" b="1">
                <a:solidFill>
                  <a:srgbClr val="043962"/>
                </a:solidFill>
                <a:latin typeface="Arial"/>
              </a:rPr>
              <a:t>WHY A = 46.5?  The page that rebuilds any score term by term</a:t>
            </a:r>
          </a:p>
        </p:txBody>
      </p:sp>
      <p:sp>
        <p:nvSpPr>
          <p:cNvPr id="9" name="TextBox 8"/>
          <p:cNvSpPr txBox="1"/>
          <p:nvPr/>
        </p:nvSpPr>
        <p:spPr>
          <a:xfrm>
            <a:off x="356616" y="4919472"/>
            <a:ext cx="6903720" cy="402336"/>
          </a:xfrm>
          <a:prstGeom prst="rect">
            <a:avLst/>
          </a:prstGeom>
          <a:noFill/>
        </p:spPr>
        <p:txBody>
          <a:bodyPr wrap="square" lIns="25400" rIns="25400" tIns="25400" bIns="25400" anchor="t">
            <a:spAutoFit/>
          </a:bodyPr>
          <a:lstStyle/>
          <a:p>
            <a:pPr algn="l"/>
            <a:r>
              <a:rPr sz="900" b="0">
                <a:solidFill>
                  <a:srgbClr val="063C67"/>
                </a:solidFill>
                <a:latin typeface="Arial"/>
              </a:rPr>
              <a:t>Declared need on top, computed urgency below, and the single cause when there is one. This page is what made the central diagnosis possible from the application rather than by hand.</a:t>
            </a:r>
          </a:p>
        </p:txBody>
      </p:sp>
      <p:pic>
        <p:nvPicPr>
          <p:cNvPr id="10" name="Picture 9" descr="04-questionnaire.png"/>
          <p:cNvPicPr>
            <a:picLocks noChangeAspect="1"/>
          </p:cNvPicPr>
          <p:nvPr/>
        </p:nvPicPr>
        <p:blipFill>
          <a:blip r:embed="rId5"/>
          <a:stretch>
            <a:fillRect/>
          </a:stretch>
        </p:blipFill>
        <p:spPr>
          <a:xfrm>
            <a:off x="7543800" y="1207008"/>
            <a:ext cx="4288536" cy="2092299"/>
          </a:xfrm>
          <a:prstGeom prst="rect">
            <a:avLst/>
          </a:prstGeom>
        </p:spPr>
      </p:pic>
      <p:sp>
        <p:nvSpPr>
          <p:cNvPr id="11" name="TextBox 10"/>
          <p:cNvSpPr txBox="1"/>
          <p:nvPr/>
        </p:nvSpPr>
        <p:spPr>
          <a:xfrm>
            <a:off x="7543800" y="3346704"/>
            <a:ext cx="4288536" cy="237744"/>
          </a:xfrm>
          <a:prstGeom prst="rect">
            <a:avLst/>
          </a:prstGeom>
          <a:noFill/>
        </p:spPr>
        <p:txBody>
          <a:bodyPr wrap="square" lIns="25400" rIns="25400" tIns="25400" bIns="25400" anchor="t">
            <a:spAutoFit/>
          </a:bodyPr>
          <a:lstStyle/>
          <a:p>
            <a:pPr algn="l"/>
            <a:r>
              <a:rPr sz="1000" b="1" spc="120">
                <a:solidFill>
                  <a:srgbClr val="176F98"/>
                </a:solidFill>
                <a:latin typeface="Arial"/>
              </a:rPr>
              <a:t>THE WEEKLY DECLARATION</a:t>
            </a:r>
          </a:p>
        </p:txBody>
      </p:sp>
      <p:sp>
        <p:nvSpPr>
          <p:cNvPr id="12" name="TextBox 11"/>
          <p:cNvSpPr txBox="1"/>
          <p:nvPr/>
        </p:nvSpPr>
        <p:spPr>
          <a:xfrm>
            <a:off x="7543800" y="3547872"/>
            <a:ext cx="4288536" cy="256032"/>
          </a:xfrm>
          <a:prstGeom prst="rect">
            <a:avLst/>
          </a:prstGeom>
          <a:noFill/>
        </p:spPr>
        <p:txBody>
          <a:bodyPr wrap="square" lIns="25400" rIns="25400" tIns="25400" bIns="25400" anchor="t">
            <a:spAutoFit/>
          </a:bodyPr>
          <a:lstStyle/>
          <a:p>
            <a:pPr algn="l"/>
            <a:r>
              <a:rPr sz="900" b="0">
                <a:solidFill>
                  <a:srgbClr val="063C67"/>
                </a:solidFill>
                <a:latin typeface="Arial"/>
              </a:rPr>
              <a:t>Six pairwise comparisons, refused if incoherent.</a:t>
            </a:r>
          </a:p>
        </p:txBody>
      </p:sp>
      <p:pic>
        <p:nvPicPr>
          <p:cNvPr id="13" name="Picture 12" descr="16-simulation-criticite.png"/>
          <p:cNvPicPr>
            <a:picLocks noChangeAspect="1"/>
          </p:cNvPicPr>
          <p:nvPr/>
        </p:nvPicPr>
        <p:blipFill>
          <a:blip r:embed="rId6"/>
          <a:stretch>
            <a:fillRect/>
          </a:stretch>
        </p:blipFill>
        <p:spPr>
          <a:xfrm>
            <a:off x="7543800" y="3931920"/>
            <a:ext cx="4288536" cy="2092299"/>
          </a:xfrm>
          <a:prstGeom prst="rect">
            <a:avLst/>
          </a:prstGeom>
        </p:spPr>
      </p:pic>
      <p:sp>
        <p:nvSpPr>
          <p:cNvPr id="14" name="TextBox 13"/>
          <p:cNvSpPr txBox="1"/>
          <p:nvPr/>
        </p:nvSpPr>
        <p:spPr>
          <a:xfrm>
            <a:off x="7543800" y="6071616"/>
            <a:ext cx="4288536" cy="237744"/>
          </a:xfrm>
          <a:prstGeom prst="rect">
            <a:avLst/>
          </a:prstGeom>
          <a:noFill/>
        </p:spPr>
        <p:txBody>
          <a:bodyPr wrap="square" lIns="25400" rIns="25400" tIns="25400" bIns="25400" anchor="t">
            <a:spAutoFit/>
          </a:bodyPr>
          <a:lstStyle/>
          <a:p>
            <a:pPr algn="l"/>
            <a:r>
              <a:rPr sz="1000" b="1" spc="120">
                <a:solidFill>
                  <a:srgbClr val="176F98"/>
                </a:solidFill>
                <a:latin typeface="Arial"/>
              </a:rPr>
              <a:t>SHOCK SIMULATION</a:t>
            </a:r>
          </a:p>
        </p:txBody>
      </p:sp>
      <p:sp>
        <p:nvSpPr>
          <p:cNvPr id="15" name="TextBox 14"/>
          <p:cNvSpPr txBox="1"/>
          <p:nvPr/>
        </p:nvSpPr>
        <p:spPr>
          <a:xfrm>
            <a:off x="7543800" y="6272784"/>
            <a:ext cx="4288536" cy="256032"/>
          </a:xfrm>
          <a:prstGeom prst="rect">
            <a:avLst/>
          </a:prstGeom>
          <a:noFill/>
        </p:spPr>
        <p:txBody>
          <a:bodyPr wrap="square" lIns="25400" rIns="25400" tIns="25400" bIns="25400" anchor="t">
            <a:spAutoFit/>
          </a:bodyPr>
          <a:lstStyle/>
          <a:p>
            <a:pPr algn="l"/>
            <a:r>
              <a:rPr sz="900" b="0">
                <a:solidFill>
                  <a:srgbClr val="063C67"/>
                </a:solidFill>
                <a:latin typeface="Arial"/>
              </a:rPr>
              <a:t>Knock a node out, watch the risk climb to the customer.</a:t>
            </a:r>
          </a:p>
        </p:txBody>
      </p:sp>
      <p:sp>
        <p:nvSpPr>
          <p:cNvPr id="16" name="TextBox 15"/>
          <p:cNvSpPr txBox="1"/>
          <p:nvPr/>
        </p:nvSpPr>
        <p:spPr>
          <a:xfrm>
            <a:off x="356616" y="5431536"/>
            <a:ext cx="6903720" cy="274320"/>
          </a:xfrm>
          <a:prstGeom prst="rect">
            <a:avLst/>
          </a:prstGeom>
          <a:noFill/>
        </p:spPr>
        <p:txBody>
          <a:bodyPr wrap="square" lIns="25400" rIns="25400" tIns="25400" bIns="25400" anchor="t">
            <a:spAutoFit/>
          </a:bodyPr>
          <a:lstStyle/>
          <a:p>
            <a:pPr algn="l"/>
            <a:r>
              <a:rPr sz="900" b="0">
                <a:solidFill>
                  <a:srgbClr val="858591"/>
                </a:solidFill>
                <a:latin typeface="Arial"/>
              </a:rPr>
              <a:t>The interface is French because the programme that operates it is.</a:t>
            </a:r>
          </a:p>
        </p:txBody>
      </p:sp>
      <p:sp>
        <p:nvSpPr>
          <p:cNvPr id="17" name="Rectangle 16"/>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19" name="Rectangle 18"/>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21" name="Rectangle 20"/>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23" name="Rectangle 22"/>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25" name="Rectangle 24"/>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27" name="TextBox 26"/>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16</a:t>
            </a:r>
          </a:p>
        </p:txBody>
      </p:sp>
      <p:sp>
        <p:nvSpPr>
          <p:cNvPr id="28" name="TextBox 27"/>
          <p:cNvSpPr txBox="1"/>
          <p:nvPr/>
        </p:nvSpPr>
        <p:spPr>
          <a:xfrm>
            <a:off x="356616" y="5632704"/>
            <a:ext cx="6903720" cy="237744"/>
          </a:xfrm>
          <a:prstGeom prst="rect">
            <a:avLst/>
          </a:prstGeom>
          <a:noFill/>
        </p:spPr>
        <p:txBody>
          <a:bodyPr wrap="square" lIns="25400" rIns="25400" tIns="25400" bIns="25400" anchor="t">
            <a:spAutoFit/>
          </a:bodyPr>
          <a:lstStyle/>
          <a:p>
            <a:pPr algn="l"/>
            <a:r>
              <a:rPr sz="950" b="1" spc="140">
                <a:solidFill>
                  <a:srgbClr val="176F98"/>
                </a:solidFill>
                <a:latin typeface="Arial"/>
              </a:rPr>
              <a:t>THE ELEVEN PAGES</a:t>
            </a:r>
          </a:p>
        </p:txBody>
      </p:sp>
      <p:sp>
        <p:nvSpPr>
          <p:cNvPr id="29" name="TextBox 28"/>
          <p:cNvSpPr txBox="1"/>
          <p:nvPr/>
        </p:nvSpPr>
        <p:spPr>
          <a:xfrm>
            <a:off x="356616" y="5870448"/>
            <a:ext cx="6903720" cy="548640"/>
          </a:xfrm>
          <a:prstGeom prst="rect">
            <a:avLst/>
          </a:prstGeom>
          <a:noFill/>
        </p:spPr>
        <p:txBody>
          <a:bodyPr wrap="square" lIns="25400" rIns="25400" tIns="25400" bIns="25400" anchor="t">
            <a:spAutoFit/>
          </a:bodyPr>
          <a:lstStyle/>
          <a:p>
            <a:pPr algn="l"/>
            <a:r>
              <a:rPr sz="950" b="0">
                <a:solidFill>
                  <a:srgbClr val="063C67"/>
                </a:solidFill>
                <a:latin typeface="Arial"/>
              </a:rPr>
              <a:t>Projects · Onboarding · Weekly review · Questionnaire · Dashboard · Simulation · Editor · Weighting · Graph · Report · Admin, plus a sheet and an explanation page for every node.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SUPPLYSCORE: ARCHITECTURE</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The class model, and why every write can be traced back</a:t>
            </a:r>
            <a:endParaRPr lang="en-US" sz="1725" dirty="0"/>
          </a:p>
        </p:txBody>
      </p:sp>
      <p:sp>
        <p:nvSpPr>
          <p:cNvPr id="5" name="Text 3"/>
          <p:cNvSpPr/>
          <p:nvPr/>
        </p:nvSpPr>
        <p:spPr>
          <a:xfrm>
            <a:off x="352425" y="1047750"/>
            <a:ext cx="733425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CLASS MODEL</a:t>
            </a:r>
            <a:endParaRPr lang="en-US" sz="1050" dirty="0"/>
          </a:p>
        </p:txBody>
      </p:sp>
      <p:sp>
        <p:nvSpPr>
          <p:cNvPr id="6" name="Shape 4"/>
          <p:cNvSpPr/>
          <p:nvPr/>
        </p:nvSpPr>
        <p:spPr>
          <a:xfrm>
            <a:off x="352425" y="1238250"/>
            <a:ext cx="6680200" cy="3270250"/>
          </a:xfrm>
          <a:prstGeom prst="rect">
            <a:avLst/>
          </a:prstGeom>
          <a:ln w="6350">
            <a:solidFill>
              <a:srgbClr val="C0C0C8"/>
            </a:solidFill>
            <a:prstDash val="solid"/>
          </a:ln>
        </p:spPr>
        <p:txBody>
          <a:bodyPr/>
          <a:lstStyle/>
          <a:p>
            <a:endParaRPr lang="fr-FR"/>
          </a:p>
        </p:txBody>
      </p:sp>
      <p:pic>
        <p:nvPicPr>
          <p:cNvPr id="7" name="Image 0" descr="preencoded.png"/>
          <p:cNvPicPr>
            <a:picLocks noChangeAspect="1"/>
          </p:cNvPicPr>
          <p:nvPr/>
        </p:nvPicPr>
        <p:blipFill>
          <a:blip r:embed="rId3"/>
          <a:srcRect l="-49" r="-49"/>
          <a:stretch/>
        </p:blipFill>
        <p:spPr>
          <a:xfrm>
            <a:off x="352425" y="1238250"/>
            <a:ext cx="6680200" cy="3270250"/>
          </a:xfrm>
          <a:prstGeom prst="rect">
            <a:avLst/>
          </a:prstGeom>
        </p:spPr>
      </p:pic>
      <p:sp>
        <p:nvSpPr>
          <p:cNvPr id="8" name="Shape 5"/>
          <p:cNvSpPr/>
          <p:nvPr/>
        </p:nvSpPr>
        <p:spPr>
          <a:xfrm>
            <a:off x="352425" y="4667250"/>
            <a:ext cx="2165350" cy="566738"/>
          </a:xfrm>
          <a:prstGeom prst="rect">
            <a:avLst/>
          </a:prstGeom>
          <a:solidFill>
            <a:srgbClr val="063C67"/>
          </a:solidFill>
          <a:ln/>
        </p:spPr>
        <p:txBody>
          <a:bodyPr/>
          <a:lstStyle/>
          <a:p>
            <a:endParaRPr lang="fr-FR"/>
          </a:p>
        </p:txBody>
      </p:sp>
      <p:sp>
        <p:nvSpPr>
          <p:cNvPr id="9" name="Text 6"/>
          <p:cNvSpPr/>
          <p:nvPr/>
        </p:nvSpPr>
        <p:spPr>
          <a:xfrm>
            <a:off x="47625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Facade </a:t>
            </a:r>
            <a:r>
              <a:rPr lang="en-US" sz="1050" dirty="0">
                <a:solidFill>
                  <a:srgbClr val="FFFFFF"/>
                </a:solidFill>
                <a:latin typeface="Calibri" pitchFamily="34" charset="0"/>
                <a:ea typeface="Calibri" pitchFamily="34" charset="-122"/>
                <a:cs typeface="Calibri" pitchFamily="34" charset="-120"/>
              </a:rPr>
              <a:t>the only entry point</a:t>
            </a:r>
            <a:endParaRPr lang="en-US" sz="1125" dirty="0"/>
          </a:p>
        </p:txBody>
      </p:sp>
      <p:sp>
        <p:nvSpPr>
          <p:cNvPr id="10" name="Shape 7"/>
          <p:cNvSpPr/>
          <p:nvPr/>
        </p:nvSpPr>
        <p:spPr>
          <a:xfrm>
            <a:off x="2603500" y="4667250"/>
            <a:ext cx="2165350" cy="566738"/>
          </a:xfrm>
          <a:prstGeom prst="rect">
            <a:avLst/>
          </a:prstGeom>
          <a:solidFill>
            <a:srgbClr val="1D93C9"/>
          </a:solidFill>
          <a:ln/>
        </p:spPr>
        <p:txBody>
          <a:bodyPr/>
          <a:lstStyle/>
          <a:p>
            <a:endParaRPr lang="fr-FR"/>
          </a:p>
        </p:txBody>
      </p:sp>
      <p:sp>
        <p:nvSpPr>
          <p:cNvPr id="11" name="Text 8"/>
          <p:cNvSpPr/>
          <p:nvPr/>
        </p:nvSpPr>
        <p:spPr>
          <a:xfrm>
            <a:off x="2727325"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Mutation service </a:t>
            </a:r>
            <a:r>
              <a:rPr lang="en-US" sz="1050" dirty="0">
                <a:solidFill>
                  <a:srgbClr val="FFFFFF"/>
                </a:solidFill>
                <a:latin typeface="Calibri" pitchFamily="34" charset="0"/>
                <a:ea typeface="Calibri" pitchFamily="34" charset="-122"/>
                <a:cs typeface="Calibri" pitchFamily="34" charset="-120"/>
              </a:rPr>
              <a:t>the audit trail is architectural</a:t>
            </a:r>
            <a:endParaRPr lang="en-US" sz="1125" dirty="0"/>
          </a:p>
        </p:txBody>
      </p:sp>
      <p:sp>
        <p:nvSpPr>
          <p:cNvPr id="12" name="Shape 9"/>
          <p:cNvSpPr/>
          <p:nvPr/>
        </p:nvSpPr>
        <p:spPr>
          <a:xfrm>
            <a:off x="4854575" y="4667250"/>
            <a:ext cx="2165350" cy="566738"/>
          </a:xfrm>
          <a:prstGeom prst="rect">
            <a:avLst/>
          </a:prstGeom>
          <a:solidFill>
            <a:srgbClr val="E9F5FB"/>
          </a:solidFill>
          <a:ln/>
        </p:spPr>
        <p:txBody>
          <a:bodyPr/>
          <a:lstStyle/>
          <a:p>
            <a:endParaRPr lang="fr-FR"/>
          </a:p>
        </p:txBody>
      </p:sp>
      <p:sp>
        <p:nvSpPr>
          <p:cNvPr id="13" name="Text 10"/>
          <p:cNvSpPr/>
          <p:nvPr/>
        </p:nvSpPr>
        <p:spPr>
          <a:xfrm>
            <a:off x="497840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063C67"/>
                </a:solidFill>
                <a:latin typeface="Calibri" pitchFamily="34" charset="0"/>
                <a:ea typeface="Calibri" pitchFamily="34" charset="-122"/>
                <a:cs typeface="Calibri" pitchFamily="34" charset="-120"/>
              </a:rPr>
              <a:t>One DB per node </a:t>
            </a:r>
            <a:r>
              <a:rPr lang="en-US" sz="1050" dirty="0">
                <a:solidFill>
                  <a:srgbClr val="063C67"/>
                </a:solidFill>
                <a:latin typeface="Calibri" pitchFamily="34" charset="0"/>
                <a:ea typeface="Calibri" pitchFamily="34" charset="-122"/>
                <a:cs typeface="Calibri" pitchFamily="34" charset="-120"/>
              </a:rPr>
              <a:t>isolation by storage layout</a:t>
            </a:r>
            <a:endParaRPr lang="en-US" sz="1125" dirty="0"/>
          </a:p>
        </p:txBody>
      </p:sp>
      <p:sp>
        <p:nvSpPr>
          <p:cNvPr id="14" name="Text 11"/>
          <p:cNvSpPr/>
          <p:nvPr/>
        </p:nvSpPr>
        <p:spPr>
          <a:xfrm>
            <a:off x="352425" y="5391150"/>
            <a:ext cx="686752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Every arrow into the data crosses the facade, then the mutation service. Two graph repositories sit behind one interface, so the network can be held in memory or in Neo4j without the domain knowing which.</a:t>
            </a:r>
            <a:endParaRPr lang="en-US" sz="1200" dirty="0"/>
          </a:p>
        </p:txBody>
      </p:sp>
      <p:sp>
        <p:nvSpPr>
          <p:cNvPr id="15" name="Text 12"/>
          <p:cNvSpPr/>
          <p:nvPr/>
        </p:nvSpPr>
        <p:spPr>
          <a:xfrm>
            <a:off x="7239000" y="104775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EVERY PAGE THE OPERATOR REACHES</a:t>
            </a:r>
            <a:endParaRPr lang="en-US" sz="1050" dirty="0"/>
          </a:p>
        </p:txBody>
      </p:sp>
      <p:sp>
        <p:nvSpPr>
          <p:cNvPr id="16" name="Shape 13"/>
          <p:cNvSpPr/>
          <p:nvPr/>
        </p:nvSpPr>
        <p:spPr>
          <a:xfrm>
            <a:off x="7239000" y="1238250"/>
            <a:ext cx="2260600" cy="1117600"/>
          </a:xfrm>
          <a:prstGeom prst="rect">
            <a:avLst/>
          </a:prstGeom>
          <a:ln w="6350">
            <a:solidFill>
              <a:srgbClr val="C0C0C8"/>
            </a:solidFill>
            <a:prstDash val="solid"/>
          </a:ln>
        </p:spPr>
        <p:txBody>
          <a:bodyPr/>
          <a:lstStyle/>
          <a:p>
            <a:endParaRPr lang="fr-FR"/>
          </a:p>
        </p:txBody>
      </p:sp>
      <p:pic>
        <p:nvPicPr>
          <p:cNvPr id="17" name="Image 1" descr="preencoded.png"/>
          <p:cNvPicPr>
            <a:picLocks noChangeAspect="1"/>
          </p:cNvPicPr>
          <p:nvPr/>
        </p:nvPicPr>
        <p:blipFill>
          <a:blip r:embed="rId4"/>
          <a:srcRect l="657" r="657"/>
          <a:stretch/>
        </p:blipFill>
        <p:spPr>
          <a:xfrm>
            <a:off x="7239000" y="1238250"/>
            <a:ext cx="2260600" cy="1117600"/>
          </a:xfrm>
          <a:prstGeom prst="rect">
            <a:avLst/>
          </a:prstGeom>
        </p:spPr>
      </p:pic>
      <p:sp>
        <p:nvSpPr>
          <p:cNvPr id="18" name="Text 14"/>
          <p:cNvSpPr/>
          <p:nvPr/>
        </p:nvSpPr>
        <p:spPr>
          <a:xfrm>
            <a:off x="7239000"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Weekly review </a:t>
            </a:r>
            <a:r>
              <a:rPr lang="en-US" sz="1050" dirty="0">
                <a:solidFill>
                  <a:srgbClr val="063C67"/>
                </a:solidFill>
                <a:latin typeface="Calibri" pitchFamily="34" charset="0"/>
                <a:ea typeface="Calibri" pitchFamily="34" charset="-122"/>
                <a:cs typeface="Calibri" pitchFamily="34" charset="-120"/>
              </a:rPr>
              <a:t>· one signed transaction</a:t>
            </a:r>
            <a:endParaRPr lang="en-US" sz="1050" dirty="0"/>
          </a:p>
        </p:txBody>
      </p:sp>
      <p:sp>
        <p:nvSpPr>
          <p:cNvPr id="19" name="Shape 15"/>
          <p:cNvSpPr/>
          <p:nvPr/>
        </p:nvSpPr>
        <p:spPr>
          <a:xfrm>
            <a:off x="9604375" y="1238250"/>
            <a:ext cx="2260600" cy="1117600"/>
          </a:xfrm>
          <a:prstGeom prst="rect">
            <a:avLst/>
          </a:prstGeom>
          <a:ln w="6350">
            <a:solidFill>
              <a:srgbClr val="C0C0C8"/>
            </a:solidFill>
            <a:prstDash val="solid"/>
          </a:ln>
        </p:spPr>
        <p:txBody>
          <a:bodyPr/>
          <a:lstStyle/>
          <a:p>
            <a:endParaRPr lang="fr-FR"/>
          </a:p>
        </p:txBody>
      </p:sp>
      <p:pic>
        <p:nvPicPr>
          <p:cNvPr id="20" name="Image 2" descr="preencoded.png"/>
          <p:cNvPicPr>
            <a:picLocks noChangeAspect="1"/>
          </p:cNvPicPr>
          <p:nvPr/>
        </p:nvPicPr>
        <p:blipFill>
          <a:blip r:embed="rId5"/>
          <a:srcRect t="10104" b="46028"/>
          <a:stretch/>
        </p:blipFill>
        <p:spPr>
          <a:xfrm>
            <a:off x="9604375" y="1238250"/>
            <a:ext cx="2260600" cy="1117600"/>
          </a:xfrm>
          <a:prstGeom prst="rect">
            <a:avLst/>
          </a:prstGeom>
        </p:spPr>
      </p:pic>
      <p:sp>
        <p:nvSpPr>
          <p:cNvPr id="21" name="Text 16"/>
          <p:cNvSpPr/>
          <p:nvPr/>
        </p:nvSpPr>
        <p:spPr>
          <a:xfrm>
            <a:off x="9604375"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Explainability </a:t>
            </a:r>
            <a:r>
              <a:rPr lang="en-US" sz="1050" dirty="0">
                <a:solidFill>
                  <a:srgbClr val="063C67"/>
                </a:solidFill>
                <a:latin typeface="Calibri" pitchFamily="34" charset="0"/>
                <a:ea typeface="Calibri" pitchFamily="34" charset="-122"/>
                <a:cs typeface="Calibri" pitchFamily="34" charset="-120"/>
              </a:rPr>
              <a:t>· term by term</a:t>
            </a:r>
            <a:endParaRPr lang="en-US" sz="1050" dirty="0"/>
          </a:p>
        </p:txBody>
      </p:sp>
      <p:sp>
        <p:nvSpPr>
          <p:cNvPr id="22" name="Shape 17"/>
          <p:cNvSpPr/>
          <p:nvPr/>
        </p:nvSpPr>
        <p:spPr>
          <a:xfrm>
            <a:off x="7239000" y="2665413"/>
            <a:ext cx="2260600" cy="1117600"/>
          </a:xfrm>
          <a:prstGeom prst="rect">
            <a:avLst/>
          </a:prstGeom>
          <a:ln w="6350">
            <a:solidFill>
              <a:srgbClr val="C0C0C8"/>
            </a:solidFill>
            <a:prstDash val="solid"/>
          </a:ln>
        </p:spPr>
        <p:txBody>
          <a:bodyPr/>
          <a:lstStyle/>
          <a:p>
            <a:endParaRPr lang="fr-FR"/>
          </a:p>
        </p:txBody>
      </p:sp>
      <p:pic>
        <p:nvPicPr>
          <p:cNvPr id="23" name="Image 3" descr="preencoded.png"/>
          <p:cNvPicPr>
            <a:picLocks noChangeAspect="1"/>
          </p:cNvPicPr>
          <p:nvPr/>
        </p:nvPicPr>
        <p:blipFill>
          <a:blip r:embed="rId6"/>
          <a:srcRect t="17360" b="40506"/>
          <a:stretch/>
        </p:blipFill>
        <p:spPr>
          <a:xfrm>
            <a:off x="7239000" y="2665413"/>
            <a:ext cx="2260600" cy="1117600"/>
          </a:xfrm>
          <a:prstGeom prst="rect">
            <a:avLst/>
          </a:prstGeom>
        </p:spPr>
      </p:pic>
      <p:sp>
        <p:nvSpPr>
          <p:cNvPr id="24" name="Text 18"/>
          <p:cNvSpPr/>
          <p:nvPr/>
        </p:nvSpPr>
        <p:spPr>
          <a:xfrm>
            <a:off x="7239000"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Network </a:t>
            </a:r>
            <a:r>
              <a:rPr lang="en-US" sz="1050" dirty="0">
                <a:solidFill>
                  <a:srgbClr val="063C67"/>
                </a:solidFill>
                <a:latin typeface="Calibri" pitchFamily="34" charset="0"/>
                <a:ea typeface="Calibri" pitchFamily="34" charset="-122"/>
                <a:cs typeface="Calibri" pitchFamily="34" charset="-120"/>
              </a:rPr>
              <a:t>· generated per project</a:t>
            </a:r>
            <a:endParaRPr lang="en-US" sz="1050" dirty="0"/>
          </a:p>
        </p:txBody>
      </p:sp>
      <p:sp>
        <p:nvSpPr>
          <p:cNvPr id="25" name="Shape 19"/>
          <p:cNvSpPr/>
          <p:nvPr/>
        </p:nvSpPr>
        <p:spPr>
          <a:xfrm>
            <a:off x="9604375" y="2665413"/>
            <a:ext cx="2260600" cy="1117600"/>
          </a:xfrm>
          <a:prstGeom prst="rect">
            <a:avLst/>
          </a:prstGeom>
          <a:ln w="6350">
            <a:solidFill>
              <a:srgbClr val="C0C0C8"/>
            </a:solidFill>
            <a:prstDash val="solid"/>
          </a:ln>
        </p:spPr>
        <p:txBody>
          <a:bodyPr/>
          <a:lstStyle/>
          <a:p>
            <a:endParaRPr lang="fr-FR"/>
          </a:p>
        </p:txBody>
      </p:sp>
      <p:pic>
        <p:nvPicPr>
          <p:cNvPr id="26" name="Image 4" descr="preencoded.png"/>
          <p:cNvPicPr>
            <a:picLocks noChangeAspect="1"/>
          </p:cNvPicPr>
          <p:nvPr/>
        </p:nvPicPr>
        <p:blipFill>
          <a:blip r:embed="rId7"/>
          <a:srcRect t="21236" b="49551"/>
          <a:stretch/>
        </p:blipFill>
        <p:spPr>
          <a:xfrm>
            <a:off x="9604375" y="2665413"/>
            <a:ext cx="2260600" cy="1117600"/>
          </a:xfrm>
          <a:prstGeom prst="rect">
            <a:avLst/>
          </a:prstGeom>
        </p:spPr>
      </p:pic>
      <p:sp>
        <p:nvSpPr>
          <p:cNvPr id="27" name="Text 20"/>
          <p:cNvSpPr/>
          <p:nvPr/>
        </p:nvSpPr>
        <p:spPr>
          <a:xfrm>
            <a:off x="9604375"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Criticality </a:t>
            </a:r>
            <a:r>
              <a:rPr lang="en-US" sz="1050" dirty="0">
                <a:solidFill>
                  <a:srgbClr val="063C67"/>
                </a:solidFill>
                <a:latin typeface="Calibri" pitchFamily="34" charset="0"/>
                <a:ea typeface="Calibri" pitchFamily="34" charset="-122"/>
                <a:cs typeface="Calibri" pitchFamily="34" charset="-120"/>
              </a:rPr>
              <a:t>· each node knocked out</a:t>
            </a:r>
            <a:endParaRPr lang="en-US" sz="1050" dirty="0"/>
          </a:p>
        </p:txBody>
      </p:sp>
      <p:sp>
        <p:nvSpPr>
          <p:cNvPr id="28" name="Text 21"/>
          <p:cNvSpPr/>
          <p:nvPr/>
        </p:nvSpPr>
        <p:spPr>
          <a:xfrm>
            <a:off x="7239000" y="403860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A NODE, AND WHAT IT CARRIES</a:t>
            </a:r>
            <a:endParaRPr lang="en-US" sz="1050" dirty="0"/>
          </a:p>
        </p:txBody>
      </p:sp>
      <p:sp>
        <p:nvSpPr>
          <p:cNvPr id="29" name="Shape 22"/>
          <p:cNvSpPr/>
          <p:nvPr/>
        </p:nvSpPr>
        <p:spPr>
          <a:xfrm>
            <a:off x="7239000" y="4229100"/>
            <a:ext cx="4613275" cy="2222500"/>
          </a:xfrm>
          <a:prstGeom prst="rect">
            <a:avLst/>
          </a:prstGeom>
          <a:ln w="6350">
            <a:solidFill>
              <a:srgbClr val="C0C0C8"/>
            </a:solidFill>
            <a:prstDash val="solid"/>
          </a:ln>
        </p:spPr>
        <p:txBody>
          <a:bodyPr/>
          <a:lstStyle/>
          <a:p>
            <a:endParaRPr lang="fr-FR"/>
          </a:p>
        </p:txBody>
      </p:sp>
      <p:pic>
        <p:nvPicPr>
          <p:cNvPr id="30" name="Image 5" descr="preencoded.png"/>
          <p:cNvPicPr>
            <a:picLocks noChangeAspect="1"/>
          </p:cNvPicPr>
          <p:nvPr/>
        </p:nvPicPr>
        <p:blipFill>
          <a:blip r:embed="rId8"/>
          <a:srcRect t="14146" b="56584"/>
          <a:stretch/>
        </p:blipFill>
        <p:spPr>
          <a:xfrm>
            <a:off x="7239000" y="4229100"/>
            <a:ext cx="4613275" cy="2222500"/>
          </a:xfrm>
          <a:prstGeom prst="rect">
            <a:avLst/>
          </a:prstGeom>
        </p:spPr>
      </p:pic>
      <p:pic>
        <p:nvPicPr>
          <p:cNvPr id="31"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5925312"/>
            <a:ext cx="6949440" cy="274320"/>
          </a:xfrm>
          <a:prstGeom prst="rect">
            <a:avLst/>
          </a:prstGeom>
          <a:noFill/>
        </p:spPr>
        <p:txBody>
          <a:bodyPr wrap="square" lIns="25400" rIns="25400" tIns="25400" bIns="25400" anchor="t">
            <a:spAutoFit/>
          </a:bodyPr>
          <a:lstStyle/>
          <a:p>
            <a:pPr algn="l"/>
            <a:r>
              <a:rPr sz="1000" b="1">
                <a:solidFill>
                  <a:srgbClr val="176F98"/>
                </a:solidFill>
                <a:latin typeface="Arial"/>
              </a:rPr>
              <a:t>73 modules · 2 044 automated tests · multi-tenant, one database per node</a:t>
            </a:r>
          </a:p>
        </p:txBody>
      </p:sp>
      <p:sp>
        <p:nvSpPr>
          <p:cNvPr id="33" name="Rectangle 32"/>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35" name="Rectangle 34"/>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37" name="Rectangle 36"/>
          <p:cNvSpPr/>
          <p:nvPr/>
        </p:nvSpPr>
        <p:spPr>
          <a:xfrm>
            <a:off x="10954511"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3</a:t>
            </a:r>
          </a:p>
        </p:txBody>
      </p:sp>
      <p:sp>
        <p:nvSpPr>
          <p:cNvPr id="39" name="Rectangle 38"/>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41" name="Rectangle 40"/>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43" name="TextBox 42"/>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37817-8BBF-FF4F-3388-F99F11973E6F}"/>
            </a:ext>
          </a:extLst>
        </p:cNvPr>
        <p:cNvGrpSpPr/>
        <p:nvPr/>
      </p:nvGrpSpPr>
      <p:grpSpPr>
        <a:xfrm>
          <a:off x="0" y="0"/>
          <a:ext cx="0" cy="0"/>
          <a:chOff x="0" y="0"/>
          <a:chExt cx="0" cy="0"/>
        </a:xfrm>
      </p:grpSpPr>
      <p:sp>
        <p:nvSpPr>
          <p:cNvPr id="31" name="Shape 19">
            <a:extLst>
              <a:ext uri="{FF2B5EF4-FFF2-40B4-BE49-F238E27FC236}">
                <a16:creationId xmlns:a16="http://schemas.microsoft.com/office/drawing/2014/main" id="{2828DD8B-2945-ED97-F01B-96C60631C3EF}"/>
              </a:ext>
            </a:extLst>
          </p:cNvPr>
          <p:cNvSpPr/>
          <p:nvPr/>
        </p:nvSpPr>
        <p:spPr>
          <a:xfrm>
            <a:off x="352426" y="408305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3A634611-44B1-8AFF-3900-930EE93289B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9EF39D6B-E285-8E74-5325-ECAE439FDF37}"/>
              </a:ext>
            </a:extLst>
          </p:cNvPr>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79F4D900-1DA9-7718-FCAF-0DFD2E2C4198}"/>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F9D0A43E-EA0A-9B61-7407-AA330F835D46}"/>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9473DE52-48B7-18AE-30DA-0A77917F0FC8}"/>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1A03AE1C-9EB5-CCFB-437D-366E9D456C84}"/>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064C33BE-24C8-C928-CE6F-E53F48865E33}"/>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BC1C3C34-9621-7016-BA6F-FFB3FE2BEB1E}"/>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B1A6C181-FE80-1AF5-93EA-FA9CF3FB18B9}"/>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6A9E140F-B9EC-3765-D6F9-F86D7E3FC332}"/>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5706C955-823E-8D85-DA18-6CBBCFAEF7BF}"/>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F4BA27B2-28F4-F5D7-C4BB-96E86292A461}"/>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1C222FEA-6650-6350-B7D4-7E897EC28BAD}"/>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E4ACAAC7-41C4-739C-23A7-4D45F215413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2D459D8F-28A4-0B97-A8F0-3BCEB39EF49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A8C23BE9-0F43-4906-22E1-033274AA07CC}"/>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C6663B91-BD07-7B0E-EDF8-7CFD27CF036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1556AB6A-6C11-A84B-B8AA-A9ECDD0A9B7B}"/>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DACBB3CF-B04A-0A59-1795-BA42546A2C3E}"/>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DBC9CFDD-AF25-B2FB-735E-842196F0F28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6AFDC3EF-74EB-DC84-057A-C0AA1C5B0DF1}"/>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8CA2E40A-E321-F93E-48F7-E5491EAB7F2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CC63C42-20E5-D054-6EFF-E459E5202AB0}"/>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FC908FB6-F81B-9351-69D1-2B955748ECC8}"/>
              </a:ext>
            </a:extLst>
          </p:cNvPr>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858591"/>
                </a:solidFill>
                <a:latin typeface="Arial"/>
              </a:rPr>
              <a:t>18</a:t>
            </a:r>
          </a:p>
        </p:txBody>
      </p:sp>
    </p:spTree>
    <p:extLst>
      <p:ext uri="{BB962C8B-B14F-4D97-AF65-F5344CB8AC3E}">
        <p14:creationId xmlns:p14="http://schemas.microsoft.com/office/powerpoint/2010/main" val="1040023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2600" b="1" dirty="0">
                <a:solidFill>
                  <a:srgbClr val="043962"/>
                </a:solidFill>
                <a:latin typeface="Arial Black" pitchFamily="34" charset="0"/>
                <a:ea typeface="Arial Black" pitchFamily="34" charset="-122"/>
                <a:cs typeface="Arial Black" pitchFamily="34" charset="-120"/>
              </a:rPr>
              <a:t>RESULT 1: THE SEMICONDUCTOR SHORTAGE</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8 nodes · 19 weekly turns · nodes ranked by hidden risk above 0.10, against the nodes that later missed</a:t>
            </a:r>
            <a:endParaRPr lang="en-US" sz="1725" dirty="0"/>
          </a:p>
        </p:txBody>
      </p:sp>
      <p:sp>
        <p:nvSpPr>
          <p:cNvPr id="5" name="Text 3"/>
          <p:cNvSpPr/>
          <p:nvPr/>
        </p:nvSpPr>
        <p:spPr>
          <a:xfrm>
            <a:off x="3524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1.00</a:t>
            </a:r>
            <a:endParaRPr lang="en-US" sz="5250" dirty="0"/>
          </a:p>
        </p:txBody>
      </p:sp>
      <p:sp>
        <p:nvSpPr>
          <p:cNvPr id="6" name="Text 4"/>
          <p:cNvSpPr/>
          <p:nvPr/>
        </p:nvSpPr>
        <p:spPr>
          <a:xfrm>
            <a:off x="3524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PRECISION, TURNS 0–5</a:t>
            </a:r>
            <a:endParaRPr lang="en-US" sz="1125" dirty="0"/>
          </a:p>
        </p:txBody>
      </p:sp>
      <p:sp>
        <p:nvSpPr>
          <p:cNvPr id="7" name="Text 5"/>
          <p:cNvSpPr/>
          <p:nvPr/>
        </p:nvSpPr>
        <p:spPr>
          <a:xfrm>
            <a:off x="32289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3 / 4</a:t>
            </a:r>
            <a:endParaRPr lang="en-US" sz="5250" dirty="0"/>
          </a:p>
        </p:txBody>
      </p:sp>
      <p:sp>
        <p:nvSpPr>
          <p:cNvPr id="8" name="Text 6"/>
          <p:cNvSpPr/>
          <p:nvPr/>
        </p:nvSpPr>
        <p:spPr>
          <a:xfrm>
            <a:off x="322897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FUTURE FAILURES FLAGGED</a:t>
            </a:r>
            <a:endParaRPr lang="en-US" sz="1125" dirty="0"/>
          </a:p>
        </p:txBody>
      </p:sp>
      <p:sp>
        <p:nvSpPr>
          <p:cNvPr id="9" name="Text 7"/>
          <p:cNvSpPr/>
          <p:nvPr/>
        </p:nvSpPr>
        <p:spPr>
          <a:xfrm>
            <a:off x="61055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0</a:t>
            </a:r>
            <a:endParaRPr lang="en-US" sz="5250" dirty="0"/>
          </a:p>
        </p:txBody>
      </p:sp>
      <p:sp>
        <p:nvSpPr>
          <p:cNvPr id="10" name="Text 8"/>
          <p:cNvSpPr/>
          <p:nvPr/>
        </p:nvSpPr>
        <p:spPr>
          <a:xfrm>
            <a:off x="61055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FALSE ALARMS IN SIX TURNS</a:t>
            </a:r>
            <a:endParaRPr lang="en-US" sz="1125" dirty="0"/>
          </a:p>
        </p:txBody>
      </p:sp>
      <p:sp>
        <p:nvSpPr>
          <p:cNvPr id="11" name="Text 9"/>
          <p:cNvSpPr/>
          <p:nvPr/>
        </p:nvSpPr>
        <p:spPr>
          <a:xfrm>
            <a:off x="89820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FFC800"/>
                </a:solidFill>
                <a:latin typeface="Arial Black" pitchFamily="34" charset="0"/>
                <a:ea typeface="Arial Black" pitchFamily="34" charset="-122"/>
                <a:cs typeface="Arial Black" pitchFamily="34" charset="-120"/>
              </a:rPr>
              <a:t>8</a:t>
            </a:r>
            <a:endParaRPr lang="en-US" sz="5250" dirty="0"/>
          </a:p>
        </p:txBody>
      </p:sp>
      <p:sp>
        <p:nvSpPr>
          <p:cNvPr id="12" name="Text 10"/>
          <p:cNvSpPr/>
          <p:nvPr/>
        </p:nvSpPr>
        <p:spPr>
          <a:xfrm>
            <a:off x="8982075" y="2085975"/>
            <a:ext cx="2747010" cy="452438"/>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TURNS OF ADVANCE WARNING</a:t>
            </a:r>
            <a:endParaRPr lang="en-US" sz="1125" dirty="0"/>
          </a:p>
        </p:txBody>
      </p:sp>
      <p:sp>
        <p:nvSpPr>
          <p:cNvPr id="13" name="Shape 11"/>
          <p:cNvSpPr/>
          <p:nvPr/>
        </p:nvSpPr>
        <p:spPr>
          <a:xfrm>
            <a:off x="352425" y="3067050"/>
            <a:ext cx="3552329" cy="533400"/>
          </a:xfrm>
          <a:prstGeom prst="rect">
            <a:avLst/>
          </a:prstGeom>
          <a:solidFill>
            <a:srgbClr val="FFDA65"/>
          </a:solidFill>
          <a:ln/>
        </p:spPr>
        <p:txBody>
          <a:bodyPr/>
          <a:lstStyle/>
          <a:p>
            <a:endParaRPr lang="fr-FR"/>
          </a:p>
        </p:txBody>
      </p:sp>
      <p:sp>
        <p:nvSpPr>
          <p:cNvPr id="14" name="Text 12"/>
          <p:cNvSpPr/>
          <p:nvPr/>
        </p:nvSpPr>
        <p:spPr>
          <a:xfrm>
            <a:off x="299140" y="3067050"/>
            <a:ext cx="3658899" cy="571500"/>
          </a:xfrm>
          <a:prstGeom prst="rect">
            <a:avLst/>
          </a:prstGeom>
          <a:noFill/>
          <a:ln/>
        </p:spPr>
        <p:txBody>
          <a:bodyPr wrap="square" lIns="25400" tIns="25400" rIns="25400" bIns="25400" rtlCol="0" anchor="ctr">
            <a:normAutofit/>
          </a:bodyPr>
          <a:lstStyle/>
          <a:p>
            <a:pPr marL="0" indent="0" algn="ctr">
              <a:lnSpc>
                <a:spcPct val="119274"/>
              </a:lnSpc>
              <a:buNone/>
            </a:pPr>
            <a:r>
              <a:rPr lang="en-US" sz="1275" b="1" dirty="0">
                <a:solidFill>
                  <a:srgbClr val="063C67"/>
                </a:solidFill>
                <a:latin typeface="Calibri" pitchFamily="34" charset="0"/>
                <a:ea typeface="Calibri" pitchFamily="34" charset="-122"/>
                <a:cs typeface="Calibri" pitchFamily="34" charset="-120"/>
              </a:rPr>
              <a:t>T0 – T5 · signal sharp</a:t>
            </a:r>
            <a:endParaRPr lang="en-US" sz="1275" dirty="0"/>
          </a:p>
        </p:txBody>
      </p:sp>
      <p:sp>
        <p:nvSpPr>
          <p:cNvPr id="15" name="Shape 13"/>
          <p:cNvSpPr/>
          <p:nvPr/>
        </p:nvSpPr>
        <p:spPr>
          <a:xfrm>
            <a:off x="3952379" y="3257550"/>
            <a:ext cx="7696696" cy="342900"/>
          </a:xfrm>
          <a:prstGeom prst="rect">
            <a:avLst/>
          </a:prstGeom>
          <a:solidFill>
            <a:srgbClr val="E9E9ED"/>
          </a:solidFill>
          <a:ln/>
        </p:spPr>
        <p:txBody>
          <a:bodyPr/>
          <a:lstStyle/>
          <a:p>
            <a:endParaRPr lang="fr-FR"/>
          </a:p>
        </p:txBody>
      </p:sp>
      <p:sp>
        <p:nvSpPr>
          <p:cNvPr id="16" name="Text 14"/>
          <p:cNvSpPr/>
          <p:nvPr/>
        </p:nvSpPr>
        <p:spPr>
          <a:xfrm>
            <a:off x="3836929" y="3257550"/>
            <a:ext cx="7927597" cy="381000"/>
          </a:xfrm>
          <a:prstGeom prst="rect">
            <a:avLst/>
          </a:prstGeom>
          <a:noFill/>
          <a:ln/>
        </p:spPr>
        <p:txBody>
          <a:bodyPr wrap="square" lIns="25400" tIns="25400" rIns="25400" bIns="25400" rtlCol="0" anchor="ctr">
            <a:normAutofit/>
          </a:bodyPr>
          <a:lstStyle/>
          <a:p>
            <a:pPr marL="0" indent="0" algn="ctr">
              <a:lnSpc>
                <a:spcPct val="119274"/>
              </a:lnSpc>
              <a:buNone/>
            </a:pPr>
            <a:r>
              <a:rPr lang="en-US" sz="1275" dirty="0">
                <a:solidFill>
                  <a:srgbClr val="063C67"/>
                </a:solidFill>
                <a:latin typeface="Calibri" pitchFamily="34" charset="0"/>
                <a:ea typeface="Calibri" pitchFamily="34" charset="-122"/>
                <a:cs typeface="Calibri" pitchFamily="34" charset="-120"/>
              </a:rPr>
              <a:t>T6 – T18 · crisis public, the gap closes</a:t>
            </a:r>
            <a:endParaRPr lang="en-US" sz="1275" dirty="0"/>
          </a:p>
        </p:txBody>
      </p:sp>
      <p:pic>
        <p:nvPicPr>
          <p:cNvPr id="18" name="Image 0" descr="preencoded.png"/>
          <p:cNvPicPr>
            <a:picLocks noChangeAspect="1"/>
          </p:cNvPicPr>
          <p:nvPr/>
        </p:nvPicPr>
        <p:blipFill>
          <a:blip r:embed="rId3"/>
          <a:stretch>
            <a:fillRect/>
          </a:stretch>
        </p:blipFill>
        <p:spPr>
          <a:xfrm>
            <a:off x="381000" y="4219575"/>
            <a:ext cx="438150" cy="438150"/>
          </a:xfrm>
          <a:prstGeom prst="rect">
            <a:avLst/>
          </a:prstGeom>
        </p:spPr>
      </p:pic>
      <p:sp>
        <p:nvSpPr>
          <p:cNvPr id="19" name="Text 16"/>
          <p:cNvSpPr/>
          <p:nvPr/>
        </p:nvSpPr>
        <p:spPr>
          <a:xfrm>
            <a:off x="990600" y="4219575"/>
            <a:ext cx="6239637"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worst-scoring node is the satellite prime. Flagged from turn 0, it misses at turn 8.</a:t>
            </a:r>
            <a:endParaRPr lang="en-US" sz="1500" dirty="0"/>
          </a:p>
        </p:txBody>
      </p:sp>
      <p:pic>
        <p:nvPicPr>
          <p:cNvPr id="20" name="Image 1" descr="preencoded.png"/>
          <p:cNvPicPr>
            <a:picLocks noChangeAspect="1"/>
          </p:cNvPicPr>
          <p:nvPr/>
        </p:nvPicPr>
        <p:blipFill>
          <a:blip r:embed="rId4"/>
          <a:stretch>
            <a:fillRect/>
          </a:stretch>
        </p:blipFill>
        <p:spPr>
          <a:xfrm>
            <a:off x="381000" y="5143500"/>
            <a:ext cx="409773" cy="438150"/>
          </a:xfrm>
          <a:prstGeom prst="rect">
            <a:avLst/>
          </a:prstGeom>
        </p:spPr>
      </p:pic>
      <p:sp>
        <p:nvSpPr>
          <p:cNvPr id="21" name="Text 17"/>
          <p:cNvSpPr/>
          <p:nvPr/>
        </p:nvSpPr>
        <p:spPr>
          <a:xfrm>
            <a:off x="962223" y="5143500"/>
            <a:ext cx="6268865"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flag comes from an optimistic declaration against a computed state that is not. That node's own manager was declaring 0.001.</a:t>
            </a:r>
            <a:endParaRPr lang="en-US" sz="1500" dirty="0"/>
          </a:p>
        </p:txBody>
      </p:sp>
      <p:sp>
        <p:nvSpPr>
          <p:cNvPr id="22" name="Shape 18"/>
          <p:cNvSpPr/>
          <p:nvPr/>
        </p:nvSpPr>
        <p:spPr>
          <a:xfrm>
            <a:off x="384048" y="6016752"/>
            <a:ext cx="6665976" cy="731520"/>
          </a:xfrm>
          <a:prstGeom prst="rect">
            <a:avLst/>
          </a:prstGeom>
          <a:solidFill>
            <a:srgbClr val="FFDA65"/>
          </a:solidFill>
          <a:ln/>
        </p:spPr>
        <p:txBody>
          <a:bodyPr/>
          <a:lstStyle/>
          <a:p>
            <a:endParaRPr lang="fr-FR"/>
          </a:p>
        </p:txBody>
      </p:sp>
      <p:sp>
        <p:nvSpPr>
          <p:cNvPr id="23" name="Text 19"/>
          <p:cNvSpPr/>
          <p:nvPr/>
        </p:nvSpPr>
        <p:spPr>
          <a:xfrm>
            <a:off x="548640" y="6053328"/>
            <a:ext cx="6400800" cy="256032"/>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Early warning, not crisis management.</a:t>
            </a:r>
            <a:endParaRPr lang="en-US" sz="1350" dirty="0"/>
          </a:p>
        </p:txBody>
      </p:sp>
      <p:sp>
        <p:nvSpPr>
          <p:cNvPr id="24" name="Text 20"/>
          <p:cNvSpPr/>
          <p:nvPr/>
        </p:nvSpPr>
        <p:spPr>
          <a:xfrm>
            <a:off x="7381875" y="4305300"/>
            <a:ext cx="469392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DASHBOARD THE COORDINATOR READS</a:t>
            </a:r>
            <a:endParaRPr lang="en-US" sz="1050" dirty="0"/>
          </a:p>
        </p:txBody>
      </p:sp>
      <p:sp>
        <p:nvSpPr>
          <p:cNvPr id="25" name="Shape 21"/>
          <p:cNvSpPr/>
          <p:nvPr/>
        </p:nvSpPr>
        <p:spPr>
          <a:xfrm>
            <a:off x="7381875" y="4574778"/>
            <a:ext cx="4279900" cy="1517650"/>
          </a:xfrm>
          <a:prstGeom prst="rect">
            <a:avLst/>
          </a:prstGeom>
          <a:ln w="6350">
            <a:solidFill>
              <a:srgbClr val="C0C0C8"/>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7381875" y="4574778"/>
            <a:ext cx="4279900" cy="1819374"/>
          </a:xfrm>
          <a:prstGeom prst="rect">
            <a:avLst/>
          </a:prstGeom>
        </p:spPr>
      </p:pic>
      <p:pic>
        <p:nvPicPr>
          <p:cNvPr id="27" name="Image 3" descr="preencoded.png"/>
          <p:cNvPicPr>
            <a:picLocks noChangeAspect="1"/>
          </p:cNvPicPr>
          <p:nvPr/>
        </p:nvPicPr>
        <p:blipFill>
          <a:blip r:embed="rId6"/>
          <a:stretch>
            <a:fillRect/>
          </a:stretch>
        </p:blipFill>
        <p:spPr>
          <a:xfrm>
            <a:off x="11229975" y="6567488"/>
            <a:ext cx="714375" cy="71438"/>
          </a:xfrm>
          <a:prstGeom prst="rect">
            <a:avLst/>
          </a:prstGeom>
        </p:spPr>
      </p:pic>
      <p:sp>
        <p:nvSpPr>
          <p:cNvPr id="28" name="TextBox 27"/>
          <p:cNvSpPr txBox="1"/>
          <p:nvPr/>
        </p:nvSpPr>
        <p:spPr>
          <a:xfrm>
            <a:off x="548640" y="6291072"/>
            <a:ext cx="6400800" cy="402336"/>
          </a:xfrm>
          <a:prstGeom prst="rect">
            <a:avLst/>
          </a:prstGeom>
          <a:noFill/>
        </p:spPr>
        <p:txBody>
          <a:bodyPr wrap="square" lIns="25400" rIns="25400" tIns="25400" bIns="25400" anchor="t">
            <a:spAutoFit/>
          </a:bodyPr>
          <a:lstStyle/>
          <a:p>
            <a:pPr algn="l"/>
            <a:r>
              <a:rPr sz="900" b="0">
                <a:solidFill>
                  <a:srgbClr val="043962"/>
                </a:solidFill>
                <a:latin typeface="Arial"/>
              </a:rPr>
              <a:t>And on a second chain, where declarants judged their own state correctly and simply withheld escalation, the gap selects nothing. It detects misperception, not discretion.</a:t>
            </a:r>
          </a:p>
        </p:txBody>
      </p:sp>
      <p:sp>
        <p:nvSpPr>
          <p:cNvPr id="29" name="Rectangle 28"/>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31" name="Rectangle 30"/>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33" name="Rectangle 32"/>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35" name="Rectangle 34"/>
          <p:cNvSpPr/>
          <p:nvPr/>
        </p:nvSpPr>
        <p:spPr>
          <a:xfrm>
            <a:off x="11265407"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4</a:t>
            </a:r>
          </a:p>
        </p:txBody>
      </p:sp>
      <p:sp>
        <p:nvSpPr>
          <p:cNvPr id="37" name="Rectangle 36"/>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39" name="TextBox 38"/>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2600" b="1" dirty="0">
                <a:solidFill>
                  <a:srgbClr val="043962"/>
                </a:solidFill>
                <a:latin typeface="Arial Black" pitchFamily="34" charset="0"/>
                <a:ea typeface="Arial Black" pitchFamily="34" charset="-122"/>
                <a:cs typeface="Arial Black" pitchFamily="34" charset="-120"/>
              </a:rPr>
              <a:t>RESULT 2: CAN IT FORECAST A CRISIS?</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Scored against recorded outcomes, diagnosed, repaired, re-measured on the same frozen forecasts</a:t>
            </a:r>
            <a:endParaRPr lang="en-US" sz="1725" dirty="0"/>
          </a:p>
        </p:txBody>
      </p:sp>
      <p:pic>
        <p:nvPicPr>
          <p:cNvPr id="5" name="Image 0" descr="preencoded.png"/>
          <p:cNvPicPr>
            <a:picLocks noChangeAspect="1"/>
          </p:cNvPicPr>
          <p:nvPr/>
        </p:nvPicPr>
        <p:blipFill>
          <a:blip r:embed="rId3"/>
          <a:srcRect l="-6337" r="-6337"/>
          <a:stretch/>
        </p:blipFill>
        <p:spPr>
          <a:xfrm>
            <a:off x="276225" y="1143000"/>
            <a:ext cx="6172200" cy="4343400"/>
          </a:xfrm>
          <a:prstGeom prst="rect">
            <a:avLst/>
          </a:prstGeom>
        </p:spPr>
      </p:pic>
      <p:sp>
        <p:nvSpPr>
          <p:cNvPr id="10" name="Text 7"/>
          <p:cNvSpPr/>
          <p:nvPr/>
        </p:nvSpPr>
        <p:spPr>
          <a:xfrm>
            <a:off x="6600825" y="1143000"/>
            <a:ext cx="55111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BRIER SKILL, BEFORE → AFTER</a:t>
            </a:r>
            <a:endParaRPr lang="en-US" sz="1050" dirty="0"/>
          </a:p>
        </p:txBody>
      </p:sp>
      <p:sp>
        <p:nvSpPr>
          <p:cNvPr id="11" name="Text 8"/>
          <p:cNvSpPr/>
          <p:nvPr/>
        </p:nvSpPr>
        <p:spPr>
          <a:xfrm>
            <a:off x="6657975" y="1526778"/>
            <a:ext cx="876300" cy="286643"/>
          </a:xfrm>
          <a:prstGeom prst="rect">
            <a:avLst/>
          </a:prstGeom>
          <a:noFill/>
          <a:ln/>
        </p:spPr>
        <p:txBody>
          <a:bodyPr wrap="square" lIns="25400" tIns="25400" rIns="25400" bIns="25400" rtlCol="0" anchor="t">
            <a:normAutofit/>
          </a:bodyPr>
          <a:lstStyle/>
          <a:p>
            <a:pPr marL="0" indent="0" algn="l">
              <a:lnSpc>
                <a:spcPct val="117115"/>
              </a:lnSpc>
              <a:buNone/>
            </a:pPr>
            <a:r>
              <a:rPr lang="en-US" sz="1050" b="1" kern="0" spc="105" dirty="0">
                <a:solidFill>
                  <a:srgbClr val="858591"/>
                </a:solidFill>
                <a:latin typeface="Calibri" pitchFamily="34" charset="0"/>
                <a:ea typeface="Calibri" pitchFamily="34" charset="-122"/>
                <a:cs typeface="Calibri" pitchFamily="34" charset="-120"/>
              </a:rPr>
              <a:t>HORIZON</a:t>
            </a:r>
            <a:endParaRPr lang="en-US" sz="1050" dirty="0"/>
          </a:p>
        </p:txBody>
      </p:sp>
      <p:sp>
        <p:nvSpPr>
          <p:cNvPr id="12" name="Text 9"/>
          <p:cNvSpPr/>
          <p:nvPr/>
        </p:nvSpPr>
        <p:spPr>
          <a:xfrm>
            <a:off x="753427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before</a:t>
            </a:r>
            <a:endParaRPr lang="en-US" sz="1350" dirty="0"/>
          </a:p>
        </p:txBody>
      </p:sp>
      <p:sp>
        <p:nvSpPr>
          <p:cNvPr id="13" name="Text 10"/>
          <p:cNvSpPr/>
          <p:nvPr/>
        </p:nvSpPr>
        <p:spPr>
          <a:xfrm>
            <a:off x="889952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structure</a:t>
            </a:r>
            <a:endParaRPr lang="en-US" sz="1350" dirty="0"/>
          </a:p>
        </p:txBody>
      </p:sp>
      <p:sp>
        <p:nvSpPr>
          <p:cNvPr id="14" name="Text 11"/>
          <p:cNvSpPr/>
          <p:nvPr/>
        </p:nvSpPr>
        <p:spPr>
          <a:xfrm>
            <a:off x="10264776"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 uncert.</a:t>
            </a:r>
            <a:endParaRPr lang="en-US" sz="1350" dirty="0"/>
          </a:p>
        </p:txBody>
      </p:sp>
      <p:sp>
        <p:nvSpPr>
          <p:cNvPr id="15" name="Shape 12"/>
          <p:cNvSpPr/>
          <p:nvPr/>
        </p:nvSpPr>
        <p:spPr>
          <a:xfrm>
            <a:off x="6600825" y="1851521"/>
            <a:ext cx="914400" cy="9525"/>
          </a:xfrm>
          <a:prstGeom prst="rect">
            <a:avLst/>
          </a:prstGeom>
          <a:solidFill>
            <a:srgbClr val="C0C0C8"/>
          </a:solidFill>
          <a:ln/>
        </p:spPr>
        <p:txBody>
          <a:bodyPr/>
          <a:lstStyle/>
          <a:p>
            <a:endParaRPr lang="fr-FR"/>
          </a:p>
        </p:txBody>
      </p:sp>
      <p:sp>
        <p:nvSpPr>
          <p:cNvPr id="16" name="Text 13"/>
          <p:cNvSpPr/>
          <p:nvPr/>
        </p:nvSpPr>
        <p:spPr>
          <a:xfrm>
            <a:off x="6657975" y="1962646"/>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1 week</a:t>
            </a:r>
            <a:endParaRPr lang="en-US" sz="1350" dirty="0"/>
          </a:p>
        </p:txBody>
      </p:sp>
      <p:sp>
        <p:nvSpPr>
          <p:cNvPr id="17" name="Shape 14"/>
          <p:cNvSpPr/>
          <p:nvPr/>
        </p:nvSpPr>
        <p:spPr>
          <a:xfrm>
            <a:off x="7515225" y="1851521"/>
            <a:ext cx="1365250" cy="9525"/>
          </a:xfrm>
          <a:prstGeom prst="rect">
            <a:avLst/>
          </a:prstGeom>
          <a:solidFill>
            <a:srgbClr val="C0C0C8"/>
          </a:solidFill>
          <a:ln/>
        </p:spPr>
        <p:txBody>
          <a:bodyPr/>
          <a:lstStyle/>
          <a:p>
            <a:endParaRPr lang="fr-FR"/>
          </a:p>
        </p:txBody>
      </p:sp>
      <p:sp>
        <p:nvSpPr>
          <p:cNvPr id="18" name="Text 15"/>
          <p:cNvSpPr/>
          <p:nvPr/>
        </p:nvSpPr>
        <p:spPr>
          <a:xfrm>
            <a:off x="753427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−1.278</a:t>
            </a:r>
            <a:endParaRPr lang="en-US" sz="1350" dirty="0"/>
          </a:p>
        </p:txBody>
      </p:sp>
      <p:sp>
        <p:nvSpPr>
          <p:cNvPr id="19" name="Shape 16"/>
          <p:cNvSpPr/>
          <p:nvPr/>
        </p:nvSpPr>
        <p:spPr>
          <a:xfrm>
            <a:off x="8880475" y="1851521"/>
            <a:ext cx="1365250" cy="464443"/>
          </a:xfrm>
          <a:prstGeom prst="rect">
            <a:avLst/>
          </a:prstGeom>
          <a:solidFill>
            <a:srgbClr val="FFF6DA"/>
          </a:solidFill>
          <a:ln/>
        </p:spPr>
        <p:txBody>
          <a:bodyPr/>
          <a:lstStyle/>
          <a:p>
            <a:endParaRPr lang="fr-FR"/>
          </a:p>
        </p:txBody>
      </p:sp>
      <p:sp>
        <p:nvSpPr>
          <p:cNvPr id="20" name="Shape 17"/>
          <p:cNvSpPr/>
          <p:nvPr/>
        </p:nvSpPr>
        <p:spPr>
          <a:xfrm>
            <a:off x="8880475" y="1851521"/>
            <a:ext cx="1365250" cy="9525"/>
          </a:xfrm>
          <a:prstGeom prst="rect">
            <a:avLst/>
          </a:prstGeom>
          <a:solidFill>
            <a:srgbClr val="C0C0C8"/>
          </a:solidFill>
          <a:ln/>
        </p:spPr>
        <p:txBody>
          <a:bodyPr/>
          <a:lstStyle/>
          <a:p>
            <a:endParaRPr lang="fr-FR"/>
          </a:p>
        </p:txBody>
      </p:sp>
      <p:sp>
        <p:nvSpPr>
          <p:cNvPr id="21" name="Text 18"/>
          <p:cNvSpPr/>
          <p:nvPr/>
        </p:nvSpPr>
        <p:spPr>
          <a:xfrm>
            <a:off x="889952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−0.646</a:t>
            </a:r>
            <a:endParaRPr lang="en-US" sz="1350" dirty="0"/>
          </a:p>
        </p:txBody>
      </p:sp>
      <p:sp>
        <p:nvSpPr>
          <p:cNvPr id="22" name="Shape 19"/>
          <p:cNvSpPr/>
          <p:nvPr/>
        </p:nvSpPr>
        <p:spPr>
          <a:xfrm>
            <a:off x="10245726" y="1851521"/>
            <a:ext cx="1365250" cy="9525"/>
          </a:xfrm>
          <a:prstGeom prst="rect">
            <a:avLst/>
          </a:prstGeom>
          <a:solidFill>
            <a:srgbClr val="C0C0C8"/>
          </a:solidFill>
          <a:ln/>
        </p:spPr>
        <p:txBody>
          <a:bodyPr/>
          <a:lstStyle/>
          <a:p>
            <a:endParaRPr lang="fr-FR"/>
          </a:p>
        </p:txBody>
      </p:sp>
      <p:sp>
        <p:nvSpPr>
          <p:cNvPr id="23" name="Text 20"/>
          <p:cNvSpPr/>
          <p:nvPr/>
        </p:nvSpPr>
        <p:spPr>
          <a:xfrm>
            <a:off x="10264776"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−0.687</a:t>
            </a:r>
            <a:endParaRPr lang="en-US" sz="1350" dirty="0"/>
          </a:p>
        </p:txBody>
      </p:sp>
      <p:sp>
        <p:nvSpPr>
          <p:cNvPr id="24" name="Shape 21"/>
          <p:cNvSpPr/>
          <p:nvPr/>
        </p:nvSpPr>
        <p:spPr>
          <a:xfrm>
            <a:off x="6600825" y="2315964"/>
            <a:ext cx="914400" cy="9525"/>
          </a:xfrm>
          <a:prstGeom prst="rect">
            <a:avLst/>
          </a:prstGeom>
          <a:solidFill>
            <a:srgbClr val="C0C0C8"/>
          </a:solidFill>
          <a:ln/>
        </p:spPr>
        <p:txBody>
          <a:bodyPr/>
          <a:lstStyle/>
          <a:p>
            <a:endParaRPr lang="fr-FR"/>
          </a:p>
        </p:txBody>
      </p:sp>
      <p:sp>
        <p:nvSpPr>
          <p:cNvPr id="25" name="Text 22"/>
          <p:cNvSpPr/>
          <p:nvPr/>
        </p:nvSpPr>
        <p:spPr>
          <a:xfrm>
            <a:off x="6657975" y="2427089"/>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2 weeks</a:t>
            </a:r>
            <a:endParaRPr lang="en-US" sz="1350" dirty="0"/>
          </a:p>
        </p:txBody>
      </p:sp>
      <p:sp>
        <p:nvSpPr>
          <p:cNvPr id="26" name="Shape 23"/>
          <p:cNvSpPr/>
          <p:nvPr/>
        </p:nvSpPr>
        <p:spPr>
          <a:xfrm>
            <a:off x="7515225" y="2315964"/>
            <a:ext cx="1365250" cy="9525"/>
          </a:xfrm>
          <a:prstGeom prst="rect">
            <a:avLst/>
          </a:prstGeom>
          <a:solidFill>
            <a:srgbClr val="C0C0C8"/>
          </a:solidFill>
          <a:ln/>
        </p:spPr>
        <p:txBody>
          <a:bodyPr/>
          <a:lstStyle/>
          <a:p>
            <a:endParaRPr lang="fr-FR"/>
          </a:p>
        </p:txBody>
      </p:sp>
      <p:sp>
        <p:nvSpPr>
          <p:cNvPr id="27" name="Text 24"/>
          <p:cNvSpPr/>
          <p:nvPr/>
        </p:nvSpPr>
        <p:spPr>
          <a:xfrm>
            <a:off x="753427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−0.690</a:t>
            </a:r>
            <a:endParaRPr lang="en-US" sz="1350" dirty="0"/>
          </a:p>
        </p:txBody>
      </p:sp>
      <p:sp>
        <p:nvSpPr>
          <p:cNvPr id="28" name="Shape 25"/>
          <p:cNvSpPr/>
          <p:nvPr/>
        </p:nvSpPr>
        <p:spPr>
          <a:xfrm>
            <a:off x="8880475" y="2315964"/>
            <a:ext cx="1365250" cy="9525"/>
          </a:xfrm>
          <a:prstGeom prst="rect">
            <a:avLst/>
          </a:prstGeom>
          <a:solidFill>
            <a:srgbClr val="C0C0C8"/>
          </a:solidFill>
          <a:ln/>
        </p:spPr>
        <p:txBody>
          <a:bodyPr/>
          <a:lstStyle/>
          <a:p>
            <a:endParaRPr lang="fr-FR"/>
          </a:p>
        </p:txBody>
      </p:sp>
      <p:sp>
        <p:nvSpPr>
          <p:cNvPr id="29" name="Text 26"/>
          <p:cNvSpPr/>
          <p:nvPr/>
        </p:nvSpPr>
        <p:spPr>
          <a:xfrm>
            <a:off x="889952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−0.401</a:t>
            </a:r>
            <a:endParaRPr lang="en-US" sz="1350" dirty="0"/>
          </a:p>
        </p:txBody>
      </p:sp>
      <p:sp>
        <p:nvSpPr>
          <p:cNvPr id="30" name="Shape 27"/>
          <p:cNvSpPr/>
          <p:nvPr/>
        </p:nvSpPr>
        <p:spPr>
          <a:xfrm>
            <a:off x="10245726" y="2315964"/>
            <a:ext cx="1365250" cy="464443"/>
          </a:xfrm>
          <a:prstGeom prst="rect">
            <a:avLst/>
          </a:prstGeom>
          <a:solidFill>
            <a:srgbClr val="FFF6DA"/>
          </a:solidFill>
          <a:ln/>
        </p:spPr>
        <p:txBody>
          <a:bodyPr/>
          <a:lstStyle/>
          <a:p>
            <a:endParaRPr lang="fr-FR"/>
          </a:p>
        </p:txBody>
      </p:sp>
      <p:sp>
        <p:nvSpPr>
          <p:cNvPr id="31" name="Shape 28"/>
          <p:cNvSpPr/>
          <p:nvPr/>
        </p:nvSpPr>
        <p:spPr>
          <a:xfrm>
            <a:off x="10245726" y="2315964"/>
            <a:ext cx="1365250" cy="9525"/>
          </a:xfrm>
          <a:prstGeom prst="rect">
            <a:avLst/>
          </a:prstGeom>
          <a:solidFill>
            <a:srgbClr val="C0C0C8"/>
          </a:solidFill>
          <a:ln/>
        </p:spPr>
        <p:txBody>
          <a:bodyPr/>
          <a:lstStyle/>
          <a:p>
            <a:endParaRPr lang="fr-FR"/>
          </a:p>
        </p:txBody>
      </p:sp>
      <p:sp>
        <p:nvSpPr>
          <p:cNvPr id="32" name="Text 29"/>
          <p:cNvSpPr/>
          <p:nvPr/>
        </p:nvSpPr>
        <p:spPr>
          <a:xfrm>
            <a:off x="10264776"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−0.367</a:t>
            </a:r>
            <a:endParaRPr lang="en-US" sz="1350" dirty="0"/>
          </a:p>
        </p:txBody>
      </p:sp>
      <p:sp>
        <p:nvSpPr>
          <p:cNvPr id="33" name="Shape 30"/>
          <p:cNvSpPr/>
          <p:nvPr/>
        </p:nvSpPr>
        <p:spPr>
          <a:xfrm>
            <a:off x="6600825" y="2780407"/>
            <a:ext cx="914400" cy="9525"/>
          </a:xfrm>
          <a:prstGeom prst="rect">
            <a:avLst/>
          </a:prstGeom>
          <a:solidFill>
            <a:srgbClr val="C0C0C8"/>
          </a:solidFill>
          <a:ln/>
        </p:spPr>
        <p:txBody>
          <a:bodyPr/>
          <a:lstStyle/>
          <a:p>
            <a:endParaRPr lang="fr-FR"/>
          </a:p>
        </p:txBody>
      </p:sp>
      <p:sp>
        <p:nvSpPr>
          <p:cNvPr id="34" name="Text 31"/>
          <p:cNvSpPr/>
          <p:nvPr/>
        </p:nvSpPr>
        <p:spPr>
          <a:xfrm>
            <a:off x="6657975" y="2891532"/>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3 weeks</a:t>
            </a:r>
            <a:endParaRPr lang="en-US" sz="1350" dirty="0"/>
          </a:p>
        </p:txBody>
      </p:sp>
      <p:sp>
        <p:nvSpPr>
          <p:cNvPr id="35" name="Shape 32"/>
          <p:cNvSpPr/>
          <p:nvPr/>
        </p:nvSpPr>
        <p:spPr>
          <a:xfrm>
            <a:off x="7515225" y="2780407"/>
            <a:ext cx="1365250" cy="9525"/>
          </a:xfrm>
          <a:prstGeom prst="rect">
            <a:avLst/>
          </a:prstGeom>
          <a:solidFill>
            <a:srgbClr val="C0C0C8"/>
          </a:solidFill>
          <a:ln/>
        </p:spPr>
        <p:txBody>
          <a:bodyPr/>
          <a:lstStyle/>
          <a:p>
            <a:endParaRPr lang="fr-FR"/>
          </a:p>
        </p:txBody>
      </p:sp>
      <p:sp>
        <p:nvSpPr>
          <p:cNvPr id="36" name="Text 33"/>
          <p:cNvSpPr/>
          <p:nvPr/>
        </p:nvSpPr>
        <p:spPr>
          <a:xfrm>
            <a:off x="753427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−0.654</a:t>
            </a:r>
            <a:endParaRPr lang="en-US" sz="1350" dirty="0"/>
          </a:p>
        </p:txBody>
      </p:sp>
      <p:sp>
        <p:nvSpPr>
          <p:cNvPr id="37" name="Shape 34"/>
          <p:cNvSpPr/>
          <p:nvPr/>
        </p:nvSpPr>
        <p:spPr>
          <a:xfrm>
            <a:off x="8880475" y="2780407"/>
            <a:ext cx="1365250" cy="9525"/>
          </a:xfrm>
          <a:prstGeom prst="rect">
            <a:avLst/>
          </a:prstGeom>
          <a:solidFill>
            <a:srgbClr val="C0C0C8"/>
          </a:solidFill>
          <a:ln/>
        </p:spPr>
        <p:txBody>
          <a:bodyPr/>
          <a:lstStyle/>
          <a:p>
            <a:endParaRPr lang="fr-FR"/>
          </a:p>
        </p:txBody>
      </p:sp>
      <p:sp>
        <p:nvSpPr>
          <p:cNvPr id="38" name="Text 35"/>
          <p:cNvSpPr/>
          <p:nvPr/>
        </p:nvSpPr>
        <p:spPr>
          <a:xfrm>
            <a:off x="889952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−0.360</a:t>
            </a:r>
            <a:endParaRPr lang="en-US" sz="1350" dirty="0"/>
          </a:p>
        </p:txBody>
      </p:sp>
      <p:sp>
        <p:nvSpPr>
          <p:cNvPr id="39" name="Shape 36"/>
          <p:cNvSpPr/>
          <p:nvPr/>
        </p:nvSpPr>
        <p:spPr>
          <a:xfrm>
            <a:off x="10245726" y="2780407"/>
            <a:ext cx="1365250" cy="464443"/>
          </a:xfrm>
          <a:prstGeom prst="rect">
            <a:avLst/>
          </a:prstGeom>
          <a:solidFill>
            <a:srgbClr val="FFF6DA"/>
          </a:solidFill>
          <a:ln/>
        </p:spPr>
        <p:txBody>
          <a:bodyPr/>
          <a:lstStyle/>
          <a:p>
            <a:endParaRPr lang="fr-FR"/>
          </a:p>
        </p:txBody>
      </p:sp>
      <p:sp>
        <p:nvSpPr>
          <p:cNvPr id="40" name="Shape 37"/>
          <p:cNvSpPr/>
          <p:nvPr/>
        </p:nvSpPr>
        <p:spPr>
          <a:xfrm>
            <a:off x="10245726" y="2780407"/>
            <a:ext cx="1365250" cy="9525"/>
          </a:xfrm>
          <a:prstGeom prst="rect">
            <a:avLst/>
          </a:prstGeom>
          <a:solidFill>
            <a:srgbClr val="C0C0C8"/>
          </a:solidFill>
          <a:ln/>
        </p:spPr>
        <p:txBody>
          <a:bodyPr/>
          <a:lstStyle/>
          <a:p>
            <a:endParaRPr lang="fr-FR"/>
          </a:p>
        </p:txBody>
      </p:sp>
      <p:sp>
        <p:nvSpPr>
          <p:cNvPr id="41" name="Text 38"/>
          <p:cNvSpPr/>
          <p:nvPr/>
        </p:nvSpPr>
        <p:spPr>
          <a:xfrm>
            <a:off x="10264776"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−0.286</a:t>
            </a:r>
            <a:endParaRPr lang="en-US" sz="1350" dirty="0"/>
          </a:p>
        </p:txBody>
      </p:sp>
      <p:sp>
        <p:nvSpPr>
          <p:cNvPr id="42" name="Shape 39"/>
          <p:cNvSpPr/>
          <p:nvPr/>
        </p:nvSpPr>
        <p:spPr>
          <a:xfrm>
            <a:off x="6600825" y="3709293"/>
            <a:ext cx="914400" cy="9525"/>
          </a:xfrm>
          <a:prstGeom prst="rect">
            <a:avLst/>
          </a:prstGeom>
          <a:solidFill>
            <a:srgbClr val="C0C0C8"/>
          </a:solidFill>
          <a:ln/>
        </p:spPr>
        <p:txBody>
          <a:bodyPr/>
          <a:lstStyle/>
          <a:p>
            <a:endParaRPr lang="fr-FR"/>
          </a:p>
        </p:txBody>
      </p:sp>
      <p:sp>
        <p:nvSpPr>
          <p:cNvPr id="43" name="Shape 40"/>
          <p:cNvSpPr/>
          <p:nvPr/>
        </p:nvSpPr>
        <p:spPr>
          <a:xfrm>
            <a:off x="6600825" y="3244850"/>
            <a:ext cx="914400" cy="9525"/>
          </a:xfrm>
          <a:prstGeom prst="rect">
            <a:avLst/>
          </a:prstGeom>
          <a:solidFill>
            <a:srgbClr val="C0C0C8"/>
          </a:solidFill>
          <a:ln/>
        </p:spPr>
        <p:txBody>
          <a:bodyPr/>
          <a:lstStyle/>
          <a:p>
            <a:endParaRPr lang="fr-FR"/>
          </a:p>
        </p:txBody>
      </p:sp>
      <p:sp>
        <p:nvSpPr>
          <p:cNvPr id="44" name="Text 41"/>
          <p:cNvSpPr/>
          <p:nvPr/>
        </p:nvSpPr>
        <p:spPr>
          <a:xfrm>
            <a:off x="6657975" y="3355975"/>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4 weeks</a:t>
            </a:r>
            <a:endParaRPr lang="en-US" sz="1350" dirty="0"/>
          </a:p>
        </p:txBody>
      </p:sp>
      <p:sp>
        <p:nvSpPr>
          <p:cNvPr id="45" name="Shape 42"/>
          <p:cNvSpPr/>
          <p:nvPr/>
        </p:nvSpPr>
        <p:spPr>
          <a:xfrm>
            <a:off x="7515225" y="3709293"/>
            <a:ext cx="1365250" cy="9525"/>
          </a:xfrm>
          <a:prstGeom prst="rect">
            <a:avLst/>
          </a:prstGeom>
          <a:solidFill>
            <a:srgbClr val="C0C0C8"/>
          </a:solidFill>
          <a:ln/>
        </p:spPr>
        <p:txBody>
          <a:bodyPr/>
          <a:lstStyle/>
          <a:p>
            <a:endParaRPr lang="fr-FR"/>
          </a:p>
        </p:txBody>
      </p:sp>
      <p:sp>
        <p:nvSpPr>
          <p:cNvPr id="46" name="Shape 43"/>
          <p:cNvSpPr/>
          <p:nvPr/>
        </p:nvSpPr>
        <p:spPr>
          <a:xfrm>
            <a:off x="7515225" y="3244850"/>
            <a:ext cx="1365250" cy="9525"/>
          </a:xfrm>
          <a:prstGeom prst="rect">
            <a:avLst/>
          </a:prstGeom>
          <a:solidFill>
            <a:srgbClr val="C0C0C8"/>
          </a:solidFill>
          <a:ln/>
        </p:spPr>
        <p:txBody>
          <a:bodyPr/>
          <a:lstStyle/>
          <a:p>
            <a:endParaRPr lang="fr-FR"/>
          </a:p>
        </p:txBody>
      </p:sp>
      <p:sp>
        <p:nvSpPr>
          <p:cNvPr id="47" name="Text 44"/>
          <p:cNvSpPr/>
          <p:nvPr/>
        </p:nvSpPr>
        <p:spPr>
          <a:xfrm>
            <a:off x="753427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−0.553</a:t>
            </a:r>
            <a:endParaRPr lang="en-US" sz="1350" dirty="0"/>
          </a:p>
        </p:txBody>
      </p:sp>
      <p:sp>
        <p:nvSpPr>
          <p:cNvPr id="48" name="Shape 45"/>
          <p:cNvSpPr/>
          <p:nvPr/>
        </p:nvSpPr>
        <p:spPr>
          <a:xfrm>
            <a:off x="8880475" y="3709293"/>
            <a:ext cx="1365250" cy="9525"/>
          </a:xfrm>
          <a:prstGeom prst="rect">
            <a:avLst/>
          </a:prstGeom>
          <a:solidFill>
            <a:srgbClr val="C0C0C8"/>
          </a:solidFill>
          <a:ln/>
        </p:spPr>
        <p:txBody>
          <a:bodyPr/>
          <a:lstStyle/>
          <a:p>
            <a:endParaRPr lang="fr-FR"/>
          </a:p>
        </p:txBody>
      </p:sp>
      <p:sp>
        <p:nvSpPr>
          <p:cNvPr id="49" name="Shape 46"/>
          <p:cNvSpPr/>
          <p:nvPr/>
        </p:nvSpPr>
        <p:spPr>
          <a:xfrm>
            <a:off x="8880475" y="3244850"/>
            <a:ext cx="1365250" cy="9525"/>
          </a:xfrm>
          <a:prstGeom prst="rect">
            <a:avLst/>
          </a:prstGeom>
          <a:solidFill>
            <a:srgbClr val="C0C0C8"/>
          </a:solidFill>
          <a:ln/>
        </p:spPr>
        <p:txBody>
          <a:bodyPr/>
          <a:lstStyle/>
          <a:p>
            <a:endParaRPr lang="fr-FR"/>
          </a:p>
        </p:txBody>
      </p:sp>
      <p:sp>
        <p:nvSpPr>
          <p:cNvPr id="50" name="Text 47"/>
          <p:cNvSpPr/>
          <p:nvPr/>
        </p:nvSpPr>
        <p:spPr>
          <a:xfrm>
            <a:off x="889952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−0.272</a:t>
            </a:r>
            <a:endParaRPr lang="en-US" sz="1350" dirty="0"/>
          </a:p>
        </p:txBody>
      </p:sp>
      <p:sp>
        <p:nvSpPr>
          <p:cNvPr id="51" name="Shape 48"/>
          <p:cNvSpPr/>
          <p:nvPr/>
        </p:nvSpPr>
        <p:spPr>
          <a:xfrm>
            <a:off x="10245726" y="3244850"/>
            <a:ext cx="1365250" cy="470793"/>
          </a:xfrm>
          <a:prstGeom prst="rect">
            <a:avLst/>
          </a:prstGeom>
          <a:solidFill>
            <a:srgbClr val="FFF6DA"/>
          </a:solidFill>
          <a:ln/>
        </p:spPr>
        <p:txBody>
          <a:bodyPr/>
          <a:lstStyle/>
          <a:p>
            <a:endParaRPr lang="fr-FR"/>
          </a:p>
        </p:txBody>
      </p:sp>
      <p:sp>
        <p:nvSpPr>
          <p:cNvPr id="52" name="Shape 49"/>
          <p:cNvSpPr/>
          <p:nvPr/>
        </p:nvSpPr>
        <p:spPr>
          <a:xfrm>
            <a:off x="10245726" y="3709293"/>
            <a:ext cx="1365250" cy="9525"/>
          </a:xfrm>
          <a:prstGeom prst="rect">
            <a:avLst/>
          </a:prstGeom>
          <a:solidFill>
            <a:srgbClr val="C0C0C8"/>
          </a:solidFill>
          <a:ln/>
        </p:spPr>
        <p:txBody>
          <a:bodyPr/>
          <a:lstStyle/>
          <a:p>
            <a:endParaRPr lang="fr-FR"/>
          </a:p>
        </p:txBody>
      </p:sp>
      <p:sp>
        <p:nvSpPr>
          <p:cNvPr id="53" name="Shape 50"/>
          <p:cNvSpPr/>
          <p:nvPr/>
        </p:nvSpPr>
        <p:spPr>
          <a:xfrm>
            <a:off x="10245726" y="3244850"/>
            <a:ext cx="1365250" cy="9525"/>
          </a:xfrm>
          <a:prstGeom prst="rect">
            <a:avLst/>
          </a:prstGeom>
          <a:solidFill>
            <a:srgbClr val="C0C0C8"/>
          </a:solidFill>
          <a:ln/>
        </p:spPr>
        <p:txBody>
          <a:bodyPr/>
          <a:lstStyle/>
          <a:p>
            <a:endParaRPr lang="fr-FR"/>
          </a:p>
        </p:txBody>
      </p:sp>
      <p:sp>
        <p:nvSpPr>
          <p:cNvPr id="54" name="Text 51"/>
          <p:cNvSpPr/>
          <p:nvPr/>
        </p:nvSpPr>
        <p:spPr>
          <a:xfrm>
            <a:off x="10264776"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−0.216</a:t>
            </a:r>
            <a:endParaRPr lang="en-US" sz="1350" dirty="0"/>
          </a:p>
        </p:txBody>
      </p:sp>
      <p:sp>
        <p:nvSpPr>
          <p:cNvPr id="55" name="Text 52"/>
          <p:cNvSpPr/>
          <p:nvPr/>
        </p:nvSpPr>
        <p:spPr>
          <a:xfrm>
            <a:off x="6600825" y="3868043"/>
            <a:ext cx="5160455"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The calibration deficit roughly halved at every horizon. </a:t>
            </a:r>
            <a:r>
              <a:rPr lang="en-US" sz="1425" b="1" dirty="0">
                <a:solidFill>
                  <a:srgbClr val="063C67"/>
                </a:solidFill>
                <a:latin typeface="Calibri" pitchFamily="34" charset="0"/>
                <a:ea typeface="Calibri" pitchFamily="34" charset="-122"/>
                <a:cs typeface="Calibri" pitchFamily="34" charset="-120"/>
              </a:rPr>
              <a:t>AUC movement is not interpretable at this sample size </a:t>
            </a:r>
            <a:r>
              <a:rPr lang="en-US" sz="1425" dirty="0">
                <a:solidFill>
                  <a:srgbClr val="063C67"/>
                </a:solidFill>
                <a:latin typeface="Calibri" pitchFamily="34" charset="0"/>
                <a:ea typeface="Calibri" pitchFamily="34" charset="-122"/>
                <a:cs typeface="Calibri" pitchFamily="34" charset="-120"/>
              </a:rPr>
              <a:t>: with twenty-six positives the four-week interval runs from 0.21 to 0.87.</a:t>
            </a:r>
            <a:endParaRPr lang="en-US" sz="1425" dirty="0"/>
          </a:p>
        </p:txBody>
      </p:sp>
      <p:pic>
        <p:nvPicPr>
          <p:cNvPr id="65" name="Image 4" descr="preencoded.png"/>
          <p:cNvPicPr>
            <a:picLocks noChangeAspect="1"/>
          </p:cNvPicPr>
          <p:nvPr/>
        </p:nvPicPr>
        <p:blipFill>
          <a:blip r:embed="rId4"/>
          <a:stretch>
            <a:fillRect/>
          </a:stretch>
        </p:blipFill>
        <p:spPr>
          <a:xfrm>
            <a:off x="11229975" y="6567488"/>
            <a:ext cx="714375" cy="71438"/>
          </a:xfrm>
          <a:prstGeom prst="rect">
            <a:avLst/>
          </a:prstGeom>
        </p:spPr>
      </p:pic>
      <p:sp>
        <p:nvSpPr>
          <p:cNvPr id="66" name="Rectangle 65"/>
          <p:cNvSpPr/>
          <p:nvPr/>
        </p:nvSpPr>
        <p:spPr>
          <a:xfrm>
            <a:off x="6601968" y="4791456"/>
            <a:ext cx="5074920" cy="1572768"/>
          </a:xfrm>
          <a:prstGeom prst="rect">
            <a:avLst/>
          </a:prstGeom>
          <a:solidFill>
            <a:srgbClr val="063C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6784848" y="4864608"/>
            <a:ext cx="4754880" cy="237744"/>
          </a:xfrm>
          <a:prstGeom prst="rect">
            <a:avLst/>
          </a:prstGeom>
          <a:noFill/>
        </p:spPr>
        <p:txBody>
          <a:bodyPr wrap="square" lIns="25400" rIns="25400" tIns="25400" bIns="25400" anchor="t">
            <a:spAutoFit/>
          </a:bodyPr>
          <a:lstStyle/>
          <a:p>
            <a:pPr algn="l"/>
            <a:r>
              <a:rPr sz="950" b="1" spc="140">
                <a:solidFill>
                  <a:srgbClr val="FFDA65"/>
                </a:solidFill>
                <a:latin typeface="Arial"/>
              </a:rPr>
              <a:t>THE HONEST READING</a:t>
            </a:r>
          </a:p>
        </p:txBody>
      </p:sp>
      <p:sp>
        <p:nvSpPr>
          <p:cNvPr id="68" name="TextBox 67"/>
          <p:cNvSpPr txBox="1"/>
          <p:nvPr/>
        </p:nvSpPr>
        <p:spPr>
          <a:xfrm>
            <a:off x="6784848" y="5102352"/>
            <a:ext cx="4754880" cy="1170432"/>
          </a:xfrm>
          <a:prstGeom prst="rect">
            <a:avLst/>
          </a:prstGeom>
          <a:noFill/>
        </p:spPr>
        <p:txBody>
          <a:bodyPr wrap="square" lIns="25400" rIns="25400" tIns="25400" bIns="25400" anchor="t">
            <a:spAutoFit/>
          </a:bodyPr>
          <a:lstStyle/>
          <a:p>
            <a:pPr algn="l"/>
            <a:r>
              <a:rPr sz="1000" b="0">
                <a:solidFill>
                  <a:srgbClr val="7ECBEE"/>
                </a:solidFill>
                <a:latin typeface="Arial"/>
              </a:rPr>
              <a:t>A one-line calendar ratio, with no simulation and no fitted parameter, outranks 500 Monte-Carlo trajectories at six horizons of eight.</a:t>
            </a:r>
          </a:p>
          <a:p>
            <a:pPr algn="l"/>
            <a:r>
              <a:rPr sz="1000" b="0">
                <a:solidFill>
                  <a:srgbClr val="7ECBEE"/>
                </a:solidFill>
                <a:latin typeface="Arial"/>
              </a:rPr>
              <a:t/>
            </a:r>
          </a:p>
          <a:p>
            <a:pPr algn="l"/>
            <a:r>
              <a:rPr sz="1000" b="0">
                <a:solidFill>
                  <a:srgbClr val="7ECBEE"/>
                </a:solidFill>
                <a:latin typeface="Arial"/>
              </a:rPr>
              <a:t>The layer buys calibration, not short-horizon discrimination. That is a defensible thing to be, and it is not what the interface promises.</a:t>
            </a:r>
          </a:p>
        </p:txBody>
      </p:sp>
      <p:sp>
        <p:nvSpPr>
          <p:cNvPr id="69" name="Rectangle 68"/>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71" name="Rectangle 70"/>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73" name="Rectangle 72"/>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75" name="Rectangle 74"/>
          <p:cNvSpPr/>
          <p:nvPr/>
        </p:nvSpPr>
        <p:spPr>
          <a:xfrm>
            <a:off x="11265407"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4</a:t>
            </a:r>
          </a:p>
        </p:txBody>
      </p:sp>
      <p:sp>
        <p:nvSpPr>
          <p:cNvPr id="77" name="Rectangle 76"/>
          <p:cNvSpPr/>
          <p:nvPr/>
        </p:nvSpPr>
        <p:spPr>
          <a:xfrm>
            <a:off x="11576303"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5</a:t>
            </a:r>
          </a:p>
        </p:txBody>
      </p:sp>
      <p:sp>
        <p:nvSpPr>
          <p:cNvPr id="79" name="TextBox 78"/>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30F9-E046-44E9-D642-A5E85570CA27}"/>
            </a:ext>
          </a:extLst>
        </p:cNvPr>
        <p:cNvGrpSpPr/>
        <p:nvPr/>
      </p:nvGrpSpPr>
      <p:grpSpPr>
        <a:xfrm>
          <a:off x="0" y="0"/>
          <a:ext cx="0" cy="0"/>
          <a:chOff x="0" y="0"/>
          <a:chExt cx="0" cy="0"/>
        </a:xfrm>
      </p:grpSpPr>
      <p:sp>
        <p:nvSpPr>
          <p:cNvPr id="20" name="Shape 14">
            <a:extLst>
              <a:ext uri="{FF2B5EF4-FFF2-40B4-BE49-F238E27FC236}">
                <a16:creationId xmlns:a16="http://schemas.microsoft.com/office/drawing/2014/main" id="{1735764E-1B70-B3D7-EFD9-91AD0E42BF5B}"/>
              </a:ext>
            </a:extLst>
          </p:cNvPr>
          <p:cNvSpPr/>
          <p:nvPr/>
        </p:nvSpPr>
        <p:spPr>
          <a:xfrm>
            <a:off x="352426" y="4076700"/>
            <a:ext cx="6286500" cy="723900"/>
          </a:xfrm>
          <a:prstGeom prst="rect">
            <a:avLst/>
          </a:prstGeom>
          <a:solidFill>
            <a:srgbClr val="F4F4F6"/>
          </a:solidFill>
          <a:ln/>
        </p:spPr>
        <p:txBody>
          <a:bodyPr/>
          <a:lstStyle/>
          <a:p>
            <a:endParaRPr lang="fr-FR" dirty="0"/>
          </a:p>
        </p:txBody>
      </p:sp>
      <p:sp>
        <p:nvSpPr>
          <p:cNvPr id="31" name="Shape 19">
            <a:extLst>
              <a:ext uri="{FF2B5EF4-FFF2-40B4-BE49-F238E27FC236}">
                <a16:creationId xmlns:a16="http://schemas.microsoft.com/office/drawing/2014/main" id="{2C2A9509-E802-50B6-2AE3-A2D4E055606A}"/>
              </a:ext>
            </a:extLst>
          </p:cNvPr>
          <p:cNvSpPr/>
          <p:nvPr/>
        </p:nvSpPr>
        <p:spPr>
          <a:xfrm>
            <a:off x="352426" y="4926458"/>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85B772C-E63E-A5C5-1C13-0D6C572D5314}"/>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EB98F44-E73A-9B10-DCDA-6F6888BA65BD}"/>
              </a:ext>
            </a:extLst>
          </p:cNvPr>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0AD42978-E88A-D334-C183-A4D8F7132716}"/>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3676765D-524E-68A2-986A-D7D0B9833C7A}"/>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15BB279B-AAD2-734E-955D-2FEDCA47DDB4}"/>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99421874-CB17-B9DA-BA21-D9C0102ED8A1}"/>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F0ECB1E6-2920-9F0E-5D1E-BA1529F17E62}"/>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7411CA76-6E5D-71C3-A48F-6C0D91D0DE88}"/>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3086FF43-2E05-5162-6B64-36C86A472AD3}"/>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815E48F1-5933-6FFE-2C37-79F7FF87581A}"/>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13541FB8-84DB-8203-FFE0-1DA1CE056FF3}"/>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41234A38-BB13-C126-2E46-0E6AA090DB2A}"/>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4D70C0F0-449A-34B0-02A3-326D04E2C928}"/>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pic>
        <p:nvPicPr>
          <p:cNvPr id="21" name="Image 4" descr="preencoded.png">
            <a:extLst>
              <a:ext uri="{FF2B5EF4-FFF2-40B4-BE49-F238E27FC236}">
                <a16:creationId xmlns:a16="http://schemas.microsoft.com/office/drawing/2014/main" id="{705C2B86-4424-F663-1296-788689BFCDF8}"/>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5A96901F-23C7-86CC-23C7-630F176A105D}"/>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05B081F9-7FFE-186E-06A7-0FCF4192A72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2A9E8A91-48DE-07FC-DB7A-F7CCC6CA561F}"/>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D0831C2-7242-9098-6CDA-A7708A99A5E2}"/>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AC98E3AC-CC46-81E6-D0C0-CE10BC6B782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DAE36D5B-B085-7CE4-5EAA-5DB262029B9F}"/>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CB204981-6449-931E-D4BF-1648511177FB}"/>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8F840E2-8B0E-51B6-3B3C-B8D06AADDB2B}"/>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7640D898-F519-D808-F874-AD23D60A461B}"/>
              </a:ext>
            </a:extLst>
          </p:cNvPr>
          <p:cNvPicPr>
            <a:picLocks noChangeAspect="1"/>
          </p:cNvPicPr>
          <p:nvPr/>
        </p:nvPicPr>
        <p:blipFill>
          <a:blip r:embed="rId9"/>
          <a:stretch>
            <a:fillRect/>
          </a:stretch>
        </p:blipFill>
        <p:spPr>
          <a:xfrm>
            <a:off x="11229975" y="6567488"/>
            <a:ext cx="714375" cy="71438"/>
          </a:xfrm>
          <a:prstGeom prst="rect">
            <a:avLst/>
          </a:prstGeom>
        </p:spPr>
      </p:pic>
      <p:sp>
        <p:nvSpPr>
          <p:cNvPr id="32" name="TextBox 31"/>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858591"/>
                </a:solidFill>
                <a:latin typeface="Arial"/>
              </a:rPr>
              <a:t>21</a:t>
            </a:r>
          </a:p>
        </p:txBody>
      </p:sp>
    </p:spTree>
    <p:extLst>
      <p:ext uri="{BB962C8B-B14F-4D97-AF65-F5344CB8AC3E}">
        <p14:creationId xmlns:p14="http://schemas.microsoft.com/office/powerpoint/2010/main" val="2396786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VS. OUTCOMES</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2 campaigns · 2 chains · 23 nodes · 33 milestones · 510 declarations</a:t>
            </a:r>
            <a:endParaRPr lang="en-US" sz="1725" dirty="0"/>
          </a:p>
        </p:txBody>
      </p:sp>
      <p:sp>
        <p:nvSpPr>
          <p:cNvPr id="5" name="Shape 3"/>
          <p:cNvSpPr/>
          <p:nvPr/>
        </p:nvSpPr>
        <p:spPr>
          <a:xfrm>
            <a:off x="352425" y="1428750"/>
            <a:ext cx="438150" cy="9525"/>
          </a:xfrm>
          <a:prstGeom prst="rect">
            <a:avLst/>
          </a:prstGeom>
          <a:solidFill>
            <a:srgbClr val="C0C0C8"/>
          </a:solidFill>
          <a:ln/>
        </p:spPr>
        <p:txBody>
          <a:bodyPr/>
          <a:lstStyle/>
          <a:p>
            <a:endParaRPr lang="fr-FR"/>
          </a:p>
        </p:txBody>
      </p:sp>
      <p:sp>
        <p:nvSpPr>
          <p:cNvPr id="6" name="Text 4"/>
          <p:cNvSpPr/>
          <p:nvPr/>
        </p:nvSpPr>
        <p:spPr>
          <a:xfrm>
            <a:off x="352425" y="15684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7" name="Shape 5"/>
          <p:cNvSpPr/>
          <p:nvPr/>
        </p:nvSpPr>
        <p:spPr>
          <a:xfrm>
            <a:off x="981075" y="1428750"/>
            <a:ext cx="2381250" cy="9525"/>
          </a:xfrm>
          <a:prstGeom prst="rect">
            <a:avLst/>
          </a:prstGeom>
          <a:solidFill>
            <a:srgbClr val="C0C0C8"/>
          </a:solidFill>
          <a:ln/>
        </p:spPr>
        <p:txBody>
          <a:bodyPr/>
          <a:lstStyle/>
          <a:p>
            <a:endParaRPr lang="fr-FR"/>
          </a:p>
        </p:txBody>
      </p:sp>
      <p:sp>
        <p:nvSpPr>
          <p:cNvPr id="8" name="Shape 6"/>
          <p:cNvSpPr/>
          <p:nvPr/>
        </p:nvSpPr>
        <p:spPr>
          <a:xfrm>
            <a:off x="981075" y="1565275"/>
            <a:ext cx="506710" cy="254000"/>
          </a:xfrm>
          <a:prstGeom prst="rect">
            <a:avLst/>
          </a:prstGeom>
          <a:solidFill>
            <a:srgbClr val="E9F5FB"/>
          </a:solidFill>
          <a:ln/>
        </p:spPr>
        <p:txBody>
          <a:bodyPr/>
          <a:lstStyle/>
          <a:p>
            <a:endParaRPr lang="fr-FR"/>
          </a:p>
        </p:txBody>
      </p:sp>
      <p:sp>
        <p:nvSpPr>
          <p:cNvPr id="9" name="Text 7"/>
          <p:cNvSpPr/>
          <p:nvPr/>
        </p:nvSpPr>
        <p:spPr>
          <a:xfrm>
            <a:off x="1095375" y="15938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0" name="Shape 8"/>
          <p:cNvSpPr/>
          <p:nvPr/>
        </p:nvSpPr>
        <p:spPr>
          <a:xfrm>
            <a:off x="3552825" y="1428750"/>
            <a:ext cx="8096250" cy="9525"/>
          </a:xfrm>
          <a:prstGeom prst="rect">
            <a:avLst/>
          </a:prstGeom>
          <a:solidFill>
            <a:srgbClr val="C0C0C8"/>
          </a:solidFill>
          <a:ln/>
        </p:spPr>
        <p:txBody>
          <a:bodyPr/>
          <a:lstStyle/>
          <a:p>
            <a:endParaRPr lang="fr-FR"/>
          </a:p>
        </p:txBody>
      </p:sp>
      <p:sp>
        <p:nvSpPr>
          <p:cNvPr id="11" name="Text 9"/>
          <p:cNvSpPr/>
          <p:nvPr/>
        </p:nvSpPr>
        <p:spPr>
          <a:xfrm>
            <a:off x="3552825" y="15684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Six blocks, bidirectional propagation, asymmetric score: every term decomposable</a:t>
            </a:r>
            <a:endParaRPr lang="en-US" sz="1425" dirty="0"/>
          </a:p>
        </p:txBody>
      </p:sp>
      <p:sp>
        <p:nvSpPr>
          <p:cNvPr id="12" name="Shape 10"/>
          <p:cNvSpPr/>
          <p:nvPr/>
        </p:nvSpPr>
        <p:spPr>
          <a:xfrm>
            <a:off x="352425" y="1949450"/>
            <a:ext cx="438150" cy="9525"/>
          </a:xfrm>
          <a:prstGeom prst="rect">
            <a:avLst/>
          </a:prstGeom>
          <a:solidFill>
            <a:srgbClr val="C0C0C8"/>
          </a:solidFill>
          <a:ln/>
        </p:spPr>
        <p:txBody>
          <a:bodyPr/>
          <a:lstStyle/>
          <a:p>
            <a:endParaRPr lang="fr-FR"/>
          </a:p>
        </p:txBody>
      </p:sp>
      <p:sp>
        <p:nvSpPr>
          <p:cNvPr id="13" name="Text 11"/>
          <p:cNvSpPr/>
          <p:nvPr/>
        </p:nvSpPr>
        <p:spPr>
          <a:xfrm>
            <a:off x="352425" y="20891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4" name="Shape 12"/>
          <p:cNvSpPr/>
          <p:nvPr/>
        </p:nvSpPr>
        <p:spPr>
          <a:xfrm>
            <a:off x="981075" y="1949450"/>
            <a:ext cx="2381250" cy="9525"/>
          </a:xfrm>
          <a:prstGeom prst="rect">
            <a:avLst/>
          </a:prstGeom>
          <a:solidFill>
            <a:srgbClr val="C0C0C8"/>
          </a:solidFill>
          <a:ln/>
        </p:spPr>
        <p:txBody>
          <a:bodyPr/>
          <a:lstStyle/>
          <a:p>
            <a:endParaRPr lang="fr-FR"/>
          </a:p>
        </p:txBody>
      </p:sp>
      <p:sp>
        <p:nvSpPr>
          <p:cNvPr id="15" name="Shape 13"/>
          <p:cNvSpPr/>
          <p:nvPr/>
        </p:nvSpPr>
        <p:spPr>
          <a:xfrm>
            <a:off x="981075" y="2085975"/>
            <a:ext cx="506710" cy="254000"/>
          </a:xfrm>
          <a:prstGeom prst="rect">
            <a:avLst/>
          </a:prstGeom>
          <a:solidFill>
            <a:srgbClr val="E9F5FB"/>
          </a:solidFill>
          <a:ln/>
        </p:spPr>
        <p:txBody>
          <a:bodyPr/>
          <a:lstStyle/>
          <a:p>
            <a:endParaRPr lang="fr-FR"/>
          </a:p>
        </p:txBody>
      </p:sp>
      <p:sp>
        <p:nvSpPr>
          <p:cNvPr id="16" name="Text 14"/>
          <p:cNvSpPr/>
          <p:nvPr/>
        </p:nvSpPr>
        <p:spPr>
          <a:xfrm>
            <a:off x="1095375" y="21145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7" name="Shape 15"/>
          <p:cNvSpPr/>
          <p:nvPr/>
        </p:nvSpPr>
        <p:spPr>
          <a:xfrm>
            <a:off x="3552825" y="1949450"/>
            <a:ext cx="8096250" cy="9525"/>
          </a:xfrm>
          <a:prstGeom prst="rect">
            <a:avLst/>
          </a:prstGeom>
          <a:solidFill>
            <a:srgbClr val="C0C0C8"/>
          </a:solidFill>
          <a:ln/>
        </p:spPr>
        <p:txBody>
          <a:bodyPr/>
          <a:lstStyle/>
          <a:p>
            <a:endParaRPr lang="fr-FR"/>
          </a:p>
        </p:txBody>
      </p:sp>
      <p:sp>
        <p:nvSpPr>
          <p:cNvPr id="18" name="Text 16"/>
          <p:cNvSpPr/>
          <p:nvPr/>
        </p:nvSpPr>
        <p:spPr>
          <a:xfrm>
            <a:off x="3552825" y="20891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SupplyScore delivered: multi-tenant, every write audited, tested, documented</a:t>
            </a:r>
            <a:endParaRPr lang="en-US" sz="1425" dirty="0"/>
          </a:p>
        </p:txBody>
      </p:sp>
      <p:sp>
        <p:nvSpPr>
          <p:cNvPr id="19" name="Shape 17"/>
          <p:cNvSpPr/>
          <p:nvPr/>
        </p:nvSpPr>
        <p:spPr>
          <a:xfrm>
            <a:off x="352425" y="2470150"/>
            <a:ext cx="438150" cy="9525"/>
          </a:xfrm>
          <a:prstGeom prst="rect">
            <a:avLst/>
          </a:prstGeom>
          <a:solidFill>
            <a:srgbClr val="C0C0C8"/>
          </a:solidFill>
          <a:ln/>
        </p:spPr>
        <p:txBody>
          <a:bodyPr/>
          <a:lstStyle/>
          <a:p>
            <a:endParaRPr lang="fr-FR"/>
          </a:p>
        </p:txBody>
      </p:sp>
      <p:sp>
        <p:nvSpPr>
          <p:cNvPr id="20" name="Text 18"/>
          <p:cNvSpPr/>
          <p:nvPr/>
        </p:nvSpPr>
        <p:spPr>
          <a:xfrm>
            <a:off x="352425" y="26098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1" name="Shape 19"/>
          <p:cNvSpPr/>
          <p:nvPr/>
        </p:nvSpPr>
        <p:spPr>
          <a:xfrm>
            <a:off x="981075" y="2470150"/>
            <a:ext cx="2381250" cy="9525"/>
          </a:xfrm>
          <a:prstGeom prst="rect">
            <a:avLst/>
          </a:prstGeom>
          <a:solidFill>
            <a:srgbClr val="C0C0C8"/>
          </a:solidFill>
          <a:ln/>
        </p:spPr>
        <p:txBody>
          <a:bodyPr/>
          <a:lstStyle/>
          <a:p>
            <a:endParaRPr lang="fr-FR"/>
          </a:p>
        </p:txBody>
      </p:sp>
      <p:sp>
        <p:nvSpPr>
          <p:cNvPr id="22" name="Shape 20"/>
          <p:cNvSpPr/>
          <p:nvPr/>
        </p:nvSpPr>
        <p:spPr>
          <a:xfrm>
            <a:off x="981075" y="2606675"/>
            <a:ext cx="506710" cy="254000"/>
          </a:xfrm>
          <a:prstGeom prst="rect">
            <a:avLst/>
          </a:prstGeom>
          <a:solidFill>
            <a:srgbClr val="E9F5FB"/>
          </a:solidFill>
          <a:ln/>
        </p:spPr>
        <p:txBody>
          <a:bodyPr/>
          <a:lstStyle/>
          <a:p>
            <a:endParaRPr lang="fr-FR"/>
          </a:p>
        </p:txBody>
      </p:sp>
      <p:sp>
        <p:nvSpPr>
          <p:cNvPr id="23" name="Text 21"/>
          <p:cNvSpPr/>
          <p:nvPr/>
        </p:nvSpPr>
        <p:spPr>
          <a:xfrm>
            <a:off x="1095375" y="26352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24" name="Shape 22"/>
          <p:cNvSpPr/>
          <p:nvPr/>
        </p:nvSpPr>
        <p:spPr>
          <a:xfrm>
            <a:off x="3552825" y="2470150"/>
            <a:ext cx="8096250" cy="9525"/>
          </a:xfrm>
          <a:prstGeom prst="rect">
            <a:avLst/>
          </a:prstGeom>
          <a:solidFill>
            <a:srgbClr val="C0C0C8"/>
          </a:solidFill>
          <a:ln/>
        </p:spPr>
        <p:txBody>
          <a:bodyPr/>
          <a:lstStyle/>
          <a:p>
            <a:endParaRPr lang="fr-FR"/>
          </a:p>
        </p:txBody>
      </p:sp>
      <p:sp>
        <p:nvSpPr>
          <p:cNvPr id="25" name="Text 23"/>
          <p:cNvSpPr/>
          <p:nvPr/>
        </p:nvSpPr>
        <p:spPr>
          <a:xfrm>
            <a:off x="3552825" y="26098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Propagation and criticality operational; the saturation collapse found and repaired</a:t>
            </a:r>
            <a:endParaRPr lang="en-US" sz="1425" dirty="0"/>
          </a:p>
        </p:txBody>
      </p:sp>
      <p:sp>
        <p:nvSpPr>
          <p:cNvPr id="26" name="Shape 24"/>
          <p:cNvSpPr/>
          <p:nvPr/>
        </p:nvSpPr>
        <p:spPr>
          <a:xfrm>
            <a:off x="352425" y="2990850"/>
            <a:ext cx="438150" cy="743545"/>
          </a:xfrm>
          <a:prstGeom prst="rect">
            <a:avLst/>
          </a:prstGeom>
          <a:solidFill>
            <a:srgbClr val="063C67"/>
          </a:solidFill>
          <a:ln/>
        </p:spPr>
        <p:txBody>
          <a:bodyPr/>
          <a:lstStyle/>
          <a:p>
            <a:endParaRPr lang="fr-FR"/>
          </a:p>
        </p:txBody>
      </p:sp>
      <p:sp>
        <p:nvSpPr>
          <p:cNvPr id="27" name="Shape 25"/>
          <p:cNvSpPr/>
          <p:nvPr/>
        </p:nvSpPr>
        <p:spPr>
          <a:xfrm>
            <a:off x="352425" y="2990850"/>
            <a:ext cx="438150" cy="9525"/>
          </a:xfrm>
          <a:prstGeom prst="rect">
            <a:avLst/>
          </a:prstGeom>
          <a:solidFill>
            <a:srgbClr val="C0C0C8"/>
          </a:solidFill>
          <a:ln/>
        </p:spPr>
        <p:txBody>
          <a:bodyPr/>
          <a:lstStyle/>
          <a:p>
            <a:endParaRPr lang="fr-FR"/>
          </a:p>
        </p:txBody>
      </p:sp>
      <p:sp>
        <p:nvSpPr>
          <p:cNvPr id="28" name="Text 26"/>
          <p:cNvSpPr/>
          <p:nvPr/>
        </p:nvSpPr>
        <p:spPr>
          <a:xfrm>
            <a:off x="314325" y="3130550"/>
            <a:ext cx="514350" cy="508595"/>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29" name="Shape 27"/>
          <p:cNvSpPr/>
          <p:nvPr/>
        </p:nvSpPr>
        <p:spPr>
          <a:xfrm>
            <a:off x="981075" y="2990850"/>
            <a:ext cx="2381250" cy="743545"/>
          </a:xfrm>
          <a:prstGeom prst="rect">
            <a:avLst/>
          </a:prstGeom>
          <a:solidFill>
            <a:srgbClr val="FFF6DA"/>
          </a:solidFill>
          <a:ln/>
        </p:spPr>
        <p:txBody>
          <a:bodyPr/>
          <a:lstStyle/>
          <a:p>
            <a:endParaRPr lang="fr-FR"/>
          </a:p>
        </p:txBody>
      </p:sp>
      <p:sp>
        <p:nvSpPr>
          <p:cNvPr id="30" name="Shape 28"/>
          <p:cNvSpPr/>
          <p:nvPr/>
        </p:nvSpPr>
        <p:spPr>
          <a:xfrm>
            <a:off x="981075" y="2990850"/>
            <a:ext cx="2381250" cy="9525"/>
          </a:xfrm>
          <a:prstGeom prst="rect">
            <a:avLst/>
          </a:prstGeom>
          <a:solidFill>
            <a:srgbClr val="C0C0C8"/>
          </a:solidFill>
          <a:ln/>
        </p:spPr>
        <p:txBody>
          <a:bodyPr/>
          <a:lstStyle/>
          <a:p>
            <a:endParaRPr lang="fr-FR"/>
          </a:p>
        </p:txBody>
      </p:sp>
      <p:sp>
        <p:nvSpPr>
          <p:cNvPr id="31" name="Shape 29"/>
          <p:cNvSpPr/>
          <p:nvPr/>
        </p:nvSpPr>
        <p:spPr>
          <a:xfrm>
            <a:off x="981075" y="3127375"/>
            <a:ext cx="1899047" cy="254000"/>
          </a:xfrm>
          <a:prstGeom prst="rect">
            <a:avLst/>
          </a:prstGeom>
          <a:solidFill>
            <a:srgbClr val="FFDA65"/>
          </a:solidFill>
          <a:ln/>
        </p:spPr>
        <p:txBody>
          <a:bodyPr/>
          <a:lstStyle/>
          <a:p>
            <a:endParaRPr lang="fr-FR"/>
          </a:p>
        </p:txBody>
      </p:sp>
      <p:sp>
        <p:nvSpPr>
          <p:cNvPr id="32" name="Text 30"/>
          <p:cNvSpPr/>
          <p:nvPr/>
        </p:nvSpPr>
        <p:spPr>
          <a:xfrm>
            <a:off x="1095375" y="3155950"/>
            <a:ext cx="1860352"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domain established</a:t>
            </a:r>
            <a:endParaRPr lang="en-US" sz="1275" dirty="0"/>
          </a:p>
        </p:txBody>
      </p:sp>
      <p:sp>
        <p:nvSpPr>
          <p:cNvPr id="33" name="Shape 31"/>
          <p:cNvSpPr/>
          <p:nvPr/>
        </p:nvSpPr>
        <p:spPr>
          <a:xfrm>
            <a:off x="3552825" y="2990850"/>
            <a:ext cx="8096250" cy="743545"/>
          </a:xfrm>
          <a:prstGeom prst="rect">
            <a:avLst/>
          </a:prstGeom>
          <a:solidFill>
            <a:srgbClr val="FFF6DA"/>
          </a:solidFill>
          <a:ln/>
        </p:spPr>
        <p:txBody>
          <a:bodyPr/>
          <a:lstStyle/>
          <a:p>
            <a:endParaRPr lang="fr-FR"/>
          </a:p>
        </p:txBody>
      </p:sp>
      <p:sp>
        <p:nvSpPr>
          <p:cNvPr id="34" name="Shape 32"/>
          <p:cNvSpPr/>
          <p:nvPr/>
        </p:nvSpPr>
        <p:spPr>
          <a:xfrm>
            <a:off x="3552825" y="2990850"/>
            <a:ext cx="8096250" cy="9525"/>
          </a:xfrm>
          <a:prstGeom prst="rect">
            <a:avLst/>
          </a:prstGeom>
          <a:solidFill>
            <a:srgbClr val="C0C0C8"/>
          </a:solidFill>
          <a:ln/>
        </p:spPr>
        <p:txBody>
          <a:bodyPr/>
          <a:lstStyle/>
          <a:p>
            <a:endParaRPr lang="fr-FR"/>
          </a:p>
        </p:txBody>
      </p:sp>
      <p:sp>
        <p:nvSpPr>
          <p:cNvPr id="35" name="Text 33"/>
          <p:cNvSpPr/>
          <p:nvPr/>
        </p:nvSpPr>
        <p:spPr>
          <a:xfrm>
            <a:off x="3552825" y="3130550"/>
            <a:ext cx="8339137" cy="508595"/>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Right at node level on chain 1; scored, located, repaired, re-measured; then bounded by chain 2 and the baseline</a:t>
            </a:r>
            <a:endParaRPr lang="en-US" sz="1425" dirty="0"/>
          </a:p>
        </p:txBody>
      </p:sp>
      <p:sp>
        <p:nvSpPr>
          <p:cNvPr id="36" name="Shape 34"/>
          <p:cNvSpPr/>
          <p:nvPr/>
        </p:nvSpPr>
        <p:spPr>
          <a:xfrm>
            <a:off x="352425" y="3734395"/>
            <a:ext cx="438150" cy="9525"/>
          </a:xfrm>
          <a:prstGeom prst="rect">
            <a:avLst/>
          </a:prstGeom>
          <a:solidFill>
            <a:srgbClr val="C0C0C8"/>
          </a:solidFill>
          <a:ln/>
        </p:spPr>
        <p:txBody>
          <a:bodyPr/>
          <a:lstStyle/>
          <a:p>
            <a:endParaRPr lang="fr-FR"/>
          </a:p>
        </p:txBody>
      </p:sp>
      <p:sp>
        <p:nvSpPr>
          <p:cNvPr id="38" name="Shape 36"/>
          <p:cNvSpPr/>
          <p:nvPr/>
        </p:nvSpPr>
        <p:spPr>
          <a:xfrm>
            <a:off x="981075" y="3734395"/>
            <a:ext cx="2381250" cy="9525"/>
          </a:xfrm>
          <a:prstGeom prst="rect">
            <a:avLst/>
          </a:prstGeom>
          <a:solidFill>
            <a:srgbClr val="C0C0C8"/>
          </a:solidFill>
          <a:ln/>
        </p:spPr>
        <p:txBody>
          <a:bodyPr/>
          <a:lstStyle/>
          <a:p>
            <a:endParaRPr lang="fr-FR"/>
          </a:p>
        </p:txBody>
      </p:sp>
      <p:sp>
        <p:nvSpPr>
          <p:cNvPr id="41" name="Shape 39"/>
          <p:cNvSpPr/>
          <p:nvPr/>
        </p:nvSpPr>
        <p:spPr>
          <a:xfrm>
            <a:off x="3552825" y="3734395"/>
            <a:ext cx="8096250" cy="9525"/>
          </a:xfrm>
          <a:prstGeom prst="rect">
            <a:avLst/>
          </a:prstGeom>
          <a:solidFill>
            <a:srgbClr val="C0C0C8"/>
          </a:solidFill>
          <a:ln/>
        </p:spPr>
        <p:txBody>
          <a:bodyPr/>
          <a:lstStyle/>
          <a:p>
            <a:endParaRPr lang="fr-FR"/>
          </a:p>
        </p:txBody>
      </p:sp>
      <p:sp>
        <p:nvSpPr>
          <p:cNvPr id="43" name="Shape 41"/>
          <p:cNvSpPr/>
          <p:nvPr/>
        </p:nvSpPr>
        <p:spPr>
          <a:xfrm>
            <a:off x="352425" y="4255891"/>
            <a:ext cx="438150" cy="9525"/>
          </a:xfrm>
          <a:prstGeom prst="rect">
            <a:avLst/>
          </a:prstGeom>
          <a:solidFill>
            <a:srgbClr val="C0C0C8"/>
          </a:solidFill>
          <a:ln/>
        </p:spPr>
        <p:txBody>
          <a:bodyPr/>
          <a:lstStyle/>
          <a:p>
            <a:endParaRPr lang="fr-FR"/>
          </a:p>
        </p:txBody>
      </p:sp>
      <p:sp>
        <p:nvSpPr>
          <p:cNvPr id="44" name="Shape 42"/>
          <p:cNvSpPr/>
          <p:nvPr/>
        </p:nvSpPr>
        <p:spPr>
          <a:xfrm>
            <a:off x="352425" y="3735191"/>
            <a:ext cx="438150" cy="9525"/>
          </a:xfrm>
          <a:prstGeom prst="rect">
            <a:avLst/>
          </a:prstGeom>
          <a:solidFill>
            <a:srgbClr val="C0C0C8"/>
          </a:solidFill>
          <a:ln/>
        </p:spPr>
        <p:txBody>
          <a:bodyPr/>
          <a:lstStyle/>
          <a:p>
            <a:endParaRPr lang="fr-FR"/>
          </a:p>
        </p:txBody>
      </p:sp>
      <p:sp>
        <p:nvSpPr>
          <p:cNvPr id="45" name="Text 43"/>
          <p:cNvSpPr/>
          <p:nvPr/>
        </p:nvSpPr>
        <p:spPr>
          <a:xfrm>
            <a:off x="352425" y="3874891"/>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46" name="Shape 44"/>
          <p:cNvSpPr/>
          <p:nvPr/>
        </p:nvSpPr>
        <p:spPr>
          <a:xfrm>
            <a:off x="981075" y="4255891"/>
            <a:ext cx="2381250" cy="9525"/>
          </a:xfrm>
          <a:prstGeom prst="rect">
            <a:avLst/>
          </a:prstGeom>
          <a:solidFill>
            <a:srgbClr val="C0C0C8"/>
          </a:solidFill>
          <a:ln/>
        </p:spPr>
        <p:txBody>
          <a:bodyPr/>
          <a:lstStyle/>
          <a:p>
            <a:endParaRPr lang="fr-FR"/>
          </a:p>
        </p:txBody>
      </p:sp>
      <p:sp>
        <p:nvSpPr>
          <p:cNvPr id="47" name="Shape 45"/>
          <p:cNvSpPr/>
          <p:nvPr/>
        </p:nvSpPr>
        <p:spPr>
          <a:xfrm>
            <a:off x="981075" y="3735191"/>
            <a:ext cx="2381250" cy="9525"/>
          </a:xfrm>
          <a:prstGeom prst="rect">
            <a:avLst/>
          </a:prstGeom>
          <a:solidFill>
            <a:srgbClr val="C0C0C8"/>
          </a:solidFill>
          <a:ln/>
        </p:spPr>
        <p:txBody>
          <a:bodyPr/>
          <a:lstStyle/>
          <a:p>
            <a:endParaRPr lang="fr-FR"/>
          </a:p>
        </p:txBody>
      </p:sp>
      <p:sp>
        <p:nvSpPr>
          <p:cNvPr id="48" name="Shape 46"/>
          <p:cNvSpPr/>
          <p:nvPr/>
        </p:nvSpPr>
        <p:spPr>
          <a:xfrm>
            <a:off x="981075" y="3871715"/>
            <a:ext cx="1206401" cy="254000"/>
          </a:xfrm>
          <a:prstGeom prst="rect">
            <a:avLst/>
          </a:prstGeom>
          <a:solidFill>
            <a:srgbClr val="FFDA65"/>
          </a:solidFill>
          <a:ln/>
        </p:spPr>
        <p:txBody>
          <a:bodyPr/>
          <a:lstStyle/>
          <a:p>
            <a:endParaRPr lang="fr-FR"/>
          </a:p>
        </p:txBody>
      </p:sp>
      <p:sp>
        <p:nvSpPr>
          <p:cNvPr id="49" name="Text 47"/>
          <p:cNvSpPr/>
          <p:nvPr/>
        </p:nvSpPr>
        <p:spPr>
          <a:xfrm>
            <a:off x="1095375" y="3900290"/>
            <a:ext cx="109844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ongoing</a:t>
            </a:r>
            <a:endParaRPr lang="en-US" sz="1275" dirty="0"/>
          </a:p>
        </p:txBody>
      </p:sp>
      <p:sp>
        <p:nvSpPr>
          <p:cNvPr id="50" name="Shape 48"/>
          <p:cNvSpPr/>
          <p:nvPr/>
        </p:nvSpPr>
        <p:spPr>
          <a:xfrm>
            <a:off x="3552825" y="4255891"/>
            <a:ext cx="8096250" cy="9525"/>
          </a:xfrm>
          <a:prstGeom prst="rect">
            <a:avLst/>
          </a:prstGeom>
          <a:solidFill>
            <a:srgbClr val="C0C0C8"/>
          </a:solidFill>
          <a:ln/>
        </p:spPr>
        <p:txBody>
          <a:bodyPr/>
          <a:lstStyle/>
          <a:p>
            <a:endParaRPr lang="fr-FR"/>
          </a:p>
        </p:txBody>
      </p:sp>
      <p:sp>
        <p:nvSpPr>
          <p:cNvPr id="51" name="Shape 49"/>
          <p:cNvSpPr/>
          <p:nvPr/>
        </p:nvSpPr>
        <p:spPr>
          <a:xfrm>
            <a:off x="3552825" y="3735191"/>
            <a:ext cx="8096250" cy="9525"/>
          </a:xfrm>
          <a:prstGeom prst="rect">
            <a:avLst/>
          </a:prstGeom>
          <a:solidFill>
            <a:srgbClr val="C0C0C8"/>
          </a:solidFill>
          <a:ln/>
        </p:spPr>
        <p:txBody>
          <a:bodyPr/>
          <a:lstStyle/>
          <a:p>
            <a:endParaRPr lang="fr-FR"/>
          </a:p>
        </p:txBody>
      </p:sp>
      <p:sp>
        <p:nvSpPr>
          <p:cNvPr id="52" name="Text 50"/>
          <p:cNvSpPr/>
          <p:nvPr/>
        </p:nvSpPr>
        <p:spPr>
          <a:xfrm>
            <a:off x="3552825" y="3874891"/>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Segmentation model still running, with usable early results</a:t>
            </a:r>
            <a:endParaRPr lang="en-US" sz="1425" dirty="0"/>
          </a:p>
        </p:txBody>
      </p:sp>
      <p:sp>
        <p:nvSpPr>
          <p:cNvPr id="53" name="Shape 51"/>
          <p:cNvSpPr/>
          <p:nvPr/>
        </p:nvSpPr>
        <p:spPr>
          <a:xfrm>
            <a:off x="314325" y="4953000"/>
            <a:ext cx="11334750" cy="1298178"/>
          </a:xfrm>
          <a:prstGeom prst="rect">
            <a:avLst/>
          </a:prstGeom>
          <a:solidFill>
            <a:srgbClr val="063C67"/>
          </a:solidFill>
          <a:ln/>
        </p:spPr>
        <p:txBody>
          <a:bodyPr/>
          <a:lstStyle/>
          <a:p>
            <a:endParaRPr lang="fr-FR"/>
          </a:p>
        </p:txBody>
      </p:sp>
      <p:sp>
        <p:nvSpPr>
          <p:cNvPr id="54" name="Text 52"/>
          <p:cNvSpPr/>
          <p:nvPr/>
        </p:nvSpPr>
        <p:spPr>
          <a:xfrm>
            <a:off x="619125" y="5181600"/>
            <a:ext cx="1242631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WHAT THE PROGRAMME CAN NOW SAY ABOUT THE INSTRUMENT</a:t>
            </a:r>
            <a:endParaRPr lang="en-US" sz="1050" dirty="0"/>
          </a:p>
        </p:txBody>
      </p:sp>
      <p:pic>
        <p:nvPicPr>
          <p:cNvPr id="55" name="Image 0" descr="preencoded.png"/>
          <p:cNvPicPr>
            <a:picLocks noChangeAspect="1"/>
          </p:cNvPicPr>
          <p:nvPr/>
        </p:nvPicPr>
        <p:blipFill>
          <a:blip r:embed="rId3"/>
          <a:stretch>
            <a:fillRect/>
          </a:stretch>
        </p:blipFill>
        <p:spPr>
          <a:xfrm>
            <a:off x="619125" y="5555853"/>
            <a:ext cx="402332" cy="419100"/>
          </a:xfrm>
          <a:prstGeom prst="rect">
            <a:avLst/>
          </a:prstGeom>
        </p:spPr>
      </p:pic>
      <p:sp>
        <p:nvSpPr>
          <p:cNvPr id="56" name="Text 53"/>
          <p:cNvSpPr/>
          <p:nvPr/>
        </p:nvSpPr>
        <p:spPr>
          <a:xfrm>
            <a:off x="1173857" y="5636816"/>
            <a:ext cx="3217466" cy="29527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Detects </a:t>
            </a:r>
            <a:r>
              <a:rPr lang="en-US" sz="1500" b="1" dirty="0">
                <a:solidFill>
                  <a:srgbClr val="FFFFFF"/>
                </a:solidFill>
                <a:latin typeface="Calibri" pitchFamily="34" charset="0"/>
                <a:ea typeface="Calibri" pitchFamily="34" charset="-122"/>
                <a:cs typeface="Calibri" pitchFamily="34" charset="-120"/>
              </a:rPr>
              <a:t>misperception</a:t>
            </a:r>
            <a:endParaRPr lang="en-US" sz="1500" dirty="0"/>
          </a:p>
        </p:txBody>
      </p:sp>
      <p:pic>
        <p:nvPicPr>
          <p:cNvPr id="57" name="Image 1" descr="preencoded.png"/>
          <p:cNvPicPr>
            <a:picLocks noChangeAspect="1"/>
          </p:cNvPicPr>
          <p:nvPr/>
        </p:nvPicPr>
        <p:blipFill>
          <a:blip r:embed="rId4"/>
          <a:stretch>
            <a:fillRect/>
          </a:stretch>
        </p:blipFill>
        <p:spPr>
          <a:xfrm>
            <a:off x="4460875" y="5555853"/>
            <a:ext cx="331093" cy="419100"/>
          </a:xfrm>
          <a:prstGeom prst="rect">
            <a:avLst/>
          </a:prstGeom>
        </p:spPr>
      </p:pic>
      <p:sp>
        <p:nvSpPr>
          <p:cNvPr id="58" name="Text 54"/>
          <p:cNvSpPr/>
          <p:nvPr/>
        </p:nvSpPr>
        <p:spPr>
          <a:xfrm>
            <a:off x="4944368" y="5508228"/>
            <a:ext cx="3223547"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An </a:t>
            </a:r>
            <a:r>
              <a:rPr lang="en-US" sz="1500" b="1" dirty="0">
                <a:solidFill>
                  <a:srgbClr val="FFFFFF"/>
                </a:solidFill>
                <a:latin typeface="Calibri" pitchFamily="34" charset="0"/>
                <a:ea typeface="Calibri" pitchFamily="34" charset="-122"/>
                <a:cs typeface="Calibri" pitchFamily="34" charset="-120"/>
              </a:rPr>
              <a:t>early-warning </a:t>
            </a:r>
            <a:r>
              <a:rPr lang="en-US" sz="1500" dirty="0">
                <a:solidFill>
                  <a:srgbClr val="FFFFFF"/>
                </a:solidFill>
                <a:latin typeface="Calibri" pitchFamily="34" charset="0"/>
                <a:ea typeface="Calibri" pitchFamily="34" charset="-122"/>
                <a:cs typeface="Calibri" pitchFamily="34" charset="-120"/>
              </a:rPr>
              <a:t>instrument that closes once a crisis is public</a:t>
            </a:r>
            <a:endParaRPr lang="en-US" sz="1500" dirty="0"/>
          </a:p>
        </p:txBody>
      </p:sp>
      <p:pic>
        <p:nvPicPr>
          <p:cNvPr id="59" name="Image 2" descr="preencoded.png"/>
          <p:cNvPicPr>
            <a:picLocks noChangeAspect="1"/>
          </p:cNvPicPr>
          <p:nvPr/>
        </p:nvPicPr>
        <p:blipFill>
          <a:blip r:embed="rId5"/>
          <a:stretch>
            <a:fillRect/>
          </a:stretch>
        </p:blipFill>
        <p:spPr>
          <a:xfrm>
            <a:off x="8302625" y="5555853"/>
            <a:ext cx="419100" cy="419100"/>
          </a:xfrm>
          <a:prstGeom prst="rect">
            <a:avLst/>
          </a:prstGeom>
        </p:spPr>
      </p:pic>
      <p:sp>
        <p:nvSpPr>
          <p:cNvPr id="60" name="Text 55"/>
          <p:cNvSpPr/>
          <p:nvPr/>
        </p:nvSpPr>
        <p:spPr>
          <a:xfrm>
            <a:off x="8874125" y="5508228"/>
            <a:ext cx="2844502"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Its forecast buys </a:t>
            </a:r>
            <a:r>
              <a:rPr lang="en-US" sz="1500" b="1" dirty="0">
                <a:solidFill>
                  <a:srgbClr val="FFFFFF"/>
                </a:solidFill>
                <a:latin typeface="Calibri" pitchFamily="34" charset="0"/>
                <a:ea typeface="Calibri" pitchFamily="34" charset="-122"/>
                <a:cs typeface="Calibri" pitchFamily="34" charset="-120"/>
              </a:rPr>
              <a:t>calibration </a:t>
            </a:r>
            <a:r>
              <a:rPr lang="en-US" sz="1500" dirty="0">
                <a:solidFill>
                  <a:srgbClr val="FFFFFF"/>
                </a:solidFill>
                <a:latin typeface="Calibri" pitchFamily="34" charset="0"/>
                <a:ea typeface="Calibri" pitchFamily="34" charset="-122"/>
                <a:cs typeface="Calibri" pitchFamily="34" charset="-120"/>
              </a:rPr>
              <a:t>, not short-horizon discrimination</a:t>
            </a:r>
            <a:endParaRPr lang="en-US" sz="1500" dirty="0"/>
          </a:p>
        </p:txBody>
      </p:sp>
      <p:pic>
        <p:nvPicPr>
          <p:cNvPr id="61" name="Image 3" descr="preencoded.png"/>
          <p:cNvPicPr>
            <a:picLocks noChangeAspect="1"/>
          </p:cNvPicPr>
          <p:nvPr/>
        </p:nvPicPr>
        <p:blipFill>
          <a:blip r:embed="rId6"/>
          <a:stretch>
            <a:fillRect/>
          </a:stretch>
        </p:blipFill>
        <p:spPr>
          <a:xfrm>
            <a:off x="11229975" y="6567488"/>
            <a:ext cx="714375" cy="71438"/>
          </a:xfrm>
          <a:prstGeom prst="rect">
            <a:avLst/>
          </a:prstGeom>
        </p:spPr>
      </p:pic>
      <p:sp>
        <p:nvSpPr>
          <p:cNvPr id="62" name="TextBox 61"/>
          <p:cNvSpPr txBox="1"/>
          <p:nvPr/>
        </p:nvSpPr>
        <p:spPr>
          <a:xfrm>
            <a:off x="356616" y="4443984"/>
            <a:ext cx="11338560" cy="274320"/>
          </a:xfrm>
          <a:prstGeom prst="rect">
            <a:avLst/>
          </a:prstGeom>
          <a:noFill/>
        </p:spPr>
        <p:txBody>
          <a:bodyPr wrap="square" lIns="25400" rIns="25400" tIns="25400" bIns="25400" anchor="t">
            <a:spAutoFit/>
          </a:bodyPr>
          <a:lstStyle/>
          <a:p>
            <a:pPr algn="l"/>
            <a:r>
              <a:rPr sz="1000" b="0">
                <a:solidFill>
                  <a:srgbClr val="858591"/>
                </a:solidFill>
                <a:latin typeface="Arial"/>
              </a:rPr>
              <a:t>SupplyScore is the tool. DISCO is the DIN's serious game. Smart &amp; Green Supply Chain is the programme.</a:t>
            </a:r>
          </a:p>
        </p:txBody>
      </p:sp>
      <p:sp>
        <p:nvSpPr>
          <p:cNvPr id="63" name="Rectangle 62"/>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65" name="Rectangle 64"/>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67" name="Rectangle 66"/>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69" name="Rectangle 68"/>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71" name="Rectangle 70"/>
          <p:cNvSpPr/>
          <p:nvPr/>
        </p:nvSpPr>
        <p:spPr>
          <a:xfrm>
            <a:off x="11576303"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5</a:t>
            </a:r>
          </a:p>
        </p:txBody>
      </p:sp>
      <p:sp>
        <p:nvSpPr>
          <p:cNvPr id="73" name="TextBox 72"/>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74" name="Rectangle 73"/>
          <p:cNvSpPr/>
          <p:nvPr/>
        </p:nvSpPr>
        <p:spPr>
          <a:xfrm>
            <a:off x="356616" y="3749039"/>
            <a:ext cx="3602736" cy="56692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356616" y="3090672"/>
            <a:ext cx="3602736" cy="56692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LIMITS AND WHAT COMES NEXT</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Two limits of sample, two of method, and a list produced by measurement</a:t>
            </a:r>
            <a:endParaRPr lang="en-US" sz="1725" dirty="0"/>
          </a:p>
        </p:txBody>
      </p:sp>
      <p:sp>
        <p:nvSpPr>
          <p:cNvPr id="5" name="Text 3"/>
          <p:cNvSpPr/>
          <p:nvPr/>
        </p:nvSpPr>
        <p:spPr>
          <a:xfrm>
            <a:off x="3524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LIMITS</a:t>
            </a:r>
            <a:endParaRPr lang="en-US" sz="1050" dirty="0"/>
          </a:p>
        </p:txBody>
      </p:sp>
      <p:sp>
        <p:nvSpPr>
          <p:cNvPr id="6" name="Shape 4"/>
          <p:cNvSpPr/>
          <p:nvPr/>
        </p:nvSpPr>
        <p:spPr>
          <a:xfrm>
            <a:off x="352425" y="1774428"/>
            <a:ext cx="3600450" cy="55245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04825" y="1888728"/>
            <a:ext cx="336947" cy="323850"/>
          </a:xfrm>
          <a:prstGeom prst="rect">
            <a:avLst/>
          </a:prstGeom>
        </p:spPr>
      </p:pic>
      <p:sp>
        <p:nvSpPr>
          <p:cNvPr id="8" name="Text 5"/>
          <p:cNvSpPr/>
          <p:nvPr/>
        </p:nvSpPr>
        <p:spPr>
          <a:xfrm>
            <a:off x="975122" y="1938536"/>
            <a:ext cx="2357835"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Agents declared, not human consultants</a:t>
            </a:r>
            <a:endParaRPr lang="en-US" sz="1425" dirty="0"/>
          </a:p>
        </p:txBody>
      </p:sp>
      <p:sp>
        <p:nvSpPr>
          <p:cNvPr id="9" name="Shape 6"/>
          <p:cNvSpPr/>
          <p:nvPr/>
        </p:nvSpPr>
        <p:spPr>
          <a:xfrm>
            <a:off x="352425" y="2431653"/>
            <a:ext cx="3600450" cy="55245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504825" y="2545953"/>
            <a:ext cx="323850" cy="323850"/>
          </a:xfrm>
          <a:prstGeom prst="rect">
            <a:avLst/>
          </a:prstGeom>
        </p:spPr>
      </p:pic>
      <p:sp>
        <p:nvSpPr>
          <p:cNvPr id="11" name="Text 7"/>
          <p:cNvSpPr/>
          <p:nvPr/>
        </p:nvSpPr>
        <p:spPr>
          <a:xfrm>
            <a:off x="962025" y="2595761"/>
            <a:ext cx="2574528"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Seven positives across two chains</a:t>
            </a:r>
            <a:endParaRPr lang="en-US" sz="1425" dirty="0"/>
          </a:p>
        </p:txBody>
      </p:sp>
      <p:sp>
        <p:nvSpPr>
          <p:cNvPr id="17" name="Text 12"/>
          <p:cNvSpPr/>
          <p:nvPr/>
        </p:nvSpPr>
        <p:spPr>
          <a:xfrm>
            <a:off x="42767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FOR ALTEN, IN ORDER</a:t>
            </a:r>
            <a:endParaRPr lang="en-US" sz="1050" dirty="0"/>
          </a:p>
        </p:txBody>
      </p:sp>
      <p:sp>
        <p:nvSpPr>
          <p:cNvPr id="18" name="Shape 13"/>
          <p:cNvSpPr/>
          <p:nvPr/>
        </p:nvSpPr>
        <p:spPr>
          <a:xfrm>
            <a:off x="4276725" y="1774428"/>
            <a:ext cx="3600450" cy="999530"/>
          </a:xfrm>
          <a:prstGeom prst="rect">
            <a:avLst/>
          </a:prstGeom>
          <a:solidFill>
            <a:srgbClr val="F4F4F6"/>
          </a:solidFill>
          <a:ln/>
        </p:spPr>
        <p:txBody>
          <a:bodyPr/>
          <a:lstStyle/>
          <a:p>
            <a:endParaRPr lang="fr-FR"/>
          </a:p>
        </p:txBody>
      </p:sp>
      <p:sp>
        <p:nvSpPr>
          <p:cNvPr id="19" name="Text 14"/>
          <p:cNvSpPr/>
          <p:nvPr/>
        </p:nvSpPr>
        <p:spPr>
          <a:xfrm>
            <a:off x="4429125" y="1907778"/>
            <a:ext cx="167977"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1</a:t>
            </a:r>
            <a:endParaRPr lang="en-US" sz="1425" dirty="0"/>
          </a:p>
        </p:txBody>
      </p:sp>
      <p:pic>
        <p:nvPicPr>
          <p:cNvPr id="20" name="Image 3" descr="preencoded.png"/>
          <p:cNvPicPr>
            <a:picLocks noChangeAspect="1"/>
          </p:cNvPicPr>
          <p:nvPr/>
        </p:nvPicPr>
        <p:blipFill>
          <a:blip r:embed="rId5"/>
          <a:stretch>
            <a:fillRect/>
          </a:stretch>
        </p:blipFill>
        <p:spPr>
          <a:xfrm>
            <a:off x="4654253" y="1907778"/>
            <a:ext cx="348853" cy="285750"/>
          </a:xfrm>
          <a:prstGeom prst="rect">
            <a:avLst/>
          </a:prstGeom>
        </p:spPr>
      </p:pic>
      <p:sp>
        <p:nvSpPr>
          <p:cNvPr id="21" name="Text 15"/>
          <p:cNvSpPr/>
          <p:nvPr/>
        </p:nvSpPr>
        <p:spPr>
          <a:xfrm>
            <a:off x="5136456" y="1907778"/>
            <a:ext cx="266596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Connect computed urgency to the forecast quantity. </a:t>
            </a:r>
            <a:endParaRPr lang="en-US" sz="1425" dirty="0"/>
          </a:p>
        </p:txBody>
      </p:sp>
      <p:sp>
        <p:nvSpPr>
          <p:cNvPr id="22" name="Shape 16"/>
          <p:cNvSpPr/>
          <p:nvPr/>
        </p:nvSpPr>
        <p:spPr>
          <a:xfrm>
            <a:off x="4276725" y="2878733"/>
            <a:ext cx="3600450" cy="755253"/>
          </a:xfrm>
          <a:prstGeom prst="rect">
            <a:avLst/>
          </a:prstGeom>
          <a:solidFill>
            <a:srgbClr val="F4F4F6"/>
          </a:solidFill>
          <a:ln/>
        </p:spPr>
        <p:txBody>
          <a:bodyPr/>
          <a:lstStyle/>
          <a:p>
            <a:endParaRPr lang="fr-FR"/>
          </a:p>
        </p:txBody>
      </p:sp>
      <p:sp>
        <p:nvSpPr>
          <p:cNvPr id="23" name="Text 17"/>
          <p:cNvSpPr/>
          <p:nvPr/>
        </p:nvSpPr>
        <p:spPr>
          <a:xfrm>
            <a:off x="4429125" y="3012083"/>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2</a:t>
            </a:r>
            <a:endParaRPr lang="en-US" sz="1425" dirty="0"/>
          </a:p>
        </p:txBody>
      </p:sp>
      <p:pic>
        <p:nvPicPr>
          <p:cNvPr id="24" name="Image 4" descr="preencoded.png"/>
          <p:cNvPicPr>
            <a:picLocks noChangeAspect="1"/>
          </p:cNvPicPr>
          <p:nvPr/>
        </p:nvPicPr>
        <p:blipFill>
          <a:blip r:embed="rId6"/>
          <a:stretch>
            <a:fillRect/>
          </a:stretch>
        </p:blipFill>
        <p:spPr>
          <a:xfrm>
            <a:off x="4654253" y="3012083"/>
            <a:ext cx="443805" cy="285750"/>
          </a:xfrm>
          <a:prstGeom prst="rect">
            <a:avLst/>
          </a:prstGeom>
        </p:spPr>
      </p:pic>
      <p:sp>
        <p:nvSpPr>
          <p:cNvPr id="25" name="Text 18"/>
          <p:cNvSpPr/>
          <p:nvPr/>
        </p:nvSpPr>
        <p:spPr>
          <a:xfrm>
            <a:off x="5231408" y="3012083"/>
            <a:ext cx="256956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Collect more indicators before calibrating</a:t>
            </a:r>
            <a:endParaRPr lang="en-US" sz="1425" dirty="0"/>
          </a:p>
        </p:txBody>
      </p:sp>
      <p:sp>
        <p:nvSpPr>
          <p:cNvPr id="26" name="Shape 19"/>
          <p:cNvSpPr/>
          <p:nvPr/>
        </p:nvSpPr>
        <p:spPr>
          <a:xfrm>
            <a:off x="4276725" y="3738761"/>
            <a:ext cx="3600450" cy="755253"/>
          </a:xfrm>
          <a:prstGeom prst="rect">
            <a:avLst/>
          </a:prstGeom>
          <a:solidFill>
            <a:srgbClr val="F4F4F6"/>
          </a:solidFill>
          <a:ln/>
        </p:spPr>
        <p:txBody>
          <a:bodyPr/>
          <a:lstStyle/>
          <a:p>
            <a:endParaRPr lang="fr-FR"/>
          </a:p>
        </p:txBody>
      </p:sp>
      <p:sp>
        <p:nvSpPr>
          <p:cNvPr id="27" name="Text 20"/>
          <p:cNvSpPr/>
          <p:nvPr/>
        </p:nvSpPr>
        <p:spPr>
          <a:xfrm>
            <a:off x="4429125" y="3872111"/>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3</a:t>
            </a:r>
            <a:endParaRPr lang="en-US" sz="1425" dirty="0"/>
          </a:p>
        </p:txBody>
      </p:sp>
      <p:pic>
        <p:nvPicPr>
          <p:cNvPr id="28" name="Image 5" descr="preencoded.png"/>
          <p:cNvPicPr>
            <a:picLocks noChangeAspect="1"/>
          </p:cNvPicPr>
          <p:nvPr/>
        </p:nvPicPr>
        <p:blipFill>
          <a:blip r:embed="rId7"/>
          <a:stretch>
            <a:fillRect/>
          </a:stretch>
        </p:blipFill>
        <p:spPr>
          <a:xfrm>
            <a:off x="4654253" y="3872111"/>
            <a:ext cx="225723" cy="285750"/>
          </a:xfrm>
          <a:prstGeom prst="rect">
            <a:avLst/>
          </a:prstGeom>
        </p:spPr>
      </p:pic>
      <p:sp>
        <p:nvSpPr>
          <p:cNvPr id="29" name="Text 21"/>
          <p:cNvSpPr/>
          <p:nvPr/>
        </p:nvSpPr>
        <p:spPr>
          <a:xfrm>
            <a:off x="5013325" y="3872111"/>
            <a:ext cx="2792794"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Make the forecast state its own ignorance; smooth the alarm</a:t>
            </a:r>
            <a:endParaRPr lang="en-US" sz="1425" dirty="0"/>
          </a:p>
        </p:txBody>
      </p:sp>
      <p:sp>
        <p:nvSpPr>
          <p:cNvPr id="30" name="Shape 22"/>
          <p:cNvSpPr/>
          <p:nvPr/>
        </p:nvSpPr>
        <p:spPr>
          <a:xfrm>
            <a:off x="4276725" y="4598789"/>
            <a:ext cx="3600450" cy="755253"/>
          </a:xfrm>
          <a:prstGeom prst="rect">
            <a:avLst/>
          </a:prstGeom>
          <a:solidFill>
            <a:srgbClr val="F4F4F6"/>
          </a:solidFill>
          <a:ln/>
        </p:spPr>
        <p:txBody>
          <a:bodyPr/>
          <a:lstStyle/>
          <a:p>
            <a:endParaRPr lang="fr-FR"/>
          </a:p>
        </p:txBody>
      </p:sp>
      <p:sp>
        <p:nvSpPr>
          <p:cNvPr id="31" name="Text 23"/>
          <p:cNvSpPr/>
          <p:nvPr/>
        </p:nvSpPr>
        <p:spPr>
          <a:xfrm>
            <a:off x="4429125" y="4732139"/>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4</a:t>
            </a:r>
            <a:endParaRPr lang="en-US" sz="1425" dirty="0"/>
          </a:p>
        </p:txBody>
      </p:sp>
      <p:pic>
        <p:nvPicPr>
          <p:cNvPr id="32" name="Image 6" descr="preencoded.png"/>
          <p:cNvPicPr>
            <a:picLocks noChangeAspect="1"/>
          </p:cNvPicPr>
          <p:nvPr/>
        </p:nvPicPr>
        <p:blipFill>
          <a:blip r:embed="rId3"/>
          <a:stretch>
            <a:fillRect/>
          </a:stretch>
        </p:blipFill>
        <p:spPr>
          <a:xfrm>
            <a:off x="4654253" y="4732139"/>
            <a:ext cx="297259" cy="285750"/>
          </a:xfrm>
          <a:prstGeom prst="rect">
            <a:avLst/>
          </a:prstGeom>
        </p:spPr>
      </p:pic>
      <p:sp>
        <p:nvSpPr>
          <p:cNvPr id="33" name="Text 24"/>
          <p:cNvSpPr/>
          <p:nvPr/>
        </p:nvSpPr>
        <p:spPr>
          <a:xfrm>
            <a:off x="5084862" y="4732139"/>
            <a:ext cx="2719111"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Run the campaign with humans, the only run that decides</a:t>
            </a:r>
            <a:endParaRPr lang="en-US" sz="1425" dirty="0"/>
          </a:p>
        </p:txBody>
      </p:sp>
      <p:sp>
        <p:nvSpPr>
          <p:cNvPr id="34" name="Shape 25"/>
          <p:cNvSpPr/>
          <p:nvPr/>
        </p:nvSpPr>
        <p:spPr>
          <a:xfrm>
            <a:off x="8201025" y="1466851"/>
            <a:ext cx="3448050" cy="1737360"/>
          </a:xfrm>
          <a:prstGeom prst="rect">
            <a:avLst/>
          </a:prstGeom>
          <a:solidFill>
            <a:srgbClr val="063C67"/>
          </a:solidFill>
          <a:ln/>
        </p:spPr>
        <p:txBody>
          <a:bodyPr/>
          <a:lstStyle/>
          <a:p>
            <a:endParaRPr lang="fr-FR"/>
          </a:p>
        </p:txBody>
      </p:sp>
      <p:sp>
        <p:nvSpPr>
          <p:cNvPr id="35" name="Text 26"/>
          <p:cNvSpPr/>
          <p:nvPr/>
        </p:nvSpPr>
        <p:spPr>
          <a:xfrm>
            <a:off x="8429625" y="1676400"/>
            <a:ext cx="328993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WHAT NO EXTRA RUN WOULD SETTLE</a:t>
            </a:r>
            <a:endParaRPr lang="en-US" sz="1050" dirty="0"/>
          </a:p>
        </p:txBody>
      </p:sp>
      <p:sp>
        <p:nvSpPr>
          <p:cNvPr id="36" name="Text 27"/>
          <p:cNvSpPr/>
          <p:nvPr/>
        </p:nvSpPr>
        <p:spPr>
          <a:xfrm>
            <a:off x="8429625" y="1965960"/>
            <a:ext cx="3108960" cy="1005840"/>
          </a:xfrm>
          <a:prstGeom prst="rect">
            <a:avLst/>
          </a:prstGeom>
          <a:noFill/>
          <a:ln/>
        </p:spPr>
        <p:txBody>
          <a:bodyPr wrap="square" lIns="25400" tIns="25400" rIns="25400" bIns="25400" rtlCol="0" anchor="t">
            <a:normAutofit fontScale="92500" lnSpcReduction="20000"/>
          </a:bodyPr>
          <a:lstStyle/>
          <a:p>
            <a:pPr marL="0" indent="0" algn="l">
              <a:lnSpc>
                <a:spcPct val="114000"/>
              </a:lnSpc>
              <a:buNone/>
            </a:pPr>
            <a:r>
              <a:rPr lang="en-US" sz="1000" dirty="0">
                <a:solidFill>
                  <a:srgbClr val="7ECBEE"/>
                </a:solidFill>
                <a:latin typeface="Calibri" pitchFamily="34" charset="0"/>
                <a:ea typeface="Calibri" pitchFamily="34" charset="-122"/>
                <a:cs typeface="Calibri" pitchFamily="34" charset="-120"/>
              </a:rPr>
              <a:t>Two scenarios written by one hand cannot separate a property of</a:t>
            </a:r>
          </a:p>
          <a:p>
            <a:pPr marL="0" indent="0" algn="l">
              <a:lnSpc>
                <a:spcPct val="114000"/>
              </a:lnSpc>
              <a:buNone/>
            </a:pPr>
            <a:r>
              <a:rPr lang="en-US" sz="1000" dirty="0">
                <a:solidFill>
                  <a:srgbClr val="7ECBEE"/>
                </a:solidFill>
                <a:latin typeface="Calibri" pitchFamily="34" charset="0"/>
                <a:ea typeface="Calibri" pitchFamily="34" charset="-122"/>
                <a:cs typeface="Calibri" pitchFamily="34" charset="-120"/>
              </a:rPr>
              <a:t>supply chains from a property of their author.</a:t>
            </a:r>
          </a:p>
          <a:p>
            <a:pPr marL="0" indent="0" algn="l">
              <a:lnSpc>
                <a:spcPct val="114000"/>
              </a:lnSpc>
              <a:buNone/>
            </a:pPr>
            <a:r>
              <a:rPr lang="en-US" sz="1000" dirty="0">
                <a:solidFill>
                  <a:srgbClr val="7ECBEE"/>
                </a:solidFill>
                <a:latin typeface="Calibri" pitchFamily="34" charset="0"/>
                <a:ea typeface="Calibri" pitchFamily="34" charset="-122"/>
                <a:cs typeface="Calibri" pitchFamily="34" charset="-120"/>
              </a:rPr>
              <a:t>Only an instrumented live chain reaches that.</a:t>
            </a:r>
          </a:p>
        </p:txBody>
      </p:sp>
      <p:sp>
        <p:nvSpPr>
          <p:cNvPr id="39" name="Text 30"/>
          <p:cNvSpPr/>
          <p:nvPr/>
        </p:nvSpPr>
        <p:spPr>
          <a:xfrm>
            <a:off x="8222342" y="3275424"/>
            <a:ext cx="379285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ESTIA COMPETENCY FRAMEWORK</a:t>
            </a:r>
            <a:endParaRPr lang="en-US" sz="1050" dirty="0"/>
          </a:p>
        </p:txBody>
      </p:sp>
      <p:sp>
        <p:nvSpPr>
          <p:cNvPr id="40" name="Shape 31"/>
          <p:cNvSpPr/>
          <p:nvPr/>
        </p:nvSpPr>
        <p:spPr>
          <a:xfrm>
            <a:off x="8222342" y="3719315"/>
            <a:ext cx="458688" cy="368102"/>
          </a:xfrm>
          <a:prstGeom prst="rect">
            <a:avLst/>
          </a:prstGeom>
          <a:solidFill>
            <a:srgbClr val="E9F5FB"/>
          </a:solidFill>
          <a:ln/>
        </p:spPr>
        <p:txBody>
          <a:bodyPr/>
          <a:lstStyle/>
          <a:p>
            <a:endParaRPr lang="fr-FR"/>
          </a:p>
        </p:txBody>
      </p:sp>
      <p:sp>
        <p:nvSpPr>
          <p:cNvPr id="41" name="Text 32"/>
          <p:cNvSpPr/>
          <p:nvPr/>
        </p:nvSpPr>
        <p:spPr>
          <a:xfrm>
            <a:off x="8346167"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CI1</a:t>
            </a:r>
            <a:endParaRPr lang="en-US" sz="1275" dirty="0"/>
          </a:p>
        </p:txBody>
      </p:sp>
      <p:sp>
        <p:nvSpPr>
          <p:cNvPr id="42" name="Shape 33"/>
          <p:cNvSpPr/>
          <p:nvPr/>
        </p:nvSpPr>
        <p:spPr>
          <a:xfrm>
            <a:off x="8757230" y="3719315"/>
            <a:ext cx="458688" cy="368102"/>
          </a:xfrm>
          <a:prstGeom prst="rect">
            <a:avLst/>
          </a:prstGeom>
          <a:solidFill>
            <a:srgbClr val="E9F5FB"/>
          </a:solidFill>
          <a:ln/>
        </p:spPr>
        <p:txBody>
          <a:bodyPr/>
          <a:lstStyle/>
          <a:p>
            <a:endParaRPr lang="fr-FR"/>
          </a:p>
        </p:txBody>
      </p:sp>
      <p:sp>
        <p:nvSpPr>
          <p:cNvPr id="43" name="Text 34"/>
          <p:cNvSpPr/>
          <p:nvPr/>
        </p:nvSpPr>
        <p:spPr>
          <a:xfrm>
            <a:off x="8881055"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CI3</a:t>
            </a:r>
            <a:endParaRPr lang="en-US" sz="1275" dirty="0"/>
          </a:p>
        </p:txBody>
      </p:sp>
      <p:sp>
        <p:nvSpPr>
          <p:cNvPr id="44" name="Shape 35"/>
          <p:cNvSpPr/>
          <p:nvPr/>
        </p:nvSpPr>
        <p:spPr>
          <a:xfrm>
            <a:off x="9292119" y="3719315"/>
            <a:ext cx="458688" cy="368102"/>
          </a:xfrm>
          <a:prstGeom prst="rect">
            <a:avLst/>
          </a:prstGeom>
          <a:solidFill>
            <a:srgbClr val="E9F5FB"/>
          </a:solidFill>
          <a:ln/>
        </p:spPr>
        <p:txBody>
          <a:bodyPr/>
          <a:lstStyle/>
          <a:p>
            <a:endParaRPr lang="fr-FR"/>
          </a:p>
        </p:txBody>
      </p:sp>
      <p:sp>
        <p:nvSpPr>
          <p:cNvPr id="45" name="Text 36"/>
          <p:cNvSpPr/>
          <p:nvPr/>
        </p:nvSpPr>
        <p:spPr>
          <a:xfrm>
            <a:off x="9415944" y="3785990"/>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CI5</a:t>
            </a:r>
            <a:endParaRPr lang="en-US" sz="1275" dirty="0"/>
          </a:p>
        </p:txBody>
      </p:sp>
      <p:sp>
        <p:nvSpPr>
          <p:cNvPr id="46" name="Shape 37"/>
          <p:cNvSpPr/>
          <p:nvPr/>
        </p:nvSpPr>
        <p:spPr>
          <a:xfrm>
            <a:off x="9827007" y="3719315"/>
            <a:ext cx="494506" cy="368102"/>
          </a:xfrm>
          <a:prstGeom prst="rect">
            <a:avLst/>
          </a:prstGeom>
          <a:solidFill>
            <a:srgbClr val="E9F5FB"/>
          </a:solidFill>
          <a:ln/>
        </p:spPr>
        <p:txBody>
          <a:bodyPr/>
          <a:lstStyle/>
          <a:p>
            <a:endParaRPr lang="fr-FR"/>
          </a:p>
        </p:txBody>
      </p:sp>
      <p:sp>
        <p:nvSpPr>
          <p:cNvPr id="47" name="Text 38"/>
          <p:cNvSpPr/>
          <p:nvPr/>
        </p:nvSpPr>
        <p:spPr>
          <a:xfrm>
            <a:off x="9950832"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CE3</a:t>
            </a:r>
            <a:endParaRPr lang="en-US" sz="1275" dirty="0"/>
          </a:p>
        </p:txBody>
      </p:sp>
      <p:sp>
        <p:nvSpPr>
          <p:cNvPr id="48" name="Shape 39"/>
          <p:cNvSpPr/>
          <p:nvPr/>
        </p:nvSpPr>
        <p:spPr>
          <a:xfrm>
            <a:off x="10397714" y="3719315"/>
            <a:ext cx="494506" cy="368102"/>
          </a:xfrm>
          <a:prstGeom prst="rect">
            <a:avLst/>
          </a:prstGeom>
          <a:solidFill>
            <a:srgbClr val="E9F5FB"/>
          </a:solidFill>
          <a:ln/>
        </p:spPr>
        <p:txBody>
          <a:bodyPr/>
          <a:lstStyle/>
          <a:p>
            <a:endParaRPr lang="fr-FR"/>
          </a:p>
        </p:txBody>
      </p:sp>
      <p:sp>
        <p:nvSpPr>
          <p:cNvPr id="49" name="Text 40"/>
          <p:cNvSpPr/>
          <p:nvPr/>
        </p:nvSpPr>
        <p:spPr>
          <a:xfrm>
            <a:off x="10521539"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CE4</a:t>
            </a:r>
            <a:endParaRPr lang="en-US" sz="1275" dirty="0"/>
          </a:p>
        </p:txBody>
      </p:sp>
      <p:sp>
        <p:nvSpPr>
          <p:cNvPr id="50" name="Shape 41"/>
          <p:cNvSpPr/>
          <p:nvPr/>
        </p:nvSpPr>
        <p:spPr>
          <a:xfrm>
            <a:off x="10968420" y="3719315"/>
            <a:ext cx="494506" cy="368102"/>
          </a:xfrm>
          <a:prstGeom prst="rect">
            <a:avLst/>
          </a:prstGeom>
          <a:solidFill>
            <a:srgbClr val="E9F5FB"/>
          </a:solidFill>
          <a:ln/>
        </p:spPr>
        <p:txBody>
          <a:bodyPr/>
          <a:lstStyle/>
          <a:p>
            <a:endParaRPr lang="fr-FR"/>
          </a:p>
        </p:txBody>
      </p:sp>
      <p:sp>
        <p:nvSpPr>
          <p:cNvPr id="51" name="Text 42"/>
          <p:cNvSpPr/>
          <p:nvPr/>
        </p:nvSpPr>
        <p:spPr>
          <a:xfrm>
            <a:off x="11092245" y="3785990"/>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CE5</a:t>
            </a:r>
            <a:endParaRPr lang="en-US" sz="1275" dirty="0"/>
          </a:p>
        </p:txBody>
      </p:sp>
      <p:sp>
        <p:nvSpPr>
          <p:cNvPr id="52" name="Shape 43"/>
          <p:cNvSpPr/>
          <p:nvPr/>
        </p:nvSpPr>
        <p:spPr>
          <a:xfrm>
            <a:off x="8222342" y="4163616"/>
            <a:ext cx="570607" cy="368102"/>
          </a:xfrm>
          <a:prstGeom prst="rect">
            <a:avLst/>
          </a:prstGeom>
          <a:solidFill>
            <a:srgbClr val="E9F5FB"/>
          </a:solidFill>
          <a:ln/>
        </p:spPr>
        <p:txBody>
          <a:bodyPr/>
          <a:lstStyle/>
          <a:p>
            <a:endParaRPr lang="fr-FR"/>
          </a:p>
        </p:txBody>
      </p:sp>
      <p:sp>
        <p:nvSpPr>
          <p:cNvPr id="53" name="Text 44"/>
          <p:cNvSpPr/>
          <p:nvPr/>
        </p:nvSpPr>
        <p:spPr>
          <a:xfrm>
            <a:off x="8346167"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CST1</a:t>
            </a:r>
            <a:endParaRPr lang="en-US" sz="1275" dirty="0"/>
          </a:p>
        </p:txBody>
      </p:sp>
      <p:sp>
        <p:nvSpPr>
          <p:cNvPr id="54" name="Shape 45"/>
          <p:cNvSpPr/>
          <p:nvPr/>
        </p:nvSpPr>
        <p:spPr>
          <a:xfrm>
            <a:off x="8869149" y="4163616"/>
            <a:ext cx="570607" cy="368102"/>
          </a:xfrm>
          <a:prstGeom prst="rect">
            <a:avLst/>
          </a:prstGeom>
          <a:solidFill>
            <a:srgbClr val="E9F5FB"/>
          </a:solidFill>
          <a:ln/>
        </p:spPr>
        <p:txBody>
          <a:bodyPr/>
          <a:lstStyle/>
          <a:p>
            <a:endParaRPr lang="fr-FR"/>
          </a:p>
        </p:txBody>
      </p:sp>
      <p:sp>
        <p:nvSpPr>
          <p:cNvPr id="55" name="Text 46"/>
          <p:cNvSpPr/>
          <p:nvPr/>
        </p:nvSpPr>
        <p:spPr>
          <a:xfrm>
            <a:off x="8992974"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CST2</a:t>
            </a:r>
            <a:endParaRPr lang="en-US" sz="1275" dirty="0"/>
          </a:p>
        </p:txBody>
      </p:sp>
      <p:sp>
        <p:nvSpPr>
          <p:cNvPr id="56" name="Shape 47"/>
          <p:cNvSpPr/>
          <p:nvPr/>
        </p:nvSpPr>
        <p:spPr>
          <a:xfrm>
            <a:off x="9515956" y="4163616"/>
            <a:ext cx="570607" cy="368102"/>
          </a:xfrm>
          <a:prstGeom prst="rect">
            <a:avLst/>
          </a:prstGeom>
          <a:solidFill>
            <a:srgbClr val="E9F5FB"/>
          </a:solidFill>
          <a:ln/>
        </p:spPr>
        <p:txBody>
          <a:bodyPr/>
          <a:lstStyle/>
          <a:p>
            <a:endParaRPr lang="fr-FR"/>
          </a:p>
        </p:txBody>
      </p:sp>
      <p:sp>
        <p:nvSpPr>
          <p:cNvPr id="57" name="Text 48"/>
          <p:cNvSpPr/>
          <p:nvPr/>
        </p:nvSpPr>
        <p:spPr>
          <a:xfrm>
            <a:off x="9639781" y="4230291"/>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CST7</a:t>
            </a:r>
            <a:endParaRPr lang="en-US" sz="1275" dirty="0"/>
          </a:p>
        </p:txBody>
      </p:sp>
      <p:pic>
        <p:nvPicPr>
          <p:cNvPr id="59" name="Image 7" descr="preencoded.png"/>
          <p:cNvPicPr>
            <a:picLocks noChangeAspect="1"/>
          </p:cNvPicPr>
          <p:nvPr/>
        </p:nvPicPr>
        <p:blipFill>
          <a:blip r:embed="rId8"/>
          <a:stretch>
            <a:fillRect/>
          </a:stretch>
        </p:blipFill>
        <p:spPr>
          <a:xfrm>
            <a:off x="11229975" y="6567488"/>
            <a:ext cx="714375" cy="71438"/>
          </a:xfrm>
          <a:prstGeom prst="rect">
            <a:avLst/>
          </a:prstGeom>
        </p:spPr>
      </p:pic>
      <p:sp>
        <p:nvSpPr>
          <p:cNvPr id="60" name="TextBox 59"/>
          <p:cNvSpPr txBox="1"/>
          <p:nvPr/>
        </p:nvSpPr>
        <p:spPr>
          <a:xfrm>
            <a:off x="502920" y="3145536"/>
            <a:ext cx="3383280" cy="457200"/>
          </a:xfrm>
          <a:prstGeom prst="rect">
            <a:avLst/>
          </a:prstGeom>
          <a:noFill/>
        </p:spPr>
        <p:txBody>
          <a:bodyPr wrap="square" lIns="25400" rIns="25400" tIns="25400" bIns="25400" anchor="t">
            <a:spAutoFit/>
          </a:bodyPr>
          <a:lstStyle/>
          <a:p>
            <a:pPr algn="l"/>
            <a:r>
              <a:rPr sz="1050" b="0">
                <a:solidFill>
                  <a:srgbClr val="063C67"/>
                </a:solidFill>
                <a:latin typeface="Arial"/>
              </a:rPr>
              <a:t>The campaign ran at 25.6% indicator coverage, three blocks of six inert</a:t>
            </a:r>
          </a:p>
        </p:txBody>
      </p:sp>
      <p:sp>
        <p:nvSpPr>
          <p:cNvPr id="61" name="TextBox 60"/>
          <p:cNvSpPr txBox="1"/>
          <p:nvPr/>
        </p:nvSpPr>
        <p:spPr>
          <a:xfrm>
            <a:off x="502920" y="3803904"/>
            <a:ext cx="3383280" cy="457200"/>
          </a:xfrm>
          <a:prstGeom prst="rect">
            <a:avLst/>
          </a:prstGeom>
          <a:noFill/>
        </p:spPr>
        <p:txBody>
          <a:bodyPr wrap="square" lIns="25400" rIns="25400" tIns="25400" bIns="25400" anchor="t">
            <a:spAutoFit/>
          </a:bodyPr>
          <a:lstStyle/>
          <a:p>
            <a:pPr algn="l"/>
            <a:r>
              <a:rPr sz="1050" b="0">
                <a:solidFill>
                  <a:srgbClr val="063C67"/>
                </a:solidFill>
                <a:latin typeface="Arial"/>
              </a:rPr>
              <a:t>Blocks are assumed independent, and two were perfectly correlated on one run</a:t>
            </a:r>
          </a:p>
        </p:txBody>
      </p:sp>
      <p:sp>
        <p:nvSpPr>
          <p:cNvPr id="62" name="Rectangle 61"/>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64" name="Rectangle 63"/>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66" name="Rectangle 65"/>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68" name="Rectangle 67"/>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70" name="Rectangle 69"/>
          <p:cNvSpPr/>
          <p:nvPr/>
        </p:nvSpPr>
        <p:spPr>
          <a:xfrm>
            <a:off x="11576303"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5</a:t>
            </a:r>
          </a:p>
        </p:txBody>
      </p:sp>
      <p:sp>
        <p:nvSpPr>
          <p:cNvPr id="72" name="TextBox 71"/>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23</a:t>
            </a:r>
          </a:p>
        </p:txBody>
      </p:sp>
      <p:sp>
        <p:nvSpPr>
          <p:cNvPr id="75" name="Rectangle 74"/>
          <p:cNvSpPr/>
          <p:nvPr/>
        </p:nvSpPr>
        <p:spPr>
          <a:xfrm>
            <a:off x="356616" y="5468112"/>
            <a:ext cx="11475720" cy="1005840"/>
          </a:xfrm>
          <a:prstGeom prst="rect">
            <a:avLst/>
          </a:prstGeom>
          <a:solidFill>
            <a:srgbClr val="063C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566928" y="5522976"/>
            <a:ext cx="11064240" cy="219456"/>
          </a:xfrm>
          <a:prstGeom prst="rect">
            <a:avLst/>
          </a:prstGeom>
          <a:noFill/>
        </p:spPr>
        <p:txBody>
          <a:bodyPr wrap="square" lIns="25400" rIns="25400" tIns="25400" bIns="25400" anchor="t">
            <a:spAutoFit/>
          </a:bodyPr>
          <a:lstStyle/>
          <a:p>
            <a:pPr algn="l"/>
            <a:r>
              <a:rPr sz="950" b="1" spc="140">
                <a:solidFill>
                  <a:srgbClr val="FFDA65"/>
                </a:solidFill>
                <a:latin typeface="Arial"/>
              </a:rPr>
              <a:t>WHAT STAYS AT ALTEN</a:t>
            </a:r>
          </a:p>
        </p:txBody>
      </p:sp>
      <p:sp>
        <p:nvSpPr>
          <p:cNvPr id="77" name="TextBox 76"/>
          <p:cNvSpPr txBox="1"/>
          <p:nvPr/>
        </p:nvSpPr>
        <p:spPr>
          <a:xfrm>
            <a:off x="566928" y="5742432"/>
            <a:ext cx="2697480" cy="219456"/>
          </a:xfrm>
          <a:prstGeom prst="rect">
            <a:avLst/>
          </a:prstGeom>
          <a:noFill/>
        </p:spPr>
        <p:txBody>
          <a:bodyPr wrap="square" lIns="25400" rIns="25400" tIns="25400" bIns="25400" anchor="t">
            <a:spAutoFit/>
          </a:bodyPr>
          <a:lstStyle/>
          <a:p>
            <a:pPr algn="l"/>
            <a:r>
              <a:rPr sz="1100" b="1">
                <a:solidFill>
                  <a:srgbClr val="FFFFFF"/>
                </a:solidFill>
                <a:latin typeface="Arial Black"/>
              </a:rPr>
              <a:t>SupplyScore</a:t>
            </a:r>
          </a:p>
        </p:txBody>
      </p:sp>
      <p:sp>
        <p:nvSpPr>
          <p:cNvPr id="78" name="TextBox 77"/>
          <p:cNvSpPr txBox="1"/>
          <p:nvPr/>
        </p:nvSpPr>
        <p:spPr>
          <a:xfrm>
            <a:off x="566928" y="5961888"/>
            <a:ext cx="2697480" cy="457200"/>
          </a:xfrm>
          <a:prstGeom prst="rect">
            <a:avLst/>
          </a:prstGeom>
          <a:noFill/>
        </p:spPr>
        <p:txBody>
          <a:bodyPr wrap="square" lIns="25400" rIns="25400" tIns="25400" bIns="25400" anchor="t">
            <a:spAutoFit/>
          </a:bodyPr>
          <a:lstStyle/>
          <a:p>
            <a:pPr algn="l"/>
            <a:r>
              <a:rPr sz="900" b="0">
                <a:solidFill>
                  <a:srgbClr val="7ECBEE"/>
                </a:solidFill>
                <a:latin typeface="Arial"/>
              </a:rPr>
              <a:t>73 modules, 2044 tests, documented, handed over running</a:t>
            </a:r>
          </a:p>
        </p:txBody>
      </p:sp>
      <p:sp>
        <p:nvSpPr>
          <p:cNvPr id="79" name="TextBox 78"/>
          <p:cNvSpPr txBox="1"/>
          <p:nvPr/>
        </p:nvSpPr>
        <p:spPr>
          <a:xfrm>
            <a:off x="3392424" y="5742432"/>
            <a:ext cx="2697480" cy="219456"/>
          </a:xfrm>
          <a:prstGeom prst="rect">
            <a:avLst/>
          </a:prstGeom>
          <a:noFill/>
        </p:spPr>
        <p:txBody>
          <a:bodyPr wrap="square" lIns="25400" rIns="25400" tIns="25400" bIns="25400" anchor="t">
            <a:spAutoFit/>
          </a:bodyPr>
          <a:lstStyle/>
          <a:p>
            <a:pPr algn="l"/>
            <a:r>
              <a:rPr sz="1100" b="1">
                <a:solidFill>
                  <a:srgbClr val="FFFFFF"/>
                </a:solidFill>
                <a:latin typeface="Arial Black"/>
              </a:rPr>
              <a:t>Two frozen scenarios</a:t>
            </a:r>
          </a:p>
        </p:txBody>
      </p:sp>
      <p:sp>
        <p:nvSpPr>
          <p:cNvPr id="80" name="TextBox 79"/>
          <p:cNvSpPr txBox="1"/>
          <p:nvPr/>
        </p:nvSpPr>
        <p:spPr>
          <a:xfrm>
            <a:off x="3392424" y="5961888"/>
            <a:ext cx="2697480" cy="457200"/>
          </a:xfrm>
          <a:prstGeom prst="rect">
            <a:avLst/>
          </a:prstGeom>
          <a:noFill/>
        </p:spPr>
        <p:txBody>
          <a:bodyPr wrap="square" lIns="25400" rIns="25400" tIns="25400" bIns="25400" anchor="t">
            <a:spAutoFit/>
          </a:bodyPr>
          <a:lstStyle/>
          <a:p>
            <a:pPr algn="l"/>
            <a:r>
              <a:rPr sz="900" b="0">
                <a:solidFill>
                  <a:srgbClr val="7ECBEE"/>
                </a:solidFill>
                <a:latin typeface="Arial"/>
              </a:rPr>
              <a:t>and the full declaration record of every campaign</a:t>
            </a:r>
          </a:p>
        </p:txBody>
      </p:sp>
      <p:sp>
        <p:nvSpPr>
          <p:cNvPr id="81" name="TextBox 80"/>
          <p:cNvSpPr txBox="1"/>
          <p:nvPr/>
        </p:nvSpPr>
        <p:spPr>
          <a:xfrm>
            <a:off x="6217920" y="5742432"/>
            <a:ext cx="2697480" cy="219456"/>
          </a:xfrm>
          <a:prstGeom prst="rect">
            <a:avLst/>
          </a:prstGeom>
          <a:noFill/>
        </p:spPr>
        <p:txBody>
          <a:bodyPr wrap="square" lIns="25400" rIns="25400" tIns="25400" bIns="25400" anchor="t">
            <a:spAutoFit/>
          </a:bodyPr>
          <a:lstStyle/>
          <a:p>
            <a:pPr algn="l"/>
            <a:r>
              <a:rPr sz="1100" b="1">
                <a:solidFill>
                  <a:srgbClr val="FFFFFF"/>
                </a:solidFill>
                <a:latin typeface="Arial Black"/>
              </a:rPr>
              <a:t>The diagnostic method</a:t>
            </a:r>
          </a:p>
        </p:txBody>
      </p:sp>
      <p:sp>
        <p:nvSpPr>
          <p:cNvPr id="82" name="TextBox 81"/>
          <p:cNvSpPr txBox="1"/>
          <p:nvPr/>
        </p:nvSpPr>
        <p:spPr>
          <a:xfrm>
            <a:off x="6217920" y="5961888"/>
            <a:ext cx="2697480" cy="457200"/>
          </a:xfrm>
          <a:prstGeom prst="rect">
            <a:avLst/>
          </a:prstGeom>
          <a:noFill/>
        </p:spPr>
        <p:txBody>
          <a:bodyPr wrap="square" lIns="25400" rIns="25400" tIns="25400" bIns="25400" anchor="t">
            <a:spAutoFit/>
          </a:bodyPr>
          <a:lstStyle/>
          <a:p>
            <a:pPr algn="l"/>
            <a:r>
              <a:rPr sz="900" b="0">
                <a:solidFill>
                  <a:srgbClr val="7ECBEE"/>
                </a:solidFill>
                <a:latin typeface="Arial"/>
              </a:rPr>
              <a:t>how the blind block was found, and the repair scored</a:t>
            </a:r>
          </a:p>
        </p:txBody>
      </p:sp>
      <p:sp>
        <p:nvSpPr>
          <p:cNvPr id="83" name="TextBox 82"/>
          <p:cNvSpPr txBox="1"/>
          <p:nvPr/>
        </p:nvSpPr>
        <p:spPr>
          <a:xfrm>
            <a:off x="9043415" y="5742432"/>
            <a:ext cx="2697480" cy="219456"/>
          </a:xfrm>
          <a:prstGeom prst="rect">
            <a:avLst/>
          </a:prstGeom>
          <a:noFill/>
        </p:spPr>
        <p:txBody>
          <a:bodyPr wrap="square" lIns="25400" rIns="25400" tIns="25400" bIns="25400" anchor="t">
            <a:spAutoFit/>
          </a:bodyPr>
          <a:lstStyle/>
          <a:p>
            <a:pPr algn="l"/>
            <a:r>
              <a:rPr sz="1100" b="1">
                <a:solidFill>
                  <a:srgbClr val="FFFFFF"/>
                </a:solidFill>
                <a:latin typeface="Arial Black"/>
              </a:rPr>
              <a:t>A registered protocol</a:t>
            </a:r>
          </a:p>
        </p:txBody>
      </p:sp>
      <p:sp>
        <p:nvSpPr>
          <p:cNvPr id="84" name="TextBox 83"/>
          <p:cNvSpPr txBox="1"/>
          <p:nvPr/>
        </p:nvSpPr>
        <p:spPr>
          <a:xfrm>
            <a:off x="9043415" y="5961888"/>
            <a:ext cx="2697480" cy="457200"/>
          </a:xfrm>
          <a:prstGeom prst="rect">
            <a:avLst/>
          </a:prstGeom>
          <a:noFill/>
        </p:spPr>
        <p:txBody>
          <a:bodyPr wrap="square" lIns="25400" rIns="25400" tIns="25400" bIns="25400" anchor="t">
            <a:spAutoFit/>
          </a:bodyPr>
          <a:lstStyle/>
          <a:p>
            <a:pPr algn="l"/>
            <a:r>
              <a:rPr sz="900" b="0">
                <a:solidFill>
                  <a:srgbClr val="7ECBEE"/>
                </a:solidFill>
                <a:latin typeface="Arial"/>
              </a:rPr>
              <a:t>for the human campaign, ready to run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060704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WHAT I TAKE FROM IT</a:t>
            </a:r>
            <a:endParaRPr lang="en-US" sz="3225" dirty="0"/>
          </a:p>
        </p:txBody>
      </p:sp>
      <p:sp>
        <p:nvSpPr>
          <p:cNvPr id="4" name="Text 2"/>
          <p:cNvSpPr/>
          <p:nvPr/>
        </p:nvSpPr>
        <p:spPr>
          <a:xfrm>
            <a:off x="352425" y="666750"/>
            <a:ext cx="10607040"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Three lessons, and the direction they point</a:t>
            </a:r>
            <a:endParaRPr lang="en-US" sz="1725" dirty="0"/>
          </a:p>
        </p:txBody>
      </p:sp>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7" name="Rectangle 6"/>
          <p:cNvSpPr/>
          <p:nvPr/>
        </p:nvSpPr>
        <p:spPr>
          <a:xfrm>
            <a:off x="356616" y="1298448"/>
            <a:ext cx="3630168" cy="45720"/>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56616" y="1344168"/>
            <a:ext cx="3630168" cy="301752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9496" y="1426464"/>
            <a:ext cx="365760" cy="310896"/>
          </a:xfrm>
          <a:prstGeom prst="rect">
            <a:avLst/>
          </a:prstGeom>
          <a:noFill/>
        </p:spPr>
        <p:txBody>
          <a:bodyPr wrap="square" lIns="25400" rIns="25400" tIns="25400" bIns="25400" anchor="t">
            <a:spAutoFit/>
          </a:bodyPr>
          <a:lstStyle/>
          <a:p>
            <a:pPr algn="l"/>
            <a:r>
              <a:rPr sz="1700" b="1">
                <a:solidFill>
                  <a:srgbClr val="1D93C9"/>
                </a:solidFill>
                <a:latin typeface="Arial Black"/>
              </a:rPr>
              <a:t>1</a:t>
            </a:r>
          </a:p>
        </p:txBody>
      </p:sp>
      <p:sp>
        <p:nvSpPr>
          <p:cNvPr id="10" name="TextBox 9"/>
          <p:cNvSpPr txBox="1"/>
          <p:nvPr/>
        </p:nvSpPr>
        <p:spPr>
          <a:xfrm>
            <a:off x="539496" y="1755648"/>
            <a:ext cx="3291840" cy="512064"/>
          </a:xfrm>
          <a:prstGeom prst="rect">
            <a:avLst/>
          </a:prstGeom>
          <a:noFill/>
        </p:spPr>
        <p:txBody>
          <a:bodyPr wrap="square" lIns="25400" rIns="25400" tIns="25400" bIns="25400" anchor="t">
            <a:spAutoFit/>
          </a:bodyPr>
          <a:lstStyle/>
          <a:p>
            <a:pPr algn="l"/>
            <a:r>
              <a:rPr sz="1200" b="1">
                <a:solidFill>
                  <a:srgbClr val="043962"/>
                </a:solidFill>
                <a:latin typeface="Arial Black"/>
              </a:rPr>
              <a:t>THE SYSTEM KEPT MEASURING ITSELF</a:t>
            </a:r>
          </a:p>
        </p:txBody>
      </p:sp>
      <p:sp>
        <p:nvSpPr>
          <p:cNvPr id="11" name="TextBox 10"/>
          <p:cNvSpPr txBox="1"/>
          <p:nvPr/>
        </p:nvSpPr>
        <p:spPr>
          <a:xfrm>
            <a:off x="539496" y="2304288"/>
            <a:ext cx="3310128" cy="1920240"/>
          </a:xfrm>
          <a:prstGeom prst="rect">
            <a:avLst/>
          </a:prstGeom>
          <a:noFill/>
        </p:spPr>
        <p:txBody>
          <a:bodyPr wrap="square" lIns="25400" rIns="25400" tIns="25400" bIns="25400" anchor="t">
            <a:spAutoFit/>
          </a:bodyPr>
          <a:lstStyle/>
          <a:p>
            <a:pPr algn="l"/>
            <a:r>
              <a:rPr sz="950" b="0">
                <a:solidFill>
                  <a:srgbClr val="063C67"/>
                </a:solidFill>
                <a:latin typeface="Arial"/>
              </a:rPr>
              <a:t>Three times the two signals were not independent: the dry run anchored the declaration on the computed value, the agents reproduced their own briefing, and arm B closed the loop on purpose. Each time the symptom looked like a modelling problem and the cause was circularity. I would now design the independence of the two signals before designing either of them.</a:t>
            </a:r>
          </a:p>
        </p:txBody>
      </p:sp>
      <p:sp>
        <p:nvSpPr>
          <p:cNvPr id="12" name="Rectangle 11"/>
          <p:cNvSpPr/>
          <p:nvPr/>
        </p:nvSpPr>
        <p:spPr>
          <a:xfrm>
            <a:off x="4187952" y="1298448"/>
            <a:ext cx="3630168" cy="45720"/>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187952" y="1344168"/>
            <a:ext cx="3630168" cy="301752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70832" y="1426464"/>
            <a:ext cx="365760" cy="310896"/>
          </a:xfrm>
          <a:prstGeom prst="rect">
            <a:avLst/>
          </a:prstGeom>
          <a:noFill/>
        </p:spPr>
        <p:txBody>
          <a:bodyPr wrap="square" lIns="25400" rIns="25400" tIns="25400" bIns="25400" anchor="t">
            <a:spAutoFit/>
          </a:bodyPr>
          <a:lstStyle/>
          <a:p>
            <a:pPr algn="l"/>
            <a:r>
              <a:rPr sz="1700" b="1">
                <a:solidFill>
                  <a:srgbClr val="1D93C9"/>
                </a:solidFill>
                <a:latin typeface="Arial Black"/>
              </a:rPr>
              <a:t>2</a:t>
            </a:r>
          </a:p>
        </p:txBody>
      </p:sp>
      <p:sp>
        <p:nvSpPr>
          <p:cNvPr id="15" name="TextBox 14"/>
          <p:cNvSpPr txBox="1"/>
          <p:nvPr/>
        </p:nvSpPr>
        <p:spPr>
          <a:xfrm>
            <a:off x="4370832" y="1755648"/>
            <a:ext cx="3291840" cy="512064"/>
          </a:xfrm>
          <a:prstGeom prst="rect">
            <a:avLst/>
          </a:prstGeom>
          <a:noFill/>
        </p:spPr>
        <p:txBody>
          <a:bodyPr wrap="square" lIns="25400" rIns="25400" tIns="25400" bIns="25400" anchor="t">
            <a:spAutoFit/>
          </a:bodyPr>
          <a:lstStyle/>
          <a:p>
            <a:pPr algn="l"/>
            <a:r>
              <a:rPr sz="1200" b="1">
                <a:solidFill>
                  <a:srgbClr val="043962"/>
                </a:solidFill>
                <a:latin typeface="Arial Black"/>
              </a:rPr>
              <a:t>THE NEGATIVE RESULTS WERE THE USEFUL ONES</a:t>
            </a:r>
          </a:p>
        </p:txBody>
      </p:sp>
      <p:sp>
        <p:nvSpPr>
          <p:cNvPr id="16" name="TextBox 15"/>
          <p:cNvSpPr txBox="1"/>
          <p:nvPr/>
        </p:nvSpPr>
        <p:spPr>
          <a:xfrm>
            <a:off x="4370832" y="2304288"/>
            <a:ext cx="3310128" cy="1920240"/>
          </a:xfrm>
          <a:prstGeom prst="rect">
            <a:avLst/>
          </a:prstGeom>
          <a:noFill/>
        </p:spPr>
        <p:txBody>
          <a:bodyPr wrap="square" lIns="25400" rIns="25400" tIns="25400" bIns="25400" anchor="t">
            <a:spAutoFit/>
          </a:bodyPr>
          <a:lstStyle/>
          <a:p>
            <a:pPr algn="l"/>
            <a:r>
              <a:rPr sz="950" b="0">
                <a:solidFill>
                  <a:srgbClr val="063C67"/>
                </a:solidFill>
                <a:latin typeface="Arial"/>
              </a:rPr>
              <a:t>The forecast is badly calibrated, the confident tail is entirely false, and one block was structurally blind. None of that would have been found by a project optimising for a positive result, and each of them points at a named repair. A confident self-report is not evidence, including my own.</a:t>
            </a:r>
          </a:p>
        </p:txBody>
      </p:sp>
      <p:sp>
        <p:nvSpPr>
          <p:cNvPr id="17" name="Rectangle 16"/>
          <p:cNvSpPr/>
          <p:nvPr/>
        </p:nvSpPr>
        <p:spPr>
          <a:xfrm>
            <a:off x="8019288" y="1298448"/>
            <a:ext cx="3630168" cy="45720"/>
          </a:xfrm>
          <a:prstGeom prst="rect">
            <a:avLst/>
          </a:prstGeom>
          <a:solidFill>
            <a:srgbClr val="1D93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19288" y="1344168"/>
            <a:ext cx="3630168" cy="301752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02168" y="1426464"/>
            <a:ext cx="365760" cy="310896"/>
          </a:xfrm>
          <a:prstGeom prst="rect">
            <a:avLst/>
          </a:prstGeom>
          <a:noFill/>
        </p:spPr>
        <p:txBody>
          <a:bodyPr wrap="square" lIns="25400" rIns="25400" tIns="25400" bIns="25400" anchor="t">
            <a:spAutoFit/>
          </a:bodyPr>
          <a:lstStyle/>
          <a:p>
            <a:pPr algn="l"/>
            <a:r>
              <a:rPr sz="1700" b="1">
                <a:solidFill>
                  <a:srgbClr val="1D93C9"/>
                </a:solidFill>
                <a:latin typeface="Arial Black"/>
              </a:rPr>
              <a:t>3</a:t>
            </a:r>
          </a:p>
        </p:txBody>
      </p:sp>
      <p:sp>
        <p:nvSpPr>
          <p:cNvPr id="20" name="TextBox 19"/>
          <p:cNvSpPr txBox="1"/>
          <p:nvPr/>
        </p:nvSpPr>
        <p:spPr>
          <a:xfrm>
            <a:off x="8202168" y="1755648"/>
            <a:ext cx="3291840" cy="512064"/>
          </a:xfrm>
          <a:prstGeom prst="rect">
            <a:avLst/>
          </a:prstGeom>
          <a:noFill/>
        </p:spPr>
        <p:txBody>
          <a:bodyPr wrap="square" lIns="25400" rIns="25400" tIns="25400" bIns="25400" anchor="t">
            <a:spAutoFit/>
          </a:bodyPr>
          <a:lstStyle/>
          <a:p>
            <a:pPr algn="l"/>
            <a:r>
              <a:rPr sz="1200" b="1">
                <a:solidFill>
                  <a:srgbClr val="043962"/>
                </a:solidFill>
                <a:latin typeface="Arial Black"/>
              </a:rPr>
              <a:t>STATE THE RESULT THAT DOES NOT FLATTER THE WORK</a:t>
            </a:r>
          </a:p>
        </p:txBody>
      </p:sp>
      <p:sp>
        <p:nvSpPr>
          <p:cNvPr id="21" name="TextBox 20"/>
          <p:cNvSpPr txBox="1"/>
          <p:nvPr/>
        </p:nvSpPr>
        <p:spPr>
          <a:xfrm>
            <a:off x="8202168" y="2304288"/>
            <a:ext cx="3310128" cy="1920240"/>
          </a:xfrm>
          <a:prstGeom prst="rect">
            <a:avLst/>
          </a:prstGeom>
          <a:noFill/>
        </p:spPr>
        <p:txBody>
          <a:bodyPr wrap="square" lIns="25400" rIns="25400" tIns="25400" bIns="25400" anchor="t">
            <a:spAutoFit/>
          </a:bodyPr>
          <a:lstStyle/>
          <a:p>
            <a:pPr algn="l"/>
            <a:r>
              <a:rPr sz="950" b="0">
                <a:solidFill>
                  <a:srgbClr val="063C67"/>
                </a:solidFill>
                <a:latin typeface="Arial"/>
              </a:rPr>
              <a:t>This project measures the gap between what people declare and what is actually true. Measuring that gap in a supply chain while reproducing it in my own reporting would have been the worst available outcome.</a:t>
            </a:r>
          </a:p>
        </p:txBody>
      </p:sp>
      <p:sp>
        <p:nvSpPr>
          <p:cNvPr id="22" name="Rectangle 21"/>
          <p:cNvSpPr/>
          <p:nvPr/>
        </p:nvSpPr>
        <p:spPr>
          <a:xfrm>
            <a:off x="356616" y="4626864"/>
            <a:ext cx="11475720" cy="841248"/>
          </a:xfrm>
          <a:prstGeom prst="rect">
            <a:avLst/>
          </a:prstGeom>
          <a:solidFill>
            <a:srgbClr val="063C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4700016"/>
            <a:ext cx="11064240" cy="237744"/>
          </a:xfrm>
          <a:prstGeom prst="rect">
            <a:avLst/>
          </a:prstGeom>
          <a:noFill/>
        </p:spPr>
        <p:txBody>
          <a:bodyPr wrap="square" lIns="25400" rIns="25400" tIns="25400" bIns="25400" anchor="t">
            <a:spAutoFit/>
          </a:bodyPr>
          <a:lstStyle/>
          <a:p>
            <a:pPr algn="l"/>
            <a:r>
              <a:rPr sz="950" b="1" spc="140">
                <a:solidFill>
                  <a:srgbClr val="FFDA65"/>
                </a:solidFill>
                <a:latin typeface="Arial"/>
              </a:rPr>
              <a:t>AND THE DIRECTION IT POINTS</a:t>
            </a:r>
          </a:p>
        </p:txBody>
      </p:sp>
      <p:sp>
        <p:nvSpPr>
          <p:cNvPr id="24" name="TextBox 23"/>
          <p:cNvSpPr txBox="1"/>
          <p:nvPr/>
        </p:nvSpPr>
        <p:spPr>
          <a:xfrm>
            <a:off x="566928" y="4937760"/>
            <a:ext cx="11064240" cy="475488"/>
          </a:xfrm>
          <a:prstGeom prst="rect">
            <a:avLst/>
          </a:prstGeom>
          <a:noFill/>
        </p:spPr>
        <p:txBody>
          <a:bodyPr wrap="square" lIns="25400" rIns="25400" tIns="25400" bIns="25400" anchor="t">
            <a:spAutoFit/>
          </a:bodyPr>
          <a:lstStyle/>
          <a:p>
            <a:pPr algn="l"/>
            <a:r>
              <a:rPr sz="1150" b="0">
                <a:solidFill>
                  <a:srgbClr val="FFFFFF"/>
                </a:solidFill>
                <a:latin typeface="Arial"/>
              </a:rPr>
              <a:t>I want to work where a model meets the person who has to act on it. That boundary is where the interesting failures live: not in the mathematics, which can be checked, but in what a number does to the judgement of the person reading it.</a:t>
            </a:r>
          </a:p>
        </p:txBody>
      </p:sp>
      <p:sp>
        <p:nvSpPr>
          <p:cNvPr id="25" name="TextBox 24"/>
          <p:cNvSpPr txBox="1"/>
          <p:nvPr/>
        </p:nvSpPr>
        <p:spPr>
          <a:xfrm>
            <a:off x="356616" y="5614416"/>
            <a:ext cx="5486400" cy="237744"/>
          </a:xfrm>
          <a:prstGeom prst="rect">
            <a:avLst/>
          </a:prstGeom>
          <a:noFill/>
        </p:spPr>
        <p:txBody>
          <a:bodyPr wrap="square" lIns="25400" rIns="25400" tIns="25400" bIns="25400" anchor="t">
            <a:spAutoFit/>
          </a:bodyPr>
          <a:lstStyle/>
          <a:p>
            <a:pPr algn="l"/>
            <a:r>
              <a:rPr sz="1125" b="1" spc="158">
                <a:solidFill>
                  <a:srgbClr val="1D93C9"/>
                </a:solidFill>
                <a:latin typeface="Arial"/>
              </a:rPr>
              <a:t>WHAT THE ESTIA FRAMEWORK CALLS IT</a:t>
            </a:r>
          </a:p>
        </p:txBody>
      </p:sp>
      <p:sp>
        <p:nvSpPr>
          <p:cNvPr id="26" name="Rectangle 25"/>
          <p:cNvSpPr/>
          <p:nvPr/>
        </p:nvSpPr>
        <p:spPr>
          <a:xfrm>
            <a:off x="356616"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56616"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CI1</a:t>
            </a:r>
          </a:p>
        </p:txBody>
      </p:sp>
      <p:sp>
        <p:nvSpPr>
          <p:cNvPr id="28" name="Rectangle 27"/>
          <p:cNvSpPr/>
          <p:nvPr/>
        </p:nvSpPr>
        <p:spPr>
          <a:xfrm>
            <a:off x="1014983"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3"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CI5</a:t>
            </a:r>
          </a:p>
        </p:txBody>
      </p:sp>
      <p:sp>
        <p:nvSpPr>
          <p:cNvPr id="30" name="Rectangle 29"/>
          <p:cNvSpPr/>
          <p:nvPr/>
        </p:nvSpPr>
        <p:spPr>
          <a:xfrm>
            <a:off x="1673352"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73352"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CE3</a:t>
            </a:r>
          </a:p>
        </p:txBody>
      </p:sp>
      <p:sp>
        <p:nvSpPr>
          <p:cNvPr id="32" name="Rectangle 31"/>
          <p:cNvSpPr/>
          <p:nvPr/>
        </p:nvSpPr>
        <p:spPr>
          <a:xfrm>
            <a:off x="2331720"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331720"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CE5</a:t>
            </a:r>
          </a:p>
        </p:txBody>
      </p:sp>
      <p:sp>
        <p:nvSpPr>
          <p:cNvPr id="34" name="Rectangle 33"/>
          <p:cNvSpPr/>
          <p:nvPr/>
        </p:nvSpPr>
        <p:spPr>
          <a:xfrm>
            <a:off x="2990088"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990088"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CST1</a:t>
            </a:r>
          </a:p>
        </p:txBody>
      </p:sp>
      <p:sp>
        <p:nvSpPr>
          <p:cNvPr id="36" name="Rectangle 35"/>
          <p:cNvSpPr/>
          <p:nvPr/>
        </p:nvSpPr>
        <p:spPr>
          <a:xfrm>
            <a:off x="3648456"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648456"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CST2</a:t>
            </a:r>
          </a:p>
        </p:txBody>
      </p:sp>
      <p:sp>
        <p:nvSpPr>
          <p:cNvPr id="38" name="Rectangle 37"/>
          <p:cNvSpPr/>
          <p:nvPr/>
        </p:nvSpPr>
        <p:spPr>
          <a:xfrm>
            <a:off x="4306824" y="5888736"/>
            <a:ext cx="566928" cy="365760"/>
          </a:xfrm>
          <a:prstGeom prst="rect">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306824" y="5925312"/>
            <a:ext cx="566928" cy="274320"/>
          </a:xfrm>
          <a:prstGeom prst="rect">
            <a:avLst/>
          </a:prstGeom>
          <a:noFill/>
        </p:spPr>
        <p:txBody>
          <a:bodyPr wrap="square" lIns="25400" rIns="25400" tIns="25400" bIns="25400" anchor="t">
            <a:spAutoFit/>
          </a:bodyPr>
          <a:lstStyle/>
          <a:p>
            <a:pPr algn="ctr"/>
            <a:r>
              <a:rPr sz="1000" b="1">
                <a:solidFill>
                  <a:srgbClr val="043962"/>
                </a:solidFill>
                <a:latin typeface="Arial"/>
              </a:rPr>
              <a:t>CST7</a:t>
            </a:r>
          </a:p>
        </p:txBody>
      </p:sp>
      <p:sp>
        <p:nvSpPr>
          <p:cNvPr id="40" name="TextBox 39"/>
          <p:cNvSpPr txBox="1"/>
          <p:nvPr/>
        </p:nvSpPr>
        <p:spPr>
          <a:xfrm>
            <a:off x="5138928" y="5925312"/>
            <a:ext cx="6675120" cy="310896"/>
          </a:xfrm>
          <a:prstGeom prst="rect">
            <a:avLst/>
          </a:prstGeom>
          <a:noFill/>
        </p:spPr>
        <p:txBody>
          <a:bodyPr wrap="square" lIns="25400" rIns="25400" tIns="25400" bIns="25400" anchor="t">
            <a:spAutoFit/>
          </a:bodyPr>
          <a:lstStyle/>
          <a:p>
            <a:pPr algn="l"/>
            <a:r>
              <a:rPr sz="850" b="0">
                <a:solidFill>
                  <a:srgbClr val="858591"/>
                </a:solidFill>
                <a:latin typeface="Arial"/>
              </a:rPr>
              <a:t>Systemic analysis · complex problem solving · project control · information qualified and diffused · engineering strategy · modelling and simulation · tools for R&amp;D</a:t>
            </a:r>
          </a:p>
        </p:txBody>
      </p:sp>
      <p:sp>
        <p:nvSpPr>
          <p:cNvPr id="41" name="Rectangle 40"/>
          <p:cNvSpPr/>
          <p:nvPr/>
        </p:nvSpPr>
        <p:spPr>
          <a:xfrm>
            <a:off x="10332719"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32719"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1</a:t>
            </a:r>
          </a:p>
        </p:txBody>
      </p:sp>
      <p:sp>
        <p:nvSpPr>
          <p:cNvPr id="43" name="Rectangle 42"/>
          <p:cNvSpPr/>
          <p:nvPr/>
        </p:nvSpPr>
        <p:spPr>
          <a:xfrm>
            <a:off x="10643615"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643615"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2</a:t>
            </a:r>
          </a:p>
        </p:txBody>
      </p:sp>
      <p:sp>
        <p:nvSpPr>
          <p:cNvPr id="45" name="Rectangle 44"/>
          <p:cNvSpPr/>
          <p:nvPr/>
        </p:nvSpPr>
        <p:spPr>
          <a:xfrm>
            <a:off x="10954511"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954511"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3</a:t>
            </a:r>
          </a:p>
        </p:txBody>
      </p:sp>
      <p:sp>
        <p:nvSpPr>
          <p:cNvPr id="47" name="Rectangle 46"/>
          <p:cNvSpPr/>
          <p:nvPr/>
        </p:nvSpPr>
        <p:spPr>
          <a:xfrm>
            <a:off x="11265407" y="219456"/>
            <a:ext cx="256032" cy="25603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1265407" y="246888"/>
            <a:ext cx="256032" cy="201168"/>
          </a:xfrm>
          <a:prstGeom prst="rect">
            <a:avLst/>
          </a:prstGeom>
          <a:noFill/>
        </p:spPr>
        <p:txBody>
          <a:bodyPr wrap="square" lIns="25400" rIns="25400" tIns="25400" bIns="25400" anchor="t">
            <a:spAutoFit/>
          </a:bodyPr>
          <a:lstStyle/>
          <a:p>
            <a:pPr algn="ctr"/>
            <a:r>
              <a:rPr sz="900" b="0">
                <a:solidFill>
                  <a:srgbClr val="858591"/>
                </a:solidFill>
                <a:latin typeface="Arial"/>
              </a:rPr>
              <a:t>4</a:t>
            </a:r>
          </a:p>
        </p:txBody>
      </p:sp>
      <p:sp>
        <p:nvSpPr>
          <p:cNvPr id="49" name="Rectangle 48"/>
          <p:cNvSpPr/>
          <p:nvPr/>
        </p:nvSpPr>
        <p:spPr>
          <a:xfrm>
            <a:off x="11576303" y="219456"/>
            <a:ext cx="256032" cy="256032"/>
          </a:xfrm>
          <a:prstGeom prst="rect">
            <a:avLst/>
          </a:prstGeom>
          <a:solidFill>
            <a:srgbClr val="FFD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576303" y="246888"/>
            <a:ext cx="256032" cy="201168"/>
          </a:xfrm>
          <a:prstGeom prst="rect">
            <a:avLst/>
          </a:prstGeom>
          <a:noFill/>
        </p:spPr>
        <p:txBody>
          <a:bodyPr wrap="square" lIns="25400" rIns="25400" tIns="25400" bIns="25400" anchor="t">
            <a:spAutoFit/>
          </a:bodyPr>
          <a:lstStyle/>
          <a:p>
            <a:pPr algn="ctr"/>
            <a:r>
              <a:rPr sz="900" b="1">
                <a:solidFill>
                  <a:srgbClr val="043962"/>
                </a:solidFill>
                <a:latin typeface="Arial"/>
              </a:rPr>
              <a:t>5</a:t>
            </a:r>
          </a:p>
        </p:txBody>
      </p:sp>
      <p:sp>
        <p:nvSpPr>
          <p:cNvPr id="51" name="TextBox 50"/>
          <p:cNvSpPr txBox="1"/>
          <p:nvPr/>
        </p:nvSpPr>
        <p:spPr>
          <a:xfrm>
            <a:off x="10332719" y="530352"/>
            <a:ext cx="1499616" cy="219456"/>
          </a:xfrm>
          <a:prstGeom prst="rect">
            <a:avLst/>
          </a:prstGeom>
          <a:noFill/>
        </p:spPr>
        <p:txBody>
          <a:bodyPr wrap="square" lIns="25400" rIns="25400" tIns="25400" bIns="25400" anchor="t">
            <a:spAutoFit/>
          </a:bodyPr>
          <a:lstStyle/>
          <a:p>
            <a:pPr algn="r"/>
            <a:r>
              <a:rPr sz="900" b="0">
                <a:solidFill>
                  <a:srgbClr val="858591"/>
                </a:solidFill>
                <a:latin typeface="Aria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063C6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970" r="597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63C67">
                  <a:alpha val="95000"/>
                </a:srgbClr>
              </a:gs>
              <a:gs pos="48000">
                <a:srgbClr val="063C67">
                  <a:alpha val="88000"/>
                </a:srgbClr>
              </a:gs>
              <a:gs pos="100000">
                <a:srgbClr val="063C67">
                  <a:alpha val="58000"/>
                </a:srgbClr>
              </a:gs>
            </a:gsLst>
            <a:lin ang="0" scaled="0"/>
          </a:gradFill>
          <a:ln/>
        </p:spPr>
        <p:txBody>
          <a:bodyPr/>
          <a:lstStyle/>
          <a:p>
            <a:endParaRPr lang="fr-FR"/>
          </a:p>
        </p:txBody>
      </p:sp>
      <p:sp>
        <p:nvSpPr>
          <p:cNvPr id="4" name="Shape 1"/>
          <p:cNvSpPr/>
          <p:nvPr/>
        </p:nvSpPr>
        <p:spPr>
          <a:xfrm>
            <a:off x="0" y="6772275"/>
            <a:ext cx="12192000" cy="85725"/>
          </a:xfrm>
          <a:prstGeom prst="rect">
            <a:avLst/>
          </a:prstGeom>
          <a:gradFill rotWithShape="1">
            <a:gsLst>
              <a:gs pos="0">
                <a:srgbClr val="063C67">
                  <a:alpha val="100000"/>
                </a:srgbClr>
              </a:gs>
              <a:gs pos="67000">
                <a:srgbClr val="1D93C9">
                  <a:alpha val="100000"/>
                </a:srgbClr>
              </a:gs>
              <a:gs pos="100000">
                <a:srgbClr val="FFDA65">
                  <a:alpha val="100000"/>
                </a:srgbClr>
              </a:gs>
            </a:gsLst>
            <a:lin ang="0" scaled="0"/>
          </a:gradFill>
          <a:ln/>
        </p:spPr>
        <p:txBody>
          <a:bodyPr/>
          <a:lstStyle/>
          <a:p>
            <a:endParaRPr lang="fr-FR"/>
          </a:p>
        </p:txBody>
      </p:sp>
      <p:sp>
        <p:nvSpPr>
          <p:cNvPr id="5" name="Shape 2"/>
          <p:cNvSpPr/>
          <p:nvPr/>
        </p:nvSpPr>
        <p:spPr>
          <a:xfrm>
            <a:off x="0" y="0"/>
            <a:ext cx="104775" cy="6858000"/>
          </a:xfrm>
          <a:prstGeom prst="rect">
            <a:avLst/>
          </a:prstGeom>
          <a:solidFill>
            <a:srgbClr val="FFFFFF"/>
          </a:solidFill>
          <a:ln/>
        </p:spPr>
        <p:txBody>
          <a:bodyPr/>
          <a:lstStyle/>
          <a:p>
            <a:endParaRPr lang="fr-FR"/>
          </a:p>
        </p:txBody>
      </p:sp>
      <p:sp>
        <p:nvSpPr>
          <p:cNvPr id="6" name="Text 3"/>
          <p:cNvSpPr/>
          <p:nvPr/>
        </p:nvSpPr>
        <p:spPr>
          <a:xfrm>
            <a:off x="352425" y="2305050"/>
            <a:ext cx="7962900" cy="575270"/>
          </a:xfrm>
          <a:prstGeom prst="rect">
            <a:avLst/>
          </a:prstGeom>
          <a:noFill/>
          <a:ln/>
        </p:spPr>
        <p:txBody>
          <a:bodyPr wrap="square" lIns="25400" tIns="25400" rIns="25400" bIns="25400" rtlCol="0" anchor="t">
            <a:normAutofit/>
          </a:bodyPr>
          <a:lstStyle/>
          <a:p>
            <a:pPr marL="0" indent="0" algn="l">
              <a:lnSpc>
                <a:spcPct val="66614"/>
              </a:lnSpc>
              <a:buNone/>
            </a:pPr>
            <a:r>
              <a:rPr lang="en-US" sz="4500" b="1" dirty="0">
                <a:solidFill>
                  <a:srgbClr val="FFFFFF"/>
                </a:solidFill>
                <a:latin typeface="Arial Black" pitchFamily="34" charset="0"/>
                <a:ea typeface="Arial Black" pitchFamily="34" charset="-122"/>
                <a:cs typeface="Arial Black" pitchFamily="34" charset="-120"/>
              </a:rPr>
              <a:t>THANK YOU</a:t>
            </a:r>
            <a:endParaRPr lang="en-US" sz="4500" dirty="0"/>
          </a:p>
        </p:txBody>
      </p:sp>
      <p:sp>
        <p:nvSpPr>
          <p:cNvPr id="7" name="Text 4"/>
          <p:cNvSpPr/>
          <p:nvPr/>
        </p:nvSpPr>
        <p:spPr>
          <a:xfrm>
            <a:off x="352425" y="3108920"/>
            <a:ext cx="7962900"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kern="0" spc="270" dirty="0">
                <a:solidFill>
                  <a:srgbClr val="7ECBEE"/>
                </a:solidFill>
                <a:latin typeface="Arial" pitchFamily="34" charset="0"/>
                <a:ea typeface="Arial" pitchFamily="34" charset="-122"/>
                <a:cs typeface="Arial" pitchFamily="34" charset="-120"/>
              </a:rPr>
              <a:t>QUESTIONS</a:t>
            </a:r>
            <a:endParaRPr lang="en-US" sz="1800" dirty="0"/>
          </a:p>
        </p:txBody>
      </p:sp>
      <p:sp>
        <p:nvSpPr>
          <p:cNvPr id="8" name="Shape 5"/>
          <p:cNvSpPr/>
          <p:nvPr/>
        </p:nvSpPr>
        <p:spPr>
          <a:xfrm>
            <a:off x="352425" y="3745111"/>
            <a:ext cx="7239000" cy="9525"/>
          </a:xfrm>
          <a:prstGeom prst="rect">
            <a:avLst/>
          </a:prstGeom>
          <a:solidFill>
            <a:srgbClr val="FFFFFF">
              <a:alpha val="35000"/>
            </a:srgbClr>
          </a:solidFill>
          <a:ln/>
        </p:spPr>
        <p:txBody>
          <a:bodyPr/>
          <a:lstStyle/>
          <a:p>
            <a:endParaRPr lang="fr-FR"/>
          </a:p>
        </p:txBody>
      </p:sp>
      <p:sp>
        <p:nvSpPr>
          <p:cNvPr id="9" name="Text 6"/>
          <p:cNvSpPr/>
          <p:nvPr/>
        </p:nvSpPr>
        <p:spPr>
          <a:xfrm>
            <a:off x="352425" y="3961011"/>
            <a:ext cx="7456170" cy="852488"/>
          </a:xfrm>
          <a:prstGeom prst="rect">
            <a:avLst/>
          </a:prstGeom>
          <a:noFill/>
          <a:ln/>
        </p:spPr>
        <p:txBody>
          <a:bodyPr wrap="square" lIns="25400" tIns="25400" rIns="25400" bIns="25400" rtlCol="0" anchor="t">
            <a:normAutofit/>
          </a:bodyPr>
          <a:lstStyle/>
          <a:p>
            <a:pPr marL="0" indent="0" algn="l">
              <a:lnSpc>
                <a:spcPct val="122143"/>
              </a:lnSpc>
              <a:buNone/>
            </a:pPr>
            <a:r>
              <a:rPr lang="en-US" sz="1425" dirty="0">
                <a:solidFill>
                  <a:srgbClr val="FFFFFF"/>
                </a:solidFill>
                <a:latin typeface="Calibri" pitchFamily="34" charset="0"/>
                <a:ea typeface="Calibri" pitchFamily="34" charset="-122"/>
                <a:cs typeface="Calibri" pitchFamily="34" charset="-120"/>
              </a:rPr>
              <a:t>HOARAU John · Promotion 2026    ALTEN Sud-Ouest · Innovation Division · Toulouse Lab    13 April to 16 October 2026</a:t>
            </a:r>
            <a:endParaRPr lang="en-US" sz="1425" dirty="0"/>
          </a:p>
        </p:txBody>
      </p:sp>
      <p:pic>
        <p:nvPicPr>
          <p:cNvPr id="10" name="Image 1" descr="preencoded.png"/>
          <p:cNvPicPr>
            <a:picLocks noChangeAspect="1"/>
          </p:cNvPicPr>
          <p:nvPr/>
        </p:nvPicPr>
        <p:blipFill>
          <a:blip r:embed="rId4"/>
          <a:stretch>
            <a:fillRect/>
          </a:stretch>
        </p:blipFill>
        <p:spPr>
          <a:xfrm>
            <a:off x="10327284" y="2381250"/>
            <a:ext cx="1121767" cy="1866900"/>
          </a:xfrm>
          <a:prstGeom prst="rect">
            <a:avLst/>
          </a:prstGeom>
        </p:spPr>
      </p:pic>
      <p:sp>
        <p:nvSpPr>
          <p:cNvPr id="11" name="Shape 7"/>
          <p:cNvSpPr/>
          <p:nvPr/>
        </p:nvSpPr>
        <p:spPr>
          <a:xfrm>
            <a:off x="9953725" y="4686300"/>
            <a:ext cx="1495326" cy="723900"/>
          </a:xfrm>
          <a:prstGeom prst="rect">
            <a:avLst/>
          </a:prstGeom>
          <a:solidFill>
            <a:srgbClr val="FFFFFF"/>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9953725" y="4686300"/>
            <a:ext cx="1495326" cy="723900"/>
          </a:xfrm>
          <a:prstGeom prst="rect">
            <a:avLst/>
          </a:prstGeom>
        </p:spPr>
      </p:pic>
      <p:pic>
        <p:nvPicPr>
          <p:cNvPr id="13" name="Image 3" descr="preencoded.png"/>
          <p:cNvPicPr>
            <a:picLocks noChangeAspect="1"/>
          </p:cNvPicPr>
          <p:nvPr/>
        </p:nvPicPr>
        <p:blipFill>
          <a:blip r:embed="rId6"/>
          <a:stretch>
            <a:fillRect/>
          </a:stretch>
        </p:blipFill>
        <p:spPr>
          <a:xfrm>
            <a:off x="11229975" y="6567488"/>
            <a:ext cx="714375" cy="71438"/>
          </a:xfrm>
          <a:prstGeom prst="rect">
            <a:avLst/>
          </a:prstGeom>
        </p:spPr>
      </p:pic>
      <p:pic>
        <p:nvPicPr>
          <p:cNvPr id="16" name="Image 15">
            <a:extLst>
              <a:ext uri="{FF2B5EF4-FFF2-40B4-BE49-F238E27FC236}">
                <a16:creationId xmlns:a16="http://schemas.microsoft.com/office/drawing/2014/main" id="{F9D98A4C-9759-916B-D002-B247BEE188F3}"/>
              </a:ext>
            </a:extLst>
          </p:cNvPr>
          <p:cNvPicPr>
            <a:picLocks noChangeAspect="1"/>
          </p:cNvPicPr>
          <p:nvPr/>
        </p:nvPicPr>
        <p:blipFill>
          <a:blip r:embed="rId7"/>
          <a:stretch>
            <a:fillRect/>
          </a:stretch>
        </p:blipFill>
        <p:spPr>
          <a:xfrm>
            <a:off x="8922902" y="4667825"/>
            <a:ext cx="742949" cy="742375"/>
          </a:xfrm>
          <a:prstGeom prst="rect">
            <a:avLst/>
          </a:prstGeom>
        </p:spPr>
      </p:pic>
      <p:sp>
        <p:nvSpPr>
          <p:cNvPr id="17" name="TextBox 16"/>
          <p:cNvSpPr txBox="1"/>
          <p:nvPr/>
        </p:nvSpPr>
        <p:spPr>
          <a:xfrm>
            <a:off x="356616" y="6528816"/>
            <a:ext cx="731520" cy="219456"/>
          </a:xfrm>
          <a:prstGeom prst="rect">
            <a:avLst/>
          </a:prstGeom>
          <a:noFill/>
        </p:spPr>
        <p:txBody>
          <a:bodyPr wrap="square" lIns="25400" rIns="25400" tIns="25400" bIns="25400" anchor="t">
            <a:spAutoFit/>
          </a:bodyPr>
          <a:lstStyle/>
          <a:p>
            <a:pPr algn="l"/>
            <a:r>
              <a:rPr sz="900" b="0">
                <a:solidFill>
                  <a:srgbClr val="7ECBEE"/>
                </a:solidFill>
                <a:latin typeface="Arial"/>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b0e46e-af26-40f8-bc06-c0e471e18c78}" enabled="1" method="Privileged" siteId="{9bc3d1cd-55ca-4e13-b5a2-a9e9deaeba3f}" removed="0"/>
</clbl:labelList>
</file>

<file path=docProps/app.xml><?xml version="1.0" encoding="utf-8"?>
<Properties xmlns="http://schemas.openxmlformats.org/officeDocument/2006/extended-properties" xmlns:vt="http://schemas.openxmlformats.org/officeDocument/2006/docPropsVTypes">
  <TotalTime>964</TotalTime>
  <Words>3607</Words>
  <Application>Microsoft Office PowerPoint</Application>
  <PresentationFormat>Grand écran</PresentationFormat>
  <Paragraphs>490</Paragraphs>
  <Slides>22</Slides>
  <Notes>22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Aptos</vt:lpstr>
      <vt:lpstr>Arial</vt:lpstr>
      <vt:lpstr>Arial Black</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HOARAU</cp:lastModifiedBy>
  <cp:revision>14</cp:revision>
  <dcterms:created xsi:type="dcterms:W3CDTF">2026-08-21T15:08:16Z</dcterms:created>
  <dcterms:modified xsi:type="dcterms:W3CDTF">2026-08-28T09:59:19Z</dcterms:modified>
</cp:coreProperties>
</file>